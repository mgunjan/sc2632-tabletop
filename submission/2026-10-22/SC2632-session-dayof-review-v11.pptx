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d0303c1e1f4a55" /><Relationship Type="http://schemas.openxmlformats.org/officeDocument/2006/relationships/extended-properties" Target="/docProps/app.xml" Id="R2983630e40be48a4" /><Relationship Type="http://schemas.openxmlformats.org/officeDocument/2006/relationships/officeDocument" Target="/ppt/presentation.xml" Id="R2cf8b9d0b1cb48c8" /></Relationships>
</file>

<file path=ppt/presentation.xml><?xml version="1.0" encoding="utf-8"?>
<p:presentation xmlns:p="http://schemas.openxmlformats.org/presentationml/2006/main">
  <p:sldMasterIdLst>
    <p:sldMasterId xmlns:r="http://schemas.openxmlformats.org/officeDocument/2006/relationships" id="2147483648" r:id="R62763b9bffc84cc4"/>
  </p:sldMasterIdLst>
  <p:notesMasterIdLst>
    <p:notesMasterId xmlns:r="http://schemas.openxmlformats.org/officeDocument/2006/relationships" r:id="R0fd13f98d7a24db6"/>
  </p:notesMasterIdLst>
  <p:sldIdLst>
    <p:sldId xmlns:r="http://schemas.openxmlformats.org/officeDocument/2006/relationships" id="256" r:id="R7d40df78a90f49fa"/>
    <p:sldId xmlns:r="http://schemas.openxmlformats.org/officeDocument/2006/relationships" id="257" r:id="R0d19d2d10e884630"/>
    <p:sldId xmlns:r="http://schemas.openxmlformats.org/officeDocument/2006/relationships" id="258" r:id="Rc31408ab81cf412e"/>
    <p:sldId xmlns:r="http://schemas.openxmlformats.org/officeDocument/2006/relationships" id="259" r:id="Rd62f57e3e85541b4"/>
    <p:sldId xmlns:r="http://schemas.openxmlformats.org/officeDocument/2006/relationships" id="260" r:id="Rf87f6236facd4787"/>
    <p:sldId xmlns:r="http://schemas.openxmlformats.org/officeDocument/2006/relationships" id="261" r:id="Rfe79a8d33b6f4a4c"/>
    <p:sldId xmlns:r="http://schemas.openxmlformats.org/officeDocument/2006/relationships" id="262" r:id="R554d3479f78448b8"/>
    <p:sldId xmlns:r="http://schemas.openxmlformats.org/officeDocument/2006/relationships" id="263" r:id="R081d994275534f7f"/>
    <p:sldId xmlns:r="http://schemas.openxmlformats.org/officeDocument/2006/relationships" id="264" r:id="R65ddae354735460f"/>
    <p:sldId xmlns:r="http://schemas.openxmlformats.org/officeDocument/2006/relationships" id="265" r:id="R34154f245a17466e"/>
    <p:sldId xmlns:r="http://schemas.openxmlformats.org/officeDocument/2006/relationships" id="266" r:id="R9305d852431c4f01"/>
    <p:sldId xmlns:r="http://schemas.openxmlformats.org/officeDocument/2006/relationships" id="267" r:id="R6040e93da074494a"/>
    <p:sldId xmlns:r="http://schemas.openxmlformats.org/officeDocument/2006/relationships" id="268" r:id="R6a64d1a7ae7b4389"/>
    <p:sldId xmlns:r="http://schemas.openxmlformats.org/officeDocument/2006/relationships" id="269" r:id="R99af493fc73b4e47"/>
    <p:sldId xmlns:r="http://schemas.openxmlformats.org/officeDocument/2006/relationships" id="270" r:id="Rba252b9a07fe4728"/>
    <p:sldId xmlns:r="http://schemas.openxmlformats.org/officeDocument/2006/relationships" id="271" r:id="R3058485bb3fa4064"/>
    <p:sldId xmlns:r="http://schemas.openxmlformats.org/officeDocument/2006/relationships" id="272" r:id="R54d9be75d9834b8e"/>
    <p:sldId xmlns:r="http://schemas.openxmlformats.org/officeDocument/2006/relationships" id="273" r:id="Rc6f127d480874706"/>
    <p:sldId xmlns:r="http://schemas.openxmlformats.org/officeDocument/2006/relationships" id="274" r:id="R1b68e7de9a8a4894"/>
    <p:sldId xmlns:r="http://schemas.openxmlformats.org/officeDocument/2006/relationships" id="275" r:id="R4884a5fe340440a0"/>
    <p:sldId xmlns:r="http://schemas.openxmlformats.org/officeDocument/2006/relationships" id="276" r:id="R782d68de33e24cb2"/>
    <p:sldId xmlns:r="http://schemas.openxmlformats.org/officeDocument/2006/relationships" id="277" r:id="R4c5c15bc117943c7"/>
    <p:sldId xmlns:r="http://schemas.openxmlformats.org/officeDocument/2006/relationships" id="278" r:id="Ra1b24f94ac2c493c"/>
    <p:sldId xmlns:r="http://schemas.openxmlformats.org/officeDocument/2006/relationships" id="279" r:id="Rad35e0c12b8b4c4a"/>
    <p:sldId xmlns:r="http://schemas.openxmlformats.org/officeDocument/2006/relationships" id="280" r:id="Rcdac12e6b9914e94"/>
    <p:sldId xmlns:r="http://schemas.openxmlformats.org/officeDocument/2006/relationships" id="281" r:id="R48adb841d8db46c8"/>
    <p:sldId xmlns:r="http://schemas.openxmlformats.org/officeDocument/2006/relationships" id="282" r:id="Rf5ddd3a3d2a745a5"/>
    <p:sldId xmlns:r="http://schemas.openxmlformats.org/officeDocument/2006/relationships" id="283" r:id="Rac5fba44234d4df2"/>
    <p:sldId xmlns:r="http://schemas.openxmlformats.org/officeDocument/2006/relationships" id="284" r:id="Rc004183704be4d4f"/>
    <p:sldId xmlns:r="http://schemas.openxmlformats.org/officeDocument/2006/relationships" id="285" r:id="R248ebe6b7ab247ae"/>
    <p:sldId xmlns:r="http://schemas.openxmlformats.org/officeDocument/2006/relationships" id="286" r:id="R30ccc13fc2304b6a"/>
    <p:sldId xmlns:r="http://schemas.openxmlformats.org/officeDocument/2006/relationships" id="287" r:id="R63710804b834472c"/>
    <p:sldId xmlns:r="http://schemas.openxmlformats.org/officeDocument/2006/relationships" id="288" r:id="R8b0970bbd6334199"/>
    <p:sldId xmlns:r="http://schemas.openxmlformats.org/officeDocument/2006/relationships" id="289" r:id="R2769ad1d4e1c40b9"/>
    <p:sldId xmlns:r="http://schemas.openxmlformats.org/officeDocument/2006/relationships" id="290" r:id="R55e34e851af24d28"/>
    <p:sldId xmlns:r="http://schemas.openxmlformats.org/officeDocument/2006/relationships" id="291" r:id="Rc682d0834b594e2c"/>
    <p:sldId xmlns:r="http://schemas.openxmlformats.org/officeDocument/2006/relationships" id="292" r:id="R9d2905ced7564fb9"/>
    <p:sldId xmlns:r="http://schemas.openxmlformats.org/officeDocument/2006/relationships" id="293" r:id="R3a2da76b932f4d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1c592d71a54018" /><Relationship Type="http://schemas.openxmlformats.org/officeDocument/2006/relationships/slideMaster" Target="/ppt/slideMasters/slideMaster1.xml" Id="R62763b9bffc84cc4" /><Relationship Type="http://schemas.openxmlformats.org/officeDocument/2006/relationships/notesMaster" Target="/ppt/notesMasters/notesMaster1.xml" Id="R0fd13f98d7a24db6" /><Relationship Type="http://schemas.openxmlformats.org/officeDocument/2006/relationships/presProps" Target="/ppt/presProps.xml" Id="R840e7d967a334446" /><Relationship Type="http://schemas.openxmlformats.org/officeDocument/2006/relationships/tableStyles" Target="/ppt/tableStyles.xml" Id="Re4cc4008a5eb4498" /><Relationship Type="http://schemas.openxmlformats.org/officeDocument/2006/relationships/slide" Target="/ppt/slides/slide1.xml" Id="R7d40df78a90f49fa" /><Relationship Type="http://schemas.openxmlformats.org/officeDocument/2006/relationships/slide" Target="/ppt/slides/slide2.xml" Id="R0d19d2d10e884630" /><Relationship Type="http://schemas.openxmlformats.org/officeDocument/2006/relationships/slide" Target="/ppt/slides/slide3.xml" Id="Rc31408ab81cf412e" /><Relationship Type="http://schemas.openxmlformats.org/officeDocument/2006/relationships/slide" Target="/ppt/slides/slide4.xml" Id="Rd62f57e3e85541b4" /><Relationship Type="http://schemas.openxmlformats.org/officeDocument/2006/relationships/slide" Target="/ppt/slides/slide5.xml" Id="Rf87f6236facd4787" /><Relationship Type="http://schemas.openxmlformats.org/officeDocument/2006/relationships/slide" Target="/ppt/slides/slide6.xml" Id="Rfe79a8d33b6f4a4c" /><Relationship Type="http://schemas.openxmlformats.org/officeDocument/2006/relationships/slide" Target="/ppt/slides/slide7.xml" Id="R554d3479f78448b8" /><Relationship Type="http://schemas.openxmlformats.org/officeDocument/2006/relationships/slide" Target="/ppt/slides/slide8.xml" Id="R081d994275534f7f" /><Relationship Type="http://schemas.openxmlformats.org/officeDocument/2006/relationships/slide" Target="/ppt/slides/slide9.xml" Id="R65ddae354735460f" /><Relationship Type="http://schemas.openxmlformats.org/officeDocument/2006/relationships/slide" Target="/ppt/slides/slide10.xml" Id="R34154f245a17466e" /><Relationship Type="http://schemas.openxmlformats.org/officeDocument/2006/relationships/slide" Target="/ppt/slides/slide11.xml" Id="R9305d852431c4f01" /><Relationship Type="http://schemas.openxmlformats.org/officeDocument/2006/relationships/slide" Target="/ppt/slides/slide12.xml" Id="R6040e93da074494a" /><Relationship Type="http://schemas.openxmlformats.org/officeDocument/2006/relationships/slide" Target="/ppt/slides/slide13.xml" Id="R6a64d1a7ae7b4389" /><Relationship Type="http://schemas.openxmlformats.org/officeDocument/2006/relationships/slide" Target="/ppt/slides/slide14.xml" Id="R99af493fc73b4e47" /><Relationship Type="http://schemas.openxmlformats.org/officeDocument/2006/relationships/slide" Target="/ppt/slides/slide15.xml" Id="Rba252b9a07fe4728" /><Relationship Type="http://schemas.openxmlformats.org/officeDocument/2006/relationships/slide" Target="/ppt/slides/slide16.xml" Id="R3058485bb3fa4064" /><Relationship Type="http://schemas.openxmlformats.org/officeDocument/2006/relationships/slide" Target="/ppt/slides/slide17.xml" Id="R54d9be75d9834b8e" /><Relationship Type="http://schemas.openxmlformats.org/officeDocument/2006/relationships/slide" Target="/ppt/slides/slide18.xml" Id="Rc6f127d480874706" /><Relationship Type="http://schemas.openxmlformats.org/officeDocument/2006/relationships/slide" Target="/ppt/slides/slide19.xml" Id="R1b68e7de9a8a4894" /><Relationship Type="http://schemas.openxmlformats.org/officeDocument/2006/relationships/slide" Target="/ppt/slides/slide20.xml" Id="R4884a5fe340440a0" /><Relationship Type="http://schemas.openxmlformats.org/officeDocument/2006/relationships/slide" Target="/ppt/slides/slide21.xml" Id="R782d68de33e24cb2" /><Relationship Type="http://schemas.openxmlformats.org/officeDocument/2006/relationships/slide" Target="/ppt/slides/slide22.xml" Id="R4c5c15bc117943c7" /><Relationship Type="http://schemas.openxmlformats.org/officeDocument/2006/relationships/slide" Target="/ppt/slides/slide23.xml" Id="Ra1b24f94ac2c493c" /><Relationship Type="http://schemas.openxmlformats.org/officeDocument/2006/relationships/slide" Target="/ppt/slides/slide24.xml" Id="Rad35e0c12b8b4c4a" /><Relationship Type="http://schemas.openxmlformats.org/officeDocument/2006/relationships/slide" Target="/ppt/slides/slide25.xml" Id="Rcdac12e6b9914e94" /><Relationship Type="http://schemas.openxmlformats.org/officeDocument/2006/relationships/slide" Target="/ppt/slides/slide26.xml" Id="R48adb841d8db46c8" /><Relationship Type="http://schemas.openxmlformats.org/officeDocument/2006/relationships/slide" Target="/ppt/slides/slide27.xml" Id="Rf5ddd3a3d2a745a5" /><Relationship Type="http://schemas.openxmlformats.org/officeDocument/2006/relationships/slide" Target="/ppt/slides/slide28.xml" Id="Rac5fba44234d4df2" /><Relationship Type="http://schemas.openxmlformats.org/officeDocument/2006/relationships/slide" Target="/ppt/slides/slide29.xml" Id="Rc004183704be4d4f" /><Relationship Type="http://schemas.openxmlformats.org/officeDocument/2006/relationships/slide" Target="/ppt/slides/slide30.xml" Id="R248ebe6b7ab247ae" /><Relationship Type="http://schemas.openxmlformats.org/officeDocument/2006/relationships/slide" Target="/ppt/slides/slide31.xml" Id="R30ccc13fc2304b6a" /><Relationship Type="http://schemas.openxmlformats.org/officeDocument/2006/relationships/slide" Target="/ppt/slides/slide32.xml" Id="R63710804b834472c" /><Relationship Type="http://schemas.openxmlformats.org/officeDocument/2006/relationships/slide" Target="/ppt/slides/slide33.xml" Id="R8b0970bbd6334199" /><Relationship Type="http://schemas.openxmlformats.org/officeDocument/2006/relationships/slide" Target="/ppt/slides/slide34.xml" Id="R2769ad1d4e1c40b9" /><Relationship Type="http://schemas.openxmlformats.org/officeDocument/2006/relationships/slide" Target="/ppt/slides/slide35.xml" Id="R55e34e851af24d28" /><Relationship Type="http://schemas.openxmlformats.org/officeDocument/2006/relationships/slide" Target="/ppt/slides/slide36.xml" Id="Rc682d0834b594e2c" /><Relationship Type="http://schemas.openxmlformats.org/officeDocument/2006/relationships/slide" Target="/ppt/slides/slide37.xml" Id="R9d2905ced7564fb9" /><Relationship Type="http://schemas.openxmlformats.org/officeDocument/2006/relationships/slide" Target="/ppt/slides/slide38.xml" Id="R3a2da76b932f4d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10009ecc6649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c180858a3c4888" /><Relationship Type="http://schemas.openxmlformats.org/officeDocument/2006/relationships/notesMaster" Target="/ppt/notesMasters/notesMaster1.xml" Id="Rccf1345a34c24d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c616bd2836483c" /><Relationship Type="http://schemas.openxmlformats.org/officeDocument/2006/relationships/notesMaster" Target="/ppt/notesMasters/notesMaster1.xml" Id="R30b98081f7ce4b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b1e5d191e24f9f" /><Relationship Type="http://schemas.openxmlformats.org/officeDocument/2006/relationships/notesMaster" Target="/ppt/notesMasters/notesMaster1.xml" Id="R5c9a4078dc5b4e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b2ffa061c545a3" /><Relationship Type="http://schemas.openxmlformats.org/officeDocument/2006/relationships/notesMaster" Target="/ppt/notesMasters/notesMaster1.xml" Id="R07c95729572148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d2de66641f4dfd" /><Relationship Type="http://schemas.openxmlformats.org/officeDocument/2006/relationships/notesMaster" Target="/ppt/notesMasters/notesMaster1.xml" Id="R34a7eb4b240047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66f46629574227" /><Relationship Type="http://schemas.openxmlformats.org/officeDocument/2006/relationships/notesMaster" Target="/ppt/notesMasters/notesMaster1.xml" Id="R61ab77ef5b7c49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6b43e5171f4b2c" /><Relationship Type="http://schemas.openxmlformats.org/officeDocument/2006/relationships/notesMaster" Target="/ppt/notesMasters/notesMaster1.xml" Id="R8465f52e83294e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a6f349c8b04ec2" /><Relationship Type="http://schemas.openxmlformats.org/officeDocument/2006/relationships/notesMaster" Target="/ppt/notesMasters/notesMaster1.xml" Id="R6c5521d8de454b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0923fd57af4347" /><Relationship Type="http://schemas.openxmlformats.org/officeDocument/2006/relationships/notesMaster" Target="/ppt/notesMasters/notesMaster1.xml" Id="Rd24a6f82b8464c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b5cdd58df94b26" /><Relationship Type="http://schemas.openxmlformats.org/officeDocument/2006/relationships/notesMaster" Target="/ppt/notesMasters/notesMaster1.xml" Id="R99352add969543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5c14c85f11411f" /><Relationship Type="http://schemas.openxmlformats.org/officeDocument/2006/relationships/notesMaster" Target="/ppt/notesMasters/notesMaster1.xml" Id="Rc6eab5da302744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2e3072a940425e" /><Relationship Type="http://schemas.openxmlformats.org/officeDocument/2006/relationships/notesMaster" Target="/ppt/notesMasters/notesMaster1.xml" Id="Rbf84d176888645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c0fe648afd4d19" /><Relationship Type="http://schemas.openxmlformats.org/officeDocument/2006/relationships/notesMaster" Target="/ppt/notesMasters/notesMaster1.xml" Id="Rcd1b280cb75c4d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c331264f564b52" /><Relationship Type="http://schemas.openxmlformats.org/officeDocument/2006/relationships/notesMaster" Target="/ppt/notesMasters/notesMaster1.xml" Id="R4847b8b7cd4046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dec252b6874984" /><Relationship Type="http://schemas.openxmlformats.org/officeDocument/2006/relationships/notesMaster" Target="/ppt/notesMasters/notesMaster1.xml" Id="R9a297ef96e7c4e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3cc05bc90d416b" /><Relationship Type="http://schemas.openxmlformats.org/officeDocument/2006/relationships/notesMaster" Target="/ppt/notesMasters/notesMaster1.xml" Id="Rc74d6768224c46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449860c9134d17" /><Relationship Type="http://schemas.openxmlformats.org/officeDocument/2006/relationships/notesMaster" Target="/ppt/notesMasters/notesMaster1.xml" Id="Red0de24e1c1646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f70c3f19f294087" /><Relationship Type="http://schemas.openxmlformats.org/officeDocument/2006/relationships/notesMaster" Target="/ppt/notesMasters/notesMaster1.xml" Id="R66b92b7c9fd94e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0c9a243b918413a" /><Relationship Type="http://schemas.openxmlformats.org/officeDocument/2006/relationships/notesMaster" Target="/ppt/notesMasters/notesMaster1.xml" Id="Rcc4b949ad0a14e9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7de427d46b4b53" /><Relationship Type="http://schemas.openxmlformats.org/officeDocument/2006/relationships/notesMaster" Target="/ppt/notesMasters/notesMaster1.xml" Id="Rbffc52d7731145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223812a43284d96" /><Relationship Type="http://schemas.openxmlformats.org/officeDocument/2006/relationships/notesMaster" Target="/ppt/notesMasters/notesMaster1.xml" Id="Rafe1aee34270428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0c7c47b7414440" /><Relationship Type="http://schemas.openxmlformats.org/officeDocument/2006/relationships/notesMaster" Target="/ppt/notesMasters/notesMaster1.xml" Id="Rdf022b3b1e8d42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65f386a80e1426f" /><Relationship Type="http://schemas.openxmlformats.org/officeDocument/2006/relationships/notesMaster" Target="/ppt/notesMasters/notesMaster1.xml" Id="R9742b2621ba14a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48a32c147d44f56" /><Relationship Type="http://schemas.openxmlformats.org/officeDocument/2006/relationships/notesMaster" Target="/ppt/notesMasters/notesMaster1.xml" Id="Re936df3d843143c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bbd8cc79501436c" /><Relationship Type="http://schemas.openxmlformats.org/officeDocument/2006/relationships/notesMaster" Target="/ppt/notesMasters/notesMaster1.xml" Id="R41beee908c6948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a0d87d6781441a1" /><Relationship Type="http://schemas.openxmlformats.org/officeDocument/2006/relationships/notesMaster" Target="/ppt/notesMasters/notesMaster1.xml" Id="Ra49e12d149a141f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c2355bd1d0445fd" /><Relationship Type="http://schemas.openxmlformats.org/officeDocument/2006/relationships/notesMaster" Target="/ppt/notesMasters/notesMaster1.xml" Id="R34b551a178f648d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ab868b21bee4fc9" /><Relationship Type="http://schemas.openxmlformats.org/officeDocument/2006/relationships/notesMaster" Target="/ppt/notesMasters/notesMaster1.xml" Id="R94879e8dd1c8472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5e4e70fb37a471d" /><Relationship Type="http://schemas.openxmlformats.org/officeDocument/2006/relationships/notesMaster" Target="/ppt/notesMasters/notesMaster1.xml" Id="R7ea549bfdb8b4ac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9c35d0683694a86" /><Relationship Type="http://schemas.openxmlformats.org/officeDocument/2006/relationships/notesMaster" Target="/ppt/notesMasters/notesMaster1.xml" Id="R4f4bef9cc0bf4c7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a6b30a909404a79" /><Relationship Type="http://schemas.openxmlformats.org/officeDocument/2006/relationships/notesMaster" Target="/ppt/notesMasters/notesMaster1.xml" Id="R399c03f6aa82489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08404691d5e4a8a" /><Relationship Type="http://schemas.openxmlformats.org/officeDocument/2006/relationships/notesMaster" Target="/ppt/notesMasters/notesMaster1.xml" Id="R46e8607722964be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d89a04b80c7452b" /><Relationship Type="http://schemas.openxmlformats.org/officeDocument/2006/relationships/notesMaster" Target="/ppt/notesMasters/notesMaster1.xml" Id="Rdb60c35af9754dc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da470ff4f90444f" /><Relationship Type="http://schemas.openxmlformats.org/officeDocument/2006/relationships/notesMaster" Target="/ppt/notesMasters/notesMaster1.xml" Id="Rebbc6390d1e6484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46fad693d1c403d" /><Relationship Type="http://schemas.openxmlformats.org/officeDocument/2006/relationships/notesMaster" Target="/ppt/notesMasters/notesMaster1.xml" Id="R59a229455398475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c0a8ae8582449c1" /><Relationship Type="http://schemas.openxmlformats.org/officeDocument/2006/relationships/notesMaster" Target="/ppt/notesMasters/notesMaster1.xml" Id="Rb05f995d58a440e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67ef7d8c52244d9" /><Relationship Type="http://schemas.openxmlformats.org/officeDocument/2006/relationships/notesMaster" Target="/ppt/notesMasters/notesMaster1.xml" Id="Rb10591bf12bf45c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7d87079a27a421d" /><Relationship Type="http://schemas.openxmlformats.org/officeDocument/2006/relationships/notesMaster" Target="/ppt/notesMasters/notesMaster1.xml" Id="Rae887a2f3eb641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00:00–00:30 (Milind — Block 1: Slides 1–6). Open with the concrete conflict: "The workload is live beside revenue services. The policy PR is green, but its tests cover only one rule. Your response must preserve evidence and service while you verify the policy and choose containment." State the team task: inspect evidence, record a decision before each reveal, and revise only when new facts justify it. Introduce Milind Gunjan and Vivek Mayuranathan. Repository source: https://github.com/mgunjan/sc2632-tabletop/blob/main/tabletop/congress-2026/TECHNICAL-BRIEF.md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00:30–01:00 (Milind). Establish which facts are common to the four fictional cases and which remain unknown until a case is chosen. The three-replica service floor is the operational constraint used in the exercise, not a claim about a real system. Ask participants to notice that they must protect service and evidence while the control gap is still uncertain.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01:00–01:30 (Milind). Show the full hour before the technical detail. Explain that teams lock each choice on the common record before new facts appear; the score rewards evidence and justified restraint, not speed or maximum lockdown. Orient attendees to pages 6–7 now; Vivek will assign cases and roles before the first 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01:30–02:10 (Milind — Block 1 continues). Point to the image: the first agent is an application workload with runtime authority; the second is a policy-writing system asked to govern those workloads. Ask, "Who verifies the guardrails when both sides are changing?" Then connect the visual to the real control gap: a green admission-test result does not prove that live traffic, credentials, or API permissions are contained. Repository source: https://github.com/mgunjan/sc2632-tabletop/blob/main/tabletop/congress-2026/TECHNICAL-BRIEF.md Repository source: https://github.com/mgunjan/sc2632-tabletop/blob/main/generator/policy_agent.py Repository source: https://github.com/mgunjan/sc2632-tabletop/blob/main/quarantine/quarantine-mode.md Establish the common setting before using the word payment: all four prepared cases share a fictional payment platform; participants select their incident on slide 13, so this slide has not assigned a case. The two agents in the original generated illustration represent two roles: workload agents and a separate policy-writing copilot. The human incident board owns the decision. The picture is a conceptual illustration, not evidence or a real cluster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02:10–02:50 (Milind — Block 1 continues). State that this is one fictional payment platform shared by application workloads and AI agents; the room will choose a specific incident on slide 13. Translate as you point: a Pod is one running workload; a replica is another copy; a namespace is a resource group; a ServiceAccount is the workload identity used for Kubernetes API calls. At least two of three payment-service copies must remain healthy. Kyverno checks new Pod requests; cluster DNS resolves service names. Repository source: https://github.com/mgunjan/sc2632-tabletop/blob/main/tabletop/congress-2026/INCIDENT-BRIEF.md Repository source: https://github.com/mgunjan/sc2632-tabletop/blob/main/lab/README.md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02:50–03:30 (Milind — finishes Block 1, then hands to Vivek). Explain why no single Kubernetes guardrail can contain an incident alone by walking the 4 cards and their blind spots: (1) Detect (Falco &amp; Audit logs) only alerts; (2) Admit (Kyverno) only checks NEW pods at start—it is blind to already-running pods and Secret reads; (3) Contain (NetworkPolicy &amp; RBAC) cuts live traffic and tokens, but can break DNS or uptime if applied blindly; (4) Authorize (Your Incident Board) audits the AI proposal and orders Q0–Q3 Quarantine. Hand off to Vivek for Slides 7–8. Repository source: https://github.com/mgunjan/sc2632-tabletop/blob/main/runtime/falco-rules-syscall.yaml Repository source: https://github.com/mgunjan/sc2632-tabletop/blob/main/runtime/falco-rules-k8saudit.yaml Repository source: https://github.com/mgunjan/sc2632-tabletop/blob/main/lab/README.md Repository source: https://github.com/mgunjan/sc2632-tabletop/blob/main/submission/2026-10-14/demo-audit/CI-RESULT.json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03:30–04:30 (Vivek — Block 2: Slides 7–8). Vivek explains how the defensive AI Policy Agent architecture works: instead of letting an LLM hallucinate raw YAML, our deterministic Python harness owns the templates and Kyverno test runner, and only asks the model to select among 10 catalog options, dependency profiles, and blocked-workload dispositions over at most 3 simulation rounds. Distinguish this defensive policy compiler from the suspect support/ops/monitoring agents inside the incident cases. Repository source: https://github.com/mgunjan/sc2632-tabletop/blob/main/generator/policy_agent.py Repository source: https://github.com/mgunjan/sc2632-tabletop/blob/main/generator/decider_agent.py Repository source: https://github.com/mgunjan/sc2632-tabletop/blob/main/tabletop/congress-2026/demo.py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04:30–05:30 (Vivek — finishes Block 2, then hands to Milind). Vivek highlights the architectural trust boundary: what crosses into the model prompt, how the 0.6 score threshold routes uncertain choices to human review, and the deliberate asymmetry between uncertain dependencies (retains proposed allowance + flags review so payments does not go down) and uncertain controls (enables no control + escalates). Hand off to Milind for the 45-second compiler walkthrough. Repository source: https://github.com/mgunjan/sc2632-tabletop/blob/main/generator/policy_agent.py Repository source: https://github.com/mgunjan/sc2632-tabletop/blob/main/generator/decision_contract.py Repository source: https://github.com/mgunjan/sc2632-tabletop/blob/main/submission/2026-10-12/benchmark/provider_clients.py Repository source: https://github.com/mgunjan/sc2632-tabletop/blob/main/tabletop/congress-2026/demo.py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05:30–06:15 (Milind — Block 3: Slides 9–10). Milind runs the bounded reference compiler (or shows pre-opened output/frozen-a) for one clause: "Prevent privilege escalation in payments." Point out that Kubernetes defaults allowPrivilegeEscalation to true unless explicitly set to false, and that the compiler covers both containers and initContainers on Pod CREATE. Then transition to Slide 8: what about the other 3 clauses of the incident intent? Repository source: https://github.com/mgunjan/sc2632-tabletop/blob/main/output/frozen-a/policies/deny-privilege-escalation.yaml Repository source: https://github.com/mgunjan/sc2632-tabletop/blob/main/generator/generate.py Repository source: https://github.com/mgunjan/sc2632-tabletop/blob/main/controls/catalog.json Repository source: https://github.com/mgunjan/sc2632-tabletop/blob/main/tabletop/congress-2026/demo.py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06:15–07:15 (Milind — finishes Block 3, then hands to Vivek). Show why the whole-intent requirement ledger is the centerpiece of the architecture: even when the privilege policy passes its unit tests, Clause 3 ("Restrict Kubernetes API access") cannot be enforced by Kyverno Pod admission and is flagged as an explicit RBAC handover (REVIEW_REQUIRED / INCOMPLETE_PROPOSAL). Also point out the unrequested registry restriction added at Audit in Scenario A. Hand off to Vivek for Slide 13. Repository source: https://github.com/mgunjan/sc2632-tabletop/blob/main/output/frozen-a/PR.md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07:15–08:15 (Vivek — Block 4: Slides 11–14). Vivek introduces Quarantine Mode Q0–Q3 as a graduated incident dial between "do nothing" and "burn down the cluster": Q1 freezes write calls from system:serviceaccount:agents:* using a native Kubernetes ValidatingAdmissionPolicy in the API server (which survives even if Kyverno webhooks are scaled down); Q2 constrains network egress and locks quarantine labels; Q3 isolates suspect pods by label and gates Pod CREATE in payments. Emphasize that humans declare Q-levels and verify each layer. Repository source: https://github.com/mgunjan/sc2632-tabletop/blob/main/quarantine/q1/freeze-agent-changes.yaml Repository source: https://github.com/mgunjan/sc2632-tabletop/tree/main/quarantine/q2/ Repository source: https://github.com/mgunjan/sc2632-tabletop/blob/main/quarantine/q3/admission-policies.yaml Repository source: https://github.com/mgunjan/sc2632-tabletop/blob/main/quarantine/q3/network-and-identity.yaml Repository source: https://github.com/mgunjan/sc2632-tabletop/blob/main/quarantine/quarantine-mode.md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08:15–09:00 (Vivek). Hold up PARTICIPANT-PACK.pdf and orient tables in 45 seconds: Pages 2–5 are the 4 incident cases; Pages 6–7 are your shared Decision Record; Pages 8–9 and CONTROL-REVIEW Page 2 stay folded until their rounds. Every round follows the same cadence: discuss, write and lock your decision on Pages 6–7 BEFORE the reveal, then compare against recorded k3s lab evidence and score. Presenter note: run the fresh local reference only after demo.py --check passes; it tests current source and fixtures, not live cluster enforcement. If preflight/run fails, show the dated recorded proposal and call it recorded. Repository source: https://github.com/mgunjan/sc2632-tabletop/blob/main/tabletop/congress-2026/CO-PRESENTER-CARDS.md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09:00–10:15 (Vivek &amp; Milind). Fast-start case assignment so tables do not lose 3 minutes debating which page to read: "Take your table’s default case on the screen—Tables 1,5,9 take Case A; Tables 2,6,10 take Case B; Tables 3,7,11 take Case C; Tables 4,8,12 take Case D—or swap within 30 seconds." Give tables 60 seconds to read their initial alert on pages 2–5 while keeping pages 8–9 sealed. Repository source: https://github.com/mgunjan/sc2632-tabletop/blob/main/scenarios/d-secret-enumeration/README.md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10:15–12:00. Explain the four operating constraints in 30 seconds, then give tables 75 seconds to write their Case letter, Operating Constraint, 4 Roles, and measurable Service Floor (e.g., "keep 2 healthy payments-api replicas serving requests") at the top of Page 6. Both presenters circulate to verify every table has a pen moving on Page 6. Repository source: https://github.com/mgunjan/sc2632-tabletop/blob/main/submission/2026-10-13/PARTICIPANT-PACK.pdf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12:00–16:00. Spend 20 seconds on the prompt: write one natural-language security intent ("Prevent [behavior] by [identity/workload]; preserve [dependency] within [service floor]"), underline what Kyverno admission can enforce, and circle what requires NetworkPolicy, RBAC, or runtime/application controls. Give tables 3.5 minutes to write on Page 6, then hear 20-second readouts from two tables. Generated incident-room art is a visual metaphor, not cluster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16:00–20:00. Tables audit the prepared PR excerpt on their case page (pages 2–5) and lock APPROVE, MODIFY, REJECT, or ESCALATE on Page 6 alongside one control to change and one missing test. Key catches: Case A spots missing RBAC + unrequested registry audit policy; Case B spots sidecar/tool boundary vs pod admission; Case C spots unverified human vs agent authority; Case D rejects admission-only claims for Secret reads.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20:00–23:00. Read the urgent exception inject. Every DevSecOps engineer has faced this 4:45 PM Slack message claiming "Security already approved it, just open the exception." Tables must verify approval independently of the agent/service assertion and lock Grant, Narrow, Hold, or Refuse on Page 6 with named human owner, exact workload/control scope, and hard clock TTL. Repository source: https://github.com/mgunjan/sc2632-tabletop/blob/main/submission/2026-10-13/PARTICIPANT-PACK.pdf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23:00–27:00. Tables assign Audit, Warn, or Deny per control on Page 6 and define their promotion trigger. Share the real lab "Aha!" from our October 13 rehearsal: a timed PolicyException with a 30-minute TTL silently failed to expire because Kyverno’s cleanup controller lacked RBAC delete permission on policyexceptions! Expiration is a control that itself requires verification and RBAC. Repository source: https://github.com/mgunjan/sc2632-tabletop/blob/main/generator/generate.py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28:00–35:00. Tables open Sealed Page 8, select their Quarantine level (Q0–Q3), and number their containment actions in exact execution order on Page 7. Require: (1) what volatile evidence is captured BEFORE mutating/deleting pods, (2) which Q-level and namespace/identity scope is applied, (3) how the service floor is preserved, and (4) who declares quarantine. Generated incident-room art is a visual metaphor, not cluster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35:00–39:00. Tables open Sealed Page 9 (the mid-containment twist for Cases A–D). Give 3 minutes to either revise their Q-level/action order or defend holding their plan beside their original answer on Page 7, underlining the specific new fact that drove the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39:00–39:30. Frame the 4 recorded k3s lab reveals as a rapid-fire prediction check across the room: before each reveal slide, ask tables for a quick hands-up vote on what Kubernetes actually did in the cluster. Repository source: https://github.com/mgunjan/sc2632-tabletop/blob/main/lab/RESULTS-live-2026-10-10.txt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39:30–41:00. Ask yes/no before revealing. Adding an empty allow list cannot subtract the DNS allow from the Q2 policy. In the lab the isolated label excludes the suspect from that allowance. The Oct 10 log verifies retained DNS before the label and loss after it. Supply the visible technical facts before asking for a response. This is an ungraded decision-and-test discussion, not a Kubernetes recall quiz. Ask what changes in the table’s plan, then reveal the recorded observation. Still image redrawn from repository lab recordings. The map is cropped for presentation without changing its connections or labels. Reveal verbally after the vote: NetworkPolicy allows are additive. Use the standalone situation display only after venue rehearsal. Repository source: https://github.com/mgunjan/sc2632-tabletop/blob/main/lab/RESULTS-live-2026-10-10.txt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41:00–42:30. Define a PodDisruptionBudget (PDB) as a limit on voluntary disruption. With 3 healthy replicas and minAvailable=2, one eviction is allowed. Q3 blocks the replacement; with only 2 healthy replicas left, the PDB denies another voluntary eviction until capacity is restored. Direct Pod deletion bypasses the PDB. Capture volatile evidence before any mutation, and verify clean serving capacity. Supply the visible technical facts before asking for a response. This is an ungraded decision-and-test discussion, not a Kubernetes recall quiz. Ask what changes in the table’s plan, then reveal the recorded observation. Still image redrawn from repository lab recordings. The map is cropped for presentation without changing its connections or labels. Reveal verbally after the vote: One eviction is allowed; a second is denied until a replacement is Ready. Use the standalone situation display only after venue rehearsal. Repository source: https://github.com/mgunjan/sc2632-tabletop/blob/main/lab/RESULTS-live-2026-10-10.txt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42:30–43:30. A rule matching Pods alone can miss pods/ephemeralcontainers. The fixed lab tests approved and unapproved debug images, including privilege checks. Approve a suitable forensic image before incident use. Supply the visible technical facts before asking for a response. This is an ungraded decision-and-test discussion, not a Kubernetes recall quiz. Ask what changes in the table’s plan, then reveal the recorded observation. Still image redrawn from repository lab recordings. The map is cropped for presentation without changing its connections or labels. Reveal verbally after the vote: The subresource changes the boundary. Use the standalone situation display only after venue rehearsal. Repository source: https://github.com/mgunjan/sc2632-tabletop/blob/main/lab/RESULTS-live-2026-10-10.txt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43:30–45:00. The recorded unguarded agent scales Kyverno to zero; its webhooks disappear, while NetworkPolicies continue. Native Q1 freeze holds during the incident and a native guard protects the engine. The durable fix includes narrower RBAC. Supply the visible technical facts before asking for a response. This is an ungraded decision-and-test discussion, not a Kubernetes recall quiz. Ask what changes in the table’s plan, then reveal the recorded observation. Still image redrawn from repository lab recordings. The map is cropped for presentation without changing its connections or labels. Reveal verbally after the vote: The policy engine needs its own guard. Use the standalone situation display only after venue rehearsal. Repository source: https://github.com/mgunjan/sc2632-tabletop/blob/main/lab/RESULTS-live-2026-10-10.txt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45:00–46:00. Reveal later findings after the decisions; they are not established root-cause analyses. A investigates a potentially compromised library update; the initial scope is uncertain. B and C are fictional injected-input incidents. D is a fictional overprivileged monitoring identity; its separate synthetic October 13 lab shows copied-token Secret reads still allowed after the suspect Pod is network-quarantined. Read authorization and credential response belong to separate controls. At 45:30 read the prediction a D table locked during Round 3, then compare it with the status-only transcript or backup slide 35 inside this existing minute. If no table chose D, collect a short ungraded prediction before displaying this slide: a copied token is used outside its network-quarantined Pod; does the Pod policy restrict that API request? Do not imply this new room prediction was locked earlier. Do not ask for a first prediction after the result is visible and do not add another demo. Do not cite unverified real-world incident anecdotes from the old deck. Ask neighboring tables to exchange one decision and name the differing constraint during the reveal. Prompt: would your plan still work in the other case, and what dependency or identity assumption would fail? Each table gives one sentence of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46:00–49:00. Vivek gives each table CONTROL-REVIEW.pdf page 1; keep page 2 sealed. Milind shows the recorded proposal. This is one actual local Laya head fine-tune and fixture workflow, not live model inference or current containment. Tables record a disposition, two unresolved requirements, their owners, and an acceptance test. The existing 0.6 cutoff accepts clauses 1, 2 and 4; clause 3 escalates. Scores come from the recorded answer_confidence signal after temperature fitting on separate synthetic data; these are routing scores, not calibrated probabilities of safe deployment. Do not announce the ledger result until choices are locked. Reward a justified revision or request for evidence. The old three-case Jev/Claude challenge remains an optional methodology discussion; do not add it to the hour. Source: submission/2026-10-13/CONTROL-REVIEW-EXERCISE.md; laya-training/workflow-cost/run-1/agent-run.json.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49:00–50:00. Milind reveals readiness.json: INCOMPLETE_PROPOSAL. Six fixed Pod CREATE privilege checks pass, but network and process clauses map to the wrong control and Kubernetes API access remains unresolved. Vivek asks one table to defend its disposition and name the actual enforcement owner. The reference control catalog identifies ACG-NET-001 (admission plus CNI), ACG-IAM-001 (RBAC plus credential response) and ACG-GOV-001 (rollout/expiry governance). Its metadata and tests do not grant approval. A catalog must state exact coverage, test evidence and unresolved requirements. This trained candidate did not improve the 33-choice runtime-order pilot: 16/33 both before and after; selected answers increased from 2 to 21, with six wrong among those 21. Even after our subsequent 37,515-record native training v5 experiment reached 99.69% training fit, held-out multi-step test exact-plan accuracy was 2/15—confirming that small System1 classifiers cannot replace the deterministic requirement ledger and human review. Source: submission/2026-10-13/REVIEW.md; workflow-cost/run-1/readiness.json; controls/catalog.json; experiments/system1-2026-10-19/FINDINGS.md. The original generated illustration is a metaphor for a self-scored test suite; it does not depict a real person, model run or cluster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50:00–51:00. Close the recorded proposal review by asking whether the speed or API price justifies granting unresolved authority; it does not. These historical measurements support candidate screening. Production selection still requires representative error consequences, reviewer effort, failure behavior and setup/operations costs. Show the model/workflow comparison for one minute. The zero-shot Laya column is the October 12 frozen-pilot result, separate from the trained proposal just reviewed. Its frozen option order differs from the runtime order used for the new trained comparison. This is a screening pilot, not production certification or classifier-class superiority. Claude Opus 5.5 used adaptive thinking with medium effort and strict structured output; Jev returned its typed distribution. Returned IDs were claude-opus-5-5 and jev-1.13.0. Cases and labels unchanged from local pilot; 33 scored and four hostile report-only cases. No unreadable answers. Exact McNemar: two Claude-only correct, zero Jev-only, p=0.50. Decision latency covers 37 warm HTTP requests, excluding warmup. Scenario A time and API price are median of three newly measured complete fixture runs: decisions, compilation, Kyverno simulation and local proposal writing. Jev range 1.69–2.05 seconds; Claude 19.41–28.39 seconds. Jev eight API calls and four escalations each run; Claude eight or nine calls and one escalation. Human review and deployment excluded. Clients were launched concurrently, each sequential internally; Jev completed while the first Claude run was in progress. Three runs cannot establish p95 or load performance. List prices checked October 12: Jev $0.042/M input tokens, outputs free; Claude $4/M input and $20/M output. Scenario A per run: Jev 4,552 input tokens and 634 free output tokens; Claude 6,483–7,222 input and 545–931 output tokens. Model cost is estimated from usage, not an invoice. Setup effort was not timed or priced. Four human escalations versus one can dominate total cost; see RUN-COST-ANALYSIS.md. Zero selected mistakes does not certify a threshold: only 26 selected cases and different score definitions. OpenAI has not run because no OpenAI key was supplied. Laya added as a local comparator: 16/33 pilot, 0.089-second median in-process decision latency on MPS, excluding HTTP. Its Scenario A three-run median was 0.41 seconds, but every clause escalated and no guardrail was generated. Four model calls versus eight or nine hosted calls means it did less work. No API charge; compute, energy and operations unpriced. Model load excluded and reported separately. No throughput or production winner claim. Sources: submission/2026-10-12/HOSTED-COMPARISON.md; https://docs.typesafe.ai/models; https://platform.claude.com/docs/en/models/overview; https://platform.claude.com/docs/en/build-with-claude/structured-outputs.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51:00–55:00. Add a concrete exit criterion to the worksheet. A: reviewed clean image and no ongoing suspect connections. B: ticket/tool boundary repaired and tested. C: scoped RBAC, verified approvals and input source repaired. D: affected credentials rotated or accepted risk documented, least-privilege Role and tested metrics recovery. Descent is Q3, Q2, Q1, Q0 under authorized review. If critical service has no clean serving capacity, record the conflict instead of declaring success. Generated incident-room art is a visual metaphor, not cluster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55:00–56:00. Show this illustrative paper decision record only after teams have completed recovery. This is one defensible Case A example, not the only answer, a model output or proof of executed containment. Trace the same requirement through initial disposition, later evidence, changed order and recovery tests. Explain that two ready copies are not automatically two trusted clean copies. Compare one table’s actual revision, accepting a defensible hold. 56:00–58:00. Tally points, hear at most two twenty-second reports and ask each participant to record a requirement, owner and verification step for their own environment. 58:00–60:00 questions. Preserve all three learning outputs: intent/map, justified controls/exceptions and a scoped containment/recovery playbook. Repository source: https://github.com/mgunjan/sc2632-tabletop/blob/main/tabletop/congress-2026/WORKED-DECISION.md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56:00–60:00 (Milind). Closing resource slide. Public curated repository verified: https://github.com/mgunjan/sc2632-tabletop. Start with its README; it includes a no-key reference demo, supplied test fixtures and frozen outputs. A live local CLI run requires Kyverno 1.19.1. Share the complete exercise package after the sealed evidence is revealed. Describe cloud agnostic as implementation patterns based on Kubernetes APIs, not a claim that every managed distribution has been tested. The source includes historical single-node k3s and the October 13 presenting-Mac three-node k3d record. These do not establish support across all managed Kubernetes platforms. Repository source: https://github.com/mgunjan/sc2632-tabletop/blob/main/README.md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if terminal compilation is unavailable. This is a summarized excerpt, not verbatim full YAML. Show output/frozen-a/policies/deny-privilege-escalation.yaml for the complete policy. The specification was hand-written and the generator rendered it. Repository source: https://github.com/mgunjan/sc2632-tabletop/blob/main/output/frozen-a/PR.md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Abridged from the frozen Scenario A admission report. These are offline simulations on fictional fixtures. They do not prove that the admission policy constrains a running connection, reads or internal tool calls. Repository source: https://github.com/mgunjan/sc2632-tabletop/blob/main/output/frozen-a/PR.md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within the existing 44–45 case comparison for a D table or as a Q&amp;A backup. Lock the copied-credential prediction during Round 3 before showing this table. Then compare each state and identify which authority boundary changed. This is the actual October 13 presenting-Mac run on synthetic resources, separate from the fictional incident. The suspect cannot open a new API TCP connection while an unaffected positive control still can. The same bearer token used from outside the Pod continues Secret GET/LIST in two other namespaces. Removing its broad binding gives HTTP 403 while preserving exactly one named in-namespace Secret GET and one ConfigMap GET; in-namespace LIST is also denied. The replacement has its own Pod-bound credential and restored API connectivity. Old-token authentication returns 401 41.2 seconds after bound-Pod deletion; the old token was far from natural expiry. New-token positive reads still return 200, and outside reads remain 403. There are 58 passing observations, including repeated health samples, not independent incident scenarios. No production monitoring delivery, audit export, external application-key revocation or compromise eradication is claimed. RBAC proposal is manually reviewed, not model generated. Source: submission/2026-10-13/live-rehearsal/case-d/result.json; lab/verify-case-d.py; scenarios/d-secret-enumeration/review/PR.md; https://kubernetes.io/docs/reference/access-authn-authz/service-accounts-admin/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for Q&amp;A about the local System1 retrain. Native Laya reached 99.69% accuracy and 99.66% minimum class recall on 1,310 synthetic training assessments after full-row coverage and equalized class loss. On the unchanged 15-case authored plan test, it remained 2/15 exact plans, the same as the prior Laya candidate; saved Claude was 10/15. The 15 cases have been examined and their labels remain unreviewed independently. This is a paired regression comparison, not a new blind benchmark or production-safety claim. Source: experiments/system1-2026-10-19/optimization-v1/native-training-v5/COMPARISON.md.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 duration and engineering costs were not measured, so no setup-cost winner is claimed. Hosted candidates require billing, credential security, network and provider-failure handling. Local candidates used an Apple-silicon Mac with 18 GiB RAM; acquisition, energy and ongoing operations are unpriced. Per-run provider amounts are estimated usage-based cost, not invoice totals. One minute at $120/hour is a sensitivity calculation, not measured review effort.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metrics preserve separate scopes: accuracy and screening decision latency use 33 author-labelled candidate decisions; Scenario A time and estimated API cost are medians of three fixture workflow runs. Jev–Claude accuracy gap is inconclusive (30/33 vs 32/33). Confidence/score definitions differ and are not established as comparable calibrated risks. Base Laya is zero-shot. Its local compute cost is unpriced and its workflow omitted a guardrail. Costs are estimated provider usage, not invoices. Full distributions and run records are under submission/2026-10-12/benchmark/. These are candidate-screening results, not production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28fc79f4be4d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19839dcc4e43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5e42ab69744e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dc642a598b42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1816e52e5048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620e65f3e04d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9044D5-5343-46C4-BABD-36D19C61C3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C741C1-55E1-4011-BAB7-4BDE97DBA47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B863A2-67BA-4D8E-ACE6-E63FBD54528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0911C6-3691-4A34-8CCC-EBA170F8ED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1DB6B5-FF7A-496E-BBEA-08F93788C4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04C791-AE82-4FCA-8186-EF4F422C31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286251-0175-4E97-82C9-B82553ADE9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A28875-AE33-42F0-901E-0DBB764BD3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FB891C-FEF6-4DFD-8E90-9F625203A0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A9BCF7-9320-4CF7-B668-54EBC9E314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bf3904ccec4605" /><Relationship Type="http://schemas.openxmlformats.org/officeDocument/2006/relationships/slideLayout" Target="/ppt/slideLayouts/slideLayout1.xml" Id="R82478c62c8344ad1" /><Relationship Type="http://schemas.openxmlformats.org/officeDocument/2006/relationships/slideLayout" Target="/ppt/slideLayouts/slideLayout2.xml" Id="R808298ba0eab47f6" /><Relationship Type="http://schemas.openxmlformats.org/officeDocument/2006/relationships/slideLayout" Target="/ppt/slideLayouts/slideLayout3.xml" Id="Rba056fd386c3493c" /><Relationship Type="http://schemas.openxmlformats.org/officeDocument/2006/relationships/slideLayout" Target="/ppt/slideLayouts/slideLayout4.xml" Id="R2b87cca913da4362" /><Relationship Type="http://schemas.openxmlformats.org/officeDocument/2006/relationships/slideLayout" Target="/ppt/slideLayouts/slideLayout5.xml" Id="R946124ebd5c240dc" /><Relationship Type="http://schemas.openxmlformats.org/officeDocument/2006/relationships/slideLayout" Target="/ppt/slideLayouts/slideLayout6.xml" Id="Rf02c847c63c949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478c62c8344ad1"/>
    <p:sldLayoutId xmlns:r="http://schemas.openxmlformats.org/officeDocument/2006/relationships" id="2147483650" r:id="R808298ba0eab47f6"/>
    <p:sldLayoutId xmlns:r="http://schemas.openxmlformats.org/officeDocument/2006/relationships" id="2147483651" r:id="Rba056fd386c3493c"/>
    <p:sldLayoutId xmlns:r="http://schemas.openxmlformats.org/officeDocument/2006/relationships" id="2147483652" r:id="R2b87cca913da4362"/>
    <p:sldLayoutId xmlns:r="http://schemas.openxmlformats.org/officeDocument/2006/relationships" id="2147483653" r:id="R946124ebd5c240dc"/>
    <p:sldLayoutId xmlns:r="http://schemas.openxmlformats.org/officeDocument/2006/relationships" id="2147483654" r:id="Rf02c847c63c949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18895e60d942cf" /><Relationship Type="http://schemas.openxmlformats.org/officeDocument/2006/relationships/image" Target="/ppt/media/image.png" Id="R2b08421a04ca4fac" /><Relationship Type="http://schemas.openxmlformats.org/officeDocument/2006/relationships/notesSlide" Target="/ppt/notesSlides/notesSlide1.xml" Id="Rce8471135af14d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9e73acdbfd4c81" /><Relationship Type="http://schemas.openxmlformats.org/officeDocument/2006/relationships/notesSlide" Target="/ppt/notesSlides/notesSlide2.xml" Id="Rc3e81462c1884c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0fa12ae81b424e" /><Relationship Type="http://schemas.openxmlformats.org/officeDocument/2006/relationships/notesSlide" Target="/ppt/notesSlides/notesSlide3.xml" Id="R330fec90cca54d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2f19a999094ae4" /><Relationship Type="http://schemas.openxmlformats.org/officeDocument/2006/relationships/image" Target="/ppt/media/image2.png" Id="R63e8979584614316" /><Relationship Type="http://schemas.openxmlformats.org/officeDocument/2006/relationships/notesSlide" Target="/ppt/notesSlides/notesSlide4.xml" Id="R39f7fccbdc3641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ae35ed46aad4201" /><Relationship Type="http://schemas.openxmlformats.org/officeDocument/2006/relationships/image" Target="/ppt/media/image3.png" Id="R0bcbad53e38c40be" /><Relationship Type="http://schemas.openxmlformats.org/officeDocument/2006/relationships/notesSlide" Target="/ppt/notesSlides/notesSlide5.xml" Id="Reca5f58764b541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c102d411214578" /><Relationship Type="http://schemas.openxmlformats.org/officeDocument/2006/relationships/notesSlide" Target="/ppt/notesSlides/notesSlide6.xml" Id="R5f1b90d764db45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7ecad2edf14d78" /><Relationship Type="http://schemas.openxmlformats.org/officeDocument/2006/relationships/notesSlide" Target="/ppt/notesSlides/notesSlide7.xml" Id="R170d5cf68efb41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66d7a79376f4f3e" /><Relationship Type="http://schemas.openxmlformats.org/officeDocument/2006/relationships/notesSlide" Target="/ppt/notesSlides/notesSlide8.xml" Id="R908a21e0687148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d91500cd1d24141" /><Relationship Type="http://schemas.openxmlformats.org/officeDocument/2006/relationships/notesSlide" Target="/ppt/notesSlides/notesSlide9.xml" Id="R90a363ec338f49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44a055b29c24da5" /><Relationship Type="http://schemas.openxmlformats.org/officeDocument/2006/relationships/notesSlide" Target="/ppt/notesSlides/notesSlide10.xml" Id="R62f3dd132f634e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6cb8ac7aa734770" /><Relationship Type="http://schemas.openxmlformats.org/officeDocument/2006/relationships/notesSlide" Target="/ppt/notesSlides/notesSlide11.xml" Id="R61824993837e4e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7439b8730f64906" /><Relationship Type="http://schemas.openxmlformats.org/officeDocument/2006/relationships/notesSlide" Target="/ppt/notesSlides/notesSlide12.xml" Id="R6f49213d99914a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088ac203fcb4e5f" /><Relationship Type="http://schemas.openxmlformats.org/officeDocument/2006/relationships/notesSlide" Target="/ppt/notesSlides/notesSlide13.xml" Id="R58ee05b9dc1846e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899d8b1d4fb4e87" /><Relationship Type="http://schemas.openxmlformats.org/officeDocument/2006/relationships/notesSlide" Target="/ppt/notesSlides/notesSlide14.xml" Id="Ra08cff5ec67546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989dab42d9b44ec" /><Relationship Type="http://schemas.openxmlformats.org/officeDocument/2006/relationships/image" Target="/ppt/media/image4.png" Id="R1e64a90fa01842b9" /><Relationship Type="http://schemas.openxmlformats.org/officeDocument/2006/relationships/notesSlide" Target="/ppt/notesSlides/notesSlide15.xml" Id="Rf3e0c0d3047248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4eb9afc76b948b3" /><Relationship Type="http://schemas.openxmlformats.org/officeDocument/2006/relationships/notesSlide" Target="/ppt/notesSlides/notesSlide16.xml" Id="R89780346bbc04f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ea46b9e268d43d9" /><Relationship Type="http://schemas.openxmlformats.org/officeDocument/2006/relationships/notesSlide" Target="/ppt/notesSlides/notesSlide17.xml" Id="R95e491355cc841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d5d0d9d9f8e493e" /><Relationship Type="http://schemas.openxmlformats.org/officeDocument/2006/relationships/notesSlide" Target="/ppt/notesSlides/notesSlide18.xml" Id="R2fa82c1e6dc2459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177774b6fd64b26" /><Relationship Type="http://schemas.openxmlformats.org/officeDocument/2006/relationships/image" Target="/ppt/media/image5.png" Id="R408530d0452d4f0f" /><Relationship Type="http://schemas.openxmlformats.org/officeDocument/2006/relationships/notesSlide" Target="/ppt/notesSlides/notesSlide19.xml" Id="Rf6e6bfc8533348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512a177f7b441d9" /><Relationship Type="http://schemas.openxmlformats.org/officeDocument/2006/relationships/notesSlide" Target="/ppt/notesSlides/notesSlide20.xml" Id="Rc7701ceb72e544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391c216bba74f07" /><Relationship Type="http://schemas.openxmlformats.org/officeDocument/2006/relationships/notesSlide" Target="/ppt/notesSlides/notesSlide21.xml" Id="R5c24f250d63f4e5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a0feeac21e949b9" /><Relationship Type="http://schemas.openxmlformats.org/officeDocument/2006/relationships/image" Target="/ppt/media/image6.png" Id="Rb175aa8804b044af" /><Relationship Type="http://schemas.openxmlformats.org/officeDocument/2006/relationships/notesSlide" Target="/ppt/notesSlides/notesSlide22.xml" Id="Rc46b0996aa45495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c38008d5c534b8f" /><Relationship Type="http://schemas.openxmlformats.org/officeDocument/2006/relationships/image" Target="/ppt/media/image7.png" Id="R88078b3379fd4f94" /><Relationship Type="http://schemas.openxmlformats.org/officeDocument/2006/relationships/notesSlide" Target="/ppt/notesSlides/notesSlide23.xml" Id="Reb8a14e2777f40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ef438dbb05b40ce" /><Relationship Type="http://schemas.openxmlformats.org/officeDocument/2006/relationships/image" Target="/ppt/media/image8.png" Id="Rcefa0ba9a2e6411e" /><Relationship Type="http://schemas.openxmlformats.org/officeDocument/2006/relationships/notesSlide" Target="/ppt/notesSlides/notesSlide24.xml" Id="R20a981c94b0c4fc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4542e0a11c847b3" /><Relationship Type="http://schemas.openxmlformats.org/officeDocument/2006/relationships/image" Target="/ppt/media/image9.png" Id="R46df55a4b7694e92" /><Relationship Type="http://schemas.openxmlformats.org/officeDocument/2006/relationships/notesSlide" Target="/ppt/notesSlides/notesSlide25.xml" Id="R35543770b79f42c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308997dc91b48f5" /><Relationship Type="http://schemas.openxmlformats.org/officeDocument/2006/relationships/notesSlide" Target="/ppt/notesSlides/notesSlide26.xml" Id="R7a508471981c429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e04c28b081c4950" /><Relationship Type="http://schemas.openxmlformats.org/officeDocument/2006/relationships/notesSlide" Target="/ppt/notesSlides/notesSlide27.xml" Id="R310727f9c59948c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02ed1d026854349" /><Relationship Type="http://schemas.openxmlformats.org/officeDocument/2006/relationships/image" Target="/ppt/media/image10.png" Id="Re3fb706751f54583" /><Relationship Type="http://schemas.openxmlformats.org/officeDocument/2006/relationships/notesSlide" Target="/ppt/notesSlides/notesSlide28.xml" Id="Rc2b205f9d36c465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c51bfcb198d4e9d" /><Relationship Type="http://schemas.openxmlformats.org/officeDocument/2006/relationships/notesSlide" Target="/ppt/notesSlides/notesSlide29.xml" Id="R71e815f97b97456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e4aa51761c24a70" /><Relationship Type="http://schemas.openxmlformats.org/officeDocument/2006/relationships/image" Target="/ppt/media/image11.png" Id="R3c77b64d78c44125" /><Relationship Type="http://schemas.openxmlformats.org/officeDocument/2006/relationships/notesSlide" Target="/ppt/notesSlides/notesSlide30.xml" Id="R0c2fb856602e4d3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468b125a9d0438e" /><Relationship Type="http://schemas.openxmlformats.org/officeDocument/2006/relationships/notesSlide" Target="/ppt/notesSlides/notesSlide31.xml" Id="Re2905652b37749c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08672f589f04d38" /><Relationship Type="http://schemas.openxmlformats.org/officeDocument/2006/relationships/notesSlide" Target="/ppt/notesSlides/notesSlide32.xml" Id="R63871362a3594e9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8c598c102f44918" /><Relationship Type="http://schemas.openxmlformats.org/officeDocument/2006/relationships/notesSlide" Target="/ppt/notesSlides/notesSlide33.xml" Id="R241765f67933489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f89183663e844a7" /><Relationship Type="http://schemas.openxmlformats.org/officeDocument/2006/relationships/notesSlide" Target="/ppt/notesSlides/notesSlide34.xml" Id="R1a82445b79b74e3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34beb761c3242c0" /><Relationship Type="http://schemas.openxmlformats.org/officeDocument/2006/relationships/notesSlide" Target="/ppt/notesSlides/notesSlide35.xml" Id="Rafbabc50bd2f4a9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659dbc9cb9e49d7" /><Relationship Type="http://schemas.openxmlformats.org/officeDocument/2006/relationships/notesSlide" Target="/ppt/notesSlides/notesSlide36.xml" Id="Rfaec9d6390644e5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e02bb8756494029" /><Relationship Type="http://schemas.openxmlformats.org/officeDocument/2006/relationships/notesSlide" Target="/ppt/notesSlides/notesSlide37.xml" Id="R6a3a8b45c76b40d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1e611f9301645f1" /><Relationship Type="http://schemas.openxmlformats.org/officeDocument/2006/relationships/notesSlide" Target="/ppt/notesSlides/notesSlide38.xml" Id="R92c22ed3d42e42e7" /></Relationships>
</file>

<file path=ppt/slides/slide1.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pic>
        <p:nvPicPr>
          <p:cNvPr id="10" name="" descr="Generated abstract incident-room background. The overlaid slide text contains the exercise instructions; the background is not a system diagram or evidence.">
            <a:extLst xmlns:a="http://schemas.openxmlformats.org/drawingml/2006/main">
              <a:ext uri="{FF2B5EF4-FFF2-40B4-BE49-F238E27FC236}">
                <a16:creationId xmlns:a16="http://schemas.microsoft.com/office/drawing/2014/main" id="{3693A5B1-0E10-4AED-8BC0-85AFC4313B67}"/>
              </a:ext>
            </a:extLst>
          </p:cNvPr>
          <p:cNvPicPr>
            <a:picLocks xmlns:a="http://schemas.openxmlformats.org/drawingml/2006/main" noChangeAspect="1"/>
          </p:cNvPicPr>
          <p:nvPr/>
        </p:nvPicPr>
        <p:blipFill>
          <a:blip xmlns:r="http://schemas.openxmlformats.org/officeDocument/2006/relationships" xmlns:a="http://schemas.openxmlformats.org/drawingml/2006/main" r:embed="R2b08421a04ca4fa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ABLETOP / AGENTIC KUBERNETES GUARDRAILS">
            <a:extLst xmlns:a="http://schemas.openxmlformats.org/drawingml/2006/main">
              <a:ext uri="{FF2B5EF4-FFF2-40B4-BE49-F238E27FC236}">
                <a16:creationId xmlns:a16="http://schemas.microsoft.com/office/drawing/2014/main" id="{AAF3B627-B05A-416C-BDAD-A1A0C836988E}"/>
              </a:ext>
            </a:extLst>
          </p:cNvPr>
          <p:cNvSpPr>
            <a:spLocks xmlns:a="http://schemas.openxmlformats.org/drawingml/2006/main" noGrp="1"/>
          </p:cNvSpPr>
          <p:nvPr/>
        </p:nvSpPr>
        <p:spPr>
          <a:xfrm xmlns:a="http://schemas.openxmlformats.org/drawingml/2006/main">
            <a:off x="609600" y="4953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vl1pPr>
              <a:defRPr sz="1200" b="1">
                <a:solidFill>
                  <a:srgbClr val="25D8BD"/>
                </a:solidFill>
                <a:latin typeface="Arial"/>
                <a:ea typeface="Arial"/>
                <a:cs typeface="Arial"/>
              </a:defRPr>
            </a:lvl1pPr>
            <a:lvl2pPr>
              <a:defRPr sz="1200" b="1">
                <a:solidFill>
                  <a:srgbClr val="25D8BD"/>
                </a:solidFill>
                <a:latin typeface="Arial"/>
                <a:ea typeface="Arial"/>
                <a:cs typeface="Arial"/>
              </a:defRPr>
            </a:lvl2pPr>
            <a:lvl3pPr>
              <a:defRPr sz="1200" b="1">
                <a:solidFill>
                  <a:srgbClr val="25D8BD"/>
                </a:solidFill>
                <a:latin typeface="Arial"/>
                <a:ea typeface="Arial"/>
                <a:cs typeface="Arial"/>
              </a:defRPr>
            </a:lvl3pPr>
            <a:lvl4pPr>
              <a:defRPr sz="1200" b="1">
                <a:solidFill>
                  <a:srgbClr val="25D8BD"/>
                </a:solidFill>
                <a:latin typeface="Arial"/>
                <a:ea typeface="Arial"/>
                <a:cs typeface="Arial"/>
              </a:defRPr>
            </a:lvl4pPr>
            <a:lvl5pPr>
              <a:defRPr sz="1200" b="1">
                <a:solidFill>
                  <a:srgbClr val="25D8BD"/>
                </a:solidFill>
                <a:latin typeface="Arial"/>
                <a:ea typeface="Arial"/>
                <a:cs typeface="Arial"/>
              </a:defRPr>
            </a:lvl5pPr>
            <a:lvl6pPr>
              <a:defRPr sz="1200" b="1">
                <a:solidFill>
                  <a:srgbClr val="25D8BD"/>
                </a:solidFill>
                <a:latin typeface="Arial"/>
                <a:ea typeface="Arial"/>
                <a:cs typeface="Arial"/>
              </a:defRPr>
            </a:lvl6pPr>
            <a:lvl7pPr>
              <a:defRPr sz="1200" b="1">
                <a:solidFill>
                  <a:srgbClr val="25D8BD"/>
                </a:solidFill>
                <a:latin typeface="Arial"/>
                <a:ea typeface="Arial"/>
                <a:cs typeface="Arial"/>
              </a:defRPr>
            </a:lvl7pPr>
            <a:lvl8pPr>
              <a:defRPr sz="1200" b="1">
                <a:solidFill>
                  <a:srgbClr val="25D8BD"/>
                </a:solidFill>
                <a:latin typeface="Arial"/>
                <a:ea typeface="Arial"/>
                <a:cs typeface="Arial"/>
              </a:defRPr>
            </a:lvl8pPr>
            <a:lvl9pPr>
              <a:defRPr sz="1200" b="1">
                <a:solidFill>
                  <a:srgbClr val="25D8BD"/>
                </a:solidFill>
                <a:latin typeface="Arial"/>
                <a:ea typeface="Arial"/>
                <a:cs typeface="Arial"/>
              </a:defRPr>
            </a:lvl9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TABLETOP / AGENTIC KUBERNETES GUARDRAILS</a:t>
            </a:r>
          </a:p>
        </p:txBody>
      </p:sp>
      <p:sp>
        <p:nvSpPr>
          <p:cNvPr id="3" name="FROM INTENT&#10;TO ENFORCEMENT">
            <a:extLst xmlns:a="http://schemas.openxmlformats.org/drawingml/2006/main">
              <a:ext uri="{FF2B5EF4-FFF2-40B4-BE49-F238E27FC236}">
                <a16:creationId xmlns:a16="http://schemas.microsoft.com/office/drawing/2014/main" id="{8925FD90-A10B-42DD-9D5D-F7EC10208A54}"/>
              </a:ext>
            </a:extLst>
          </p:cNvPr>
          <p:cNvSpPr>
            <a:spLocks xmlns:a="http://schemas.openxmlformats.org/drawingml/2006/main" noGrp="1"/>
          </p:cNvSpPr>
          <p:nvPr>
            <p:ph type="title" idx="0"/>
          </p:nvPr>
        </p:nvSpPr>
        <p:spPr>
          <a:xfrm xmlns:a="http://schemas.openxmlformats.org/drawingml/2006/main">
            <a:off x="609600" y="1504950"/>
            <a:ext cx="776287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F2EFE7"/>
                </a:solidFill>
                <a:latin typeface="Arial Black"/>
                <a:ea typeface="Arial Black"/>
                <a:cs typeface="Arial Black"/>
              </a:defRPr>
            </a:defPPr>
            <a:lvl1pPr>
              <a:defRPr sz="5100" b="1">
                <a:solidFill>
                  <a:srgbClr val="F2EFE7"/>
                </a:solidFill>
                <a:latin typeface="Arial Black"/>
                <a:ea typeface="Arial Black"/>
                <a:cs typeface="Arial Black"/>
              </a:defRPr>
            </a:lvl1pPr>
            <a:lvl2pPr>
              <a:defRPr sz="5100" b="1">
                <a:solidFill>
                  <a:srgbClr val="F2EFE7"/>
                </a:solidFill>
                <a:latin typeface="Arial Black"/>
                <a:ea typeface="Arial Black"/>
                <a:cs typeface="Arial Black"/>
              </a:defRPr>
            </a:lvl2pPr>
            <a:lvl3pPr>
              <a:defRPr sz="5100" b="1">
                <a:solidFill>
                  <a:srgbClr val="F2EFE7"/>
                </a:solidFill>
                <a:latin typeface="Arial Black"/>
                <a:ea typeface="Arial Black"/>
                <a:cs typeface="Arial Black"/>
              </a:defRPr>
            </a:lvl3pPr>
            <a:lvl4pPr>
              <a:defRPr sz="5100" b="1">
                <a:solidFill>
                  <a:srgbClr val="F2EFE7"/>
                </a:solidFill>
                <a:latin typeface="Arial Black"/>
                <a:ea typeface="Arial Black"/>
                <a:cs typeface="Arial Black"/>
              </a:defRPr>
            </a:lvl4pPr>
            <a:lvl5pPr>
              <a:defRPr sz="5100" b="1">
                <a:solidFill>
                  <a:srgbClr val="F2EFE7"/>
                </a:solidFill>
                <a:latin typeface="Arial Black"/>
                <a:ea typeface="Arial Black"/>
                <a:cs typeface="Arial Black"/>
              </a:defRPr>
            </a:lvl5pPr>
            <a:lvl6pPr>
              <a:defRPr sz="5100" b="1">
                <a:solidFill>
                  <a:srgbClr val="F2EFE7"/>
                </a:solidFill>
                <a:latin typeface="Arial Black"/>
                <a:ea typeface="Arial Black"/>
                <a:cs typeface="Arial Black"/>
              </a:defRPr>
            </a:lvl6pPr>
            <a:lvl7pPr>
              <a:defRPr sz="5100" b="1">
                <a:solidFill>
                  <a:srgbClr val="F2EFE7"/>
                </a:solidFill>
                <a:latin typeface="Arial Black"/>
                <a:ea typeface="Arial Black"/>
                <a:cs typeface="Arial Black"/>
              </a:defRPr>
            </a:lvl7pPr>
            <a:lvl8pPr>
              <a:defRPr sz="5100" b="1">
                <a:solidFill>
                  <a:srgbClr val="F2EFE7"/>
                </a:solidFill>
                <a:latin typeface="Arial Black"/>
                <a:ea typeface="Arial Black"/>
                <a:cs typeface="Arial Black"/>
              </a:defRPr>
            </a:lvl8pPr>
            <a:lvl9pPr>
              <a:defRPr sz="5100" b="1">
                <a:solidFill>
                  <a:srgbClr val="F2EFE7"/>
                </a:solidFill>
                <a:latin typeface="Arial Black"/>
                <a:ea typeface="Arial Black"/>
                <a:cs typeface="Arial Black"/>
              </a:defRPr>
            </a:lvl9pPr>
          </a:lstStyle>
          <a:p xmlns:a="http://schemas.openxmlformats.org/drawingml/2006/main">
            <a:pPr>
              <a:defRPr sz="5100" b="1">
                <a:solidFill>
                  <a:srgbClr val="F2EFE7"/>
                </a:solidFill>
                <a:latin typeface="Arial Black"/>
                <a:ea typeface="Arial Black"/>
                <a:cs typeface="Arial Black"/>
              </a:defRPr>
            </a:pPr>
            <a:r>
              <a:rPr sz="5100" b="1">
                <a:solidFill>
                  <a:srgbClr val="F2EFE7"/>
                </a:solidFill>
                <a:latin typeface="Arial Black"/>
                <a:ea typeface="Arial Black"/>
                <a:cs typeface="Arial Black"/>
              </a:rPr>
              <a:t>FROM INTENT</a:t>
            </a:r>
          </a:p>
          <a:p xmlns:a="http://schemas.openxmlformats.org/drawingml/2006/main">
            <a:pPr>
              <a:defRPr sz="5100" b="1">
                <a:solidFill>
                  <a:srgbClr val="F2EFE7"/>
                </a:solidFill>
                <a:latin typeface="Arial Black"/>
                <a:ea typeface="Arial Black"/>
                <a:cs typeface="Arial Black"/>
              </a:defRPr>
            </a:pPr>
            <a:r>
              <a:rPr sz="5100" b="1">
                <a:solidFill>
                  <a:srgbClr val="F2EFE7"/>
                </a:solidFill>
                <a:latin typeface="Arial Black"/>
                <a:ea typeface="Arial Black"/>
                <a:cs typeface="Arial Black"/>
              </a:rPr>
              <a:t>TO ENFORCEMENT</a:t>
            </a:r>
          </a:p>
        </p:txBody>
      </p:sp>
      <p:sp>
        <p:nvSpPr>
          <p:cNvPr id="4" name="Quarantine Mode">
            <a:extLst xmlns:a="http://schemas.openxmlformats.org/drawingml/2006/main">
              <a:ext uri="{FF2B5EF4-FFF2-40B4-BE49-F238E27FC236}">
                <a16:creationId xmlns:a16="http://schemas.microsoft.com/office/drawing/2014/main" id="{7155C48E-8084-4FA8-AED3-0446667795AE}"/>
              </a:ext>
            </a:extLst>
          </p:cNvPr>
          <p:cNvSpPr>
            <a:spLocks xmlns:a="http://schemas.openxmlformats.org/drawingml/2006/main" noGrp="1"/>
          </p:cNvSpPr>
          <p:nvPr/>
        </p:nvSpPr>
        <p:spPr>
          <a:xfrm xmlns:a="http://schemas.openxmlformats.org/drawingml/2006/main">
            <a:off x="628650" y="38576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795B"/>
                </a:solidFill>
                <a:latin typeface="Arial"/>
                <a:ea typeface="Arial"/>
                <a:cs typeface="Arial"/>
              </a:defRPr>
            </a:defPPr>
            <a:lvl1pPr>
              <a:defRPr sz="3150" b="1">
                <a:solidFill>
                  <a:srgbClr val="FF795B"/>
                </a:solidFill>
                <a:latin typeface="Arial"/>
                <a:ea typeface="Arial"/>
                <a:cs typeface="Arial"/>
              </a:defRPr>
            </a:lvl1pPr>
            <a:lvl2pPr>
              <a:defRPr sz="3150" b="1">
                <a:solidFill>
                  <a:srgbClr val="FF795B"/>
                </a:solidFill>
                <a:latin typeface="Arial"/>
                <a:ea typeface="Arial"/>
                <a:cs typeface="Arial"/>
              </a:defRPr>
            </a:lvl2pPr>
            <a:lvl3pPr>
              <a:defRPr sz="3150" b="1">
                <a:solidFill>
                  <a:srgbClr val="FF795B"/>
                </a:solidFill>
                <a:latin typeface="Arial"/>
                <a:ea typeface="Arial"/>
                <a:cs typeface="Arial"/>
              </a:defRPr>
            </a:lvl3pPr>
            <a:lvl4pPr>
              <a:defRPr sz="3150" b="1">
                <a:solidFill>
                  <a:srgbClr val="FF795B"/>
                </a:solidFill>
                <a:latin typeface="Arial"/>
                <a:ea typeface="Arial"/>
                <a:cs typeface="Arial"/>
              </a:defRPr>
            </a:lvl4pPr>
            <a:lvl5pPr>
              <a:defRPr sz="3150" b="1">
                <a:solidFill>
                  <a:srgbClr val="FF795B"/>
                </a:solidFill>
                <a:latin typeface="Arial"/>
                <a:ea typeface="Arial"/>
                <a:cs typeface="Arial"/>
              </a:defRPr>
            </a:lvl5pPr>
            <a:lvl6pPr>
              <a:defRPr sz="3150" b="1">
                <a:solidFill>
                  <a:srgbClr val="FF795B"/>
                </a:solidFill>
                <a:latin typeface="Arial"/>
                <a:ea typeface="Arial"/>
                <a:cs typeface="Arial"/>
              </a:defRPr>
            </a:lvl6pPr>
            <a:lvl7pPr>
              <a:defRPr sz="3150" b="1">
                <a:solidFill>
                  <a:srgbClr val="FF795B"/>
                </a:solidFill>
                <a:latin typeface="Arial"/>
                <a:ea typeface="Arial"/>
                <a:cs typeface="Arial"/>
              </a:defRPr>
            </a:lvl7pPr>
            <a:lvl8pPr>
              <a:defRPr sz="3150" b="1">
                <a:solidFill>
                  <a:srgbClr val="FF795B"/>
                </a:solidFill>
                <a:latin typeface="Arial"/>
                <a:ea typeface="Arial"/>
                <a:cs typeface="Arial"/>
              </a:defRPr>
            </a:lvl8pPr>
            <a:lvl9pPr>
              <a:defRPr sz="3150" b="1">
                <a:solidFill>
                  <a:srgbClr val="FF795B"/>
                </a:solidFill>
                <a:latin typeface="Arial"/>
                <a:ea typeface="Arial"/>
                <a:cs typeface="Arial"/>
              </a:defRPr>
            </a:lvl9pPr>
          </a:lstStyle>
          <a:p xmlns:a="http://schemas.openxmlformats.org/drawingml/2006/main">
            <a:pPr>
              <a:defRPr sz="3150" b="1">
                <a:solidFill>
                  <a:srgbClr val="FF795B"/>
                </a:solidFill>
                <a:latin typeface="Arial"/>
                <a:ea typeface="Arial"/>
                <a:cs typeface="Arial"/>
              </a:defRPr>
            </a:pPr>
            <a:r>
              <a:rPr sz="3150" b="1">
                <a:solidFill>
                  <a:srgbClr val="FF795B"/>
                </a:solidFill>
                <a:latin typeface="Arial"/>
                <a:ea typeface="Arial"/>
                <a:cs typeface="Arial"/>
              </a:rPr>
              <a:t>Quarantine Mode</a:t>
            </a:r>
          </a:p>
        </p:txBody>
      </p:sp>
      <p:sp>
        <p:nvSpPr>
          <p:cNvPr id="5" name="Incident containment on a shared Kubernetes plat">
            <a:extLst xmlns:a="http://schemas.openxmlformats.org/drawingml/2006/main">
              <a:ext uri="{FF2B5EF4-FFF2-40B4-BE49-F238E27FC236}">
                <a16:creationId xmlns:a16="http://schemas.microsoft.com/office/drawing/2014/main" id="{B2DD76B7-1787-4F2F-9A97-2A2CFAB4DC37}"/>
              </a:ext>
            </a:extLst>
          </p:cNvPr>
          <p:cNvSpPr>
            <a:spLocks xmlns:a="http://schemas.openxmlformats.org/drawingml/2006/main" noGrp="1"/>
          </p:cNvSpPr>
          <p:nvPr/>
        </p:nvSpPr>
        <p:spPr>
          <a:xfrm xmlns:a="http://schemas.openxmlformats.org/drawingml/2006/main">
            <a:off x="628650" y="4638675"/>
            <a:ext cx="647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2EFE7"/>
                </a:solidFill>
                <a:latin typeface="Arial"/>
                <a:ea typeface="Arial"/>
                <a:cs typeface="Arial"/>
              </a:defRPr>
            </a:defPPr>
            <a:lvl1pPr>
              <a:defRPr sz="1800" b="0">
                <a:solidFill>
                  <a:srgbClr val="F2EFE7"/>
                </a:solidFill>
                <a:latin typeface="Arial"/>
                <a:ea typeface="Arial"/>
                <a:cs typeface="Arial"/>
              </a:defRPr>
            </a:lvl1pPr>
            <a:lvl2pPr>
              <a:defRPr sz="1800" b="0">
                <a:solidFill>
                  <a:srgbClr val="F2EFE7"/>
                </a:solidFill>
                <a:latin typeface="Arial"/>
                <a:ea typeface="Arial"/>
                <a:cs typeface="Arial"/>
              </a:defRPr>
            </a:lvl2pPr>
            <a:lvl3pPr>
              <a:defRPr sz="1800" b="0">
                <a:solidFill>
                  <a:srgbClr val="F2EFE7"/>
                </a:solidFill>
                <a:latin typeface="Arial"/>
                <a:ea typeface="Arial"/>
                <a:cs typeface="Arial"/>
              </a:defRPr>
            </a:lvl3pPr>
            <a:lvl4pPr>
              <a:defRPr sz="1800" b="0">
                <a:solidFill>
                  <a:srgbClr val="F2EFE7"/>
                </a:solidFill>
                <a:latin typeface="Arial"/>
                <a:ea typeface="Arial"/>
                <a:cs typeface="Arial"/>
              </a:defRPr>
            </a:lvl4pPr>
            <a:lvl5pPr>
              <a:defRPr sz="1800" b="0">
                <a:solidFill>
                  <a:srgbClr val="F2EFE7"/>
                </a:solidFill>
                <a:latin typeface="Arial"/>
                <a:ea typeface="Arial"/>
                <a:cs typeface="Arial"/>
              </a:defRPr>
            </a:lvl5pPr>
            <a:lvl6pPr>
              <a:defRPr sz="1800" b="0">
                <a:solidFill>
                  <a:srgbClr val="F2EFE7"/>
                </a:solidFill>
                <a:latin typeface="Arial"/>
                <a:ea typeface="Arial"/>
                <a:cs typeface="Arial"/>
              </a:defRPr>
            </a:lvl6pPr>
            <a:lvl7pPr>
              <a:defRPr sz="1800" b="0">
                <a:solidFill>
                  <a:srgbClr val="F2EFE7"/>
                </a:solidFill>
                <a:latin typeface="Arial"/>
                <a:ea typeface="Arial"/>
                <a:cs typeface="Arial"/>
              </a:defRPr>
            </a:lvl7pPr>
            <a:lvl8pPr>
              <a:defRPr sz="1800" b="0">
                <a:solidFill>
                  <a:srgbClr val="F2EFE7"/>
                </a:solidFill>
                <a:latin typeface="Arial"/>
                <a:ea typeface="Arial"/>
                <a:cs typeface="Arial"/>
              </a:defRPr>
            </a:lvl8pPr>
            <a:lvl9pPr>
              <a:defRPr sz="1800" b="0">
                <a:solidFill>
                  <a:srgbClr val="F2EFE7"/>
                </a:solidFill>
                <a:latin typeface="Arial"/>
                <a:ea typeface="Arial"/>
                <a:cs typeface="Arial"/>
              </a:defRPr>
            </a:lvl9pPr>
          </a:lstStyle>
          <a:p xmlns:a="http://schemas.openxmlformats.org/drawingml/2006/main">
            <a:pPr>
              <a:defRPr sz="1800" b="0">
                <a:solidFill>
                  <a:srgbClr val="F2EFE7"/>
                </a:solidFill>
                <a:latin typeface="Arial"/>
                <a:ea typeface="Arial"/>
                <a:cs typeface="Arial"/>
              </a:defRPr>
            </a:pPr>
            <a:r>
              <a:rPr sz="1800" b="0">
                <a:solidFill>
                  <a:srgbClr val="F2EFE7"/>
                </a:solidFill>
                <a:latin typeface="Arial"/>
                <a:ea typeface="Arial"/>
                <a:cs typeface="Arial"/>
              </a:rPr>
              <a:t>Incident containment on a shared Kubernetes platform</a:t>
            </a:r>
          </a:p>
        </p:txBody>
      </p:sp>
      <p:sp>
        <p:nvSpPr>
          <p:cNvPr id="6" name="Co-presenters: Milind Gunjan  /  Vivek Mayuranat">
            <a:extLst xmlns:a="http://schemas.openxmlformats.org/drawingml/2006/main">
              <a:ext uri="{FF2B5EF4-FFF2-40B4-BE49-F238E27FC236}">
                <a16:creationId xmlns:a16="http://schemas.microsoft.com/office/drawing/2014/main" id="{0520CBF7-ECD9-4BB8-8DA9-03A135794170}"/>
              </a:ext>
            </a:extLst>
          </p:cNvPr>
          <p:cNvSpPr>
            <a:spLocks xmlns:a="http://schemas.openxmlformats.org/drawingml/2006/main" noGrp="1"/>
          </p:cNvSpPr>
          <p:nvPr/>
        </p:nvSpPr>
        <p:spPr>
          <a:xfrm xmlns:a="http://schemas.openxmlformats.org/drawingml/2006/main">
            <a:off x="628650" y="5762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6C5CD"/>
                </a:solidFill>
                <a:latin typeface="Arial"/>
                <a:ea typeface="Arial"/>
                <a:cs typeface="Arial"/>
              </a:defRPr>
            </a:defPPr>
            <a:lvl1pPr>
              <a:defRPr sz="1650" b="0">
                <a:solidFill>
                  <a:srgbClr val="B6C5CD"/>
                </a:solidFill>
                <a:latin typeface="Arial"/>
                <a:ea typeface="Arial"/>
                <a:cs typeface="Arial"/>
              </a:defRPr>
            </a:lvl1pPr>
            <a:lvl2pPr>
              <a:defRPr sz="1650" b="0">
                <a:solidFill>
                  <a:srgbClr val="B6C5CD"/>
                </a:solidFill>
                <a:latin typeface="Arial"/>
                <a:ea typeface="Arial"/>
                <a:cs typeface="Arial"/>
              </a:defRPr>
            </a:lvl2pPr>
            <a:lvl3pPr>
              <a:defRPr sz="1650" b="0">
                <a:solidFill>
                  <a:srgbClr val="B6C5CD"/>
                </a:solidFill>
                <a:latin typeface="Arial"/>
                <a:ea typeface="Arial"/>
                <a:cs typeface="Arial"/>
              </a:defRPr>
            </a:lvl3pPr>
            <a:lvl4pPr>
              <a:defRPr sz="1650" b="0">
                <a:solidFill>
                  <a:srgbClr val="B6C5CD"/>
                </a:solidFill>
                <a:latin typeface="Arial"/>
                <a:ea typeface="Arial"/>
                <a:cs typeface="Arial"/>
              </a:defRPr>
            </a:lvl4pPr>
            <a:lvl5pPr>
              <a:defRPr sz="1650" b="0">
                <a:solidFill>
                  <a:srgbClr val="B6C5CD"/>
                </a:solidFill>
                <a:latin typeface="Arial"/>
                <a:ea typeface="Arial"/>
                <a:cs typeface="Arial"/>
              </a:defRPr>
            </a:lvl5pPr>
            <a:lvl6pPr>
              <a:defRPr sz="1650" b="0">
                <a:solidFill>
                  <a:srgbClr val="B6C5CD"/>
                </a:solidFill>
                <a:latin typeface="Arial"/>
                <a:ea typeface="Arial"/>
                <a:cs typeface="Arial"/>
              </a:defRPr>
            </a:lvl6pPr>
            <a:lvl7pPr>
              <a:defRPr sz="1650" b="0">
                <a:solidFill>
                  <a:srgbClr val="B6C5CD"/>
                </a:solidFill>
                <a:latin typeface="Arial"/>
                <a:ea typeface="Arial"/>
                <a:cs typeface="Arial"/>
              </a:defRPr>
            </a:lvl7pPr>
            <a:lvl8pPr>
              <a:defRPr sz="1650" b="0">
                <a:solidFill>
                  <a:srgbClr val="B6C5CD"/>
                </a:solidFill>
                <a:latin typeface="Arial"/>
                <a:ea typeface="Arial"/>
                <a:cs typeface="Arial"/>
              </a:defRPr>
            </a:lvl8pPr>
            <a:lvl9pPr>
              <a:defRPr sz="1650" b="0">
                <a:solidFill>
                  <a:srgbClr val="B6C5CD"/>
                </a:solidFill>
                <a:latin typeface="Arial"/>
                <a:ea typeface="Arial"/>
                <a:cs typeface="Arial"/>
              </a:defRPr>
            </a:lvl9pPr>
          </a:lstStyle>
          <a:p xmlns:a="http://schemas.openxmlformats.org/drawingml/2006/main">
            <a:pPr>
              <a:defRPr sz="1650" b="0">
                <a:solidFill>
                  <a:srgbClr val="B6C5CD"/>
                </a:solidFill>
                <a:latin typeface="Arial"/>
                <a:ea typeface="Arial"/>
                <a:cs typeface="Arial"/>
              </a:defRPr>
            </a:pPr>
            <a:r>
              <a:rPr sz="1650" b="0">
                <a:solidFill>
                  <a:srgbClr val="B6C5CD"/>
                </a:solidFill>
                <a:latin typeface="Arial"/>
                <a:ea typeface="Arial"/>
                <a:cs typeface="Arial"/>
              </a:rPr>
              <a:t>Co-presenters: Milind Gunjan  /  Vivek Mayuranathan</a:t>
            </a:r>
          </a:p>
        </p:txBody>
      </p:sp>
      <p:sp>
        <p:nvSpPr>
          <p:cNvPr id="7" name="October 26, 2026  ·  4:30–5:30 PM  ·  Views are ">
            <a:extLst xmlns:a="http://schemas.openxmlformats.org/drawingml/2006/main">
              <a:ext uri="{FF2B5EF4-FFF2-40B4-BE49-F238E27FC236}">
                <a16:creationId xmlns:a16="http://schemas.microsoft.com/office/drawing/2014/main" id="{EACBEDE6-0B07-45AC-A211-91B6F1A763A8}"/>
              </a:ext>
            </a:extLst>
          </p:cNvPr>
          <p:cNvSpPr>
            <a:spLocks xmlns:a="http://schemas.openxmlformats.org/drawingml/2006/main" noGrp="1"/>
          </p:cNvSpPr>
          <p:nvPr/>
        </p:nvSpPr>
        <p:spPr>
          <a:xfrm xmlns:a="http://schemas.openxmlformats.org/drawingml/2006/main">
            <a:off x="628650" y="6096000"/>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6C5CD"/>
                </a:solidFill>
                <a:latin typeface="Arial"/>
                <a:ea typeface="Arial"/>
                <a:cs typeface="Arial"/>
              </a:defRPr>
            </a:defPPr>
            <a:lvl1pPr>
              <a:defRPr sz="1125" b="0">
                <a:solidFill>
                  <a:srgbClr val="B6C5CD"/>
                </a:solidFill>
                <a:latin typeface="Arial"/>
                <a:ea typeface="Arial"/>
                <a:cs typeface="Arial"/>
              </a:defRPr>
            </a:lvl1pPr>
            <a:lvl2pPr>
              <a:defRPr sz="1125" b="0">
                <a:solidFill>
                  <a:srgbClr val="B6C5CD"/>
                </a:solidFill>
                <a:latin typeface="Arial"/>
                <a:ea typeface="Arial"/>
                <a:cs typeface="Arial"/>
              </a:defRPr>
            </a:lvl2pPr>
            <a:lvl3pPr>
              <a:defRPr sz="1125" b="0">
                <a:solidFill>
                  <a:srgbClr val="B6C5CD"/>
                </a:solidFill>
                <a:latin typeface="Arial"/>
                <a:ea typeface="Arial"/>
                <a:cs typeface="Arial"/>
              </a:defRPr>
            </a:lvl3pPr>
            <a:lvl4pPr>
              <a:defRPr sz="1125" b="0">
                <a:solidFill>
                  <a:srgbClr val="B6C5CD"/>
                </a:solidFill>
                <a:latin typeface="Arial"/>
                <a:ea typeface="Arial"/>
                <a:cs typeface="Arial"/>
              </a:defRPr>
            </a:lvl4pPr>
            <a:lvl5pPr>
              <a:defRPr sz="1125" b="0">
                <a:solidFill>
                  <a:srgbClr val="B6C5CD"/>
                </a:solidFill>
                <a:latin typeface="Arial"/>
                <a:ea typeface="Arial"/>
                <a:cs typeface="Arial"/>
              </a:defRPr>
            </a:lvl5pPr>
            <a:lvl6pPr>
              <a:defRPr sz="1125" b="0">
                <a:solidFill>
                  <a:srgbClr val="B6C5CD"/>
                </a:solidFill>
                <a:latin typeface="Arial"/>
                <a:ea typeface="Arial"/>
                <a:cs typeface="Arial"/>
              </a:defRPr>
            </a:lvl6pPr>
            <a:lvl7pPr>
              <a:defRPr sz="1125" b="0">
                <a:solidFill>
                  <a:srgbClr val="B6C5CD"/>
                </a:solidFill>
                <a:latin typeface="Arial"/>
                <a:ea typeface="Arial"/>
                <a:cs typeface="Arial"/>
              </a:defRPr>
            </a:lvl7pPr>
            <a:lvl8pPr>
              <a:defRPr sz="1125" b="0">
                <a:solidFill>
                  <a:srgbClr val="B6C5CD"/>
                </a:solidFill>
                <a:latin typeface="Arial"/>
                <a:ea typeface="Arial"/>
                <a:cs typeface="Arial"/>
              </a:defRPr>
            </a:lvl8pPr>
            <a:lvl9pPr>
              <a:defRPr sz="1125" b="0">
                <a:solidFill>
                  <a:srgbClr val="B6C5CD"/>
                </a:solidFill>
                <a:latin typeface="Arial"/>
                <a:ea typeface="Arial"/>
                <a:cs typeface="Arial"/>
              </a:defRPr>
            </a:lvl9pPr>
          </a:lstStyle>
          <a:p xmlns:a="http://schemas.openxmlformats.org/drawingml/2006/main">
            <a:pPr>
              <a:defRPr sz="1125" b="0">
                <a:solidFill>
                  <a:srgbClr val="B6C5CD"/>
                </a:solidFill>
                <a:latin typeface="Arial"/>
                <a:ea typeface="Arial"/>
                <a:cs typeface="Arial"/>
              </a:defRPr>
            </a:pPr>
            <a:r>
              <a:rPr sz="1125" b="0">
                <a:solidFill>
                  <a:srgbClr val="B6C5CD"/>
                </a:solidFill>
                <a:latin typeface="Arial"/>
                <a:ea typeface="Arial"/>
                <a:cs typeface="Arial"/>
              </a:rPr>
              <a:t>October 26, 2026  ·  4:30–5:30 PM  ·  Views are our own</a:t>
            </a:r>
          </a:p>
        </p:txBody>
      </p:sp>
      <p:sp>
        <p:nvSpPr>
          <p:cNvPr id="8" name="ISC2 SECURITY CONGRESS 2026 / SC2632">
            <a:extLst xmlns:a="http://schemas.openxmlformats.org/drawingml/2006/main">
              <a:ext uri="{FF2B5EF4-FFF2-40B4-BE49-F238E27FC236}">
                <a16:creationId xmlns:a16="http://schemas.microsoft.com/office/drawing/2014/main" id="{607699E2-3C30-41E4-B681-F4C4B453ADCC}"/>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vl1pPr>
              <a:defRPr sz="900" b="0">
                <a:solidFill>
                  <a:srgbClr val="8498A5"/>
                </a:solidFill>
                <a:latin typeface="Arial"/>
                <a:ea typeface="Arial"/>
                <a:cs typeface="Arial"/>
              </a:defRPr>
            </a:lvl1pPr>
            <a:lvl2pPr>
              <a:defRPr sz="900" b="0">
                <a:solidFill>
                  <a:srgbClr val="8498A5"/>
                </a:solidFill>
                <a:latin typeface="Arial"/>
                <a:ea typeface="Arial"/>
                <a:cs typeface="Arial"/>
              </a:defRPr>
            </a:lvl2pPr>
            <a:lvl3pPr>
              <a:defRPr sz="900" b="0">
                <a:solidFill>
                  <a:srgbClr val="8498A5"/>
                </a:solidFill>
                <a:latin typeface="Arial"/>
                <a:ea typeface="Arial"/>
                <a:cs typeface="Arial"/>
              </a:defRPr>
            </a:lvl3pPr>
            <a:lvl4pPr>
              <a:defRPr sz="900" b="0">
                <a:solidFill>
                  <a:srgbClr val="8498A5"/>
                </a:solidFill>
                <a:latin typeface="Arial"/>
                <a:ea typeface="Arial"/>
                <a:cs typeface="Arial"/>
              </a:defRPr>
            </a:lvl4pPr>
            <a:lvl5pPr>
              <a:defRPr sz="900" b="0">
                <a:solidFill>
                  <a:srgbClr val="8498A5"/>
                </a:solidFill>
                <a:latin typeface="Arial"/>
                <a:ea typeface="Arial"/>
                <a:cs typeface="Arial"/>
              </a:defRPr>
            </a:lvl5pPr>
            <a:lvl6pPr>
              <a:defRPr sz="900" b="0">
                <a:solidFill>
                  <a:srgbClr val="8498A5"/>
                </a:solidFill>
                <a:latin typeface="Arial"/>
                <a:ea typeface="Arial"/>
                <a:cs typeface="Arial"/>
              </a:defRPr>
            </a:lvl6pPr>
            <a:lvl7pPr>
              <a:defRPr sz="900" b="0">
                <a:solidFill>
                  <a:srgbClr val="8498A5"/>
                </a:solidFill>
                <a:latin typeface="Arial"/>
                <a:ea typeface="Arial"/>
                <a:cs typeface="Arial"/>
              </a:defRPr>
            </a:lvl7pPr>
            <a:lvl8pPr>
              <a:defRPr sz="900" b="0">
                <a:solidFill>
                  <a:srgbClr val="8498A5"/>
                </a:solidFill>
                <a:latin typeface="Arial"/>
                <a:ea typeface="Arial"/>
                <a:cs typeface="Arial"/>
              </a:defRPr>
            </a:lvl8pPr>
            <a:lvl9pPr>
              <a:defRPr sz="900" b="0">
                <a:solidFill>
                  <a:srgbClr val="8498A5"/>
                </a:solidFill>
                <a:latin typeface="Arial"/>
                <a:ea typeface="Arial"/>
                <a:cs typeface="Arial"/>
              </a:defRPr>
            </a:lvl9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9" name="01">
            <a:extLst xmlns:a="http://schemas.openxmlformats.org/drawingml/2006/main">
              <a:ext uri="{FF2B5EF4-FFF2-40B4-BE49-F238E27FC236}">
                <a16:creationId xmlns:a16="http://schemas.microsoft.com/office/drawing/2014/main" id="{35175EA9-5688-49BA-B277-029F5A3EAFB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vl1pPr>
              <a:defRPr sz="1200" b="1">
                <a:solidFill>
                  <a:srgbClr val="8498A5"/>
                </a:solidFill>
                <a:latin typeface="Arial"/>
                <a:ea typeface="Arial"/>
                <a:cs typeface="Arial"/>
              </a:defRPr>
            </a:lvl1pPr>
            <a:lvl2pPr>
              <a:defRPr sz="1200" b="1">
                <a:solidFill>
                  <a:srgbClr val="8498A5"/>
                </a:solidFill>
                <a:latin typeface="Arial"/>
                <a:ea typeface="Arial"/>
                <a:cs typeface="Arial"/>
              </a:defRPr>
            </a:lvl2pPr>
            <a:lvl3pPr>
              <a:defRPr sz="1200" b="1">
                <a:solidFill>
                  <a:srgbClr val="8498A5"/>
                </a:solidFill>
                <a:latin typeface="Arial"/>
                <a:ea typeface="Arial"/>
                <a:cs typeface="Arial"/>
              </a:defRPr>
            </a:lvl3pPr>
            <a:lvl4pPr>
              <a:defRPr sz="1200" b="1">
                <a:solidFill>
                  <a:srgbClr val="8498A5"/>
                </a:solidFill>
                <a:latin typeface="Arial"/>
                <a:ea typeface="Arial"/>
                <a:cs typeface="Arial"/>
              </a:defRPr>
            </a:lvl4pPr>
            <a:lvl5pPr>
              <a:defRPr sz="1200" b="1">
                <a:solidFill>
                  <a:srgbClr val="8498A5"/>
                </a:solidFill>
                <a:latin typeface="Arial"/>
                <a:ea typeface="Arial"/>
                <a:cs typeface="Arial"/>
              </a:defRPr>
            </a:lvl5pPr>
            <a:lvl6pPr>
              <a:defRPr sz="1200" b="1">
                <a:solidFill>
                  <a:srgbClr val="8498A5"/>
                </a:solidFill>
                <a:latin typeface="Arial"/>
                <a:ea typeface="Arial"/>
                <a:cs typeface="Arial"/>
              </a:defRPr>
            </a:lvl6pPr>
            <a:lvl7pPr>
              <a:defRPr sz="1200" b="1">
                <a:solidFill>
                  <a:srgbClr val="8498A5"/>
                </a:solidFill>
                <a:latin typeface="Arial"/>
                <a:ea typeface="Arial"/>
                <a:cs typeface="Arial"/>
              </a:defRPr>
            </a:lvl7pPr>
            <a:lvl8pPr>
              <a:defRPr sz="1200" b="1">
                <a:solidFill>
                  <a:srgbClr val="8498A5"/>
                </a:solidFill>
                <a:latin typeface="Arial"/>
                <a:ea typeface="Arial"/>
                <a:cs typeface="Arial"/>
              </a:defRPr>
            </a:lvl8pPr>
            <a:lvl9pPr>
              <a:defRPr sz="1200" b="1">
                <a:solidFill>
                  <a:srgbClr val="8498A5"/>
                </a:solidFill>
                <a:latin typeface="Arial"/>
                <a:ea typeface="Arial"/>
                <a:cs typeface="Arial"/>
              </a:defRPr>
            </a:lvl9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01</a:t>
            </a:r>
          </a:p>
        </p:txBody>
      </p:sp>
    </p:spTree>
    <p:extLst>
      <p:ext uri="{BB962C8B-B14F-4D97-AF65-F5344CB8AC3E}">
        <p14:creationId xmlns:p14="http://schemas.microsoft.com/office/powerpoint/2010/main" val="1490675917"/>
      </p:ext>
    </p:extLst>
  </p:cSld>
</p:sld>
</file>

<file path=ppt/slides/slide2.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0" name="SET THE EXERCISE BOUNDARY / FICTIONAL PLATFORM, ">
            <a:extLst xmlns:a="http://schemas.openxmlformats.org/drawingml/2006/main">
              <a:ext uri="{FF2B5EF4-FFF2-40B4-BE49-F238E27FC236}">
                <a16:creationId xmlns:a16="http://schemas.microsoft.com/office/drawing/2014/main" id="{6A467CDF-52F1-4A25-B37E-4FF183A3A413}"/>
              </a:ext>
            </a:extLst>
          </p:cNvPr>
          <p:cNvSpPr>
            <a:spLocks xmlns:a="http://schemas.openxmlformats.org/drawingml/2006/main" noGrp="1"/>
          </p:cNvSpPr>
          <p:nvPr/>
        </p:nvSpPr>
        <p:spPr>
          <a:xfrm xmlns:a="http://schemas.openxmlformats.org/drawingml/2006/main">
            <a:off x="609600" y="41910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SET THE EXERCISE BOUNDARY / FICTIONAL PLATFORM, FACTS HELD CONSTANT</a:t>
            </a:r>
          </a:p>
        </p:txBody>
      </p:sp>
      <p:sp>
        <p:nvSpPr>
          <p:cNvPr id="2" name="One shared platform. Four possible incidents.">
            <a:extLst xmlns:a="http://schemas.openxmlformats.org/drawingml/2006/main">
              <a:ext uri="{FF2B5EF4-FFF2-40B4-BE49-F238E27FC236}">
                <a16:creationId xmlns:a16="http://schemas.microsoft.com/office/drawing/2014/main" id="{C4781A71-E576-4037-A1E2-FB59EACA09FF}"/>
              </a:ext>
            </a:extLst>
          </p:cNvPr>
          <p:cNvSpPr>
            <a:spLocks xmlns:a="http://schemas.openxmlformats.org/drawingml/2006/main" noGrp="1"/>
          </p:cNvSpPr>
          <p:nvPr>
            <p:ph type="title" idx="0"/>
          </p:nvPr>
        </p:nvSpPr>
        <p:spPr>
          <a:xfrm xmlns:a="http://schemas.openxmlformats.org/drawingml/2006/main">
            <a:off x="609600" y="8001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B1822"/>
                </a:solidFill>
                <a:latin typeface="Arial Black"/>
                <a:ea typeface="Arial Black"/>
                <a:cs typeface="Arial Black"/>
              </a:defRPr>
            </a:defPPr>
            <a:lvl1pPr>
              <a:defRPr sz="3150" b="1">
                <a:solidFill>
                  <a:srgbClr val="0B1822"/>
                </a:solidFill>
                <a:latin typeface="Arial Black"/>
                <a:ea typeface="Arial Black"/>
                <a:cs typeface="Arial Black"/>
              </a:defRPr>
            </a:lvl1pPr>
            <a:lvl2pPr>
              <a:defRPr sz="3150" b="1">
                <a:solidFill>
                  <a:srgbClr val="0B1822"/>
                </a:solidFill>
                <a:latin typeface="Arial Black"/>
                <a:ea typeface="Arial Black"/>
                <a:cs typeface="Arial Black"/>
              </a:defRPr>
            </a:lvl2pPr>
            <a:lvl3pPr>
              <a:defRPr sz="3150" b="1">
                <a:solidFill>
                  <a:srgbClr val="0B1822"/>
                </a:solidFill>
                <a:latin typeface="Arial Black"/>
                <a:ea typeface="Arial Black"/>
                <a:cs typeface="Arial Black"/>
              </a:defRPr>
            </a:lvl3pPr>
            <a:lvl4pPr>
              <a:defRPr sz="3150" b="1">
                <a:solidFill>
                  <a:srgbClr val="0B1822"/>
                </a:solidFill>
                <a:latin typeface="Arial Black"/>
                <a:ea typeface="Arial Black"/>
                <a:cs typeface="Arial Black"/>
              </a:defRPr>
            </a:lvl4pPr>
            <a:lvl5pPr>
              <a:defRPr sz="3150" b="1">
                <a:solidFill>
                  <a:srgbClr val="0B1822"/>
                </a:solidFill>
                <a:latin typeface="Arial Black"/>
                <a:ea typeface="Arial Black"/>
                <a:cs typeface="Arial Black"/>
              </a:defRPr>
            </a:lvl5pPr>
            <a:lvl6pPr>
              <a:defRPr sz="3150" b="1">
                <a:solidFill>
                  <a:srgbClr val="0B1822"/>
                </a:solidFill>
                <a:latin typeface="Arial Black"/>
                <a:ea typeface="Arial Black"/>
                <a:cs typeface="Arial Black"/>
              </a:defRPr>
            </a:lvl6pPr>
            <a:lvl7pPr>
              <a:defRPr sz="3150" b="1">
                <a:solidFill>
                  <a:srgbClr val="0B1822"/>
                </a:solidFill>
                <a:latin typeface="Arial Black"/>
                <a:ea typeface="Arial Black"/>
                <a:cs typeface="Arial Black"/>
              </a:defRPr>
            </a:lvl7pPr>
            <a:lvl8pPr>
              <a:defRPr sz="3150" b="1">
                <a:solidFill>
                  <a:srgbClr val="0B1822"/>
                </a:solidFill>
                <a:latin typeface="Arial Black"/>
                <a:ea typeface="Arial Black"/>
                <a:cs typeface="Arial Black"/>
              </a:defRPr>
            </a:lvl8pPr>
            <a:lvl9pPr>
              <a:defRPr sz="3150" b="1">
                <a:solidFill>
                  <a:srgbClr val="0B1822"/>
                </a:solidFill>
                <a:latin typeface="Arial Black"/>
                <a:ea typeface="Arial Black"/>
                <a:cs typeface="Arial Black"/>
              </a:defRPr>
            </a:lvl9pPr>
          </a:lstStyle>
          <a:p xmlns:a="http://schemas.openxmlformats.org/drawingml/2006/main">
            <a:pPr>
              <a:defRPr sz="3150" b="1">
                <a:solidFill>
                  <a:srgbClr val="0B1822"/>
                </a:solidFill>
                <a:latin typeface="Arial Black"/>
                <a:ea typeface="Arial Black"/>
                <a:cs typeface="Arial Black"/>
              </a:defRPr>
            </a:pPr>
            <a:r>
              <a:rPr sz="3150" b="1">
                <a:solidFill>
                  <a:srgbClr val="0B1822"/>
                </a:solidFill>
                <a:latin typeface="Arial Black"/>
                <a:ea typeface="Arial Black"/>
                <a:cs typeface="Arial Black"/>
              </a:rPr>
              <a:t>One shared platform. Four possible incidents.</a:t>
            </a:r>
          </a:p>
        </p:txBody>
      </p:sp>
      <p:sp>
        <p:nvSpPr>
          <p:cNvPr id="3" name="WHY THIS SETTING&#10;A fictional payment API makes t">
            <a:extLst xmlns:a="http://schemas.openxmlformats.org/drawingml/2006/main">
              <a:ext uri="{FF2B5EF4-FFF2-40B4-BE49-F238E27FC236}">
                <a16:creationId xmlns:a16="http://schemas.microsoft.com/office/drawing/2014/main" id="{8EC15DA7-7DFD-4E0E-B006-6D11801D35DB}"/>
              </a:ext>
            </a:extLst>
          </p:cNvPr>
          <p:cNvSpPr>
            <a:spLocks xmlns:a="http://schemas.openxmlformats.org/drawingml/2006/main" noGrp="1"/>
          </p:cNvSpPr>
          <p:nvPr/>
        </p:nvSpPr>
        <p:spPr>
          <a:xfrm xmlns:a="http://schemas.openxmlformats.org/drawingml/2006/main">
            <a:off x="609600" y="1790700"/>
            <a:ext cx="5286375" cy="135255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425" b="1">
                <a:solidFill>
                  <a:srgbClr val="0B1822"/>
                </a:solidFill>
                <a:latin typeface="Arial"/>
                <a:ea typeface="Arial"/>
                <a:cs typeface="Arial"/>
              </a:defRPr>
            </a:defPPr>
            <a:lvl1pPr>
              <a:defRPr sz="1425" b="1">
                <a:solidFill>
                  <a:srgbClr val="0B1822"/>
                </a:solidFill>
                <a:latin typeface="Arial"/>
                <a:ea typeface="Arial"/>
                <a:cs typeface="Arial"/>
              </a:defRPr>
            </a:lvl1pPr>
            <a:lvl2pPr>
              <a:defRPr sz="1425" b="1">
                <a:solidFill>
                  <a:srgbClr val="0B1822"/>
                </a:solidFill>
                <a:latin typeface="Arial"/>
                <a:ea typeface="Arial"/>
                <a:cs typeface="Arial"/>
              </a:defRPr>
            </a:lvl2pPr>
            <a:lvl3pPr>
              <a:defRPr sz="1425" b="1">
                <a:solidFill>
                  <a:srgbClr val="0B1822"/>
                </a:solidFill>
                <a:latin typeface="Arial"/>
                <a:ea typeface="Arial"/>
                <a:cs typeface="Arial"/>
              </a:defRPr>
            </a:lvl3pPr>
            <a:lvl4pPr>
              <a:defRPr sz="1425" b="1">
                <a:solidFill>
                  <a:srgbClr val="0B1822"/>
                </a:solidFill>
                <a:latin typeface="Arial"/>
                <a:ea typeface="Arial"/>
                <a:cs typeface="Arial"/>
              </a:defRPr>
            </a:lvl4pPr>
            <a:lvl5pPr>
              <a:defRPr sz="1425" b="1">
                <a:solidFill>
                  <a:srgbClr val="0B1822"/>
                </a:solidFill>
                <a:latin typeface="Arial"/>
                <a:ea typeface="Arial"/>
                <a:cs typeface="Arial"/>
              </a:defRPr>
            </a:lvl5pPr>
            <a:lvl6pPr>
              <a:defRPr sz="1425" b="1">
                <a:solidFill>
                  <a:srgbClr val="0B1822"/>
                </a:solidFill>
                <a:latin typeface="Arial"/>
                <a:ea typeface="Arial"/>
                <a:cs typeface="Arial"/>
              </a:defRPr>
            </a:lvl6pPr>
            <a:lvl7pPr>
              <a:defRPr sz="1425" b="1">
                <a:solidFill>
                  <a:srgbClr val="0B1822"/>
                </a:solidFill>
                <a:latin typeface="Arial"/>
                <a:ea typeface="Arial"/>
                <a:cs typeface="Arial"/>
              </a:defRPr>
            </a:lvl7pPr>
            <a:lvl8pPr>
              <a:defRPr sz="1425" b="1">
                <a:solidFill>
                  <a:srgbClr val="0B1822"/>
                </a:solidFill>
                <a:latin typeface="Arial"/>
                <a:ea typeface="Arial"/>
                <a:cs typeface="Arial"/>
              </a:defRPr>
            </a:lvl8pPr>
            <a:lvl9pPr>
              <a:defRPr sz="1425" b="1">
                <a:solidFill>
                  <a:srgbClr val="0B1822"/>
                </a:solidFill>
                <a:latin typeface="Arial"/>
                <a:ea typeface="Arial"/>
                <a:cs typeface="Arial"/>
              </a:defRPr>
            </a:lvl9pPr>
          </a:lstStyle>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WHY THIS SETTING</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A fictional payment API makes the availability tradeoff concrete: 3 copies, at least 2 healthy. The cases teach generic Kubernetes controls, not payment compliance.</a:t>
            </a:r>
          </a:p>
        </p:txBody>
      </p:sp>
      <p:sp>
        <p:nvSpPr>
          <p:cNvPr id="4" name="WHO RUNS HERE&#10;Application services and support, ">
            <a:extLst xmlns:a="http://schemas.openxmlformats.org/drawingml/2006/main">
              <a:ext uri="{FF2B5EF4-FFF2-40B4-BE49-F238E27FC236}">
                <a16:creationId xmlns:a16="http://schemas.microsoft.com/office/drawing/2014/main" id="{94A6A4EC-66F1-4EBE-A6FD-78F8BC42169A}"/>
              </a:ext>
            </a:extLst>
          </p:cNvPr>
          <p:cNvSpPr>
            <a:spLocks xmlns:a="http://schemas.openxmlformats.org/drawingml/2006/main" noGrp="1"/>
          </p:cNvSpPr>
          <p:nvPr/>
        </p:nvSpPr>
        <p:spPr>
          <a:xfrm xmlns:a="http://schemas.openxmlformats.org/drawingml/2006/main">
            <a:off x="6105525" y="1790700"/>
            <a:ext cx="5457825" cy="1352550"/>
          </a:xfrm>
          <a:prstGeom xmlns:a="http://schemas.openxmlformats.org/drawingml/2006/main" prst="rect">
            <a:avLst/>
          </a:prstGeom>
          <a:solidFill xmlns:a="http://schemas.openxmlformats.org/drawingml/2006/main">
            <a:srgbClr val="FFFFFF"/>
          </a:solidFill>
          <a:ln xmlns:a="http://schemas.openxmlformats.org/drawingml/2006/main" w="28575">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WHO RUNS HERE</a:t>
            </a:r>
          </a:p>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Application services and support, operations and monitoring agents run as separate workloads with distinct Kubernetes identities.</a:t>
            </a:r>
          </a:p>
        </p:txBody>
      </p:sp>
      <p:sp>
        <p:nvSpPr>
          <p:cNvPr id="5" name="WHAT IS NOT ASSUMED&#10;No incident is assigned yet.">
            <a:extLst xmlns:a="http://schemas.openxmlformats.org/drawingml/2006/main">
              <a:ext uri="{FF2B5EF4-FFF2-40B4-BE49-F238E27FC236}">
                <a16:creationId xmlns:a16="http://schemas.microsoft.com/office/drawing/2014/main" id="{53E64A14-2106-44D4-8BB5-84B82BF69B75}"/>
              </a:ext>
            </a:extLst>
          </p:cNvPr>
          <p:cNvSpPr>
            <a:spLocks xmlns:a="http://schemas.openxmlformats.org/drawingml/2006/main" noGrp="1"/>
          </p:cNvSpPr>
          <p:nvPr/>
        </p:nvSpPr>
        <p:spPr>
          <a:xfrm xmlns:a="http://schemas.openxmlformats.org/drawingml/2006/main">
            <a:off x="609600" y="3333750"/>
            <a:ext cx="5286375" cy="1352550"/>
          </a:xfrm>
          <a:prstGeom xmlns:a="http://schemas.openxmlformats.org/drawingml/2006/main" prst="rect">
            <a:avLst/>
          </a:prstGeom>
          <a:solidFill xmlns:a="http://schemas.openxmlformats.org/drawingml/2006/main">
            <a:srgbClr val="FFFFFF"/>
          </a:solidFill>
          <a:ln xmlns:a="http://schemas.openxmlformats.org/drawingml/2006/main" w="28575">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WHAT IS NOT ASSUMED</a:t>
            </a:r>
          </a:p>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No incident is assigned yet. The case-specific signal, affected identity, evidence and control gap arrive only after your table selects a case.</a:t>
            </a:r>
          </a:p>
        </p:txBody>
      </p:sp>
      <p:sp>
        <p:nvSpPr>
          <p:cNvPr id="6" name="YOUR OPERATING DUTY&#10;Keep the service floor, pres">
            <a:extLst xmlns:a="http://schemas.openxmlformats.org/drawingml/2006/main">
              <a:ext uri="{FF2B5EF4-FFF2-40B4-BE49-F238E27FC236}">
                <a16:creationId xmlns:a16="http://schemas.microsoft.com/office/drawing/2014/main" id="{668CB69D-BA42-4A89-AB0B-3905B4D00733}"/>
              </a:ext>
            </a:extLst>
          </p:cNvPr>
          <p:cNvSpPr>
            <a:spLocks xmlns:a="http://schemas.openxmlformats.org/drawingml/2006/main" noGrp="1"/>
          </p:cNvSpPr>
          <p:nvPr/>
        </p:nvSpPr>
        <p:spPr>
          <a:xfrm xmlns:a="http://schemas.openxmlformats.org/drawingml/2006/main">
            <a:off x="6105525" y="3333750"/>
            <a:ext cx="5457825" cy="135255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YOUR OPERATING DUTY</a:t>
            </a:r>
          </a:p>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Keep the service floor, preserve evidence and record who may approve a change. A proposed policy and its tests are only part of the response.</a:t>
            </a:r>
          </a:p>
        </p:txBody>
      </p:sp>
      <p:sp>
        <p:nvSpPr>
          <p:cNvPr id="7" name="You will make and revise a decision on paper. No">
            <a:extLst xmlns:a="http://schemas.openxmlformats.org/drawingml/2006/main">
              <a:ext uri="{FF2B5EF4-FFF2-40B4-BE49-F238E27FC236}">
                <a16:creationId xmlns:a16="http://schemas.microsoft.com/office/drawing/2014/main" id="{BC29E9B1-B878-452C-BA9A-226892E20D84}"/>
              </a:ext>
            </a:extLst>
          </p:cNvPr>
          <p:cNvSpPr>
            <a:spLocks xmlns:a="http://schemas.openxmlformats.org/drawingml/2006/main" noGrp="1"/>
          </p:cNvSpPr>
          <p:nvPr/>
        </p:nvSpPr>
        <p:spPr>
          <a:xfrm xmlns:a="http://schemas.openxmlformats.org/drawingml/2006/main">
            <a:off x="609600" y="5048250"/>
            <a:ext cx="10953750" cy="7048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650" b="1">
                <a:solidFill>
                  <a:srgbClr val="F2EFE7"/>
                </a:solidFill>
                <a:latin typeface="Arial"/>
                <a:ea typeface="Arial"/>
                <a:cs typeface="Arial"/>
              </a:defRPr>
            </a:defPPr>
            <a:lvl1pPr>
              <a:defRPr sz="1650" b="1">
                <a:solidFill>
                  <a:srgbClr val="F2EFE7"/>
                </a:solidFill>
                <a:latin typeface="Arial"/>
                <a:ea typeface="Arial"/>
                <a:cs typeface="Arial"/>
              </a:defRPr>
            </a:lvl1pPr>
            <a:lvl2pPr>
              <a:defRPr sz="1650" b="1">
                <a:solidFill>
                  <a:srgbClr val="F2EFE7"/>
                </a:solidFill>
                <a:latin typeface="Arial"/>
                <a:ea typeface="Arial"/>
                <a:cs typeface="Arial"/>
              </a:defRPr>
            </a:lvl2pPr>
            <a:lvl3pPr>
              <a:defRPr sz="1650" b="1">
                <a:solidFill>
                  <a:srgbClr val="F2EFE7"/>
                </a:solidFill>
                <a:latin typeface="Arial"/>
                <a:ea typeface="Arial"/>
                <a:cs typeface="Arial"/>
              </a:defRPr>
            </a:lvl3pPr>
            <a:lvl4pPr>
              <a:defRPr sz="1650" b="1">
                <a:solidFill>
                  <a:srgbClr val="F2EFE7"/>
                </a:solidFill>
                <a:latin typeface="Arial"/>
                <a:ea typeface="Arial"/>
                <a:cs typeface="Arial"/>
              </a:defRPr>
            </a:lvl4pPr>
            <a:lvl5pPr>
              <a:defRPr sz="1650" b="1">
                <a:solidFill>
                  <a:srgbClr val="F2EFE7"/>
                </a:solidFill>
                <a:latin typeface="Arial"/>
                <a:ea typeface="Arial"/>
                <a:cs typeface="Arial"/>
              </a:defRPr>
            </a:lvl5pPr>
            <a:lvl6pPr>
              <a:defRPr sz="1650" b="1">
                <a:solidFill>
                  <a:srgbClr val="F2EFE7"/>
                </a:solidFill>
                <a:latin typeface="Arial"/>
                <a:ea typeface="Arial"/>
                <a:cs typeface="Arial"/>
              </a:defRPr>
            </a:lvl6pPr>
            <a:lvl7pPr>
              <a:defRPr sz="1650" b="1">
                <a:solidFill>
                  <a:srgbClr val="F2EFE7"/>
                </a:solidFill>
                <a:latin typeface="Arial"/>
                <a:ea typeface="Arial"/>
                <a:cs typeface="Arial"/>
              </a:defRPr>
            </a:lvl7pPr>
            <a:lvl8pPr>
              <a:defRPr sz="1650" b="1">
                <a:solidFill>
                  <a:srgbClr val="F2EFE7"/>
                </a:solidFill>
                <a:latin typeface="Arial"/>
                <a:ea typeface="Arial"/>
                <a:cs typeface="Arial"/>
              </a:defRPr>
            </a:lvl8pPr>
            <a:lvl9pPr>
              <a:defRPr sz="1650" b="1">
                <a:solidFill>
                  <a:srgbClr val="F2EFE7"/>
                </a:solidFill>
                <a:latin typeface="Arial"/>
                <a:ea typeface="Arial"/>
                <a:cs typeface="Arial"/>
              </a:defRPr>
            </a:lvl9pPr>
          </a:lstStyle>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You will make and revise a decision on paper. No cluster access, laptop, YAML or prior Kubernetes experience is required.</a:t>
            </a:r>
          </a:p>
        </p:txBody>
      </p:sp>
      <p:sp>
        <p:nvSpPr>
          <p:cNvPr id="8" name="ISC2 SECURITY CONGRESS 2026 / SC2632">
            <a:extLst xmlns:a="http://schemas.openxmlformats.org/drawingml/2006/main">
              <a:ext uri="{FF2B5EF4-FFF2-40B4-BE49-F238E27FC236}">
                <a16:creationId xmlns:a16="http://schemas.microsoft.com/office/drawing/2014/main" id="{C920AF89-950D-4C6D-830E-E4045463EB08}"/>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9" name="02">
            <a:extLst xmlns:a="http://schemas.openxmlformats.org/drawingml/2006/main">
              <a:ext uri="{FF2B5EF4-FFF2-40B4-BE49-F238E27FC236}">
                <a16:creationId xmlns:a16="http://schemas.microsoft.com/office/drawing/2014/main" id="{5B49E101-8656-45A7-8CB5-B58BF28BED94}"/>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02</a:t>
            </a:r>
          </a:p>
        </p:txBody>
      </p:sp>
    </p:spTree>
    <p:extLst>
      <p:ext uri="{BB962C8B-B14F-4D97-AF65-F5344CB8AC3E}">
        <p14:creationId xmlns:p14="http://schemas.microsoft.com/office/powerpoint/2010/main" val="1964753781"/>
      </p:ext>
    </p:extLst>
  </p:cSld>
</p:sld>
</file>

<file path=ppt/slides/slide3.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2" name="RUN OF SHOW / PARTICIPANT DECISIONS BEFORE EACH ">
            <a:extLst xmlns:a="http://schemas.openxmlformats.org/drawingml/2006/main">
              <a:ext uri="{FF2B5EF4-FFF2-40B4-BE49-F238E27FC236}">
                <a16:creationId xmlns:a16="http://schemas.microsoft.com/office/drawing/2014/main" id="{4EBEBC02-48E0-4A46-8947-6F38A9D2D8E0}"/>
              </a:ext>
            </a:extLst>
          </p:cNvPr>
          <p:cNvSpPr>
            <a:spLocks xmlns:a="http://schemas.openxmlformats.org/drawingml/2006/main" noGrp="1"/>
          </p:cNvSpPr>
          <p:nvPr/>
        </p:nvSpPr>
        <p:spPr>
          <a:xfrm xmlns:a="http://schemas.openxmlformats.org/drawingml/2006/main">
            <a:off x="609600" y="41910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RUN OF SHOW / PARTICIPANT DECISIONS BEFORE EACH EVIDENCE REVEAL</a:t>
            </a:r>
          </a:p>
        </p:txBody>
      </p:sp>
      <p:sp>
        <p:nvSpPr>
          <p:cNvPr id="2" name="How we will use the hour">
            <a:extLst xmlns:a="http://schemas.openxmlformats.org/drawingml/2006/main">
              <a:ext uri="{FF2B5EF4-FFF2-40B4-BE49-F238E27FC236}">
                <a16:creationId xmlns:a16="http://schemas.microsoft.com/office/drawing/2014/main" id="{8148EAAA-ABBC-45D4-85AE-DB16E28CA3BB}"/>
              </a:ext>
            </a:extLst>
          </p:cNvPr>
          <p:cNvSpPr>
            <a:spLocks xmlns:a="http://schemas.openxmlformats.org/drawingml/2006/main" noGrp="1"/>
          </p:cNvSpPr>
          <p:nvPr>
            <p:ph type="title" idx="0"/>
          </p:nvPr>
        </p:nvSpPr>
        <p:spPr>
          <a:xfrm xmlns:a="http://schemas.openxmlformats.org/drawingml/2006/main">
            <a:off x="609600" y="8001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1822"/>
                </a:solidFill>
                <a:latin typeface="Arial Black"/>
                <a:ea typeface="Arial Black"/>
                <a:cs typeface="Arial Black"/>
              </a:defRPr>
            </a:defPPr>
            <a:lvl1pPr>
              <a:defRPr sz="3300" b="1">
                <a:solidFill>
                  <a:srgbClr val="0B1822"/>
                </a:solidFill>
                <a:latin typeface="Arial Black"/>
                <a:ea typeface="Arial Black"/>
                <a:cs typeface="Arial Black"/>
              </a:defRPr>
            </a:lvl1pPr>
            <a:lvl2pPr>
              <a:defRPr sz="3300" b="1">
                <a:solidFill>
                  <a:srgbClr val="0B1822"/>
                </a:solidFill>
                <a:latin typeface="Arial Black"/>
                <a:ea typeface="Arial Black"/>
                <a:cs typeface="Arial Black"/>
              </a:defRPr>
            </a:lvl2pPr>
            <a:lvl3pPr>
              <a:defRPr sz="3300" b="1">
                <a:solidFill>
                  <a:srgbClr val="0B1822"/>
                </a:solidFill>
                <a:latin typeface="Arial Black"/>
                <a:ea typeface="Arial Black"/>
                <a:cs typeface="Arial Black"/>
              </a:defRPr>
            </a:lvl3pPr>
            <a:lvl4pPr>
              <a:defRPr sz="3300" b="1">
                <a:solidFill>
                  <a:srgbClr val="0B1822"/>
                </a:solidFill>
                <a:latin typeface="Arial Black"/>
                <a:ea typeface="Arial Black"/>
                <a:cs typeface="Arial Black"/>
              </a:defRPr>
            </a:lvl4pPr>
            <a:lvl5pPr>
              <a:defRPr sz="3300" b="1">
                <a:solidFill>
                  <a:srgbClr val="0B1822"/>
                </a:solidFill>
                <a:latin typeface="Arial Black"/>
                <a:ea typeface="Arial Black"/>
                <a:cs typeface="Arial Black"/>
              </a:defRPr>
            </a:lvl5pPr>
            <a:lvl6pPr>
              <a:defRPr sz="3300" b="1">
                <a:solidFill>
                  <a:srgbClr val="0B1822"/>
                </a:solidFill>
                <a:latin typeface="Arial Black"/>
                <a:ea typeface="Arial Black"/>
                <a:cs typeface="Arial Black"/>
              </a:defRPr>
            </a:lvl6pPr>
            <a:lvl7pPr>
              <a:defRPr sz="3300" b="1">
                <a:solidFill>
                  <a:srgbClr val="0B1822"/>
                </a:solidFill>
                <a:latin typeface="Arial Black"/>
                <a:ea typeface="Arial Black"/>
                <a:cs typeface="Arial Black"/>
              </a:defRPr>
            </a:lvl7pPr>
            <a:lvl8pPr>
              <a:defRPr sz="3300" b="1">
                <a:solidFill>
                  <a:srgbClr val="0B1822"/>
                </a:solidFill>
                <a:latin typeface="Arial Black"/>
                <a:ea typeface="Arial Black"/>
                <a:cs typeface="Arial Black"/>
              </a:defRPr>
            </a:lvl8pPr>
            <a:lvl9pPr>
              <a:defRPr sz="3300" b="1">
                <a:solidFill>
                  <a:srgbClr val="0B1822"/>
                </a:solidFill>
                <a:latin typeface="Arial Black"/>
                <a:ea typeface="Arial Black"/>
                <a:cs typeface="Arial Black"/>
              </a:defRPr>
            </a:lvl9pPr>
          </a:lstStyle>
          <a:p xmlns:a="http://schemas.openxmlformats.org/drawingml/2006/main">
            <a:pPr>
              <a:defRPr sz="3300" b="1">
                <a:solidFill>
                  <a:srgbClr val="0B1822"/>
                </a:solidFill>
                <a:latin typeface="Arial Black"/>
                <a:ea typeface="Arial Black"/>
                <a:cs typeface="Arial Black"/>
              </a:defRPr>
            </a:pPr>
            <a:r>
              <a:rPr sz="3300" b="1">
                <a:solidFill>
                  <a:srgbClr val="0B1822"/>
                </a:solidFill>
                <a:latin typeface="Arial Black"/>
                <a:ea typeface="Arial Black"/>
                <a:cs typeface="Arial Black"/>
              </a:rPr>
              <a:t>How we will use the hour</a:t>
            </a:r>
          </a:p>
        </p:txBody>
      </p:sp>
      <p:sp>
        <p:nvSpPr>
          <p:cNvPr id="3" name="00–12 MIN&#10;BRIEF + CHOOSE&#10;&#10;System, controls, case">
            <a:extLst xmlns:a="http://schemas.openxmlformats.org/drawingml/2006/main">
              <a:ext uri="{FF2B5EF4-FFF2-40B4-BE49-F238E27FC236}">
                <a16:creationId xmlns:a16="http://schemas.microsoft.com/office/drawing/2014/main" id="{8EA8493F-1342-4C7C-94D9-AA8CDC78297B}"/>
              </a:ext>
            </a:extLst>
          </p:cNvPr>
          <p:cNvSpPr>
            <a:spLocks xmlns:a="http://schemas.openxmlformats.org/drawingml/2006/main" noGrp="1"/>
          </p:cNvSpPr>
          <p:nvPr/>
        </p:nvSpPr>
        <p:spPr>
          <a:xfrm xmlns:a="http://schemas.openxmlformats.org/drawingml/2006/main">
            <a:off x="609600" y="1809750"/>
            <a:ext cx="2057400" cy="232410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425" b="1">
                <a:solidFill>
                  <a:srgbClr val="0B1822"/>
                </a:solidFill>
                <a:latin typeface="Arial"/>
                <a:ea typeface="Arial"/>
                <a:cs typeface="Arial"/>
              </a:defRPr>
            </a:defPPr>
            <a:lvl1pPr>
              <a:defRPr sz="1425" b="1">
                <a:solidFill>
                  <a:srgbClr val="0B1822"/>
                </a:solidFill>
                <a:latin typeface="Arial"/>
                <a:ea typeface="Arial"/>
                <a:cs typeface="Arial"/>
              </a:defRPr>
            </a:lvl1pPr>
            <a:lvl2pPr>
              <a:defRPr sz="1425" b="1">
                <a:solidFill>
                  <a:srgbClr val="0B1822"/>
                </a:solidFill>
                <a:latin typeface="Arial"/>
                <a:ea typeface="Arial"/>
                <a:cs typeface="Arial"/>
              </a:defRPr>
            </a:lvl2pPr>
            <a:lvl3pPr>
              <a:defRPr sz="1425" b="1">
                <a:solidFill>
                  <a:srgbClr val="0B1822"/>
                </a:solidFill>
                <a:latin typeface="Arial"/>
                <a:ea typeface="Arial"/>
                <a:cs typeface="Arial"/>
              </a:defRPr>
            </a:lvl3pPr>
            <a:lvl4pPr>
              <a:defRPr sz="1425" b="1">
                <a:solidFill>
                  <a:srgbClr val="0B1822"/>
                </a:solidFill>
                <a:latin typeface="Arial"/>
                <a:ea typeface="Arial"/>
                <a:cs typeface="Arial"/>
              </a:defRPr>
            </a:lvl4pPr>
            <a:lvl5pPr>
              <a:defRPr sz="1425" b="1">
                <a:solidFill>
                  <a:srgbClr val="0B1822"/>
                </a:solidFill>
                <a:latin typeface="Arial"/>
                <a:ea typeface="Arial"/>
                <a:cs typeface="Arial"/>
              </a:defRPr>
            </a:lvl5pPr>
            <a:lvl6pPr>
              <a:defRPr sz="1425" b="1">
                <a:solidFill>
                  <a:srgbClr val="0B1822"/>
                </a:solidFill>
                <a:latin typeface="Arial"/>
                <a:ea typeface="Arial"/>
                <a:cs typeface="Arial"/>
              </a:defRPr>
            </a:lvl6pPr>
            <a:lvl7pPr>
              <a:defRPr sz="1425" b="1">
                <a:solidFill>
                  <a:srgbClr val="0B1822"/>
                </a:solidFill>
                <a:latin typeface="Arial"/>
                <a:ea typeface="Arial"/>
                <a:cs typeface="Arial"/>
              </a:defRPr>
            </a:lvl7pPr>
            <a:lvl8pPr>
              <a:defRPr sz="1425" b="1">
                <a:solidFill>
                  <a:srgbClr val="0B1822"/>
                </a:solidFill>
                <a:latin typeface="Arial"/>
                <a:ea typeface="Arial"/>
                <a:cs typeface="Arial"/>
              </a:defRPr>
            </a:lvl8pPr>
            <a:lvl9pPr>
              <a:defRPr sz="1425" b="1">
                <a:solidFill>
                  <a:srgbClr val="0B1822"/>
                </a:solidFill>
                <a:latin typeface="Arial"/>
                <a:ea typeface="Arial"/>
                <a:cs typeface="Arial"/>
              </a:defRPr>
            </a:lvl9pPr>
          </a:lstStyle>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00–12 MIN</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BRIEF + CHOOSE</a:t>
            </a:r>
          </a:p>
          <a:p xmlns:a="http://schemas.openxmlformats.org/drawingml/2006/main">
            <a:r>
              <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System, controls, case and constraint</a:t>
            </a:r>
          </a:p>
        </p:txBody>
      </p:sp>
      <p:sp>
        <p:nvSpPr>
          <p:cNvPr id="4" name="12–28 MIN&#10;DRAFT + REVIEW&#10;&#10;Intent, PR, exception ">
            <a:extLst xmlns:a="http://schemas.openxmlformats.org/drawingml/2006/main">
              <a:ext uri="{FF2B5EF4-FFF2-40B4-BE49-F238E27FC236}">
                <a16:creationId xmlns:a16="http://schemas.microsoft.com/office/drawing/2014/main" id="{0A7B569B-2114-43D4-AE2A-CD204C709F0C}"/>
              </a:ext>
            </a:extLst>
          </p:cNvPr>
          <p:cNvSpPr>
            <a:spLocks xmlns:a="http://schemas.openxmlformats.org/drawingml/2006/main" noGrp="1"/>
          </p:cNvSpPr>
          <p:nvPr/>
        </p:nvSpPr>
        <p:spPr>
          <a:xfrm xmlns:a="http://schemas.openxmlformats.org/drawingml/2006/main">
            <a:off x="2819400" y="1809750"/>
            <a:ext cx="2057400" cy="232410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425" b="1">
                <a:solidFill>
                  <a:srgbClr val="0B1822"/>
                </a:solidFill>
                <a:latin typeface="Arial"/>
                <a:ea typeface="Arial"/>
                <a:cs typeface="Arial"/>
              </a:defRPr>
            </a:defPPr>
            <a:lvl1pPr>
              <a:defRPr sz="1425" b="1">
                <a:solidFill>
                  <a:srgbClr val="0B1822"/>
                </a:solidFill>
                <a:latin typeface="Arial"/>
                <a:ea typeface="Arial"/>
                <a:cs typeface="Arial"/>
              </a:defRPr>
            </a:lvl1pPr>
            <a:lvl2pPr>
              <a:defRPr sz="1425" b="1">
                <a:solidFill>
                  <a:srgbClr val="0B1822"/>
                </a:solidFill>
                <a:latin typeface="Arial"/>
                <a:ea typeface="Arial"/>
                <a:cs typeface="Arial"/>
              </a:defRPr>
            </a:lvl2pPr>
            <a:lvl3pPr>
              <a:defRPr sz="1425" b="1">
                <a:solidFill>
                  <a:srgbClr val="0B1822"/>
                </a:solidFill>
                <a:latin typeface="Arial"/>
                <a:ea typeface="Arial"/>
                <a:cs typeface="Arial"/>
              </a:defRPr>
            </a:lvl3pPr>
            <a:lvl4pPr>
              <a:defRPr sz="1425" b="1">
                <a:solidFill>
                  <a:srgbClr val="0B1822"/>
                </a:solidFill>
                <a:latin typeface="Arial"/>
                <a:ea typeface="Arial"/>
                <a:cs typeface="Arial"/>
              </a:defRPr>
            </a:lvl4pPr>
            <a:lvl5pPr>
              <a:defRPr sz="1425" b="1">
                <a:solidFill>
                  <a:srgbClr val="0B1822"/>
                </a:solidFill>
                <a:latin typeface="Arial"/>
                <a:ea typeface="Arial"/>
                <a:cs typeface="Arial"/>
              </a:defRPr>
            </a:lvl5pPr>
            <a:lvl6pPr>
              <a:defRPr sz="1425" b="1">
                <a:solidFill>
                  <a:srgbClr val="0B1822"/>
                </a:solidFill>
                <a:latin typeface="Arial"/>
                <a:ea typeface="Arial"/>
                <a:cs typeface="Arial"/>
              </a:defRPr>
            </a:lvl6pPr>
            <a:lvl7pPr>
              <a:defRPr sz="1425" b="1">
                <a:solidFill>
                  <a:srgbClr val="0B1822"/>
                </a:solidFill>
                <a:latin typeface="Arial"/>
                <a:ea typeface="Arial"/>
                <a:cs typeface="Arial"/>
              </a:defRPr>
            </a:lvl7pPr>
            <a:lvl8pPr>
              <a:defRPr sz="1425" b="1">
                <a:solidFill>
                  <a:srgbClr val="0B1822"/>
                </a:solidFill>
                <a:latin typeface="Arial"/>
                <a:ea typeface="Arial"/>
                <a:cs typeface="Arial"/>
              </a:defRPr>
            </a:lvl8pPr>
            <a:lvl9pPr>
              <a:defRPr sz="1425" b="1">
                <a:solidFill>
                  <a:srgbClr val="0B1822"/>
                </a:solidFill>
                <a:latin typeface="Arial"/>
                <a:ea typeface="Arial"/>
                <a:cs typeface="Arial"/>
              </a:defRPr>
            </a:lvl9pPr>
          </a:lstStyle>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12–28 MIN</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DRAFT + REVIEW</a:t>
            </a:r>
          </a:p>
          <a:p xmlns:a="http://schemas.openxmlformats.org/drawingml/2006/main">
            <a:r>
              <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Intent, PR, exception and rollout</a:t>
            </a:r>
          </a:p>
        </p:txBody>
      </p:sp>
      <p:sp>
        <p:nvSpPr>
          <p:cNvPr id="5" name="28–45 MIN&#10;CONTAIN + REVISE&#10;&#10;Order Q0–Q3; reveal ">
            <a:extLst xmlns:a="http://schemas.openxmlformats.org/drawingml/2006/main">
              <a:ext uri="{FF2B5EF4-FFF2-40B4-BE49-F238E27FC236}">
                <a16:creationId xmlns:a16="http://schemas.microsoft.com/office/drawing/2014/main" id="{FA90D8D7-3978-4377-B1F2-9B8436165013}"/>
              </a:ext>
            </a:extLst>
          </p:cNvPr>
          <p:cNvSpPr>
            <a:spLocks xmlns:a="http://schemas.openxmlformats.org/drawingml/2006/main" noGrp="1"/>
          </p:cNvSpPr>
          <p:nvPr/>
        </p:nvSpPr>
        <p:spPr>
          <a:xfrm xmlns:a="http://schemas.openxmlformats.org/drawingml/2006/main">
            <a:off x="5029200" y="1809750"/>
            <a:ext cx="2057400" cy="2324100"/>
          </a:xfrm>
          <a:prstGeom xmlns:a="http://schemas.openxmlformats.org/drawingml/2006/main" prst="rect">
            <a:avLst/>
          </a:prstGeom>
          <a:solidFill xmlns:a="http://schemas.openxmlformats.org/drawingml/2006/main">
            <a:srgbClr val="FFFFFF"/>
          </a:solidFill>
          <a:ln xmlns:a="http://schemas.openxmlformats.org/drawingml/2006/main" w="28575">
            <a:solidFill>
              <a:srgbClr val="D45336"/>
            </a:solidFill>
          </a:ln>
        </p:spPr>
        <p:txBody>
          <a:bodyPr xmlns:a="http://schemas.openxmlformats.org/drawingml/2006/main"/>
          <a:lstStyle xmlns:a="http://schemas.openxmlformats.org/drawingml/2006/main">
            <a:defPPr>
              <a:defRPr sz="1425" b="1">
                <a:solidFill>
                  <a:srgbClr val="0B1822"/>
                </a:solidFill>
                <a:latin typeface="Arial"/>
                <a:ea typeface="Arial"/>
                <a:cs typeface="Arial"/>
              </a:defRPr>
            </a:defPPr>
            <a:lvl1pPr>
              <a:defRPr sz="1425" b="1">
                <a:solidFill>
                  <a:srgbClr val="0B1822"/>
                </a:solidFill>
                <a:latin typeface="Arial"/>
                <a:ea typeface="Arial"/>
                <a:cs typeface="Arial"/>
              </a:defRPr>
            </a:lvl1pPr>
            <a:lvl2pPr>
              <a:defRPr sz="1425" b="1">
                <a:solidFill>
                  <a:srgbClr val="0B1822"/>
                </a:solidFill>
                <a:latin typeface="Arial"/>
                <a:ea typeface="Arial"/>
                <a:cs typeface="Arial"/>
              </a:defRPr>
            </a:lvl2pPr>
            <a:lvl3pPr>
              <a:defRPr sz="1425" b="1">
                <a:solidFill>
                  <a:srgbClr val="0B1822"/>
                </a:solidFill>
                <a:latin typeface="Arial"/>
                <a:ea typeface="Arial"/>
                <a:cs typeface="Arial"/>
              </a:defRPr>
            </a:lvl3pPr>
            <a:lvl4pPr>
              <a:defRPr sz="1425" b="1">
                <a:solidFill>
                  <a:srgbClr val="0B1822"/>
                </a:solidFill>
                <a:latin typeface="Arial"/>
                <a:ea typeface="Arial"/>
                <a:cs typeface="Arial"/>
              </a:defRPr>
            </a:lvl4pPr>
            <a:lvl5pPr>
              <a:defRPr sz="1425" b="1">
                <a:solidFill>
                  <a:srgbClr val="0B1822"/>
                </a:solidFill>
                <a:latin typeface="Arial"/>
                <a:ea typeface="Arial"/>
                <a:cs typeface="Arial"/>
              </a:defRPr>
            </a:lvl5pPr>
            <a:lvl6pPr>
              <a:defRPr sz="1425" b="1">
                <a:solidFill>
                  <a:srgbClr val="0B1822"/>
                </a:solidFill>
                <a:latin typeface="Arial"/>
                <a:ea typeface="Arial"/>
                <a:cs typeface="Arial"/>
              </a:defRPr>
            </a:lvl6pPr>
            <a:lvl7pPr>
              <a:defRPr sz="1425" b="1">
                <a:solidFill>
                  <a:srgbClr val="0B1822"/>
                </a:solidFill>
                <a:latin typeface="Arial"/>
                <a:ea typeface="Arial"/>
                <a:cs typeface="Arial"/>
              </a:defRPr>
            </a:lvl7pPr>
            <a:lvl8pPr>
              <a:defRPr sz="1425" b="1">
                <a:solidFill>
                  <a:srgbClr val="0B1822"/>
                </a:solidFill>
                <a:latin typeface="Arial"/>
                <a:ea typeface="Arial"/>
                <a:cs typeface="Arial"/>
              </a:defRPr>
            </a:lvl8pPr>
            <a:lvl9pPr>
              <a:defRPr sz="1425" b="1">
                <a:solidFill>
                  <a:srgbClr val="0B1822"/>
                </a:solidFill>
                <a:latin typeface="Arial"/>
                <a:ea typeface="Arial"/>
                <a:cs typeface="Arial"/>
              </a:defRPr>
            </a:lvl9pPr>
          </a:lstStyle>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28–45 MIN</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CONTAIN + REVISE</a:t>
            </a:r>
          </a:p>
          <a:p xmlns:a="http://schemas.openxmlformats.org/drawingml/2006/main">
            <a:r>
              <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Order Q0–Q3; reveal new evidence</a:t>
            </a:r>
          </a:p>
        </p:txBody>
      </p:sp>
      <p:sp>
        <p:nvSpPr>
          <p:cNvPr id="6" name="45–51 MIN&#10;CHALLENGE&#10;&#10;Review the model proposal a">
            <a:extLst xmlns:a="http://schemas.openxmlformats.org/drawingml/2006/main">
              <a:ext uri="{FF2B5EF4-FFF2-40B4-BE49-F238E27FC236}">
                <a16:creationId xmlns:a16="http://schemas.microsoft.com/office/drawing/2014/main" id="{BCE6E206-9EBA-475D-B835-BA673F49FD6C}"/>
              </a:ext>
            </a:extLst>
          </p:cNvPr>
          <p:cNvSpPr>
            <a:spLocks xmlns:a="http://schemas.openxmlformats.org/drawingml/2006/main" noGrp="1"/>
          </p:cNvSpPr>
          <p:nvPr/>
        </p:nvSpPr>
        <p:spPr>
          <a:xfrm xmlns:a="http://schemas.openxmlformats.org/drawingml/2006/main">
            <a:off x="7239000" y="1809750"/>
            <a:ext cx="2057400" cy="232410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425" b="1">
                <a:solidFill>
                  <a:srgbClr val="0B1822"/>
                </a:solidFill>
                <a:latin typeface="Arial"/>
                <a:ea typeface="Arial"/>
                <a:cs typeface="Arial"/>
              </a:defRPr>
            </a:defPPr>
            <a:lvl1pPr>
              <a:defRPr sz="1425" b="1">
                <a:solidFill>
                  <a:srgbClr val="0B1822"/>
                </a:solidFill>
                <a:latin typeface="Arial"/>
                <a:ea typeface="Arial"/>
                <a:cs typeface="Arial"/>
              </a:defRPr>
            </a:lvl1pPr>
            <a:lvl2pPr>
              <a:defRPr sz="1425" b="1">
                <a:solidFill>
                  <a:srgbClr val="0B1822"/>
                </a:solidFill>
                <a:latin typeface="Arial"/>
                <a:ea typeface="Arial"/>
                <a:cs typeface="Arial"/>
              </a:defRPr>
            </a:lvl2pPr>
            <a:lvl3pPr>
              <a:defRPr sz="1425" b="1">
                <a:solidFill>
                  <a:srgbClr val="0B1822"/>
                </a:solidFill>
                <a:latin typeface="Arial"/>
                <a:ea typeface="Arial"/>
                <a:cs typeface="Arial"/>
              </a:defRPr>
            </a:lvl3pPr>
            <a:lvl4pPr>
              <a:defRPr sz="1425" b="1">
                <a:solidFill>
                  <a:srgbClr val="0B1822"/>
                </a:solidFill>
                <a:latin typeface="Arial"/>
                <a:ea typeface="Arial"/>
                <a:cs typeface="Arial"/>
              </a:defRPr>
            </a:lvl4pPr>
            <a:lvl5pPr>
              <a:defRPr sz="1425" b="1">
                <a:solidFill>
                  <a:srgbClr val="0B1822"/>
                </a:solidFill>
                <a:latin typeface="Arial"/>
                <a:ea typeface="Arial"/>
                <a:cs typeface="Arial"/>
              </a:defRPr>
            </a:lvl5pPr>
            <a:lvl6pPr>
              <a:defRPr sz="1425" b="1">
                <a:solidFill>
                  <a:srgbClr val="0B1822"/>
                </a:solidFill>
                <a:latin typeface="Arial"/>
                <a:ea typeface="Arial"/>
                <a:cs typeface="Arial"/>
              </a:defRPr>
            </a:lvl6pPr>
            <a:lvl7pPr>
              <a:defRPr sz="1425" b="1">
                <a:solidFill>
                  <a:srgbClr val="0B1822"/>
                </a:solidFill>
                <a:latin typeface="Arial"/>
                <a:ea typeface="Arial"/>
                <a:cs typeface="Arial"/>
              </a:defRPr>
            </a:lvl7pPr>
            <a:lvl8pPr>
              <a:defRPr sz="1425" b="1">
                <a:solidFill>
                  <a:srgbClr val="0B1822"/>
                </a:solidFill>
                <a:latin typeface="Arial"/>
                <a:ea typeface="Arial"/>
                <a:cs typeface="Arial"/>
              </a:defRPr>
            </a:lvl8pPr>
            <a:lvl9pPr>
              <a:defRPr sz="1425" b="1">
                <a:solidFill>
                  <a:srgbClr val="0B1822"/>
                </a:solidFill>
                <a:latin typeface="Arial"/>
                <a:ea typeface="Arial"/>
                <a:cs typeface="Arial"/>
              </a:defRPr>
            </a:lvl9pPr>
          </a:lstStyle>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45–51 MIN</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CHALLENGE</a:t>
            </a:r>
          </a:p>
          <a:p xmlns:a="http://schemas.openxmlformats.org/drawingml/2006/main">
            <a:r>
              <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Review the model proposal and tests</a:t>
            </a:r>
          </a:p>
        </p:txBody>
      </p:sp>
      <p:sp>
        <p:nvSpPr>
          <p:cNvPr id="7" name="51–60 MIN&#10;RECOVER + TRANSFER&#10;&#10;Exit criteria, tak">
            <a:extLst xmlns:a="http://schemas.openxmlformats.org/drawingml/2006/main">
              <a:ext uri="{FF2B5EF4-FFF2-40B4-BE49-F238E27FC236}">
                <a16:creationId xmlns:a16="http://schemas.microsoft.com/office/drawing/2014/main" id="{F1913C67-017D-4A9D-96B1-C94A6082722C}"/>
              </a:ext>
            </a:extLst>
          </p:cNvPr>
          <p:cNvSpPr>
            <a:spLocks xmlns:a="http://schemas.openxmlformats.org/drawingml/2006/main" noGrp="1"/>
          </p:cNvSpPr>
          <p:nvPr/>
        </p:nvSpPr>
        <p:spPr>
          <a:xfrm xmlns:a="http://schemas.openxmlformats.org/drawingml/2006/main">
            <a:off x="9448800" y="1809750"/>
            <a:ext cx="2057400" cy="232410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425" b="1">
                <a:solidFill>
                  <a:srgbClr val="0B1822"/>
                </a:solidFill>
                <a:latin typeface="Arial"/>
                <a:ea typeface="Arial"/>
                <a:cs typeface="Arial"/>
              </a:defRPr>
            </a:defPPr>
            <a:lvl1pPr>
              <a:defRPr sz="1425" b="1">
                <a:solidFill>
                  <a:srgbClr val="0B1822"/>
                </a:solidFill>
                <a:latin typeface="Arial"/>
                <a:ea typeface="Arial"/>
                <a:cs typeface="Arial"/>
              </a:defRPr>
            </a:lvl1pPr>
            <a:lvl2pPr>
              <a:defRPr sz="1425" b="1">
                <a:solidFill>
                  <a:srgbClr val="0B1822"/>
                </a:solidFill>
                <a:latin typeface="Arial"/>
                <a:ea typeface="Arial"/>
                <a:cs typeface="Arial"/>
              </a:defRPr>
            </a:lvl2pPr>
            <a:lvl3pPr>
              <a:defRPr sz="1425" b="1">
                <a:solidFill>
                  <a:srgbClr val="0B1822"/>
                </a:solidFill>
                <a:latin typeface="Arial"/>
                <a:ea typeface="Arial"/>
                <a:cs typeface="Arial"/>
              </a:defRPr>
            </a:lvl3pPr>
            <a:lvl4pPr>
              <a:defRPr sz="1425" b="1">
                <a:solidFill>
                  <a:srgbClr val="0B1822"/>
                </a:solidFill>
                <a:latin typeface="Arial"/>
                <a:ea typeface="Arial"/>
                <a:cs typeface="Arial"/>
              </a:defRPr>
            </a:lvl4pPr>
            <a:lvl5pPr>
              <a:defRPr sz="1425" b="1">
                <a:solidFill>
                  <a:srgbClr val="0B1822"/>
                </a:solidFill>
                <a:latin typeface="Arial"/>
                <a:ea typeface="Arial"/>
                <a:cs typeface="Arial"/>
              </a:defRPr>
            </a:lvl5pPr>
            <a:lvl6pPr>
              <a:defRPr sz="1425" b="1">
                <a:solidFill>
                  <a:srgbClr val="0B1822"/>
                </a:solidFill>
                <a:latin typeface="Arial"/>
                <a:ea typeface="Arial"/>
                <a:cs typeface="Arial"/>
              </a:defRPr>
            </a:lvl6pPr>
            <a:lvl7pPr>
              <a:defRPr sz="1425" b="1">
                <a:solidFill>
                  <a:srgbClr val="0B1822"/>
                </a:solidFill>
                <a:latin typeface="Arial"/>
                <a:ea typeface="Arial"/>
                <a:cs typeface="Arial"/>
              </a:defRPr>
            </a:lvl7pPr>
            <a:lvl8pPr>
              <a:defRPr sz="1425" b="1">
                <a:solidFill>
                  <a:srgbClr val="0B1822"/>
                </a:solidFill>
                <a:latin typeface="Arial"/>
                <a:ea typeface="Arial"/>
                <a:cs typeface="Arial"/>
              </a:defRPr>
            </a:lvl8pPr>
            <a:lvl9pPr>
              <a:defRPr sz="1425" b="1">
                <a:solidFill>
                  <a:srgbClr val="0B1822"/>
                </a:solidFill>
                <a:latin typeface="Arial"/>
                <a:ea typeface="Arial"/>
                <a:cs typeface="Arial"/>
              </a:defRPr>
            </a:lvl9pPr>
          </a:lstStyle>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51–60 MIN</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RECOVER + TRANSFER</a:t>
            </a:r>
          </a:p>
          <a:p xmlns:a="http://schemas.openxmlformats.org/drawingml/2006/main">
            <a:r>
              <a:t/>
            </a:r>
          </a:p>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Exit criteria, take-home action, Q&amp;A</a:t>
            </a:r>
          </a:p>
        </p:txBody>
      </p:sp>
      <p:sp>
        <p:nvSpPr>
          <p:cNvPr id="8" name="YOUR OUTPUT: a shared Decision Record (pages 6–7">
            <a:extLst xmlns:a="http://schemas.openxmlformats.org/drawingml/2006/main">
              <a:ext uri="{FF2B5EF4-FFF2-40B4-BE49-F238E27FC236}">
                <a16:creationId xmlns:a16="http://schemas.microsoft.com/office/drawing/2014/main" id="{D160CC6C-6F5C-43DC-8A96-3B0C196A91A7}"/>
              </a:ext>
            </a:extLst>
          </p:cNvPr>
          <p:cNvSpPr>
            <a:spLocks xmlns:a="http://schemas.openxmlformats.org/drawingml/2006/main" noGrp="1"/>
          </p:cNvSpPr>
          <p:nvPr/>
        </p:nvSpPr>
        <p:spPr>
          <a:xfrm xmlns:a="http://schemas.openxmlformats.org/drawingml/2006/main">
            <a:off x="609600" y="4514850"/>
            <a:ext cx="10953750" cy="904875"/>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575" b="1">
                <a:solidFill>
                  <a:srgbClr val="F2EFE7"/>
                </a:solidFill>
                <a:latin typeface="Arial"/>
                <a:ea typeface="Arial"/>
                <a:cs typeface="Arial"/>
              </a:defRPr>
            </a:defPPr>
            <a:lvl1pPr>
              <a:defRPr sz="1575" b="1">
                <a:solidFill>
                  <a:srgbClr val="F2EFE7"/>
                </a:solidFill>
                <a:latin typeface="Arial"/>
                <a:ea typeface="Arial"/>
                <a:cs typeface="Arial"/>
              </a:defRPr>
            </a:lvl1pPr>
            <a:lvl2pPr>
              <a:defRPr sz="1575" b="1">
                <a:solidFill>
                  <a:srgbClr val="F2EFE7"/>
                </a:solidFill>
                <a:latin typeface="Arial"/>
                <a:ea typeface="Arial"/>
                <a:cs typeface="Arial"/>
              </a:defRPr>
            </a:lvl2pPr>
            <a:lvl3pPr>
              <a:defRPr sz="1575" b="1">
                <a:solidFill>
                  <a:srgbClr val="F2EFE7"/>
                </a:solidFill>
                <a:latin typeface="Arial"/>
                <a:ea typeface="Arial"/>
                <a:cs typeface="Arial"/>
              </a:defRPr>
            </a:lvl3pPr>
            <a:lvl4pPr>
              <a:defRPr sz="1575" b="1">
                <a:solidFill>
                  <a:srgbClr val="F2EFE7"/>
                </a:solidFill>
                <a:latin typeface="Arial"/>
                <a:ea typeface="Arial"/>
                <a:cs typeface="Arial"/>
              </a:defRPr>
            </a:lvl4pPr>
            <a:lvl5pPr>
              <a:defRPr sz="1575" b="1">
                <a:solidFill>
                  <a:srgbClr val="F2EFE7"/>
                </a:solidFill>
                <a:latin typeface="Arial"/>
                <a:ea typeface="Arial"/>
                <a:cs typeface="Arial"/>
              </a:defRPr>
            </a:lvl5pPr>
            <a:lvl6pPr>
              <a:defRPr sz="1575" b="1">
                <a:solidFill>
                  <a:srgbClr val="F2EFE7"/>
                </a:solidFill>
                <a:latin typeface="Arial"/>
                <a:ea typeface="Arial"/>
                <a:cs typeface="Arial"/>
              </a:defRPr>
            </a:lvl6pPr>
            <a:lvl7pPr>
              <a:defRPr sz="1575" b="1">
                <a:solidFill>
                  <a:srgbClr val="F2EFE7"/>
                </a:solidFill>
                <a:latin typeface="Arial"/>
                <a:ea typeface="Arial"/>
                <a:cs typeface="Arial"/>
              </a:defRPr>
            </a:lvl7pPr>
            <a:lvl8pPr>
              <a:defRPr sz="1575" b="1">
                <a:solidFill>
                  <a:srgbClr val="F2EFE7"/>
                </a:solidFill>
                <a:latin typeface="Arial"/>
                <a:ea typeface="Arial"/>
                <a:cs typeface="Arial"/>
              </a:defRPr>
            </a:lvl8pPr>
            <a:lvl9pPr>
              <a:defRPr sz="1575" b="1">
                <a:solidFill>
                  <a:srgbClr val="F2EFE7"/>
                </a:solidFill>
                <a:latin typeface="Arial"/>
                <a:ea typeface="Arial"/>
                <a:cs typeface="Arial"/>
              </a:defRPr>
            </a:lvl9pPr>
          </a:lstStyle>
          <a:p xmlns:a="http://schemas.openxmlformats.org/drawingml/2006/main">
            <a:pPr>
              <a:defRPr sz="1575" b="1">
                <a:solidFill>
                  <a:srgbClr val="F2EFE7"/>
                </a:solidFill>
                <a:latin typeface="Arial"/>
                <a:ea typeface="Arial"/>
                <a:cs typeface="Arial"/>
              </a:defRPr>
            </a:pPr>
            <a:r>
              <a:rPr sz="1575" b="1">
                <a:solidFill>
                  <a:srgbClr val="F2EFE7"/>
                </a:solidFill>
                <a:latin typeface="Arial"/>
                <a:ea typeface="Arial"/>
                <a:cs typeface="Arial"/>
              </a:rPr>
              <a:t>YOUR OUTPUT: a shared Decision Record (pages 6–7) with a bounded decision, service floor, evidence owner, ordered containment and recovery test. Keep the later evidence pages sealed until prompted.</a:t>
            </a:r>
          </a:p>
        </p:txBody>
      </p:sp>
      <p:sp>
        <p:nvSpPr>
          <p:cNvPr id="9" name="You do not need a laptop, YAML or Kubernetes exp">
            <a:extLst xmlns:a="http://schemas.openxmlformats.org/drawingml/2006/main">
              <a:ext uri="{FF2B5EF4-FFF2-40B4-BE49-F238E27FC236}">
                <a16:creationId xmlns:a16="http://schemas.microsoft.com/office/drawing/2014/main" id="{3401893D-AA0F-46B1-A96A-B2BA5BDAF9C9}"/>
              </a:ext>
            </a:extLst>
          </p:cNvPr>
          <p:cNvSpPr>
            <a:spLocks xmlns:a="http://schemas.openxmlformats.org/drawingml/2006/main" noGrp="1"/>
          </p:cNvSpPr>
          <p:nvPr/>
        </p:nvSpPr>
        <p:spPr>
          <a:xfrm xmlns:a="http://schemas.openxmlformats.org/drawingml/2006/main">
            <a:off x="609600" y="5591175"/>
            <a:ext cx="10953750" cy="476250"/>
          </a:xfrm>
          <a:prstGeom xmlns:a="http://schemas.openxmlformats.org/drawingml/2006/main" prst="rect">
            <a:avLst/>
          </a:prstGeom>
          <a:solidFill xmlns:a="http://schemas.openxmlformats.org/drawingml/2006/main">
            <a:srgbClr val="E6E1D5"/>
          </a:solidFill>
          <a:ln xmlns:a="http://schemas.openxmlformats.org/drawingml/2006/main" w="19050">
            <a:solidFill>
              <a:srgbClr val="087E79"/>
            </a:solidFill>
          </a:ln>
        </p:spPr>
        <p:txBody>
          <a:bodyPr xmlns:a="http://schemas.openxmlformats.org/drawingml/2006/main"/>
          <a:lstStyle xmlns:a="http://schemas.openxmlformats.org/drawingml/2006/main">
            <a:defPPr>
              <a:defRPr sz="1350" b="1">
                <a:solidFill>
                  <a:srgbClr val="0B1822"/>
                </a:solidFill>
                <a:latin typeface="Arial"/>
                <a:ea typeface="Arial"/>
                <a:cs typeface="Arial"/>
              </a:defRPr>
            </a:defPPr>
            <a:lvl1pPr>
              <a:defRPr sz="1350" b="1">
                <a:solidFill>
                  <a:srgbClr val="0B1822"/>
                </a:solidFill>
                <a:latin typeface="Arial"/>
                <a:ea typeface="Arial"/>
                <a:cs typeface="Arial"/>
              </a:defRPr>
            </a:lvl1pPr>
            <a:lvl2pPr>
              <a:defRPr sz="1350" b="1">
                <a:solidFill>
                  <a:srgbClr val="0B1822"/>
                </a:solidFill>
                <a:latin typeface="Arial"/>
                <a:ea typeface="Arial"/>
                <a:cs typeface="Arial"/>
              </a:defRPr>
            </a:lvl2pPr>
            <a:lvl3pPr>
              <a:defRPr sz="1350" b="1">
                <a:solidFill>
                  <a:srgbClr val="0B1822"/>
                </a:solidFill>
                <a:latin typeface="Arial"/>
                <a:ea typeface="Arial"/>
                <a:cs typeface="Arial"/>
              </a:defRPr>
            </a:lvl3pPr>
            <a:lvl4pPr>
              <a:defRPr sz="1350" b="1">
                <a:solidFill>
                  <a:srgbClr val="0B1822"/>
                </a:solidFill>
                <a:latin typeface="Arial"/>
                <a:ea typeface="Arial"/>
                <a:cs typeface="Arial"/>
              </a:defRPr>
            </a:lvl4pPr>
            <a:lvl5pPr>
              <a:defRPr sz="1350" b="1">
                <a:solidFill>
                  <a:srgbClr val="0B1822"/>
                </a:solidFill>
                <a:latin typeface="Arial"/>
                <a:ea typeface="Arial"/>
                <a:cs typeface="Arial"/>
              </a:defRPr>
            </a:lvl5pPr>
            <a:lvl6pPr>
              <a:defRPr sz="1350" b="1">
                <a:solidFill>
                  <a:srgbClr val="0B1822"/>
                </a:solidFill>
                <a:latin typeface="Arial"/>
                <a:ea typeface="Arial"/>
                <a:cs typeface="Arial"/>
              </a:defRPr>
            </a:lvl6pPr>
            <a:lvl7pPr>
              <a:defRPr sz="1350" b="1">
                <a:solidFill>
                  <a:srgbClr val="0B1822"/>
                </a:solidFill>
                <a:latin typeface="Arial"/>
                <a:ea typeface="Arial"/>
                <a:cs typeface="Arial"/>
              </a:defRPr>
            </a:lvl7pPr>
            <a:lvl8pPr>
              <a:defRPr sz="1350" b="1">
                <a:solidFill>
                  <a:srgbClr val="0B1822"/>
                </a:solidFill>
                <a:latin typeface="Arial"/>
                <a:ea typeface="Arial"/>
                <a:cs typeface="Arial"/>
              </a:defRPr>
            </a:lvl8pPr>
            <a:lvl9pPr>
              <a:defRPr sz="1350" b="1">
                <a:solidFill>
                  <a:srgbClr val="0B1822"/>
                </a:solidFill>
                <a:latin typeface="Arial"/>
                <a:ea typeface="Arial"/>
                <a:cs typeface="Arial"/>
              </a:defRPr>
            </a:lvl9pPr>
          </a:lstStyle>
          <a:p xmlns:a="http://schemas.openxmlformats.org/drawingml/2006/main">
            <a:pPr>
              <a:defRPr sz="1350" b="1">
                <a:solidFill>
                  <a:srgbClr val="0B1822"/>
                </a:solidFill>
                <a:latin typeface="Arial"/>
                <a:ea typeface="Arial"/>
                <a:cs typeface="Arial"/>
              </a:defRPr>
            </a:pPr>
            <a:r>
              <a:rPr sz="1350" b="1">
                <a:solidFill>
                  <a:srgbClr val="0B1822"/>
                </a:solidFill>
                <a:latin typeface="Arial"/>
                <a:ea typeface="Arial"/>
                <a:cs typeface="Arial"/>
              </a:rPr>
              <a:t>You do not need a laptop, YAML or Kubernetes experience. Ask “what does this control actually cover?” whenever a boundary is unclear.</a:t>
            </a:r>
          </a:p>
        </p:txBody>
      </p:sp>
      <p:sp>
        <p:nvSpPr>
          <p:cNvPr id="10" name="ISC2 SECURITY CONGRESS 2026 / SC2632">
            <a:extLst xmlns:a="http://schemas.openxmlformats.org/drawingml/2006/main">
              <a:ext uri="{FF2B5EF4-FFF2-40B4-BE49-F238E27FC236}">
                <a16:creationId xmlns:a16="http://schemas.microsoft.com/office/drawing/2014/main" id="{A5592A68-B480-42AF-9CFB-0B14D09E0872}"/>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11" name="03">
            <a:extLst xmlns:a="http://schemas.openxmlformats.org/drawingml/2006/main">
              <a:ext uri="{FF2B5EF4-FFF2-40B4-BE49-F238E27FC236}">
                <a16:creationId xmlns:a16="http://schemas.microsoft.com/office/drawing/2014/main" id="{A8F9FA92-FD17-430D-93DC-6FEB52A6C4F1}"/>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03</a:t>
            </a:r>
          </a:p>
        </p:txBody>
      </p:sp>
    </p:spTree>
    <p:extLst>
      <p:ext uri="{BB962C8B-B14F-4D97-AF65-F5344CB8AC3E}">
        <p14:creationId xmlns:p14="http://schemas.microsoft.com/office/powerpoint/2010/main" val="470251107"/>
      </p:ext>
    </p:extLst>
  </p:cSld>
</p:sld>
</file>

<file path=ppt/slides/slide4.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1" name="AI PROLIFERATION IN KUBERNETES / WHEN AI AGENTS ">
            <a:extLst xmlns:a="http://schemas.openxmlformats.org/drawingml/2006/main">
              <a:ext uri="{FF2B5EF4-FFF2-40B4-BE49-F238E27FC236}">
                <a16:creationId xmlns:a16="http://schemas.microsoft.com/office/drawing/2014/main" id="{92C55471-84DD-44BB-A7A0-98DEE24AAE40}"/>
              </a:ext>
            </a:extLst>
          </p:cNvPr>
          <p:cNvSpPr>
            <a:spLocks xmlns:a="http://schemas.openxmlformats.org/drawingml/2006/main" noGrp="1"/>
          </p:cNvSpPr>
          <p:nvPr/>
        </p:nvSpPr>
        <p:spPr>
          <a:xfrm xmlns:a="http://schemas.openxmlformats.org/drawingml/2006/main">
            <a:off x="609600" y="41910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AI PROLIFERATION IN KUBERNETES / WHEN AI AGENTS POLICE OTHER AI AGENTS</a:t>
            </a:r>
          </a:p>
        </p:txBody>
      </p:sp>
      <p:sp>
        <p:nvSpPr>
          <p:cNvPr id="2" name="Two AI shifts collide during an incident">
            <a:extLst xmlns:a="http://schemas.openxmlformats.org/drawingml/2006/main">
              <a:ext uri="{FF2B5EF4-FFF2-40B4-BE49-F238E27FC236}">
                <a16:creationId xmlns:a16="http://schemas.microsoft.com/office/drawing/2014/main" id="{4454D97E-0F5D-4CA2-8EE0-76E5A820F077}"/>
              </a:ext>
            </a:extLst>
          </p:cNvPr>
          <p:cNvSpPr>
            <a:spLocks xmlns:a="http://schemas.openxmlformats.org/drawingml/2006/main" noGrp="1"/>
          </p:cNvSpPr>
          <p:nvPr>
            <p:ph type="title" idx="0"/>
          </p:nvPr>
        </p:nvSpPr>
        <p:spPr>
          <a:xfrm xmlns:a="http://schemas.openxmlformats.org/drawingml/2006/main">
            <a:off x="609600" y="8001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Two AI shifts collide during an incident</a:t>
            </a:r>
          </a:p>
        </p:txBody>
      </p:sp>
      <p:sp>
        <p:nvSpPr>
          <p:cNvPr id="3" name="SETTING: One fictional payment platform shared b">
            <a:extLst xmlns:a="http://schemas.openxmlformats.org/drawingml/2006/main">
              <a:ext uri="{FF2B5EF4-FFF2-40B4-BE49-F238E27FC236}">
                <a16:creationId xmlns:a16="http://schemas.microsoft.com/office/drawing/2014/main" id="{87386A3E-EDC0-474C-896B-B8CB0C725D17}"/>
              </a:ext>
            </a:extLst>
          </p:cNvPr>
          <p:cNvSpPr>
            <a:spLocks xmlns:a="http://schemas.openxmlformats.org/drawingml/2006/main" noGrp="1"/>
          </p:cNvSpPr>
          <p:nvPr/>
        </p:nvSpPr>
        <p:spPr>
          <a:xfrm xmlns:a="http://schemas.openxmlformats.org/drawingml/2006/main">
            <a:off x="609600" y="1657350"/>
            <a:ext cx="10953750" cy="49530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350" b="1">
                <a:solidFill>
                  <a:srgbClr val="F2EFE7"/>
                </a:solidFill>
                <a:latin typeface="Arial"/>
                <a:ea typeface="Arial"/>
                <a:cs typeface="Arial"/>
              </a:defRPr>
            </a:defPPr>
            <a:lvl1pPr>
              <a:defRPr sz="1350" b="1">
                <a:solidFill>
                  <a:srgbClr val="F2EFE7"/>
                </a:solidFill>
                <a:latin typeface="Arial"/>
                <a:ea typeface="Arial"/>
                <a:cs typeface="Arial"/>
              </a:defRPr>
            </a:lvl1pPr>
            <a:lvl2pPr>
              <a:defRPr sz="1350" b="1">
                <a:solidFill>
                  <a:srgbClr val="F2EFE7"/>
                </a:solidFill>
                <a:latin typeface="Arial"/>
                <a:ea typeface="Arial"/>
                <a:cs typeface="Arial"/>
              </a:defRPr>
            </a:lvl2pPr>
            <a:lvl3pPr>
              <a:defRPr sz="1350" b="1">
                <a:solidFill>
                  <a:srgbClr val="F2EFE7"/>
                </a:solidFill>
                <a:latin typeface="Arial"/>
                <a:ea typeface="Arial"/>
                <a:cs typeface="Arial"/>
              </a:defRPr>
            </a:lvl3pPr>
            <a:lvl4pPr>
              <a:defRPr sz="1350" b="1">
                <a:solidFill>
                  <a:srgbClr val="F2EFE7"/>
                </a:solidFill>
                <a:latin typeface="Arial"/>
                <a:ea typeface="Arial"/>
                <a:cs typeface="Arial"/>
              </a:defRPr>
            </a:lvl4pPr>
            <a:lvl5pPr>
              <a:defRPr sz="1350" b="1">
                <a:solidFill>
                  <a:srgbClr val="F2EFE7"/>
                </a:solidFill>
                <a:latin typeface="Arial"/>
                <a:ea typeface="Arial"/>
                <a:cs typeface="Arial"/>
              </a:defRPr>
            </a:lvl5pPr>
            <a:lvl6pPr>
              <a:defRPr sz="1350" b="1">
                <a:solidFill>
                  <a:srgbClr val="F2EFE7"/>
                </a:solidFill>
                <a:latin typeface="Arial"/>
                <a:ea typeface="Arial"/>
                <a:cs typeface="Arial"/>
              </a:defRPr>
            </a:lvl6pPr>
            <a:lvl7pPr>
              <a:defRPr sz="1350" b="1">
                <a:solidFill>
                  <a:srgbClr val="F2EFE7"/>
                </a:solidFill>
                <a:latin typeface="Arial"/>
                <a:ea typeface="Arial"/>
                <a:cs typeface="Arial"/>
              </a:defRPr>
            </a:lvl7pPr>
            <a:lvl8pPr>
              <a:defRPr sz="1350" b="1">
                <a:solidFill>
                  <a:srgbClr val="F2EFE7"/>
                </a:solidFill>
                <a:latin typeface="Arial"/>
                <a:ea typeface="Arial"/>
                <a:cs typeface="Arial"/>
              </a:defRPr>
            </a:lvl8pPr>
            <a:lvl9pPr>
              <a:defRPr sz="1350" b="1">
                <a:solidFill>
                  <a:srgbClr val="F2EFE7"/>
                </a:solidFill>
                <a:latin typeface="Arial"/>
                <a:ea typeface="Arial"/>
                <a:cs typeface="Arial"/>
              </a:defRPr>
            </a:lvl9pPr>
          </a:lstStyle>
          <a:p xmlns:a="http://schemas.openxmlformats.org/drawingml/2006/main">
            <a:pPr>
              <a:defRPr sz="1350" b="1">
                <a:solidFill>
                  <a:srgbClr val="F2EFE7"/>
                </a:solidFill>
                <a:latin typeface="Arial"/>
                <a:ea typeface="Arial"/>
                <a:cs typeface="Arial"/>
              </a:defRPr>
            </a:pPr>
            <a:r>
              <a:rPr sz="1350" b="1">
                <a:solidFill>
                  <a:srgbClr val="F2EFE7"/>
                </a:solidFill>
                <a:latin typeface="Arial"/>
                <a:ea typeface="Arial"/>
                <a:cs typeface="Arial"/>
              </a:rPr>
              <a:t>SETTING: One fictional payment platform shared by service workloads and internal AI agents. You will choose one of four incident cases later; no case is assigned yet.</a:t>
            </a:r>
          </a:p>
        </p:txBody>
      </p:sp>
      <p:pic>
        <p:nvPicPr>
          <p:cNvPr id="4" name="" descr="Conceptual illustration: an application workload agent, a policy-writing copilot and a human reviewer face a risky live path. It is a visual metaphor, not a real cluster diagram or test evidence.">
            <a:extLst xmlns:a="http://schemas.openxmlformats.org/drawingml/2006/main">
              <a:ext uri="{FF2B5EF4-FFF2-40B4-BE49-F238E27FC236}">
                <a16:creationId xmlns:a16="http://schemas.microsoft.com/office/drawing/2014/main" id="{8E4DB265-EEEA-4BDE-9F20-C01703ECCAC3}"/>
              </a:ext>
            </a:extLst>
          </p:cNvPr>
          <p:cNvPicPr>
            <a:picLocks xmlns:a="http://schemas.openxmlformats.org/drawingml/2006/main" noChangeAspect="1"/>
          </p:cNvPicPr>
          <p:nvPr/>
        </p:nvPicPr>
        <p:blipFill>
          <a:blip xmlns:r="http://schemas.openxmlformats.org/officeDocument/2006/relationships" xmlns:a="http://schemas.openxmlformats.org/drawingml/2006/main" r:embed="R63e8979584614316"/>
          <a:stretch xmlns:a="http://schemas.openxmlformats.org/drawingml/2006/main"/>
        </p:blipFill>
        <p:spPr>
          <a:xfrm xmlns:a="http://schemas.openxmlformats.org/drawingml/2006/main">
            <a:off x="612778" y="2276475"/>
            <a:ext cx="3994143" cy="2247900"/>
          </a:xfrm>
          <a:prstGeom xmlns:a="http://schemas.openxmlformats.org/drawingml/2006/main" prst="rect">
            <a:avLst/>
          </a:prstGeom>
        </p:spPr>
      </p:pic>
      <p:sp>
        <p:nvSpPr>
          <p:cNvPr id="5" name="GREEN TESTS ≠ CONTAINMENT">
            <a:extLst xmlns:a="http://schemas.openxmlformats.org/drawingml/2006/main">
              <a:ext uri="{FF2B5EF4-FFF2-40B4-BE49-F238E27FC236}">
                <a16:creationId xmlns:a16="http://schemas.microsoft.com/office/drawing/2014/main" id="{F11FA3C7-09F5-44F6-B535-7712278571B5}"/>
              </a:ext>
            </a:extLst>
          </p:cNvPr>
          <p:cNvSpPr>
            <a:spLocks xmlns:a="http://schemas.openxmlformats.org/drawingml/2006/main" noGrp="1"/>
          </p:cNvSpPr>
          <p:nvPr/>
        </p:nvSpPr>
        <p:spPr>
          <a:xfrm xmlns:a="http://schemas.openxmlformats.org/drawingml/2006/main">
            <a:off x="609600" y="4619625"/>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60717A"/>
                </a:solidFill>
                <a:latin typeface="Arial"/>
                <a:ea typeface="Arial"/>
                <a:cs typeface="Arial"/>
              </a:defRPr>
            </a:defPPr>
            <a:lvl1pPr>
              <a:defRPr sz="1125" b="1">
                <a:solidFill>
                  <a:srgbClr val="60717A"/>
                </a:solidFill>
                <a:latin typeface="Arial"/>
                <a:ea typeface="Arial"/>
                <a:cs typeface="Arial"/>
              </a:defRPr>
            </a:lvl1pPr>
            <a:lvl2pPr>
              <a:defRPr sz="1125" b="1">
                <a:solidFill>
                  <a:srgbClr val="60717A"/>
                </a:solidFill>
                <a:latin typeface="Arial"/>
                <a:ea typeface="Arial"/>
                <a:cs typeface="Arial"/>
              </a:defRPr>
            </a:lvl2pPr>
            <a:lvl3pPr>
              <a:defRPr sz="1125" b="1">
                <a:solidFill>
                  <a:srgbClr val="60717A"/>
                </a:solidFill>
                <a:latin typeface="Arial"/>
                <a:ea typeface="Arial"/>
                <a:cs typeface="Arial"/>
              </a:defRPr>
            </a:lvl3pPr>
            <a:lvl4pPr>
              <a:defRPr sz="1125" b="1">
                <a:solidFill>
                  <a:srgbClr val="60717A"/>
                </a:solidFill>
                <a:latin typeface="Arial"/>
                <a:ea typeface="Arial"/>
                <a:cs typeface="Arial"/>
              </a:defRPr>
            </a:lvl4pPr>
            <a:lvl5pPr>
              <a:defRPr sz="1125" b="1">
                <a:solidFill>
                  <a:srgbClr val="60717A"/>
                </a:solidFill>
                <a:latin typeface="Arial"/>
                <a:ea typeface="Arial"/>
                <a:cs typeface="Arial"/>
              </a:defRPr>
            </a:lvl5pPr>
            <a:lvl6pPr>
              <a:defRPr sz="1125" b="1">
                <a:solidFill>
                  <a:srgbClr val="60717A"/>
                </a:solidFill>
                <a:latin typeface="Arial"/>
                <a:ea typeface="Arial"/>
                <a:cs typeface="Arial"/>
              </a:defRPr>
            </a:lvl6pPr>
            <a:lvl7pPr>
              <a:defRPr sz="1125" b="1">
                <a:solidFill>
                  <a:srgbClr val="60717A"/>
                </a:solidFill>
                <a:latin typeface="Arial"/>
                <a:ea typeface="Arial"/>
                <a:cs typeface="Arial"/>
              </a:defRPr>
            </a:lvl7pPr>
            <a:lvl8pPr>
              <a:defRPr sz="1125" b="1">
                <a:solidFill>
                  <a:srgbClr val="60717A"/>
                </a:solidFill>
                <a:latin typeface="Arial"/>
                <a:ea typeface="Arial"/>
                <a:cs typeface="Arial"/>
              </a:defRPr>
            </a:lvl8pPr>
            <a:lvl9pPr>
              <a:defRPr sz="1125" b="1">
                <a:solidFill>
                  <a:srgbClr val="60717A"/>
                </a:solidFill>
                <a:latin typeface="Arial"/>
                <a:ea typeface="Arial"/>
                <a:cs typeface="Arial"/>
              </a:defRPr>
            </a:lvl9pPr>
          </a:lstStyle>
          <a:p xmlns:a="http://schemas.openxmlformats.org/drawingml/2006/main">
            <a:pPr>
              <a:defRPr sz="1125" b="1">
                <a:solidFill>
                  <a:srgbClr val="60717A"/>
                </a:solidFill>
                <a:latin typeface="Arial"/>
                <a:ea typeface="Arial"/>
                <a:cs typeface="Arial"/>
              </a:defRPr>
            </a:pPr>
            <a:r>
              <a:rPr sz="1125" b="1">
                <a:solidFill>
                  <a:srgbClr val="60717A"/>
                </a:solidFill>
                <a:latin typeface="Arial"/>
                <a:ea typeface="Arial"/>
                <a:cs typeface="Arial"/>
              </a:rPr>
              <a:t>GREEN TESTS ≠ CONTAINMENT</a:t>
            </a:r>
          </a:p>
        </p:txBody>
      </p:sp>
      <p:sp>
        <p:nvSpPr>
          <p:cNvPr id="6" name="AI AS WORKLOADS&#10;Support, operations and monitori">
            <a:extLst xmlns:a="http://schemas.openxmlformats.org/drawingml/2006/main">
              <a:ext uri="{FF2B5EF4-FFF2-40B4-BE49-F238E27FC236}">
                <a16:creationId xmlns:a16="http://schemas.microsoft.com/office/drawing/2014/main" id="{B5193319-F7E3-46E7-85E7-7F01F55E7E6A}"/>
              </a:ext>
            </a:extLst>
          </p:cNvPr>
          <p:cNvSpPr>
            <a:spLocks xmlns:a="http://schemas.openxmlformats.org/drawingml/2006/main" noGrp="1"/>
          </p:cNvSpPr>
          <p:nvPr/>
        </p:nvSpPr>
        <p:spPr>
          <a:xfrm xmlns:a="http://schemas.openxmlformats.org/drawingml/2006/main">
            <a:off x="4876800" y="2276475"/>
            <a:ext cx="66865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D45336"/>
            </a:solidFill>
          </a:ln>
        </p:spPr>
        <p:txBody>
          <a:bodyPr xmlns:a="http://schemas.openxmlformats.org/drawingml/2006/main"/>
          <a:lstStyle xmlns:a="http://schemas.openxmlformats.org/drawingml/2006/main">
            <a:defPPr>
              <a:defRPr sz="1500" b="0">
                <a:solidFill>
                  <a:srgbClr val="0B1822"/>
                </a:solidFill>
                <a:latin typeface="Arial"/>
                <a:ea typeface="Arial"/>
                <a:cs typeface="Arial"/>
              </a:defRPr>
            </a:defPPr>
            <a:lvl1pPr>
              <a:defRPr sz="1500" b="0">
                <a:solidFill>
                  <a:srgbClr val="0B1822"/>
                </a:solidFill>
                <a:latin typeface="Arial"/>
                <a:ea typeface="Arial"/>
                <a:cs typeface="Arial"/>
              </a:defRPr>
            </a:lvl1pPr>
            <a:lvl2pPr>
              <a:defRPr sz="1500" b="0">
                <a:solidFill>
                  <a:srgbClr val="0B1822"/>
                </a:solidFill>
                <a:latin typeface="Arial"/>
                <a:ea typeface="Arial"/>
                <a:cs typeface="Arial"/>
              </a:defRPr>
            </a:lvl2pPr>
            <a:lvl3pPr>
              <a:defRPr sz="1500" b="0">
                <a:solidFill>
                  <a:srgbClr val="0B1822"/>
                </a:solidFill>
                <a:latin typeface="Arial"/>
                <a:ea typeface="Arial"/>
                <a:cs typeface="Arial"/>
              </a:defRPr>
            </a:lvl3pPr>
            <a:lvl4pPr>
              <a:defRPr sz="1500" b="0">
                <a:solidFill>
                  <a:srgbClr val="0B1822"/>
                </a:solidFill>
                <a:latin typeface="Arial"/>
                <a:ea typeface="Arial"/>
                <a:cs typeface="Arial"/>
              </a:defRPr>
            </a:lvl4pPr>
            <a:lvl5pPr>
              <a:defRPr sz="1500" b="0">
                <a:solidFill>
                  <a:srgbClr val="0B1822"/>
                </a:solidFill>
                <a:latin typeface="Arial"/>
                <a:ea typeface="Arial"/>
                <a:cs typeface="Arial"/>
              </a:defRPr>
            </a:lvl5pPr>
            <a:lvl6pPr>
              <a:defRPr sz="1500" b="0">
                <a:solidFill>
                  <a:srgbClr val="0B1822"/>
                </a:solidFill>
                <a:latin typeface="Arial"/>
                <a:ea typeface="Arial"/>
                <a:cs typeface="Arial"/>
              </a:defRPr>
            </a:lvl6pPr>
            <a:lvl7pPr>
              <a:defRPr sz="1500" b="0">
                <a:solidFill>
                  <a:srgbClr val="0B1822"/>
                </a:solidFill>
                <a:latin typeface="Arial"/>
                <a:ea typeface="Arial"/>
                <a:cs typeface="Arial"/>
              </a:defRPr>
            </a:lvl7pPr>
            <a:lvl8pPr>
              <a:defRPr sz="1500" b="0">
                <a:solidFill>
                  <a:srgbClr val="0B1822"/>
                </a:solidFill>
                <a:latin typeface="Arial"/>
                <a:ea typeface="Arial"/>
                <a:cs typeface="Arial"/>
              </a:defRPr>
            </a:lvl8pPr>
            <a:lvl9pPr>
              <a:defRPr sz="1500" b="0">
                <a:solidFill>
                  <a:srgbClr val="0B1822"/>
                </a:solidFill>
                <a:latin typeface="Arial"/>
                <a:ea typeface="Arial"/>
                <a:cs typeface="Arial"/>
              </a:defRPr>
            </a:lvl9pPr>
          </a:lstStyle>
          <a:p xmlns:a="http://schemas.openxmlformats.org/drawingml/2006/main">
            <a:pPr>
              <a:defRPr sz="1500" b="0">
                <a:solidFill>
                  <a:srgbClr val="0B1822"/>
                </a:solidFill>
                <a:latin typeface="Arial"/>
                <a:ea typeface="Arial"/>
                <a:cs typeface="Arial"/>
              </a:defRPr>
            </a:pPr>
            <a:r>
              <a:rPr sz="1500" b="0">
                <a:solidFill>
                  <a:srgbClr val="0B1822"/>
                </a:solidFill>
                <a:latin typeface="Arial"/>
                <a:ea typeface="Arial"/>
                <a:cs typeface="Arial"/>
              </a:rPr>
              <a:t>AI AS WORKLOADS</a:t>
            </a:r>
          </a:p>
          <a:p xmlns:a="http://schemas.openxmlformats.org/drawingml/2006/main">
            <a:pPr>
              <a:defRPr sz="1500" b="0">
                <a:solidFill>
                  <a:srgbClr val="0B1822"/>
                </a:solidFill>
                <a:latin typeface="Arial"/>
                <a:ea typeface="Arial"/>
                <a:cs typeface="Arial"/>
              </a:defRPr>
            </a:pPr>
            <a:r>
              <a:rPr sz="1500" b="0">
                <a:solidFill>
                  <a:srgbClr val="0B1822"/>
                </a:solidFill>
                <a:latin typeface="Arial"/>
                <a:ea typeface="Arial"/>
                <a:cs typeface="Arial"/>
              </a:rPr>
              <a:t>Support, operations and monitoring agents run beside critical services. Their Pods, identities and tools create runtime paths.</a:t>
            </a:r>
          </a:p>
        </p:txBody>
      </p:sp>
      <p:sp>
        <p:nvSpPr>
          <p:cNvPr id="7" name="AI AS POLICY WRITER&#10;A separate copilot proposes ">
            <a:extLst xmlns:a="http://schemas.openxmlformats.org/drawingml/2006/main">
              <a:ext uri="{FF2B5EF4-FFF2-40B4-BE49-F238E27FC236}">
                <a16:creationId xmlns:a16="http://schemas.microsoft.com/office/drawing/2014/main" id="{1C99ACEA-D996-47D2-9CCF-8C83F19AF915}"/>
              </a:ext>
            </a:extLst>
          </p:cNvPr>
          <p:cNvSpPr>
            <a:spLocks xmlns:a="http://schemas.openxmlformats.org/drawingml/2006/main" noGrp="1"/>
          </p:cNvSpPr>
          <p:nvPr/>
        </p:nvSpPr>
        <p:spPr>
          <a:xfrm xmlns:a="http://schemas.openxmlformats.org/drawingml/2006/main">
            <a:off x="4876800" y="3667125"/>
            <a:ext cx="6686550" cy="125730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500" b="0">
                <a:solidFill>
                  <a:srgbClr val="0B1822"/>
                </a:solidFill>
                <a:latin typeface="Arial"/>
                <a:ea typeface="Arial"/>
                <a:cs typeface="Arial"/>
              </a:defRPr>
            </a:defPPr>
            <a:lvl1pPr>
              <a:defRPr sz="1500" b="0">
                <a:solidFill>
                  <a:srgbClr val="0B1822"/>
                </a:solidFill>
                <a:latin typeface="Arial"/>
                <a:ea typeface="Arial"/>
                <a:cs typeface="Arial"/>
              </a:defRPr>
            </a:lvl1pPr>
            <a:lvl2pPr>
              <a:defRPr sz="1500" b="0">
                <a:solidFill>
                  <a:srgbClr val="0B1822"/>
                </a:solidFill>
                <a:latin typeface="Arial"/>
                <a:ea typeface="Arial"/>
                <a:cs typeface="Arial"/>
              </a:defRPr>
            </a:lvl2pPr>
            <a:lvl3pPr>
              <a:defRPr sz="1500" b="0">
                <a:solidFill>
                  <a:srgbClr val="0B1822"/>
                </a:solidFill>
                <a:latin typeface="Arial"/>
                <a:ea typeface="Arial"/>
                <a:cs typeface="Arial"/>
              </a:defRPr>
            </a:lvl3pPr>
            <a:lvl4pPr>
              <a:defRPr sz="1500" b="0">
                <a:solidFill>
                  <a:srgbClr val="0B1822"/>
                </a:solidFill>
                <a:latin typeface="Arial"/>
                <a:ea typeface="Arial"/>
                <a:cs typeface="Arial"/>
              </a:defRPr>
            </a:lvl4pPr>
            <a:lvl5pPr>
              <a:defRPr sz="1500" b="0">
                <a:solidFill>
                  <a:srgbClr val="0B1822"/>
                </a:solidFill>
                <a:latin typeface="Arial"/>
                <a:ea typeface="Arial"/>
                <a:cs typeface="Arial"/>
              </a:defRPr>
            </a:lvl5pPr>
            <a:lvl6pPr>
              <a:defRPr sz="1500" b="0">
                <a:solidFill>
                  <a:srgbClr val="0B1822"/>
                </a:solidFill>
                <a:latin typeface="Arial"/>
                <a:ea typeface="Arial"/>
                <a:cs typeface="Arial"/>
              </a:defRPr>
            </a:lvl6pPr>
            <a:lvl7pPr>
              <a:defRPr sz="1500" b="0">
                <a:solidFill>
                  <a:srgbClr val="0B1822"/>
                </a:solidFill>
                <a:latin typeface="Arial"/>
                <a:ea typeface="Arial"/>
                <a:cs typeface="Arial"/>
              </a:defRPr>
            </a:lvl7pPr>
            <a:lvl8pPr>
              <a:defRPr sz="1500" b="0">
                <a:solidFill>
                  <a:srgbClr val="0B1822"/>
                </a:solidFill>
                <a:latin typeface="Arial"/>
                <a:ea typeface="Arial"/>
                <a:cs typeface="Arial"/>
              </a:defRPr>
            </a:lvl8pPr>
            <a:lvl9pPr>
              <a:defRPr sz="1500" b="0">
                <a:solidFill>
                  <a:srgbClr val="0B1822"/>
                </a:solidFill>
                <a:latin typeface="Arial"/>
                <a:ea typeface="Arial"/>
                <a:cs typeface="Arial"/>
              </a:defRPr>
            </a:lvl9pPr>
          </a:lstStyle>
          <a:p xmlns:a="http://schemas.openxmlformats.org/drawingml/2006/main">
            <a:pPr>
              <a:defRPr sz="1500" b="0">
                <a:solidFill>
                  <a:srgbClr val="0B1822"/>
                </a:solidFill>
                <a:latin typeface="Arial"/>
                <a:ea typeface="Arial"/>
                <a:cs typeface="Arial"/>
              </a:defRPr>
            </a:pPr>
            <a:r>
              <a:rPr sz="1500" b="0">
                <a:solidFill>
                  <a:srgbClr val="0B1822"/>
                </a:solidFill>
                <a:latin typeface="Arial"/>
                <a:ea typeface="Arial"/>
                <a:cs typeface="Arial"/>
              </a:rPr>
              <a:t>AI AS POLICY WRITER</a:t>
            </a:r>
          </a:p>
          <a:p xmlns:a="http://schemas.openxmlformats.org/drawingml/2006/main">
            <a:pPr>
              <a:defRPr sz="1500" b="0">
                <a:solidFill>
                  <a:srgbClr val="0B1822"/>
                </a:solidFill>
                <a:latin typeface="Arial"/>
                <a:ea typeface="Arial"/>
                <a:cs typeface="Arial"/>
              </a:defRPr>
            </a:pPr>
            <a:r>
              <a:rPr sz="1500" b="0">
                <a:solidFill>
                  <a:srgbClr val="0B1822"/>
                </a:solidFill>
                <a:latin typeface="Arial"/>
                <a:ea typeface="Arial"/>
                <a:cs typeface="Arial"/>
              </a:rPr>
              <a:t>A separate copilot proposes guardrails. Green tests can cover one rule while a live network or API path remains.</a:t>
            </a:r>
          </a:p>
        </p:txBody>
      </p:sp>
      <p:sp>
        <p:nvSpPr>
          <p:cNvPr id="8" name="YOUR ROLE: Choose a case later, challenge the pr">
            <a:extLst xmlns:a="http://schemas.openxmlformats.org/drawingml/2006/main">
              <a:ext uri="{FF2B5EF4-FFF2-40B4-BE49-F238E27FC236}">
                <a16:creationId xmlns:a16="http://schemas.microsoft.com/office/drawing/2014/main" id="{27E3ED97-A604-4529-9A38-1237B848B443}"/>
              </a:ext>
            </a:extLst>
          </p:cNvPr>
          <p:cNvSpPr>
            <a:spLocks xmlns:a="http://schemas.openxmlformats.org/drawingml/2006/main" noGrp="1"/>
          </p:cNvSpPr>
          <p:nvPr/>
        </p:nvSpPr>
        <p:spPr>
          <a:xfrm xmlns:a="http://schemas.openxmlformats.org/drawingml/2006/main">
            <a:off x="609600" y="5219700"/>
            <a:ext cx="10953750" cy="723900"/>
          </a:xfrm>
          <a:prstGeom xmlns:a="http://schemas.openxmlformats.org/drawingml/2006/main" prst="rect">
            <a:avLst/>
          </a:prstGeom>
          <a:solidFill xmlns:a="http://schemas.openxmlformats.org/drawingml/2006/main">
            <a:srgbClr val="E6E1D5"/>
          </a:solidFill>
          <a:ln xmlns:a="http://schemas.openxmlformats.org/drawingml/2006/main" w="19050">
            <a:solidFill>
              <a:srgbClr val="087E79"/>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YOUR ROLE: Choose a case later, challenge the proposed change, preserve service and evidence, then justify the containment order.</a:t>
            </a:r>
          </a:p>
        </p:txBody>
      </p:sp>
      <p:sp>
        <p:nvSpPr>
          <p:cNvPr id="9" name="ISC2 SECURITY CONGRESS 2026 / SC2632">
            <a:extLst xmlns:a="http://schemas.openxmlformats.org/drawingml/2006/main">
              <a:ext uri="{FF2B5EF4-FFF2-40B4-BE49-F238E27FC236}">
                <a16:creationId xmlns:a16="http://schemas.microsoft.com/office/drawing/2014/main" id="{1E890865-E1AA-49DE-A689-BFAE7DAD8E6A}"/>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10" name="04">
            <a:extLst xmlns:a="http://schemas.openxmlformats.org/drawingml/2006/main">
              <a:ext uri="{FF2B5EF4-FFF2-40B4-BE49-F238E27FC236}">
                <a16:creationId xmlns:a16="http://schemas.microsoft.com/office/drawing/2014/main" id="{9AD9385C-0BE0-4D44-B5C7-C0A398306E65}"/>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04</a:t>
            </a:r>
          </a:p>
        </p:txBody>
      </p:sp>
    </p:spTree>
    <p:extLst>
      <p:ext uri="{BB962C8B-B14F-4D97-AF65-F5344CB8AC3E}">
        <p14:creationId xmlns:p14="http://schemas.microsoft.com/office/powerpoint/2010/main" val="1149974362"/>
      </p:ext>
    </p:extLst>
  </p:cSld>
</p:sld>
</file>

<file path=ppt/slides/slide5.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1" name="THE ENVIRONMENT YOU ARE DEFENDING / PLAIN-LANGUA">
            <a:extLst xmlns:a="http://schemas.openxmlformats.org/drawingml/2006/main">
              <a:ext uri="{FF2B5EF4-FFF2-40B4-BE49-F238E27FC236}">
                <a16:creationId xmlns:a16="http://schemas.microsoft.com/office/drawing/2014/main" id="{6C5FA610-2684-4922-A16E-3CFB9F7FE8D8}"/>
              </a:ext>
            </a:extLst>
          </p:cNvPr>
          <p:cNvSpPr>
            <a:spLocks xmlns:a="http://schemas.openxmlformats.org/drawingml/2006/main" noGrp="1"/>
          </p:cNvSpPr>
          <p:nvPr/>
        </p:nvSpPr>
        <p:spPr>
          <a:xfrm xmlns:a="http://schemas.openxmlformats.org/drawingml/2006/main">
            <a:off x="609600" y="41910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THE ENVIRONMENT YOU ARE DEFENDING / PLAIN-LANGUAGE CLUSTER MAP</a:t>
            </a:r>
          </a:p>
        </p:txBody>
      </p:sp>
      <p:sp>
        <p:nvSpPr>
          <p:cNvPr id="2" name="Inside the shared payment platform">
            <a:extLst xmlns:a="http://schemas.openxmlformats.org/drawingml/2006/main">
              <a:ext uri="{FF2B5EF4-FFF2-40B4-BE49-F238E27FC236}">
                <a16:creationId xmlns:a16="http://schemas.microsoft.com/office/drawing/2014/main" id="{1413C0FA-7FB0-4488-A904-2B8499CD0F33}"/>
              </a:ext>
            </a:extLst>
          </p:cNvPr>
          <p:cNvSpPr>
            <a:spLocks xmlns:a="http://schemas.openxmlformats.org/drawingml/2006/main" noGrp="1"/>
          </p:cNvSpPr>
          <p:nvPr>
            <p:ph type="title" idx="0"/>
          </p:nvPr>
        </p:nvSpPr>
        <p:spPr>
          <a:xfrm xmlns:a="http://schemas.openxmlformats.org/drawingml/2006/main">
            <a:off x="609600" y="8001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1822"/>
                </a:solidFill>
                <a:latin typeface="Arial Black"/>
                <a:ea typeface="Arial Black"/>
                <a:cs typeface="Arial Black"/>
              </a:defRPr>
            </a:defPPr>
            <a:lvl1pPr>
              <a:defRPr sz="3300" b="1">
                <a:solidFill>
                  <a:srgbClr val="0B1822"/>
                </a:solidFill>
                <a:latin typeface="Arial Black"/>
                <a:ea typeface="Arial Black"/>
                <a:cs typeface="Arial Black"/>
              </a:defRPr>
            </a:lvl1pPr>
            <a:lvl2pPr>
              <a:defRPr sz="3300" b="1">
                <a:solidFill>
                  <a:srgbClr val="0B1822"/>
                </a:solidFill>
                <a:latin typeface="Arial Black"/>
                <a:ea typeface="Arial Black"/>
                <a:cs typeface="Arial Black"/>
              </a:defRPr>
            </a:lvl2pPr>
            <a:lvl3pPr>
              <a:defRPr sz="3300" b="1">
                <a:solidFill>
                  <a:srgbClr val="0B1822"/>
                </a:solidFill>
                <a:latin typeface="Arial Black"/>
                <a:ea typeface="Arial Black"/>
                <a:cs typeface="Arial Black"/>
              </a:defRPr>
            </a:lvl3pPr>
            <a:lvl4pPr>
              <a:defRPr sz="3300" b="1">
                <a:solidFill>
                  <a:srgbClr val="0B1822"/>
                </a:solidFill>
                <a:latin typeface="Arial Black"/>
                <a:ea typeface="Arial Black"/>
                <a:cs typeface="Arial Black"/>
              </a:defRPr>
            </a:lvl4pPr>
            <a:lvl5pPr>
              <a:defRPr sz="3300" b="1">
                <a:solidFill>
                  <a:srgbClr val="0B1822"/>
                </a:solidFill>
                <a:latin typeface="Arial Black"/>
                <a:ea typeface="Arial Black"/>
                <a:cs typeface="Arial Black"/>
              </a:defRPr>
            </a:lvl5pPr>
            <a:lvl6pPr>
              <a:defRPr sz="3300" b="1">
                <a:solidFill>
                  <a:srgbClr val="0B1822"/>
                </a:solidFill>
                <a:latin typeface="Arial Black"/>
                <a:ea typeface="Arial Black"/>
                <a:cs typeface="Arial Black"/>
              </a:defRPr>
            </a:lvl6pPr>
            <a:lvl7pPr>
              <a:defRPr sz="3300" b="1">
                <a:solidFill>
                  <a:srgbClr val="0B1822"/>
                </a:solidFill>
                <a:latin typeface="Arial Black"/>
                <a:ea typeface="Arial Black"/>
                <a:cs typeface="Arial Black"/>
              </a:defRPr>
            </a:lvl7pPr>
            <a:lvl8pPr>
              <a:defRPr sz="3300" b="1">
                <a:solidFill>
                  <a:srgbClr val="0B1822"/>
                </a:solidFill>
                <a:latin typeface="Arial Black"/>
                <a:ea typeface="Arial Black"/>
                <a:cs typeface="Arial Black"/>
              </a:defRPr>
            </a:lvl8pPr>
            <a:lvl9pPr>
              <a:defRPr sz="3300" b="1">
                <a:solidFill>
                  <a:srgbClr val="0B1822"/>
                </a:solidFill>
                <a:latin typeface="Arial Black"/>
                <a:ea typeface="Arial Black"/>
                <a:cs typeface="Arial Black"/>
              </a:defRPr>
            </a:lvl9pPr>
          </a:lstStyle>
          <a:p xmlns:a="http://schemas.openxmlformats.org/drawingml/2006/main">
            <a:pPr>
              <a:defRPr sz="3300" b="1">
                <a:solidFill>
                  <a:srgbClr val="0B1822"/>
                </a:solidFill>
                <a:latin typeface="Arial Black"/>
                <a:ea typeface="Arial Black"/>
                <a:cs typeface="Arial Black"/>
              </a:defRPr>
            </a:pPr>
            <a:r>
              <a:rPr sz="3300" b="1">
                <a:solidFill>
                  <a:srgbClr val="0B1822"/>
                </a:solidFill>
                <a:latin typeface="Arial Black"/>
                <a:ea typeface="Arial Black"/>
                <a:cs typeface="Arial Black"/>
              </a:rPr>
              <a:t>Inside the shared payment platform</a:t>
            </a:r>
          </a:p>
        </p:txBody>
      </p:sp>
      <p:sp>
        <p:nvSpPr>
          <p:cNvPr id="3" name="CONTEXT: No Kubernetes or Kyverno experience is ">
            <a:extLst xmlns:a="http://schemas.openxmlformats.org/drawingml/2006/main">
              <a:ext uri="{FF2B5EF4-FFF2-40B4-BE49-F238E27FC236}">
                <a16:creationId xmlns:a16="http://schemas.microsoft.com/office/drawing/2014/main" id="{B5C565ED-3A3F-4989-8A21-8032E6333D3C}"/>
              </a:ext>
            </a:extLst>
          </p:cNvPr>
          <p:cNvSpPr>
            <a:spLocks xmlns:a="http://schemas.openxmlformats.org/drawingml/2006/main" noGrp="1"/>
          </p:cNvSpPr>
          <p:nvPr/>
        </p:nvSpPr>
        <p:spPr>
          <a:xfrm xmlns:a="http://schemas.openxmlformats.org/drawingml/2006/main">
            <a:off x="609600" y="1657350"/>
            <a:ext cx="10953750" cy="53340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425" b="1">
                <a:solidFill>
                  <a:srgbClr val="F2EFE7"/>
                </a:solidFill>
                <a:latin typeface="Arial"/>
                <a:ea typeface="Arial"/>
                <a:cs typeface="Arial"/>
              </a:defRPr>
            </a:defPPr>
            <a:lvl1pPr>
              <a:defRPr sz="1425" b="1">
                <a:solidFill>
                  <a:srgbClr val="F2EFE7"/>
                </a:solidFill>
                <a:latin typeface="Arial"/>
                <a:ea typeface="Arial"/>
                <a:cs typeface="Arial"/>
              </a:defRPr>
            </a:lvl1pPr>
            <a:lvl2pPr>
              <a:defRPr sz="1425" b="1">
                <a:solidFill>
                  <a:srgbClr val="F2EFE7"/>
                </a:solidFill>
                <a:latin typeface="Arial"/>
                <a:ea typeface="Arial"/>
                <a:cs typeface="Arial"/>
              </a:defRPr>
            </a:lvl2pPr>
            <a:lvl3pPr>
              <a:defRPr sz="1425" b="1">
                <a:solidFill>
                  <a:srgbClr val="F2EFE7"/>
                </a:solidFill>
                <a:latin typeface="Arial"/>
                <a:ea typeface="Arial"/>
                <a:cs typeface="Arial"/>
              </a:defRPr>
            </a:lvl3pPr>
            <a:lvl4pPr>
              <a:defRPr sz="1425" b="1">
                <a:solidFill>
                  <a:srgbClr val="F2EFE7"/>
                </a:solidFill>
                <a:latin typeface="Arial"/>
                <a:ea typeface="Arial"/>
                <a:cs typeface="Arial"/>
              </a:defRPr>
            </a:lvl4pPr>
            <a:lvl5pPr>
              <a:defRPr sz="1425" b="1">
                <a:solidFill>
                  <a:srgbClr val="F2EFE7"/>
                </a:solidFill>
                <a:latin typeface="Arial"/>
                <a:ea typeface="Arial"/>
                <a:cs typeface="Arial"/>
              </a:defRPr>
            </a:lvl5pPr>
            <a:lvl6pPr>
              <a:defRPr sz="1425" b="1">
                <a:solidFill>
                  <a:srgbClr val="F2EFE7"/>
                </a:solidFill>
                <a:latin typeface="Arial"/>
                <a:ea typeface="Arial"/>
                <a:cs typeface="Arial"/>
              </a:defRPr>
            </a:lvl6pPr>
            <a:lvl7pPr>
              <a:defRPr sz="1425" b="1">
                <a:solidFill>
                  <a:srgbClr val="F2EFE7"/>
                </a:solidFill>
                <a:latin typeface="Arial"/>
                <a:ea typeface="Arial"/>
                <a:cs typeface="Arial"/>
              </a:defRPr>
            </a:lvl7pPr>
            <a:lvl8pPr>
              <a:defRPr sz="1425" b="1">
                <a:solidFill>
                  <a:srgbClr val="F2EFE7"/>
                </a:solidFill>
                <a:latin typeface="Arial"/>
                <a:ea typeface="Arial"/>
                <a:cs typeface="Arial"/>
              </a:defRPr>
            </a:lvl8pPr>
            <a:lvl9pPr>
              <a:defRPr sz="1425" b="1">
                <a:solidFill>
                  <a:srgbClr val="F2EFE7"/>
                </a:solidFill>
                <a:latin typeface="Arial"/>
                <a:ea typeface="Arial"/>
                <a:cs typeface="Arial"/>
              </a:defRPr>
            </a:lvl9pPr>
          </a:lstStyle>
          <a:p xmlns:a="http://schemas.openxmlformats.org/drawingml/2006/main">
            <a:pPr>
              <a:defRPr sz="1425" b="1">
                <a:solidFill>
                  <a:srgbClr val="F2EFE7"/>
                </a:solidFill>
                <a:latin typeface="Arial"/>
                <a:ea typeface="Arial"/>
                <a:cs typeface="Arial"/>
              </a:defRPr>
            </a:pPr>
            <a:r>
              <a:rPr sz="1425" b="1">
                <a:solidFill>
                  <a:srgbClr val="F2EFE7"/>
                </a:solidFill>
                <a:latin typeface="Arial"/>
                <a:ea typeface="Arial"/>
                <a:cs typeface="Arial"/>
              </a:rPr>
              <a:t>CONTEXT: No Kubernetes or Kyverno experience is required. A Pod is a running workload; a namespace is a resource group in one cluster.</a:t>
            </a:r>
          </a:p>
        </p:txBody>
      </p:sp>
      <p:pic>
        <p:nvPicPr>
          <p:cNvPr id="4" name="" descr="Fictional shared-platform map: the payments API service routes to three Pods and a database; agents use workload identities to call the Kubernetes API; Kyverno, RBAC and CoreDNS are shown as distinct controls. It is illustrative, not a live cluster or telemetry.">
            <a:extLst xmlns:a="http://schemas.openxmlformats.org/drawingml/2006/main">
              <a:ext uri="{FF2B5EF4-FFF2-40B4-BE49-F238E27FC236}">
                <a16:creationId xmlns:a16="http://schemas.microsoft.com/office/drawing/2014/main" id="{57E513C2-92FF-4702-BF0D-D124001F324D}"/>
              </a:ext>
            </a:extLst>
          </p:cNvPr>
          <p:cNvPicPr>
            <a:picLocks xmlns:a="http://schemas.openxmlformats.org/drawingml/2006/main" noChangeAspect="1"/>
          </p:cNvPicPr>
          <p:nvPr/>
        </p:nvPicPr>
        <p:blipFill>
          <a:blip xmlns:r="http://schemas.openxmlformats.org/officeDocument/2006/relationships" xmlns:a="http://schemas.openxmlformats.org/drawingml/2006/main" r:embed="R0bcbad53e38c40be"/>
          <a:stretch xmlns:a="http://schemas.openxmlformats.org/drawingml/2006/main"/>
        </p:blipFill>
        <p:spPr>
          <a:xfrm xmlns:a="http://schemas.openxmlformats.org/drawingml/2006/main">
            <a:off x="5861957" y="2305050"/>
            <a:ext cx="5497286" cy="3848100"/>
          </a:xfrm>
          <a:prstGeom xmlns:a="http://schemas.openxmlformats.org/drawingml/2006/main" prst="rect">
            <a:avLst/>
          </a:prstGeom>
        </p:spPr>
      </p:pic>
      <p:sp>
        <p:nvSpPr>
          <p:cNvPr id="5" name="1. PAYMENT SERVICES (namespace = resource group)">
            <a:extLst xmlns:a="http://schemas.openxmlformats.org/drawingml/2006/main">
              <a:ext uri="{FF2B5EF4-FFF2-40B4-BE49-F238E27FC236}">
                <a16:creationId xmlns:a16="http://schemas.microsoft.com/office/drawing/2014/main" id="{B735BA2A-F566-45F2-9940-1FEE8DC6CFD5}"/>
              </a:ext>
            </a:extLst>
          </p:cNvPr>
          <p:cNvSpPr>
            <a:spLocks xmlns:a="http://schemas.openxmlformats.org/drawingml/2006/main" noGrp="1"/>
          </p:cNvSpPr>
          <p:nvPr/>
        </p:nvSpPr>
        <p:spPr>
          <a:xfrm xmlns:a="http://schemas.openxmlformats.org/drawingml/2006/main">
            <a:off x="609600" y="2305050"/>
            <a:ext cx="4857750" cy="8763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79"/>
            </a:solidFill>
          </a:ln>
        </p:spPr>
        <p:txBody>
          <a:bodyPr xmlns:a="http://schemas.openxmlformats.org/drawingml/2006/main"/>
          <a:lstStyle xmlns:a="http://schemas.openxmlformats.org/drawingml/2006/main">
            <a:defPPr>
              <a:defRPr sz="1350" b="0">
                <a:solidFill>
                  <a:srgbClr val="0B1822"/>
                </a:solidFill>
                <a:latin typeface="Arial"/>
                <a:ea typeface="Arial"/>
                <a:cs typeface="Arial"/>
              </a:defRPr>
            </a:defPPr>
            <a:lvl1pPr>
              <a:defRPr sz="1350" b="0">
                <a:solidFill>
                  <a:srgbClr val="0B1822"/>
                </a:solidFill>
                <a:latin typeface="Arial"/>
                <a:ea typeface="Arial"/>
                <a:cs typeface="Arial"/>
              </a:defRPr>
            </a:lvl1pPr>
            <a:lvl2pPr>
              <a:defRPr sz="1350" b="0">
                <a:solidFill>
                  <a:srgbClr val="0B1822"/>
                </a:solidFill>
                <a:latin typeface="Arial"/>
                <a:ea typeface="Arial"/>
                <a:cs typeface="Arial"/>
              </a:defRPr>
            </a:lvl2pPr>
            <a:lvl3pPr>
              <a:defRPr sz="1350" b="0">
                <a:solidFill>
                  <a:srgbClr val="0B1822"/>
                </a:solidFill>
                <a:latin typeface="Arial"/>
                <a:ea typeface="Arial"/>
                <a:cs typeface="Arial"/>
              </a:defRPr>
            </a:lvl3pPr>
            <a:lvl4pPr>
              <a:defRPr sz="1350" b="0">
                <a:solidFill>
                  <a:srgbClr val="0B1822"/>
                </a:solidFill>
                <a:latin typeface="Arial"/>
                <a:ea typeface="Arial"/>
                <a:cs typeface="Arial"/>
              </a:defRPr>
            </a:lvl4pPr>
            <a:lvl5pPr>
              <a:defRPr sz="1350" b="0">
                <a:solidFill>
                  <a:srgbClr val="0B1822"/>
                </a:solidFill>
                <a:latin typeface="Arial"/>
                <a:ea typeface="Arial"/>
                <a:cs typeface="Arial"/>
              </a:defRPr>
            </a:lvl5pPr>
            <a:lvl6pPr>
              <a:defRPr sz="1350" b="0">
                <a:solidFill>
                  <a:srgbClr val="0B1822"/>
                </a:solidFill>
                <a:latin typeface="Arial"/>
                <a:ea typeface="Arial"/>
                <a:cs typeface="Arial"/>
              </a:defRPr>
            </a:lvl6pPr>
            <a:lvl7pPr>
              <a:defRPr sz="1350" b="0">
                <a:solidFill>
                  <a:srgbClr val="0B1822"/>
                </a:solidFill>
                <a:latin typeface="Arial"/>
                <a:ea typeface="Arial"/>
                <a:cs typeface="Arial"/>
              </a:defRPr>
            </a:lvl7pPr>
            <a:lvl8pPr>
              <a:defRPr sz="1350" b="0">
                <a:solidFill>
                  <a:srgbClr val="0B1822"/>
                </a:solidFill>
                <a:latin typeface="Arial"/>
                <a:ea typeface="Arial"/>
                <a:cs typeface="Arial"/>
              </a:defRPr>
            </a:lvl8pPr>
            <a:lvl9pPr>
              <a:defRPr sz="1350" b="0">
                <a:solidFill>
                  <a:srgbClr val="0B1822"/>
                </a:solidFill>
                <a:latin typeface="Arial"/>
                <a:ea typeface="Arial"/>
                <a:cs typeface="Arial"/>
              </a:defRPr>
            </a:lvl9pPr>
          </a:lstStyle>
          <a:p xmlns:a="http://schemas.openxmlformats.org/drawingml/2006/main">
            <a:pPr>
              <a:defRPr sz="1350" b="0">
                <a:solidFill>
                  <a:srgbClr val="0B1822"/>
                </a:solidFill>
                <a:latin typeface="Arial"/>
                <a:ea typeface="Arial"/>
                <a:cs typeface="Arial"/>
              </a:defRPr>
            </a:pPr>
            <a:r>
              <a:rPr sz="1350" b="0">
                <a:solidFill>
                  <a:srgbClr val="0B1822"/>
                </a:solidFill>
                <a:latin typeface="Arial"/>
                <a:ea typeface="Arial"/>
                <a:cs typeface="Arial"/>
              </a:rPr>
              <a:t>1. PAYMENT SERVICES (namespace = resource group)</a:t>
            </a:r>
          </a:p>
          <a:p xmlns:a="http://schemas.openxmlformats.org/drawingml/2006/main">
            <a:pPr>
              <a:defRPr sz="1350" b="0">
                <a:solidFill>
                  <a:srgbClr val="0B1822"/>
                </a:solidFill>
                <a:latin typeface="Arial"/>
                <a:ea typeface="Arial"/>
                <a:cs typeface="Arial"/>
              </a:defRPr>
            </a:pPr>
            <a:r>
              <a:rPr sz="1350" b="0">
                <a:solidFill>
                  <a:srgbClr val="0B1822"/>
                </a:solidFill>
                <a:latin typeface="Arial"/>
                <a:ea typeface="Arial"/>
                <a:cs typeface="Arial"/>
              </a:rPr>
              <a:t>payments-api has 3 running copies; keep at least 2 healthy. Redis, backup-job and report-runner also run here.</a:t>
            </a:r>
          </a:p>
        </p:txBody>
      </p:sp>
      <p:sp>
        <p:nvSpPr>
          <p:cNvPr id="6" name="2. AI AGENTS (shared resource group)&#10;support-age">
            <a:extLst xmlns:a="http://schemas.openxmlformats.org/drawingml/2006/main">
              <a:ext uri="{FF2B5EF4-FFF2-40B4-BE49-F238E27FC236}">
                <a16:creationId xmlns:a16="http://schemas.microsoft.com/office/drawing/2014/main" id="{C83C3C90-B15A-4638-8C4D-B26C512C63E4}"/>
              </a:ext>
            </a:extLst>
          </p:cNvPr>
          <p:cNvSpPr>
            <a:spLocks xmlns:a="http://schemas.openxmlformats.org/drawingml/2006/main" noGrp="1"/>
          </p:cNvSpPr>
          <p:nvPr/>
        </p:nvSpPr>
        <p:spPr>
          <a:xfrm xmlns:a="http://schemas.openxmlformats.org/drawingml/2006/main">
            <a:off x="609600" y="3276600"/>
            <a:ext cx="4857750" cy="876300"/>
          </a:xfrm>
          <a:prstGeom xmlns:a="http://schemas.openxmlformats.org/drawingml/2006/main" prst="rect">
            <a:avLst/>
          </a:prstGeom>
          <a:solidFill xmlns:a="http://schemas.openxmlformats.org/drawingml/2006/main">
            <a:srgbClr val="FFFFFF"/>
          </a:solidFill>
          <a:ln xmlns:a="http://schemas.openxmlformats.org/drawingml/2006/main" w="19050">
            <a:solidFill>
              <a:srgbClr val="D45336"/>
            </a:solidFill>
          </a:ln>
        </p:spPr>
        <p:txBody>
          <a:bodyPr xmlns:a="http://schemas.openxmlformats.org/drawingml/2006/main"/>
          <a:lstStyle xmlns:a="http://schemas.openxmlformats.org/drawingml/2006/main">
            <a:defPPr>
              <a:defRPr sz="1350" b="0">
                <a:solidFill>
                  <a:srgbClr val="0B1822"/>
                </a:solidFill>
                <a:latin typeface="Arial"/>
                <a:ea typeface="Arial"/>
                <a:cs typeface="Arial"/>
              </a:defRPr>
            </a:defPPr>
            <a:lvl1pPr>
              <a:defRPr sz="1350" b="0">
                <a:solidFill>
                  <a:srgbClr val="0B1822"/>
                </a:solidFill>
                <a:latin typeface="Arial"/>
                <a:ea typeface="Arial"/>
                <a:cs typeface="Arial"/>
              </a:defRPr>
            </a:lvl1pPr>
            <a:lvl2pPr>
              <a:defRPr sz="1350" b="0">
                <a:solidFill>
                  <a:srgbClr val="0B1822"/>
                </a:solidFill>
                <a:latin typeface="Arial"/>
                <a:ea typeface="Arial"/>
                <a:cs typeface="Arial"/>
              </a:defRPr>
            </a:lvl2pPr>
            <a:lvl3pPr>
              <a:defRPr sz="1350" b="0">
                <a:solidFill>
                  <a:srgbClr val="0B1822"/>
                </a:solidFill>
                <a:latin typeface="Arial"/>
                <a:ea typeface="Arial"/>
                <a:cs typeface="Arial"/>
              </a:defRPr>
            </a:lvl3pPr>
            <a:lvl4pPr>
              <a:defRPr sz="1350" b="0">
                <a:solidFill>
                  <a:srgbClr val="0B1822"/>
                </a:solidFill>
                <a:latin typeface="Arial"/>
                <a:ea typeface="Arial"/>
                <a:cs typeface="Arial"/>
              </a:defRPr>
            </a:lvl4pPr>
            <a:lvl5pPr>
              <a:defRPr sz="1350" b="0">
                <a:solidFill>
                  <a:srgbClr val="0B1822"/>
                </a:solidFill>
                <a:latin typeface="Arial"/>
                <a:ea typeface="Arial"/>
                <a:cs typeface="Arial"/>
              </a:defRPr>
            </a:lvl5pPr>
            <a:lvl6pPr>
              <a:defRPr sz="1350" b="0">
                <a:solidFill>
                  <a:srgbClr val="0B1822"/>
                </a:solidFill>
                <a:latin typeface="Arial"/>
                <a:ea typeface="Arial"/>
                <a:cs typeface="Arial"/>
              </a:defRPr>
            </a:lvl6pPr>
            <a:lvl7pPr>
              <a:defRPr sz="1350" b="0">
                <a:solidFill>
                  <a:srgbClr val="0B1822"/>
                </a:solidFill>
                <a:latin typeface="Arial"/>
                <a:ea typeface="Arial"/>
                <a:cs typeface="Arial"/>
              </a:defRPr>
            </a:lvl7pPr>
            <a:lvl8pPr>
              <a:defRPr sz="1350" b="0">
                <a:solidFill>
                  <a:srgbClr val="0B1822"/>
                </a:solidFill>
                <a:latin typeface="Arial"/>
                <a:ea typeface="Arial"/>
                <a:cs typeface="Arial"/>
              </a:defRPr>
            </a:lvl8pPr>
            <a:lvl9pPr>
              <a:defRPr sz="1350" b="0">
                <a:solidFill>
                  <a:srgbClr val="0B1822"/>
                </a:solidFill>
                <a:latin typeface="Arial"/>
                <a:ea typeface="Arial"/>
                <a:cs typeface="Arial"/>
              </a:defRPr>
            </a:lvl9pPr>
          </a:lstStyle>
          <a:p xmlns:a="http://schemas.openxmlformats.org/drawingml/2006/main">
            <a:pPr>
              <a:defRPr sz="1350" b="0">
                <a:solidFill>
                  <a:srgbClr val="0B1822"/>
                </a:solidFill>
                <a:latin typeface="Arial"/>
                <a:ea typeface="Arial"/>
                <a:cs typeface="Arial"/>
              </a:defRPr>
            </a:pPr>
            <a:r>
              <a:rPr sz="1350" b="0">
                <a:solidFill>
                  <a:srgbClr val="0B1822"/>
                </a:solidFill>
                <a:latin typeface="Arial"/>
                <a:ea typeface="Arial"/>
                <a:cs typeface="Arial"/>
              </a:rPr>
              <a:t>2. AI AGENTS (shared resource group)</a:t>
            </a:r>
          </a:p>
          <a:p xmlns:a="http://schemas.openxmlformats.org/drawingml/2006/main">
            <a:pPr>
              <a:defRPr sz="1350" b="0">
                <a:solidFill>
                  <a:srgbClr val="0B1822"/>
                </a:solidFill>
                <a:latin typeface="Arial"/>
                <a:ea typeface="Arial"/>
                <a:cs typeface="Arial"/>
              </a:defRPr>
            </a:pPr>
            <a:r>
              <a:rPr sz="1350" b="0">
                <a:solidFill>
                  <a:srgbClr val="0B1822"/>
                </a:solidFill>
                <a:latin typeface="Arial"/>
                <a:ea typeface="Arial"/>
                <a:cs typeface="Arial"/>
              </a:rPr>
              <a:t>support-agent (ticket helper), ops-agent (auto-scaler), monitoring-agent (health and Secret reader).</a:t>
            </a:r>
          </a:p>
        </p:txBody>
      </p:sp>
      <p:sp>
        <p:nvSpPr>
          <p:cNvPr id="7" name="3. WORKLOAD IDENTITY (ServiceAccount)&#10;A credenti">
            <a:extLst xmlns:a="http://schemas.openxmlformats.org/drawingml/2006/main">
              <a:ext uri="{FF2B5EF4-FFF2-40B4-BE49-F238E27FC236}">
                <a16:creationId xmlns:a16="http://schemas.microsoft.com/office/drawing/2014/main" id="{854A4590-FF8E-43B8-9190-4AD4FAE2BF6F}"/>
              </a:ext>
            </a:extLst>
          </p:cNvPr>
          <p:cNvSpPr>
            <a:spLocks xmlns:a="http://schemas.openxmlformats.org/drawingml/2006/main" noGrp="1"/>
          </p:cNvSpPr>
          <p:nvPr/>
        </p:nvSpPr>
        <p:spPr>
          <a:xfrm xmlns:a="http://schemas.openxmlformats.org/drawingml/2006/main">
            <a:off x="609600" y="4248150"/>
            <a:ext cx="4857750" cy="876300"/>
          </a:xfrm>
          <a:prstGeom xmlns:a="http://schemas.openxmlformats.org/drawingml/2006/main" prst="rect">
            <a:avLst/>
          </a:prstGeom>
          <a:solidFill xmlns:a="http://schemas.openxmlformats.org/drawingml/2006/main">
            <a:srgbClr val="FFFFFF"/>
          </a:solidFill>
          <a:ln xmlns:a="http://schemas.openxmlformats.org/drawingml/2006/main" w="19050">
            <a:solidFill>
              <a:srgbClr val="9BB0BA"/>
            </a:solidFill>
          </a:ln>
        </p:spPr>
        <p:txBody>
          <a:bodyPr xmlns:a="http://schemas.openxmlformats.org/drawingml/2006/main"/>
          <a:lstStyle xmlns:a="http://schemas.openxmlformats.org/drawingml/2006/main">
            <a:defPPr>
              <a:defRPr sz="1350" b="0">
                <a:solidFill>
                  <a:srgbClr val="0B1822"/>
                </a:solidFill>
                <a:latin typeface="Arial"/>
                <a:ea typeface="Arial"/>
                <a:cs typeface="Arial"/>
              </a:defRPr>
            </a:defPPr>
            <a:lvl1pPr>
              <a:defRPr sz="1350" b="0">
                <a:solidFill>
                  <a:srgbClr val="0B1822"/>
                </a:solidFill>
                <a:latin typeface="Arial"/>
                <a:ea typeface="Arial"/>
                <a:cs typeface="Arial"/>
              </a:defRPr>
            </a:lvl1pPr>
            <a:lvl2pPr>
              <a:defRPr sz="1350" b="0">
                <a:solidFill>
                  <a:srgbClr val="0B1822"/>
                </a:solidFill>
                <a:latin typeface="Arial"/>
                <a:ea typeface="Arial"/>
                <a:cs typeface="Arial"/>
              </a:defRPr>
            </a:lvl2pPr>
            <a:lvl3pPr>
              <a:defRPr sz="1350" b="0">
                <a:solidFill>
                  <a:srgbClr val="0B1822"/>
                </a:solidFill>
                <a:latin typeface="Arial"/>
                <a:ea typeface="Arial"/>
                <a:cs typeface="Arial"/>
              </a:defRPr>
            </a:lvl3pPr>
            <a:lvl4pPr>
              <a:defRPr sz="1350" b="0">
                <a:solidFill>
                  <a:srgbClr val="0B1822"/>
                </a:solidFill>
                <a:latin typeface="Arial"/>
                <a:ea typeface="Arial"/>
                <a:cs typeface="Arial"/>
              </a:defRPr>
            </a:lvl4pPr>
            <a:lvl5pPr>
              <a:defRPr sz="1350" b="0">
                <a:solidFill>
                  <a:srgbClr val="0B1822"/>
                </a:solidFill>
                <a:latin typeface="Arial"/>
                <a:ea typeface="Arial"/>
                <a:cs typeface="Arial"/>
              </a:defRPr>
            </a:lvl5pPr>
            <a:lvl6pPr>
              <a:defRPr sz="1350" b="0">
                <a:solidFill>
                  <a:srgbClr val="0B1822"/>
                </a:solidFill>
                <a:latin typeface="Arial"/>
                <a:ea typeface="Arial"/>
                <a:cs typeface="Arial"/>
              </a:defRPr>
            </a:lvl6pPr>
            <a:lvl7pPr>
              <a:defRPr sz="1350" b="0">
                <a:solidFill>
                  <a:srgbClr val="0B1822"/>
                </a:solidFill>
                <a:latin typeface="Arial"/>
                <a:ea typeface="Arial"/>
                <a:cs typeface="Arial"/>
              </a:defRPr>
            </a:lvl7pPr>
            <a:lvl8pPr>
              <a:defRPr sz="1350" b="0">
                <a:solidFill>
                  <a:srgbClr val="0B1822"/>
                </a:solidFill>
                <a:latin typeface="Arial"/>
                <a:ea typeface="Arial"/>
                <a:cs typeface="Arial"/>
              </a:defRPr>
            </a:lvl8pPr>
            <a:lvl9pPr>
              <a:defRPr sz="1350" b="0">
                <a:solidFill>
                  <a:srgbClr val="0B1822"/>
                </a:solidFill>
                <a:latin typeface="Arial"/>
                <a:ea typeface="Arial"/>
                <a:cs typeface="Arial"/>
              </a:defRPr>
            </a:lvl9pPr>
          </a:lstStyle>
          <a:p xmlns:a="http://schemas.openxmlformats.org/drawingml/2006/main">
            <a:pPr>
              <a:defRPr sz="1350" b="0">
                <a:solidFill>
                  <a:srgbClr val="0B1822"/>
                </a:solidFill>
                <a:latin typeface="Arial"/>
                <a:ea typeface="Arial"/>
                <a:cs typeface="Arial"/>
              </a:defRPr>
            </a:pPr>
            <a:r>
              <a:rPr sz="1350" b="0">
                <a:solidFill>
                  <a:srgbClr val="0B1822"/>
                </a:solidFill>
                <a:latin typeface="Arial"/>
                <a:ea typeface="Arial"/>
                <a:cs typeface="Arial"/>
              </a:rPr>
              <a:t>3. WORKLOAD IDENTITY (ServiceAccount)</a:t>
            </a:r>
          </a:p>
          <a:p xmlns:a="http://schemas.openxmlformats.org/drawingml/2006/main">
            <a:pPr>
              <a:defRPr sz="1350" b="0">
                <a:solidFill>
                  <a:srgbClr val="0B1822"/>
                </a:solidFill>
                <a:latin typeface="Arial"/>
                <a:ea typeface="Arial"/>
                <a:cs typeface="Arial"/>
              </a:defRPr>
            </a:pPr>
            <a:r>
              <a:rPr sz="1350" b="0">
                <a:solidFill>
                  <a:srgbClr val="0B1822"/>
                </a:solidFill>
                <a:latin typeface="Arial"/>
                <a:ea typeface="Arial"/>
                <a:cs typeface="Arial"/>
              </a:rPr>
              <a:t>A credential attached to a Pod so it can call the Kubernetes management API.</a:t>
            </a:r>
          </a:p>
        </p:txBody>
      </p:sp>
      <p:sp>
        <p:nvSpPr>
          <p:cNvPr id="8" name="4. SHARED PLATFORM PLUMBING&#10;Kyverno checks new P">
            <a:extLst xmlns:a="http://schemas.openxmlformats.org/drawingml/2006/main">
              <a:ext uri="{FF2B5EF4-FFF2-40B4-BE49-F238E27FC236}">
                <a16:creationId xmlns:a16="http://schemas.microsoft.com/office/drawing/2014/main" id="{6AC8293E-0DD5-4EF2-9EC0-780751736DFA}"/>
              </a:ext>
            </a:extLst>
          </p:cNvPr>
          <p:cNvSpPr>
            <a:spLocks xmlns:a="http://schemas.openxmlformats.org/drawingml/2006/main" noGrp="1"/>
          </p:cNvSpPr>
          <p:nvPr/>
        </p:nvSpPr>
        <p:spPr>
          <a:xfrm xmlns:a="http://schemas.openxmlformats.org/drawingml/2006/main">
            <a:off x="609600" y="5219700"/>
            <a:ext cx="4857750" cy="9334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350" b="1">
                <a:solidFill>
                  <a:srgbClr val="F2EFE7"/>
                </a:solidFill>
                <a:latin typeface="Arial"/>
                <a:ea typeface="Arial"/>
                <a:cs typeface="Arial"/>
              </a:defRPr>
            </a:defPPr>
            <a:lvl1pPr>
              <a:defRPr sz="1350" b="1">
                <a:solidFill>
                  <a:srgbClr val="F2EFE7"/>
                </a:solidFill>
                <a:latin typeface="Arial"/>
                <a:ea typeface="Arial"/>
                <a:cs typeface="Arial"/>
              </a:defRPr>
            </a:lvl1pPr>
            <a:lvl2pPr>
              <a:defRPr sz="1350" b="1">
                <a:solidFill>
                  <a:srgbClr val="F2EFE7"/>
                </a:solidFill>
                <a:latin typeface="Arial"/>
                <a:ea typeface="Arial"/>
                <a:cs typeface="Arial"/>
              </a:defRPr>
            </a:lvl2pPr>
            <a:lvl3pPr>
              <a:defRPr sz="1350" b="1">
                <a:solidFill>
                  <a:srgbClr val="F2EFE7"/>
                </a:solidFill>
                <a:latin typeface="Arial"/>
                <a:ea typeface="Arial"/>
                <a:cs typeface="Arial"/>
              </a:defRPr>
            </a:lvl3pPr>
            <a:lvl4pPr>
              <a:defRPr sz="1350" b="1">
                <a:solidFill>
                  <a:srgbClr val="F2EFE7"/>
                </a:solidFill>
                <a:latin typeface="Arial"/>
                <a:ea typeface="Arial"/>
                <a:cs typeface="Arial"/>
              </a:defRPr>
            </a:lvl4pPr>
            <a:lvl5pPr>
              <a:defRPr sz="1350" b="1">
                <a:solidFill>
                  <a:srgbClr val="F2EFE7"/>
                </a:solidFill>
                <a:latin typeface="Arial"/>
                <a:ea typeface="Arial"/>
                <a:cs typeface="Arial"/>
              </a:defRPr>
            </a:lvl5pPr>
            <a:lvl6pPr>
              <a:defRPr sz="1350" b="1">
                <a:solidFill>
                  <a:srgbClr val="F2EFE7"/>
                </a:solidFill>
                <a:latin typeface="Arial"/>
                <a:ea typeface="Arial"/>
                <a:cs typeface="Arial"/>
              </a:defRPr>
            </a:lvl6pPr>
            <a:lvl7pPr>
              <a:defRPr sz="1350" b="1">
                <a:solidFill>
                  <a:srgbClr val="F2EFE7"/>
                </a:solidFill>
                <a:latin typeface="Arial"/>
                <a:ea typeface="Arial"/>
                <a:cs typeface="Arial"/>
              </a:defRPr>
            </a:lvl7pPr>
            <a:lvl8pPr>
              <a:defRPr sz="1350" b="1">
                <a:solidFill>
                  <a:srgbClr val="F2EFE7"/>
                </a:solidFill>
                <a:latin typeface="Arial"/>
                <a:ea typeface="Arial"/>
                <a:cs typeface="Arial"/>
              </a:defRPr>
            </a:lvl8pPr>
            <a:lvl9pPr>
              <a:defRPr sz="1350" b="1">
                <a:solidFill>
                  <a:srgbClr val="F2EFE7"/>
                </a:solidFill>
                <a:latin typeface="Arial"/>
                <a:ea typeface="Arial"/>
                <a:cs typeface="Arial"/>
              </a:defRPr>
            </a:lvl9pPr>
          </a:lstStyle>
          <a:p xmlns:a="http://schemas.openxmlformats.org/drawingml/2006/main">
            <a:pPr>
              <a:defRPr sz="1350" b="1">
                <a:solidFill>
                  <a:srgbClr val="F2EFE7"/>
                </a:solidFill>
                <a:latin typeface="Arial"/>
                <a:ea typeface="Arial"/>
                <a:cs typeface="Arial"/>
              </a:defRPr>
            </a:pPr>
            <a:r>
              <a:rPr sz="1350" b="1">
                <a:solidFill>
                  <a:srgbClr val="F2EFE7"/>
                </a:solidFill>
                <a:latin typeface="Arial"/>
                <a:ea typeface="Arial"/>
                <a:cs typeface="Arial"/>
              </a:rPr>
              <a:t>4. SHARED PLATFORM PLUMBING</a:t>
            </a:r>
          </a:p>
          <a:p xmlns:a="http://schemas.openxmlformats.org/drawingml/2006/main">
            <a:pPr>
              <a:defRPr sz="1350" b="1">
                <a:solidFill>
                  <a:srgbClr val="F2EFE7"/>
                </a:solidFill>
                <a:latin typeface="Arial"/>
                <a:ea typeface="Arial"/>
                <a:cs typeface="Arial"/>
              </a:defRPr>
            </a:pPr>
            <a:r>
              <a:rPr sz="1350" b="1">
                <a:solidFill>
                  <a:srgbClr val="F2EFE7"/>
                </a:solidFill>
                <a:latin typeface="Arial"/>
                <a:ea typeface="Arial"/>
                <a:cs typeface="Arial"/>
              </a:rPr>
              <a:t>Kyverno checks new Pods before they start; cluster DNS (kube-dns) resolves service names.</a:t>
            </a:r>
          </a:p>
        </p:txBody>
      </p:sp>
      <p:sp>
        <p:nvSpPr>
          <p:cNvPr id="9" name="ISC2 SECURITY CONGRESS 2026 / SC2632">
            <a:extLst xmlns:a="http://schemas.openxmlformats.org/drawingml/2006/main">
              <a:ext uri="{FF2B5EF4-FFF2-40B4-BE49-F238E27FC236}">
                <a16:creationId xmlns:a16="http://schemas.microsoft.com/office/drawing/2014/main" id="{00E29333-CDA5-4E52-9A82-5A45422356DD}"/>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10" name="05">
            <a:extLst xmlns:a="http://schemas.openxmlformats.org/drawingml/2006/main">
              <a:ext uri="{FF2B5EF4-FFF2-40B4-BE49-F238E27FC236}">
                <a16:creationId xmlns:a16="http://schemas.microsoft.com/office/drawing/2014/main" id="{0EA181A4-7D6D-4D07-B80F-A4DAC0B867AC}"/>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05</a:t>
            </a:r>
          </a:p>
        </p:txBody>
      </p:sp>
    </p:spTree>
    <p:extLst>
      <p:ext uri="{BB962C8B-B14F-4D97-AF65-F5344CB8AC3E}">
        <p14:creationId xmlns:p14="http://schemas.microsoft.com/office/powerpoint/2010/main" val="478588295"/>
      </p:ext>
    </p:extLst>
  </p:cSld>
</p:sld>
</file>

<file path=ppt/slides/slide6.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1" name="WHY ONE GUARDRAIL IS NEVER ENOUGH / FOUR DISTINC">
            <a:extLst xmlns:a="http://schemas.openxmlformats.org/drawingml/2006/main">
              <a:ext uri="{FF2B5EF4-FFF2-40B4-BE49-F238E27FC236}">
                <a16:creationId xmlns:a16="http://schemas.microsoft.com/office/drawing/2014/main" id="{E7CDB88E-339D-45EC-99F1-F1F76B466C22}"/>
              </a:ext>
            </a:extLst>
          </p:cNvPr>
          <p:cNvSpPr>
            <a:spLocks xmlns:a="http://schemas.openxmlformats.org/drawingml/2006/main" noGrp="1"/>
          </p:cNvSpPr>
          <p:nvPr/>
        </p:nvSpPr>
        <p:spPr>
          <a:xfrm xmlns:a="http://schemas.openxmlformats.org/drawingml/2006/main">
            <a:off x="609600" y="41910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WHY ONE GUARDRAIL IS NEVER ENOUGH / FOUR DISTINCT CONTROL LAYERS</a:t>
            </a:r>
          </a:p>
        </p:txBody>
      </p:sp>
      <p:sp>
        <p:nvSpPr>
          <p:cNvPr id="2" name="What each security layer sees—and misses">
            <a:extLst xmlns:a="http://schemas.openxmlformats.org/drawingml/2006/main">
              <a:ext uri="{FF2B5EF4-FFF2-40B4-BE49-F238E27FC236}">
                <a16:creationId xmlns:a16="http://schemas.microsoft.com/office/drawing/2014/main" id="{846CB806-8CF7-4347-B66A-0046491CC81D}"/>
              </a:ext>
            </a:extLst>
          </p:cNvPr>
          <p:cNvSpPr>
            <a:spLocks xmlns:a="http://schemas.openxmlformats.org/drawingml/2006/main" noGrp="1"/>
          </p:cNvSpPr>
          <p:nvPr>
            <p:ph type="title" idx="0"/>
          </p:nvPr>
        </p:nvSpPr>
        <p:spPr>
          <a:xfrm xmlns:a="http://schemas.openxmlformats.org/drawingml/2006/main">
            <a:off x="609600" y="80010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What each security layer sees—and misses</a:t>
            </a:r>
          </a:p>
        </p:txBody>
      </p:sp>
      <p:sp>
        <p:nvSpPr>
          <p:cNvPr id="3" name="THE CORE PROBLEM: Teams often assume an admissio">
            <a:extLst xmlns:a="http://schemas.openxmlformats.org/drawingml/2006/main">
              <a:ext uri="{FF2B5EF4-FFF2-40B4-BE49-F238E27FC236}">
                <a16:creationId xmlns:a16="http://schemas.microsoft.com/office/drawing/2014/main" id="{9C38DED4-5F1D-4816-996D-CFDC4C364759}"/>
              </a:ext>
            </a:extLst>
          </p:cNvPr>
          <p:cNvSpPr>
            <a:spLocks xmlns:a="http://schemas.openxmlformats.org/drawingml/2006/main" noGrp="1"/>
          </p:cNvSpPr>
          <p:nvPr/>
        </p:nvSpPr>
        <p:spPr>
          <a:xfrm xmlns:a="http://schemas.openxmlformats.org/drawingml/2006/main">
            <a:off x="609600" y="16573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087E79"/>
            </a:solidFill>
          </a:ln>
        </p:spPr>
        <p:txBody>
          <a:bodyPr xmlns:a="http://schemas.openxmlformats.org/drawingml/2006/main"/>
          <a:lstStyle xmlns:a="http://schemas.openxmlformats.org/drawingml/2006/main">
            <a:defPPr>
              <a:defRPr sz="1425" b="1">
                <a:solidFill>
                  <a:srgbClr val="0B1822"/>
                </a:solidFill>
                <a:latin typeface="Arial"/>
                <a:ea typeface="Arial"/>
                <a:cs typeface="Arial"/>
              </a:defRPr>
            </a:defPPr>
            <a:lvl1pPr>
              <a:defRPr sz="1425" b="1">
                <a:solidFill>
                  <a:srgbClr val="0B1822"/>
                </a:solidFill>
                <a:latin typeface="Arial"/>
                <a:ea typeface="Arial"/>
                <a:cs typeface="Arial"/>
              </a:defRPr>
            </a:lvl1pPr>
            <a:lvl2pPr>
              <a:defRPr sz="1425" b="1">
                <a:solidFill>
                  <a:srgbClr val="0B1822"/>
                </a:solidFill>
                <a:latin typeface="Arial"/>
                <a:ea typeface="Arial"/>
                <a:cs typeface="Arial"/>
              </a:defRPr>
            </a:lvl2pPr>
            <a:lvl3pPr>
              <a:defRPr sz="1425" b="1">
                <a:solidFill>
                  <a:srgbClr val="0B1822"/>
                </a:solidFill>
                <a:latin typeface="Arial"/>
                <a:ea typeface="Arial"/>
                <a:cs typeface="Arial"/>
              </a:defRPr>
            </a:lvl3pPr>
            <a:lvl4pPr>
              <a:defRPr sz="1425" b="1">
                <a:solidFill>
                  <a:srgbClr val="0B1822"/>
                </a:solidFill>
                <a:latin typeface="Arial"/>
                <a:ea typeface="Arial"/>
                <a:cs typeface="Arial"/>
              </a:defRPr>
            </a:lvl4pPr>
            <a:lvl5pPr>
              <a:defRPr sz="1425" b="1">
                <a:solidFill>
                  <a:srgbClr val="0B1822"/>
                </a:solidFill>
                <a:latin typeface="Arial"/>
                <a:ea typeface="Arial"/>
                <a:cs typeface="Arial"/>
              </a:defRPr>
            </a:lvl5pPr>
            <a:lvl6pPr>
              <a:defRPr sz="1425" b="1">
                <a:solidFill>
                  <a:srgbClr val="0B1822"/>
                </a:solidFill>
                <a:latin typeface="Arial"/>
                <a:ea typeface="Arial"/>
                <a:cs typeface="Arial"/>
              </a:defRPr>
            </a:lvl6pPr>
            <a:lvl7pPr>
              <a:defRPr sz="1425" b="1">
                <a:solidFill>
                  <a:srgbClr val="0B1822"/>
                </a:solidFill>
                <a:latin typeface="Arial"/>
                <a:ea typeface="Arial"/>
                <a:cs typeface="Arial"/>
              </a:defRPr>
            </a:lvl7pPr>
            <a:lvl8pPr>
              <a:defRPr sz="1425" b="1">
                <a:solidFill>
                  <a:srgbClr val="0B1822"/>
                </a:solidFill>
                <a:latin typeface="Arial"/>
                <a:ea typeface="Arial"/>
                <a:cs typeface="Arial"/>
              </a:defRPr>
            </a:lvl8pPr>
            <a:lvl9pPr>
              <a:defRPr sz="1425" b="1">
                <a:solidFill>
                  <a:srgbClr val="0B1822"/>
                </a:solidFill>
                <a:latin typeface="Arial"/>
                <a:ea typeface="Arial"/>
                <a:cs typeface="Arial"/>
              </a:defRPr>
            </a:lvl9pPr>
          </a:lstStyle>
          <a:p xmlns:a="http://schemas.openxmlformats.org/drawingml/2006/main">
            <a:pPr>
              <a:defRPr sz="1425" b="1">
                <a:solidFill>
                  <a:srgbClr val="0B1822"/>
                </a:solidFill>
                <a:latin typeface="Arial"/>
                <a:ea typeface="Arial"/>
                <a:cs typeface="Arial"/>
              </a:defRPr>
            </a:pPr>
            <a:r>
              <a:rPr sz="1425" b="1">
                <a:solidFill>
                  <a:srgbClr val="0B1822"/>
                </a:solidFill>
                <a:latin typeface="Arial"/>
                <a:ea typeface="Arial"/>
                <a:cs typeface="Arial"/>
              </a:rPr>
              <a:t>THE CORE PROBLEM: Teams often assume an admission policy "locks down the cluster." In reality, each Kubernetes layer controls a different boundary:</a:t>
            </a:r>
          </a:p>
        </p:txBody>
      </p:sp>
      <p:sp>
        <p:nvSpPr>
          <p:cNvPr id="4" name="1. DETECT&#10;(Falco runtime rules + API audit logs)">
            <a:extLst xmlns:a="http://schemas.openxmlformats.org/drawingml/2006/main">
              <a:ext uri="{FF2B5EF4-FFF2-40B4-BE49-F238E27FC236}">
                <a16:creationId xmlns:a16="http://schemas.microsoft.com/office/drawing/2014/main" id="{7798FEC7-7A03-4166-8182-25D8ED1AF251}"/>
              </a:ext>
            </a:extLst>
          </p:cNvPr>
          <p:cNvSpPr>
            <a:spLocks xmlns:a="http://schemas.openxmlformats.org/drawingml/2006/main" noGrp="1"/>
          </p:cNvSpPr>
          <p:nvPr/>
        </p:nvSpPr>
        <p:spPr>
          <a:xfrm xmlns:a="http://schemas.openxmlformats.org/drawingml/2006/main">
            <a:off x="609600" y="2305050"/>
            <a:ext cx="2609850" cy="300990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425" b="0">
                <a:solidFill>
                  <a:srgbClr val="0B1822"/>
                </a:solidFill>
                <a:latin typeface="Arial"/>
                <a:ea typeface="Arial"/>
                <a:cs typeface="Arial"/>
              </a:defRPr>
            </a:defPPr>
            <a:lvl1pPr>
              <a:defRPr sz="1425" b="0">
                <a:solidFill>
                  <a:srgbClr val="0B1822"/>
                </a:solidFill>
                <a:latin typeface="Arial"/>
                <a:ea typeface="Arial"/>
                <a:cs typeface="Arial"/>
              </a:defRPr>
            </a:lvl1pPr>
            <a:lvl2pPr>
              <a:defRPr sz="1425" b="0">
                <a:solidFill>
                  <a:srgbClr val="0B1822"/>
                </a:solidFill>
                <a:latin typeface="Arial"/>
                <a:ea typeface="Arial"/>
                <a:cs typeface="Arial"/>
              </a:defRPr>
            </a:lvl2pPr>
            <a:lvl3pPr>
              <a:defRPr sz="1425" b="0">
                <a:solidFill>
                  <a:srgbClr val="0B1822"/>
                </a:solidFill>
                <a:latin typeface="Arial"/>
                <a:ea typeface="Arial"/>
                <a:cs typeface="Arial"/>
              </a:defRPr>
            </a:lvl3pPr>
            <a:lvl4pPr>
              <a:defRPr sz="1425" b="0">
                <a:solidFill>
                  <a:srgbClr val="0B1822"/>
                </a:solidFill>
                <a:latin typeface="Arial"/>
                <a:ea typeface="Arial"/>
                <a:cs typeface="Arial"/>
              </a:defRPr>
            </a:lvl4pPr>
            <a:lvl5pPr>
              <a:defRPr sz="1425" b="0">
                <a:solidFill>
                  <a:srgbClr val="0B1822"/>
                </a:solidFill>
                <a:latin typeface="Arial"/>
                <a:ea typeface="Arial"/>
                <a:cs typeface="Arial"/>
              </a:defRPr>
            </a:lvl5pPr>
            <a:lvl6pPr>
              <a:defRPr sz="1425" b="0">
                <a:solidFill>
                  <a:srgbClr val="0B1822"/>
                </a:solidFill>
                <a:latin typeface="Arial"/>
                <a:ea typeface="Arial"/>
                <a:cs typeface="Arial"/>
              </a:defRPr>
            </a:lvl6pPr>
            <a:lvl7pPr>
              <a:defRPr sz="1425" b="0">
                <a:solidFill>
                  <a:srgbClr val="0B1822"/>
                </a:solidFill>
                <a:latin typeface="Arial"/>
                <a:ea typeface="Arial"/>
                <a:cs typeface="Arial"/>
              </a:defRPr>
            </a:lvl7pPr>
            <a:lvl8pPr>
              <a:defRPr sz="1425" b="0">
                <a:solidFill>
                  <a:srgbClr val="0B1822"/>
                </a:solidFill>
                <a:latin typeface="Arial"/>
                <a:ea typeface="Arial"/>
                <a:cs typeface="Arial"/>
              </a:defRPr>
            </a:lvl8pPr>
            <a:lvl9pPr>
              <a:defRPr sz="1425" b="0">
                <a:solidFill>
                  <a:srgbClr val="0B1822"/>
                </a:solidFill>
                <a:latin typeface="Arial"/>
                <a:ea typeface="Arial"/>
                <a:cs typeface="Arial"/>
              </a:defRPr>
            </a:lvl9pPr>
          </a:lstStyle>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1. DETECT</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(Falco runtime rules + API audit logs)</a:t>
            </a:r>
          </a:p>
          <a:p xmlns:a="http://schemas.openxmlformats.org/drawingml/2006/main">
            <a:r>
              <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WHAT EXISTS:</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System-call rules validated; audit rules pass synthetic tests.</a:t>
            </a:r>
          </a:p>
          <a:p xmlns:a="http://schemas.openxmlformats.org/drawingml/2006/main">
            <a:r>
              <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BOUNDARY:</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Live capture, API-server delivery and alert-to-response not exercised.</a:t>
            </a:r>
          </a:p>
        </p:txBody>
      </p:sp>
      <p:sp>
        <p:nvSpPr>
          <p:cNvPr id="5" name="2. ADMIT&#10;(Kyverno Webhook)&#10;&#10;WHAT IT DOES:&#10;Blocks">
            <a:extLst xmlns:a="http://schemas.openxmlformats.org/drawingml/2006/main">
              <a:ext uri="{FF2B5EF4-FFF2-40B4-BE49-F238E27FC236}">
                <a16:creationId xmlns:a16="http://schemas.microsoft.com/office/drawing/2014/main" id="{9053490C-FEF3-448D-A22D-910D736753CC}"/>
              </a:ext>
            </a:extLst>
          </p:cNvPr>
          <p:cNvSpPr>
            <a:spLocks xmlns:a="http://schemas.openxmlformats.org/drawingml/2006/main" noGrp="1"/>
          </p:cNvSpPr>
          <p:nvPr/>
        </p:nvSpPr>
        <p:spPr>
          <a:xfrm xmlns:a="http://schemas.openxmlformats.org/drawingml/2006/main">
            <a:off x="3390900" y="2305050"/>
            <a:ext cx="2609850" cy="300990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425" b="0">
                <a:solidFill>
                  <a:srgbClr val="0B1822"/>
                </a:solidFill>
                <a:latin typeface="Arial"/>
                <a:ea typeface="Arial"/>
                <a:cs typeface="Arial"/>
              </a:defRPr>
            </a:defPPr>
            <a:lvl1pPr>
              <a:defRPr sz="1425" b="0">
                <a:solidFill>
                  <a:srgbClr val="0B1822"/>
                </a:solidFill>
                <a:latin typeface="Arial"/>
                <a:ea typeface="Arial"/>
                <a:cs typeface="Arial"/>
              </a:defRPr>
            </a:lvl1pPr>
            <a:lvl2pPr>
              <a:defRPr sz="1425" b="0">
                <a:solidFill>
                  <a:srgbClr val="0B1822"/>
                </a:solidFill>
                <a:latin typeface="Arial"/>
                <a:ea typeface="Arial"/>
                <a:cs typeface="Arial"/>
              </a:defRPr>
            </a:lvl2pPr>
            <a:lvl3pPr>
              <a:defRPr sz="1425" b="0">
                <a:solidFill>
                  <a:srgbClr val="0B1822"/>
                </a:solidFill>
                <a:latin typeface="Arial"/>
                <a:ea typeface="Arial"/>
                <a:cs typeface="Arial"/>
              </a:defRPr>
            </a:lvl3pPr>
            <a:lvl4pPr>
              <a:defRPr sz="1425" b="0">
                <a:solidFill>
                  <a:srgbClr val="0B1822"/>
                </a:solidFill>
                <a:latin typeface="Arial"/>
                <a:ea typeface="Arial"/>
                <a:cs typeface="Arial"/>
              </a:defRPr>
            </a:lvl4pPr>
            <a:lvl5pPr>
              <a:defRPr sz="1425" b="0">
                <a:solidFill>
                  <a:srgbClr val="0B1822"/>
                </a:solidFill>
                <a:latin typeface="Arial"/>
                <a:ea typeface="Arial"/>
                <a:cs typeface="Arial"/>
              </a:defRPr>
            </a:lvl5pPr>
            <a:lvl6pPr>
              <a:defRPr sz="1425" b="0">
                <a:solidFill>
                  <a:srgbClr val="0B1822"/>
                </a:solidFill>
                <a:latin typeface="Arial"/>
                <a:ea typeface="Arial"/>
                <a:cs typeface="Arial"/>
              </a:defRPr>
            </a:lvl6pPr>
            <a:lvl7pPr>
              <a:defRPr sz="1425" b="0">
                <a:solidFill>
                  <a:srgbClr val="0B1822"/>
                </a:solidFill>
                <a:latin typeface="Arial"/>
                <a:ea typeface="Arial"/>
                <a:cs typeface="Arial"/>
              </a:defRPr>
            </a:lvl7pPr>
            <a:lvl8pPr>
              <a:defRPr sz="1425" b="0">
                <a:solidFill>
                  <a:srgbClr val="0B1822"/>
                </a:solidFill>
                <a:latin typeface="Arial"/>
                <a:ea typeface="Arial"/>
                <a:cs typeface="Arial"/>
              </a:defRPr>
            </a:lvl8pPr>
            <a:lvl9pPr>
              <a:defRPr sz="1425" b="0">
                <a:solidFill>
                  <a:srgbClr val="0B1822"/>
                </a:solidFill>
                <a:latin typeface="Arial"/>
                <a:ea typeface="Arial"/>
                <a:cs typeface="Arial"/>
              </a:defRPr>
            </a:lvl9pPr>
          </a:lstStyle>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2. ADMIT</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(Kyverno Webhook)</a:t>
            </a:r>
          </a:p>
          <a:p xmlns:a="http://schemas.openxmlformats.org/drawingml/2006/main">
            <a:r>
              <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WHAT IT DOES:</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Blocks unsafe NEW pods before they start.</a:t>
            </a:r>
          </a:p>
          <a:p xmlns:a="http://schemas.openxmlformats.org/drawingml/2006/main">
            <a:r>
              <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BLIND SPOT:</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Cannot stop already-running pods or Secret reads.</a:t>
            </a:r>
          </a:p>
        </p:txBody>
      </p:sp>
      <p:sp>
        <p:nvSpPr>
          <p:cNvPr id="6" name="3. CONTAIN&#10;(NetworkPolicy + RBAC)&#10;&#10;WHAT IT DOES:">
            <a:extLst xmlns:a="http://schemas.openxmlformats.org/drawingml/2006/main">
              <a:ext uri="{FF2B5EF4-FFF2-40B4-BE49-F238E27FC236}">
                <a16:creationId xmlns:a16="http://schemas.microsoft.com/office/drawing/2014/main" id="{7806D094-892B-4209-98B3-B05AB2536B2F}"/>
              </a:ext>
            </a:extLst>
          </p:cNvPr>
          <p:cNvSpPr>
            <a:spLocks xmlns:a="http://schemas.openxmlformats.org/drawingml/2006/main" noGrp="1"/>
          </p:cNvSpPr>
          <p:nvPr/>
        </p:nvSpPr>
        <p:spPr>
          <a:xfrm xmlns:a="http://schemas.openxmlformats.org/drawingml/2006/main">
            <a:off x="6172200" y="2305050"/>
            <a:ext cx="2609850" cy="3009900"/>
          </a:xfrm>
          <a:prstGeom xmlns:a="http://schemas.openxmlformats.org/drawingml/2006/main" prst="rect">
            <a:avLst/>
          </a:prstGeom>
          <a:solidFill xmlns:a="http://schemas.openxmlformats.org/drawingml/2006/main">
            <a:srgbClr val="FFFFFF"/>
          </a:solidFill>
          <a:ln xmlns:a="http://schemas.openxmlformats.org/drawingml/2006/main" w="28575">
            <a:solidFill>
              <a:srgbClr val="D45336"/>
            </a:solidFill>
          </a:ln>
        </p:spPr>
        <p:txBody>
          <a:bodyPr xmlns:a="http://schemas.openxmlformats.org/drawingml/2006/main"/>
          <a:lstStyle xmlns:a="http://schemas.openxmlformats.org/drawingml/2006/main">
            <a:defPPr>
              <a:defRPr sz="1425" b="0">
                <a:solidFill>
                  <a:srgbClr val="0B1822"/>
                </a:solidFill>
                <a:latin typeface="Arial"/>
                <a:ea typeface="Arial"/>
                <a:cs typeface="Arial"/>
              </a:defRPr>
            </a:defPPr>
            <a:lvl1pPr>
              <a:defRPr sz="1425" b="0">
                <a:solidFill>
                  <a:srgbClr val="0B1822"/>
                </a:solidFill>
                <a:latin typeface="Arial"/>
                <a:ea typeface="Arial"/>
                <a:cs typeface="Arial"/>
              </a:defRPr>
            </a:lvl1pPr>
            <a:lvl2pPr>
              <a:defRPr sz="1425" b="0">
                <a:solidFill>
                  <a:srgbClr val="0B1822"/>
                </a:solidFill>
                <a:latin typeface="Arial"/>
                <a:ea typeface="Arial"/>
                <a:cs typeface="Arial"/>
              </a:defRPr>
            </a:lvl2pPr>
            <a:lvl3pPr>
              <a:defRPr sz="1425" b="0">
                <a:solidFill>
                  <a:srgbClr val="0B1822"/>
                </a:solidFill>
                <a:latin typeface="Arial"/>
                <a:ea typeface="Arial"/>
                <a:cs typeface="Arial"/>
              </a:defRPr>
            </a:lvl3pPr>
            <a:lvl4pPr>
              <a:defRPr sz="1425" b="0">
                <a:solidFill>
                  <a:srgbClr val="0B1822"/>
                </a:solidFill>
                <a:latin typeface="Arial"/>
                <a:ea typeface="Arial"/>
                <a:cs typeface="Arial"/>
              </a:defRPr>
            </a:lvl4pPr>
            <a:lvl5pPr>
              <a:defRPr sz="1425" b="0">
                <a:solidFill>
                  <a:srgbClr val="0B1822"/>
                </a:solidFill>
                <a:latin typeface="Arial"/>
                <a:ea typeface="Arial"/>
                <a:cs typeface="Arial"/>
              </a:defRPr>
            </a:lvl5pPr>
            <a:lvl6pPr>
              <a:defRPr sz="1425" b="0">
                <a:solidFill>
                  <a:srgbClr val="0B1822"/>
                </a:solidFill>
                <a:latin typeface="Arial"/>
                <a:ea typeface="Arial"/>
                <a:cs typeface="Arial"/>
              </a:defRPr>
            </a:lvl6pPr>
            <a:lvl7pPr>
              <a:defRPr sz="1425" b="0">
                <a:solidFill>
                  <a:srgbClr val="0B1822"/>
                </a:solidFill>
                <a:latin typeface="Arial"/>
                <a:ea typeface="Arial"/>
                <a:cs typeface="Arial"/>
              </a:defRPr>
            </a:lvl7pPr>
            <a:lvl8pPr>
              <a:defRPr sz="1425" b="0">
                <a:solidFill>
                  <a:srgbClr val="0B1822"/>
                </a:solidFill>
                <a:latin typeface="Arial"/>
                <a:ea typeface="Arial"/>
                <a:cs typeface="Arial"/>
              </a:defRPr>
            </a:lvl8pPr>
            <a:lvl9pPr>
              <a:defRPr sz="1425" b="0">
                <a:solidFill>
                  <a:srgbClr val="0B1822"/>
                </a:solidFill>
                <a:latin typeface="Arial"/>
                <a:ea typeface="Arial"/>
                <a:cs typeface="Arial"/>
              </a:defRPr>
            </a:lvl9pPr>
          </a:lstStyle>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3. CONTAIN</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(NetworkPolicy + RBAC)</a:t>
            </a:r>
          </a:p>
          <a:p xmlns:a="http://schemas.openxmlformats.org/drawingml/2006/main">
            <a:r>
              <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WHAT IT DOES:</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Cuts live pod traffic &amp; revokes API permissions.</a:t>
            </a:r>
          </a:p>
          <a:p xmlns:a="http://schemas.openxmlformats.org/drawingml/2006/main">
            <a:r>
              <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BLIND SPOT:</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Can break DNS or service uptime if applied blindly.</a:t>
            </a:r>
          </a:p>
        </p:txBody>
      </p:sp>
      <p:sp>
        <p:nvSpPr>
          <p:cNvPr id="7" name="4. AUTHORIZE&#10;(Your Incident Board)&#10;&#10;WHAT IT DOES">
            <a:extLst xmlns:a="http://schemas.openxmlformats.org/drawingml/2006/main">
              <a:ext uri="{FF2B5EF4-FFF2-40B4-BE49-F238E27FC236}">
                <a16:creationId xmlns:a16="http://schemas.microsoft.com/office/drawing/2014/main" id="{32CB6E4E-8E3A-4F55-B1CC-924972678ED3}"/>
              </a:ext>
            </a:extLst>
          </p:cNvPr>
          <p:cNvSpPr>
            <a:spLocks xmlns:a="http://schemas.openxmlformats.org/drawingml/2006/main" noGrp="1"/>
          </p:cNvSpPr>
          <p:nvPr/>
        </p:nvSpPr>
        <p:spPr>
          <a:xfrm xmlns:a="http://schemas.openxmlformats.org/drawingml/2006/main">
            <a:off x="8953500" y="2305050"/>
            <a:ext cx="2609850" cy="3009900"/>
          </a:xfrm>
          <a:prstGeom xmlns:a="http://schemas.openxmlformats.org/drawingml/2006/main" prst="rect">
            <a:avLst/>
          </a:prstGeom>
          <a:solidFill xmlns:a="http://schemas.openxmlformats.org/drawingml/2006/main">
            <a:srgbClr val="FFFFFF"/>
          </a:solidFill>
          <a:ln xmlns:a="http://schemas.openxmlformats.org/drawingml/2006/main" w="28575">
            <a:solidFill>
              <a:srgbClr val="09131D"/>
            </a:solidFill>
          </a:ln>
        </p:spPr>
        <p:txBody>
          <a:bodyPr xmlns:a="http://schemas.openxmlformats.org/drawingml/2006/main"/>
          <a:lstStyle xmlns:a="http://schemas.openxmlformats.org/drawingml/2006/main">
            <a:defPPr>
              <a:defRPr sz="1425" b="0">
                <a:solidFill>
                  <a:srgbClr val="0B1822"/>
                </a:solidFill>
                <a:latin typeface="Arial"/>
                <a:ea typeface="Arial"/>
                <a:cs typeface="Arial"/>
              </a:defRPr>
            </a:defPPr>
            <a:lvl1pPr>
              <a:defRPr sz="1425" b="0">
                <a:solidFill>
                  <a:srgbClr val="0B1822"/>
                </a:solidFill>
                <a:latin typeface="Arial"/>
                <a:ea typeface="Arial"/>
                <a:cs typeface="Arial"/>
              </a:defRPr>
            </a:lvl1pPr>
            <a:lvl2pPr>
              <a:defRPr sz="1425" b="0">
                <a:solidFill>
                  <a:srgbClr val="0B1822"/>
                </a:solidFill>
                <a:latin typeface="Arial"/>
                <a:ea typeface="Arial"/>
                <a:cs typeface="Arial"/>
              </a:defRPr>
            </a:lvl2pPr>
            <a:lvl3pPr>
              <a:defRPr sz="1425" b="0">
                <a:solidFill>
                  <a:srgbClr val="0B1822"/>
                </a:solidFill>
                <a:latin typeface="Arial"/>
                <a:ea typeface="Arial"/>
                <a:cs typeface="Arial"/>
              </a:defRPr>
            </a:lvl3pPr>
            <a:lvl4pPr>
              <a:defRPr sz="1425" b="0">
                <a:solidFill>
                  <a:srgbClr val="0B1822"/>
                </a:solidFill>
                <a:latin typeface="Arial"/>
                <a:ea typeface="Arial"/>
                <a:cs typeface="Arial"/>
              </a:defRPr>
            </a:lvl4pPr>
            <a:lvl5pPr>
              <a:defRPr sz="1425" b="0">
                <a:solidFill>
                  <a:srgbClr val="0B1822"/>
                </a:solidFill>
                <a:latin typeface="Arial"/>
                <a:ea typeface="Arial"/>
                <a:cs typeface="Arial"/>
              </a:defRPr>
            </a:lvl5pPr>
            <a:lvl6pPr>
              <a:defRPr sz="1425" b="0">
                <a:solidFill>
                  <a:srgbClr val="0B1822"/>
                </a:solidFill>
                <a:latin typeface="Arial"/>
                <a:ea typeface="Arial"/>
                <a:cs typeface="Arial"/>
              </a:defRPr>
            </a:lvl6pPr>
            <a:lvl7pPr>
              <a:defRPr sz="1425" b="0">
                <a:solidFill>
                  <a:srgbClr val="0B1822"/>
                </a:solidFill>
                <a:latin typeface="Arial"/>
                <a:ea typeface="Arial"/>
                <a:cs typeface="Arial"/>
              </a:defRPr>
            </a:lvl7pPr>
            <a:lvl8pPr>
              <a:defRPr sz="1425" b="0">
                <a:solidFill>
                  <a:srgbClr val="0B1822"/>
                </a:solidFill>
                <a:latin typeface="Arial"/>
                <a:ea typeface="Arial"/>
                <a:cs typeface="Arial"/>
              </a:defRPr>
            </a:lvl8pPr>
            <a:lvl9pPr>
              <a:defRPr sz="1425" b="0">
                <a:solidFill>
                  <a:srgbClr val="0B1822"/>
                </a:solidFill>
                <a:latin typeface="Arial"/>
                <a:ea typeface="Arial"/>
                <a:cs typeface="Arial"/>
              </a:defRPr>
            </a:lvl9pPr>
          </a:lstStyle>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4. AUTHORIZE</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(Your Incident Board)</a:t>
            </a:r>
          </a:p>
          <a:p xmlns:a="http://schemas.openxmlformats.org/drawingml/2006/main">
            <a:r>
              <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WHAT IT DOES:</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AI proposes controls; humans verify &amp; approve.</a:t>
            </a:r>
          </a:p>
          <a:p xmlns:a="http://schemas.openxmlformats.org/drawingml/2006/main">
            <a:r>
              <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YOUR JOB:</a:t>
            </a:r>
          </a:p>
          <a:p xmlns:a="http://schemas.openxmlformats.org/drawingml/2006/main">
            <a:pPr>
              <a:defRPr sz="1425" b="0">
                <a:solidFill>
                  <a:srgbClr val="0B1822"/>
                </a:solidFill>
                <a:latin typeface="Arial"/>
                <a:ea typeface="Arial"/>
                <a:cs typeface="Arial"/>
              </a:defRPr>
            </a:pPr>
            <a:r>
              <a:rPr sz="1425" b="0">
                <a:solidFill>
                  <a:srgbClr val="0B1822"/>
                </a:solidFill>
                <a:latin typeface="Arial"/>
                <a:ea typeface="Arial"/>
                <a:cs typeface="Arial"/>
              </a:rPr>
              <a:t>Catch missing layers &amp; order Q0–Q3 quarantine.</a:t>
            </a:r>
          </a:p>
        </p:txBody>
      </p:sp>
      <p:sp>
        <p:nvSpPr>
          <p:cNvPr id="8" name=" GOLDEN RULE FOR TODAY: Blocking a new Pod at Ad">
            <a:extLst xmlns:a="http://schemas.openxmlformats.org/drawingml/2006/main">
              <a:ext uri="{FF2B5EF4-FFF2-40B4-BE49-F238E27FC236}">
                <a16:creationId xmlns:a16="http://schemas.microsoft.com/office/drawing/2014/main" id="{E429ABF5-7FA3-4DB1-9D9F-A930ECAF9DD4}"/>
              </a:ext>
            </a:extLst>
          </p:cNvPr>
          <p:cNvSpPr>
            <a:spLocks xmlns:a="http://schemas.openxmlformats.org/drawingml/2006/main" noGrp="1"/>
          </p:cNvSpPr>
          <p:nvPr/>
        </p:nvSpPr>
        <p:spPr>
          <a:xfrm xmlns:a="http://schemas.openxmlformats.org/drawingml/2006/main">
            <a:off x="609600" y="5429250"/>
            <a:ext cx="10953750" cy="704850"/>
          </a:xfrm>
          <a:prstGeom xmlns:a="http://schemas.openxmlformats.org/drawingml/2006/main" prst="rect">
            <a:avLst/>
          </a:prstGeom>
          <a:solidFill xmlns:a="http://schemas.openxmlformats.org/drawingml/2006/main">
            <a:srgbClr val="09131D"/>
          </a:solidFill>
          <a:ln xmlns:a="http://schemas.openxmlformats.org/drawingml/2006/main" w="19050">
            <a:solidFill>
              <a:srgbClr val="FF795B"/>
            </a:solidFill>
          </a:ln>
        </p:spPr>
        <p:txBody>
          <a:bodyPr xmlns:a="http://schemas.openxmlformats.org/drawingml/2006/main"/>
          <a:lstStyle xmlns:a="http://schemas.openxmlformats.org/drawingml/2006/main">
            <a:defPPr>
              <a:defRPr sz="1500" b="1">
                <a:solidFill>
                  <a:srgbClr val="F2EFE7"/>
                </a:solidFill>
                <a:latin typeface="Arial"/>
                <a:ea typeface="Arial"/>
                <a:cs typeface="Arial"/>
              </a:defRPr>
            </a:defPPr>
            <a:lvl1pPr>
              <a:defRPr sz="1500" b="1">
                <a:solidFill>
                  <a:srgbClr val="F2EFE7"/>
                </a:solidFill>
                <a:latin typeface="Arial"/>
                <a:ea typeface="Arial"/>
                <a:cs typeface="Arial"/>
              </a:defRPr>
            </a:lvl1pPr>
            <a:lvl2pPr>
              <a:defRPr sz="1500" b="1">
                <a:solidFill>
                  <a:srgbClr val="F2EFE7"/>
                </a:solidFill>
                <a:latin typeface="Arial"/>
                <a:ea typeface="Arial"/>
                <a:cs typeface="Arial"/>
              </a:defRPr>
            </a:lvl2pPr>
            <a:lvl3pPr>
              <a:defRPr sz="1500" b="1">
                <a:solidFill>
                  <a:srgbClr val="F2EFE7"/>
                </a:solidFill>
                <a:latin typeface="Arial"/>
                <a:ea typeface="Arial"/>
                <a:cs typeface="Arial"/>
              </a:defRPr>
            </a:lvl3pPr>
            <a:lvl4pPr>
              <a:defRPr sz="1500" b="1">
                <a:solidFill>
                  <a:srgbClr val="F2EFE7"/>
                </a:solidFill>
                <a:latin typeface="Arial"/>
                <a:ea typeface="Arial"/>
                <a:cs typeface="Arial"/>
              </a:defRPr>
            </a:lvl4pPr>
            <a:lvl5pPr>
              <a:defRPr sz="1500" b="1">
                <a:solidFill>
                  <a:srgbClr val="F2EFE7"/>
                </a:solidFill>
                <a:latin typeface="Arial"/>
                <a:ea typeface="Arial"/>
                <a:cs typeface="Arial"/>
              </a:defRPr>
            </a:lvl5pPr>
            <a:lvl6pPr>
              <a:defRPr sz="1500" b="1">
                <a:solidFill>
                  <a:srgbClr val="F2EFE7"/>
                </a:solidFill>
                <a:latin typeface="Arial"/>
                <a:ea typeface="Arial"/>
                <a:cs typeface="Arial"/>
              </a:defRPr>
            </a:lvl6pPr>
            <a:lvl7pPr>
              <a:defRPr sz="1500" b="1">
                <a:solidFill>
                  <a:srgbClr val="F2EFE7"/>
                </a:solidFill>
                <a:latin typeface="Arial"/>
                <a:ea typeface="Arial"/>
                <a:cs typeface="Arial"/>
              </a:defRPr>
            </a:lvl7pPr>
            <a:lvl8pPr>
              <a:defRPr sz="1500" b="1">
                <a:solidFill>
                  <a:srgbClr val="F2EFE7"/>
                </a:solidFill>
                <a:latin typeface="Arial"/>
                <a:ea typeface="Arial"/>
                <a:cs typeface="Arial"/>
              </a:defRPr>
            </a:lvl8pPr>
            <a:lvl9pPr>
              <a:defRPr sz="1500" b="1">
                <a:solidFill>
                  <a:srgbClr val="F2EFE7"/>
                </a:solidFill>
                <a:latin typeface="Arial"/>
                <a:ea typeface="Arial"/>
                <a:cs typeface="Arial"/>
              </a:defRPr>
            </a:lvl9pPr>
          </a:lstStyle>
          <a:p xmlns:a="http://schemas.openxmlformats.org/drawingml/2006/main">
            <a:pPr>
              <a:defRPr sz="1500" b="1">
                <a:solidFill>
                  <a:srgbClr val="F2EFE7"/>
                </a:solidFill>
                <a:latin typeface="Arial"/>
                <a:ea typeface="Arial"/>
                <a:cs typeface="Arial"/>
              </a:defRPr>
            </a:pPr>
            <a:r>
              <a:rPr sz="1500" b="1">
                <a:solidFill>
                  <a:srgbClr val="F2EFE7"/>
                </a:solidFill>
                <a:latin typeface="Arial"/>
                <a:ea typeface="Arial"/>
                <a:cs typeface="Arial"/>
              </a:rPr>
              <a:t> GOLDEN RULE FOR TODAY: Blocking a new Pod at Admission (Layer 2) leaves running pods, active network sessions, and stolen tokens alive (Layer 3).</a:t>
            </a:r>
          </a:p>
        </p:txBody>
      </p:sp>
      <p:sp>
        <p:nvSpPr>
          <p:cNvPr id="9" name="ISC2 SECURITY CONGRESS 2026 / SC2632">
            <a:extLst xmlns:a="http://schemas.openxmlformats.org/drawingml/2006/main">
              <a:ext uri="{FF2B5EF4-FFF2-40B4-BE49-F238E27FC236}">
                <a16:creationId xmlns:a16="http://schemas.microsoft.com/office/drawing/2014/main" id="{F128543A-541B-405D-BA36-9202995C0A5A}"/>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10" name="06">
            <a:extLst xmlns:a="http://schemas.openxmlformats.org/drawingml/2006/main">
              <a:ext uri="{FF2B5EF4-FFF2-40B4-BE49-F238E27FC236}">
                <a16:creationId xmlns:a16="http://schemas.microsoft.com/office/drawing/2014/main" id="{767ADA4B-3954-48F6-9F7C-CFA7038D7A34}"/>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06</a:t>
            </a:r>
          </a:p>
        </p:txBody>
      </p:sp>
    </p:spTree>
    <p:extLst>
      <p:ext uri="{BB962C8B-B14F-4D97-AF65-F5344CB8AC3E}">
        <p14:creationId xmlns:p14="http://schemas.microsoft.com/office/powerpoint/2010/main" val="569704947"/>
      </p:ext>
    </p:extLst>
  </p:cSld>
</p:sld>
</file>

<file path=ppt/slides/slide7.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1" name="SYSTEM ARCHITECTURE / 4-ZONE PIPELINE FROM INTEN">
            <a:extLst xmlns:a="http://schemas.openxmlformats.org/drawingml/2006/main">
              <a:ext uri="{FF2B5EF4-FFF2-40B4-BE49-F238E27FC236}">
                <a16:creationId xmlns:a16="http://schemas.microsoft.com/office/drawing/2014/main" id="{003475F2-9CD1-4532-97D5-A102DD729BDE}"/>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SYSTEM ARCHITECTURE / 4-ZONE PIPELINE FROM INTENT TO REVIEW BUNDLE</a:t>
            </a:r>
          </a:p>
        </p:txBody>
      </p:sp>
      <p:sp>
        <p:nvSpPr>
          <p:cNvPr id="2" name="The policy agent decision loop">
            <a:extLst xmlns:a="http://schemas.openxmlformats.org/drawingml/2006/main">
              <a:ext uri="{FF2B5EF4-FFF2-40B4-BE49-F238E27FC236}">
                <a16:creationId xmlns:a16="http://schemas.microsoft.com/office/drawing/2014/main" id="{2F7A106E-8A90-4EBF-880C-1CA4E0303C6B}"/>
              </a:ext>
            </a:extLst>
          </p:cNvPr>
          <p:cNvSpPr>
            <a:spLocks xmlns:a="http://schemas.openxmlformats.org/drawingml/2006/main" noGrp="1"/>
          </p:cNvSpPr>
          <p:nvPr>
            <p:ph type="title" idx="0"/>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The policy agent decision loop</a:t>
            </a:r>
          </a:p>
        </p:txBody>
      </p:sp>
      <p:sp>
        <p:nvSpPr>
          <p:cNvPr id="3" name="ZONE 1: INPUTS →&#10;4-clause intent + fixtures">
            <a:extLst xmlns:a="http://schemas.openxmlformats.org/drawingml/2006/main">
              <a:ext uri="{FF2B5EF4-FFF2-40B4-BE49-F238E27FC236}">
                <a16:creationId xmlns:a16="http://schemas.microsoft.com/office/drawing/2014/main" id="{9BB8A3DB-4E52-4F8E-A35E-774EDB2C029E}"/>
              </a:ext>
            </a:extLst>
          </p:cNvPr>
          <p:cNvSpPr>
            <a:spLocks xmlns:a="http://schemas.openxmlformats.org/drawingml/2006/main" noGrp="1"/>
          </p:cNvSpPr>
          <p:nvPr/>
        </p:nvSpPr>
        <p:spPr>
          <a:xfrm xmlns:a="http://schemas.openxmlformats.org/drawingml/2006/main">
            <a:off x="609600" y="1600200"/>
            <a:ext cx="2638425" cy="57150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200" b="1">
                <a:solidFill>
                  <a:srgbClr val="F2EFE7"/>
                </a:solidFill>
                <a:latin typeface="Arial"/>
                <a:ea typeface="Arial"/>
                <a:cs typeface="Arial"/>
              </a:defRPr>
            </a:defPPr>
            <a:lvl1pPr>
              <a:defRPr sz="1200" b="1">
                <a:solidFill>
                  <a:srgbClr val="F2EFE7"/>
                </a:solidFill>
                <a:latin typeface="Arial"/>
                <a:ea typeface="Arial"/>
                <a:cs typeface="Arial"/>
              </a:defRPr>
            </a:lvl1pPr>
            <a:lvl2pPr>
              <a:defRPr sz="1200" b="1">
                <a:solidFill>
                  <a:srgbClr val="F2EFE7"/>
                </a:solidFill>
                <a:latin typeface="Arial"/>
                <a:ea typeface="Arial"/>
                <a:cs typeface="Arial"/>
              </a:defRPr>
            </a:lvl2pPr>
            <a:lvl3pPr>
              <a:defRPr sz="1200" b="1">
                <a:solidFill>
                  <a:srgbClr val="F2EFE7"/>
                </a:solidFill>
                <a:latin typeface="Arial"/>
                <a:ea typeface="Arial"/>
                <a:cs typeface="Arial"/>
              </a:defRPr>
            </a:lvl3pPr>
            <a:lvl4pPr>
              <a:defRPr sz="1200" b="1">
                <a:solidFill>
                  <a:srgbClr val="F2EFE7"/>
                </a:solidFill>
                <a:latin typeface="Arial"/>
                <a:ea typeface="Arial"/>
                <a:cs typeface="Arial"/>
              </a:defRPr>
            </a:lvl4pPr>
            <a:lvl5pPr>
              <a:defRPr sz="1200" b="1">
                <a:solidFill>
                  <a:srgbClr val="F2EFE7"/>
                </a:solidFill>
                <a:latin typeface="Arial"/>
                <a:ea typeface="Arial"/>
                <a:cs typeface="Arial"/>
              </a:defRPr>
            </a:lvl5pPr>
            <a:lvl6pPr>
              <a:defRPr sz="1200" b="1">
                <a:solidFill>
                  <a:srgbClr val="F2EFE7"/>
                </a:solidFill>
                <a:latin typeface="Arial"/>
                <a:ea typeface="Arial"/>
                <a:cs typeface="Arial"/>
              </a:defRPr>
            </a:lvl6pPr>
            <a:lvl7pPr>
              <a:defRPr sz="1200" b="1">
                <a:solidFill>
                  <a:srgbClr val="F2EFE7"/>
                </a:solidFill>
                <a:latin typeface="Arial"/>
                <a:ea typeface="Arial"/>
                <a:cs typeface="Arial"/>
              </a:defRPr>
            </a:lvl7pPr>
            <a:lvl8pPr>
              <a:defRPr sz="1200" b="1">
                <a:solidFill>
                  <a:srgbClr val="F2EFE7"/>
                </a:solidFill>
                <a:latin typeface="Arial"/>
                <a:ea typeface="Arial"/>
                <a:cs typeface="Arial"/>
              </a:defRPr>
            </a:lvl8pPr>
            <a:lvl9pPr>
              <a:defRPr sz="1200" b="1">
                <a:solidFill>
                  <a:srgbClr val="F2EFE7"/>
                </a:solidFill>
                <a:latin typeface="Arial"/>
                <a:ea typeface="Arial"/>
                <a:cs typeface="Arial"/>
              </a:defRPr>
            </a:lvl9pPr>
          </a:lstStyle>
          <a:p xmlns:a="http://schemas.openxmlformats.org/drawingml/2006/main">
            <a:pPr>
              <a:defRPr sz="1200" b="1">
                <a:solidFill>
                  <a:srgbClr val="F2EFE7"/>
                </a:solidFill>
                <a:latin typeface="Arial"/>
                <a:ea typeface="Arial"/>
                <a:cs typeface="Arial"/>
              </a:defRPr>
            </a:pPr>
            <a:r>
              <a:rPr sz="1200" b="1">
                <a:solidFill>
                  <a:srgbClr val="F2EFE7"/>
                </a:solidFill>
                <a:latin typeface="Arial"/>
                <a:ea typeface="Arial"/>
                <a:cs typeface="Arial"/>
              </a:rPr>
              <a:t>ZONE 1: INPUTS →</a:t>
            </a:r>
          </a:p>
          <a:p xmlns:a="http://schemas.openxmlformats.org/drawingml/2006/main">
            <a:pPr>
              <a:defRPr sz="1200" b="1">
                <a:solidFill>
                  <a:srgbClr val="F2EFE7"/>
                </a:solidFill>
                <a:latin typeface="Arial"/>
                <a:ea typeface="Arial"/>
                <a:cs typeface="Arial"/>
              </a:defRPr>
            </a:pPr>
            <a:r>
              <a:rPr sz="1200" b="1">
                <a:solidFill>
                  <a:srgbClr val="F2EFE7"/>
                </a:solidFill>
                <a:latin typeface="Arial"/>
                <a:ea typeface="Arial"/>
                <a:cs typeface="Arial"/>
              </a:rPr>
              <a:t>4-clause intent + fixtures</a:t>
            </a:r>
          </a:p>
        </p:txBody>
      </p:sp>
      <p:sp>
        <p:nvSpPr>
          <p:cNvPr id="4" name="ZONE 2: PYTHON HARNESS →&#10;Templates + Kyverno CLI">
            <a:extLst xmlns:a="http://schemas.openxmlformats.org/drawingml/2006/main">
              <a:ext uri="{FF2B5EF4-FFF2-40B4-BE49-F238E27FC236}">
                <a16:creationId xmlns:a16="http://schemas.microsoft.com/office/drawing/2014/main" id="{97F31F5B-2316-439D-A178-EC7CFB5B3587}"/>
              </a:ext>
            </a:extLst>
          </p:cNvPr>
          <p:cNvSpPr>
            <a:spLocks xmlns:a="http://schemas.openxmlformats.org/drawingml/2006/main" noGrp="1"/>
          </p:cNvSpPr>
          <p:nvPr/>
        </p:nvSpPr>
        <p:spPr>
          <a:xfrm xmlns:a="http://schemas.openxmlformats.org/drawingml/2006/main">
            <a:off x="3381375" y="1600200"/>
            <a:ext cx="2638425" cy="57150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200" b="1">
                <a:solidFill>
                  <a:srgbClr val="F2EFE7"/>
                </a:solidFill>
                <a:latin typeface="Arial"/>
                <a:ea typeface="Arial"/>
                <a:cs typeface="Arial"/>
              </a:defRPr>
            </a:defPPr>
            <a:lvl1pPr>
              <a:defRPr sz="1200" b="1">
                <a:solidFill>
                  <a:srgbClr val="F2EFE7"/>
                </a:solidFill>
                <a:latin typeface="Arial"/>
                <a:ea typeface="Arial"/>
                <a:cs typeface="Arial"/>
              </a:defRPr>
            </a:lvl1pPr>
            <a:lvl2pPr>
              <a:defRPr sz="1200" b="1">
                <a:solidFill>
                  <a:srgbClr val="F2EFE7"/>
                </a:solidFill>
                <a:latin typeface="Arial"/>
                <a:ea typeface="Arial"/>
                <a:cs typeface="Arial"/>
              </a:defRPr>
            </a:lvl2pPr>
            <a:lvl3pPr>
              <a:defRPr sz="1200" b="1">
                <a:solidFill>
                  <a:srgbClr val="F2EFE7"/>
                </a:solidFill>
                <a:latin typeface="Arial"/>
                <a:ea typeface="Arial"/>
                <a:cs typeface="Arial"/>
              </a:defRPr>
            </a:lvl3pPr>
            <a:lvl4pPr>
              <a:defRPr sz="1200" b="1">
                <a:solidFill>
                  <a:srgbClr val="F2EFE7"/>
                </a:solidFill>
                <a:latin typeface="Arial"/>
                <a:ea typeface="Arial"/>
                <a:cs typeface="Arial"/>
              </a:defRPr>
            </a:lvl4pPr>
            <a:lvl5pPr>
              <a:defRPr sz="1200" b="1">
                <a:solidFill>
                  <a:srgbClr val="F2EFE7"/>
                </a:solidFill>
                <a:latin typeface="Arial"/>
                <a:ea typeface="Arial"/>
                <a:cs typeface="Arial"/>
              </a:defRPr>
            </a:lvl5pPr>
            <a:lvl6pPr>
              <a:defRPr sz="1200" b="1">
                <a:solidFill>
                  <a:srgbClr val="F2EFE7"/>
                </a:solidFill>
                <a:latin typeface="Arial"/>
                <a:ea typeface="Arial"/>
                <a:cs typeface="Arial"/>
              </a:defRPr>
            </a:lvl6pPr>
            <a:lvl7pPr>
              <a:defRPr sz="1200" b="1">
                <a:solidFill>
                  <a:srgbClr val="F2EFE7"/>
                </a:solidFill>
                <a:latin typeface="Arial"/>
                <a:ea typeface="Arial"/>
                <a:cs typeface="Arial"/>
              </a:defRPr>
            </a:lvl7pPr>
            <a:lvl8pPr>
              <a:defRPr sz="1200" b="1">
                <a:solidFill>
                  <a:srgbClr val="F2EFE7"/>
                </a:solidFill>
                <a:latin typeface="Arial"/>
                <a:ea typeface="Arial"/>
                <a:cs typeface="Arial"/>
              </a:defRPr>
            </a:lvl8pPr>
            <a:lvl9pPr>
              <a:defRPr sz="1200" b="1">
                <a:solidFill>
                  <a:srgbClr val="F2EFE7"/>
                </a:solidFill>
                <a:latin typeface="Arial"/>
                <a:ea typeface="Arial"/>
                <a:cs typeface="Arial"/>
              </a:defRPr>
            </a:lvl9pPr>
          </a:lstStyle>
          <a:p xmlns:a="http://schemas.openxmlformats.org/drawingml/2006/main">
            <a:pPr>
              <a:defRPr sz="1200" b="1">
                <a:solidFill>
                  <a:srgbClr val="F2EFE7"/>
                </a:solidFill>
                <a:latin typeface="Arial"/>
                <a:ea typeface="Arial"/>
                <a:cs typeface="Arial"/>
              </a:defRPr>
            </a:pPr>
            <a:r>
              <a:rPr sz="1200" b="1">
                <a:solidFill>
                  <a:srgbClr val="F2EFE7"/>
                </a:solidFill>
                <a:latin typeface="Arial"/>
                <a:ea typeface="Arial"/>
                <a:cs typeface="Arial"/>
              </a:rPr>
              <a:t>ZONE 2: PYTHON HARNESS →</a:t>
            </a:r>
          </a:p>
          <a:p xmlns:a="http://schemas.openxmlformats.org/drawingml/2006/main">
            <a:pPr>
              <a:defRPr sz="1200" b="1">
                <a:solidFill>
                  <a:srgbClr val="F2EFE7"/>
                </a:solidFill>
                <a:latin typeface="Arial"/>
                <a:ea typeface="Arial"/>
                <a:cs typeface="Arial"/>
              </a:defRPr>
            </a:pPr>
            <a:r>
              <a:rPr sz="1200" b="1">
                <a:solidFill>
                  <a:srgbClr val="F2EFE7"/>
                </a:solidFill>
                <a:latin typeface="Arial"/>
                <a:ea typeface="Arial"/>
                <a:cs typeface="Arial"/>
              </a:rPr>
              <a:t>Templates + Kyverno CLI (≤3x)</a:t>
            </a:r>
          </a:p>
        </p:txBody>
      </p:sp>
      <p:sp>
        <p:nvSpPr>
          <p:cNvPr id="5" name="ZONE 3: TYPED DECIDER →&#10;Catalog choice + score ≥">
            <a:extLst xmlns:a="http://schemas.openxmlformats.org/drawingml/2006/main">
              <a:ext uri="{FF2B5EF4-FFF2-40B4-BE49-F238E27FC236}">
                <a16:creationId xmlns:a16="http://schemas.microsoft.com/office/drawing/2014/main" id="{B42726F4-8652-462B-BB93-DBCF482BBDDA}"/>
              </a:ext>
            </a:extLst>
          </p:cNvPr>
          <p:cNvSpPr>
            <a:spLocks xmlns:a="http://schemas.openxmlformats.org/drawingml/2006/main" noGrp="1"/>
          </p:cNvSpPr>
          <p:nvPr/>
        </p:nvSpPr>
        <p:spPr>
          <a:xfrm xmlns:a="http://schemas.openxmlformats.org/drawingml/2006/main">
            <a:off x="6153150" y="1600200"/>
            <a:ext cx="2638425" cy="57150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200" b="1">
                <a:solidFill>
                  <a:srgbClr val="F2EFE7"/>
                </a:solidFill>
                <a:latin typeface="Arial"/>
                <a:ea typeface="Arial"/>
                <a:cs typeface="Arial"/>
              </a:defRPr>
            </a:defPPr>
            <a:lvl1pPr>
              <a:defRPr sz="1200" b="1">
                <a:solidFill>
                  <a:srgbClr val="F2EFE7"/>
                </a:solidFill>
                <a:latin typeface="Arial"/>
                <a:ea typeface="Arial"/>
                <a:cs typeface="Arial"/>
              </a:defRPr>
            </a:lvl1pPr>
            <a:lvl2pPr>
              <a:defRPr sz="1200" b="1">
                <a:solidFill>
                  <a:srgbClr val="F2EFE7"/>
                </a:solidFill>
                <a:latin typeface="Arial"/>
                <a:ea typeface="Arial"/>
                <a:cs typeface="Arial"/>
              </a:defRPr>
            </a:lvl2pPr>
            <a:lvl3pPr>
              <a:defRPr sz="1200" b="1">
                <a:solidFill>
                  <a:srgbClr val="F2EFE7"/>
                </a:solidFill>
                <a:latin typeface="Arial"/>
                <a:ea typeface="Arial"/>
                <a:cs typeface="Arial"/>
              </a:defRPr>
            </a:lvl3pPr>
            <a:lvl4pPr>
              <a:defRPr sz="1200" b="1">
                <a:solidFill>
                  <a:srgbClr val="F2EFE7"/>
                </a:solidFill>
                <a:latin typeface="Arial"/>
                <a:ea typeface="Arial"/>
                <a:cs typeface="Arial"/>
              </a:defRPr>
            </a:lvl4pPr>
            <a:lvl5pPr>
              <a:defRPr sz="1200" b="1">
                <a:solidFill>
                  <a:srgbClr val="F2EFE7"/>
                </a:solidFill>
                <a:latin typeface="Arial"/>
                <a:ea typeface="Arial"/>
                <a:cs typeface="Arial"/>
              </a:defRPr>
            </a:lvl5pPr>
            <a:lvl6pPr>
              <a:defRPr sz="1200" b="1">
                <a:solidFill>
                  <a:srgbClr val="F2EFE7"/>
                </a:solidFill>
                <a:latin typeface="Arial"/>
                <a:ea typeface="Arial"/>
                <a:cs typeface="Arial"/>
              </a:defRPr>
            </a:lvl6pPr>
            <a:lvl7pPr>
              <a:defRPr sz="1200" b="1">
                <a:solidFill>
                  <a:srgbClr val="F2EFE7"/>
                </a:solidFill>
                <a:latin typeface="Arial"/>
                <a:ea typeface="Arial"/>
                <a:cs typeface="Arial"/>
              </a:defRPr>
            </a:lvl7pPr>
            <a:lvl8pPr>
              <a:defRPr sz="1200" b="1">
                <a:solidFill>
                  <a:srgbClr val="F2EFE7"/>
                </a:solidFill>
                <a:latin typeface="Arial"/>
                <a:ea typeface="Arial"/>
                <a:cs typeface="Arial"/>
              </a:defRPr>
            </a:lvl8pPr>
            <a:lvl9pPr>
              <a:defRPr sz="1200" b="1">
                <a:solidFill>
                  <a:srgbClr val="F2EFE7"/>
                </a:solidFill>
                <a:latin typeface="Arial"/>
                <a:ea typeface="Arial"/>
                <a:cs typeface="Arial"/>
              </a:defRPr>
            </a:lvl9pPr>
          </a:lstStyle>
          <a:p xmlns:a="http://schemas.openxmlformats.org/drawingml/2006/main">
            <a:pPr>
              <a:defRPr sz="1200" b="1">
                <a:solidFill>
                  <a:srgbClr val="F2EFE7"/>
                </a:solidFill>
                <a:latin typeface="Arial"/>
                <a:ea typeface="Arial"/>
                <a:cs typeface="Arial"/>
              </a:defRPr>
            </a:pPr>
            <a:r>
              <a:rPr sz="1200" b="1">
                <a:solidFill>
                  <a:srgbClr val="F2EFE7"/>
                </a:solidFill>
                <a:latin typeface="Arial"/>
                <a:ea typeface="Arial"/>
                <a:cs typeface="Arial"/>
              </a:rPr>
              <a:t>ZONE 3: TYPED DECIDER →</a:t>
            </a:r>
          </a:p>
          <a:p xmlns:a="http://schemas.openxmlformats.org/drawingml/2006/main">
            <a:pPr>
              <a:defRPr sz="1200" b="1">
                <a:solidFill>
                  <a:srgbClr val="F2EFE7"/>
                </a:solidFill>
                <a:latin typeface="Arial"/>
                <a:ea typeface="Arial"/>
                <a:cs typeface="Arial"/>
              </a:defRPr>
            </a:pPr>
            <a:r>
              <a:rPr sz="1200" b="1">
                <a:solidFill>
                  <a:srgbClr val="F2EFE7"/>
                </a:solidFill>
                <a:latin typeface="Arial"/>
                <a:ea typeface="Arial"/>
                <a:cs typeface="Arial"/>
              </a:rPr>
              <a:t>Catalog choice + score ≥0.60</a:t>
            </a:r>
          </a:p>
        </p:txBody>
      </p:sp>
      <p:sp>
        <p:nvSpPr>
          <p:cNvPr id="6" name="ZONE 4: LOCAL PR BUNDLE&#10;PR.md + readiness.json l">
            <a:extLst xmlns:a="http://schemas.openxmlformats.org/drawingml/2006/main">
              <a:ext uri="{FF2B5EF4-FFF2-40B4-BE49-F238E27FC236}">
                <a16:creationId xmlns:a16="http://schemas.microsoft.com/office/drawing/2014/main" id="{1F656426-E457-4F18-A78F-73D904583E12}"/>
              </a:ext>
            </a:extLst>
          </p:cNvPr>
          <p:cNvSpPr>
            <a:spLocks xmlns:a="http://schemas.openxmlformats.org/drawingml/2006/main" noGrp="1"/>
          </p:cNvSpPr>
          <p:nvPr/>
        </p:nvSpPr>
        <p:spPr>
          <a:xfrm xmlns:a="http://schemas.openxmlformats.org/drawingml/2006/main">
            <a:off x="8924925" y="1600200"/>
            <a:ext cx="2638425" cy="571500"/>
          </a:xfrm>
          <a:prstGeom xmlns:a="http://schemas.openxmlformats.org/drawingml/2006/main" prst="rect">
            <a:avLst/>
          </a:prstGeom>
          <a:solidFill xmlns:a="http://schemas.openxmlformats.org/drawingml/2006/main">
            <a:srgbClr val="09131D"/>
          </a:solidFill>
          <a:ln xmlns:a="http://schemas.openxmlformats.org/drawingml/2006/main" w="19050">
            <a:solidFill>
              <a:srgbClr val="FF795B"/>
            </a:solidFill>
          </a:ln>
        </p:spPr>
        <p:txBody>
          <a:bodyPr xmlns:a="http://schemas.openxmlformats.org/drawingml/2006/main"/>
          <a:lstStyle xmlns:a="http://schemas.openxmlformats.org/drawingml/2006/main">
            <a:defPPr>
              <a:defRPr sz="1200" b="1">
                <a:solidFill>
                  <a:srgbClr val="F2EFE7"/>
                </a:solidFill>
                <a:latin typeface="Arial"/>
                <a:ea typeface="Arial"/>
                <a:cs typeface="Arial"/>
              </a:defRPr>
            </a:defPPr>
            <a:lvl1pPr>
              <a:defRPr sz="1200" b="1">
                <a:solidFill>
                  <a:srgbClr val="F2EFE7"/>
                </a:solidFill>
                <a:latin typeface="Arial"/>
                <a:ea typeface="Arial"/>
                <a:cs typeface="Arial"/>
              </a:defRPr>
            </a:lvl1pPr>
            <a:lvl2pPr>
              <a:defRPr sz="1200" b="1">
                <a:solidFill>
                  <a:srgbClr val="F2EFE7"/>
                </a:solidFill>
                <a:latin typeface="Arial"/>
                <a:ea typeface="Arial"/>
                <a:cs typeface="Arial"/>
              </a:defRPr>
            </a:lvl2pPr>
            <a:lvl3pPr>
              <a:defRPr sz="1200" b="1">
                <a:solidFill>
                  <a:srgbClr val="F2EFE7"/>
                </a:solidFill>
                <a:latin typeface="Arial"/>
                <a:ea typeface="Arial"/>
                <a:cs typeface="Arial"/>
              </a:defRPr>
            </a:lvl3pPr>
            <a:lvl4pPr>
              <a:defRPr sz="1200" b="1">
                <a:solidFill>
                  <a:srgbClr val="F2EFE7"/>
                </a:solidFill>
                <a:latin typeface="Arial"/>
                <a:ea typeface="Arial"/>
                <a:cs typeface="Arial"/>
              </a:defRPr>
            </a:lvl4pPr>
            <a:lvl5pPr>
              <a:defRPr sz="1200" b="1">
                <a:solidFill>
                  <a:srgbClr val="F2EFE7"/>
                </a:solidFill>
                <a:latin typeface="Arial"/>
                <a:ea typeface="Arial"/>
                <a:cs typeface="Arial"/>
              </a:defRPr>
            </a:lvl5pPr>
            <a:lvl6pPr>
              <a:defRPr sz="1200" b="1">
                <a:solidFill>
                  <a:srgbClr val="F2EFE7"/>
                </a:solidFill>
                <a:latin typeface="Arial"/>
                <a:ea typeface="Arial"/>
                <a:cs typeface="Arial"/>
              </a:defRPr>
            </a:lvl6pPr>
            <a:lvl7pPr>
              <a:defRPr sz="1200" b="1">
                <a:solidFill>
                  <a:srgbClr val="F2EFE7"/>
                </a:solidFill>
                <a:latin typeface="Arial"/>
                <a:ea typeface="Arial"/>
                <a:cs typeface="Arial"/>
              </a:defRPr>
            </a:lvl7pPr>
            <a:lvl8pPr>
              <a:defRPr sz="1200" b="1">
                <a:solidFill>
                  <a:srgbClr val="F2EFE7"/>
                </a:solidFill>
                <a:latin typeface="Arial"/>
                <a:ea typeface="Arial"/>
                <a:cs typeface="Arial"/>
              </a:defRPr>
            </a:lvl8pPr>
            <a:lvl9pPr>
              <a:defRPr sz="1200" b="1">
                <a:solidFill>
                  <a:srgbClr val="F2EFE7"/>
                </a:solidFill>
                <a:latin typeface="Arial"/>
                <a:ea typeface="Arial"/>
                <a:cs typeface="Arial"/>
              </a:defRPr>
            </a:lvl9pPr>
          </a:lstStyle>
          <a:p xmlns:a="http://schemas.openxmlformats.org/drawingml/2006/main">
            <a:pPr>
              <a:defRPr sz="1200" b="1">
                <a:solidFill>
                  <a:srgbClr val="F2EFE7"/>
                </a:solidFill>
                <a:latin typeface="Arial"/>
                <a:ea typeface="Arial"/>
                <a:cs typeface="Arial"/>
              </a:defRPr>
            </a:pPr>
            <a:r>
              <a:rPr sz="1200" b="1">
                <a:solidFill>
                  <a:srgbClr val="F2EFE7"/>
                </a:solidFill>
                <a:latin typeface="Arial"/>
                <a:ea typeface="Arial"/>
                <a:cs typeface="Arial"/>
              </a:rPr>
              <a:t>ZONE 4: LOCAL PR BUNDLE</a:t>
            </a:r>
          </a:p>
          <a:p xmlns:a="http://schemas.openxmlformats.org/drawingml/2006/main">
            <a:pPr>
              <a:defRPr sz="1200" b="1">
                <a:solidFill>
                  <a:srgbClr val="F2EFE7"/>
                </a:solidFill>
                <a:latin typeface="Arial"/>
                <a:ea typeface="Arial"/>
                <a:cs typeface="Arial"/>
              </a:defRPr>
            </a:pPr>
            <a:r>
              <a:rPr sz="1200" b="1">
                <a:solidFill>
                  <a:srgbClr val="F2EFE7"/>
                </a:solidFill>
                <a:latin typeface="Arial"/>
                <a:ea typeface="Arial"/>
                <a:cs typeface="Arial"/>
              </a:rPr>
              <a:t>PR.md + readiness.json ledger</a:t>
            </a:r>
          </a:p>
        </p:txBody>
      </p:sp>
      <p:graphicFrame>
        <p:nvGraphicFramePr>
          <p:cNvPr id="7" name="">
            <a:extLst xmlns:a="http://schemas.openxmlformats.org/drawingml/2006/main">
              <a:ext uri="{FF2B5EF4-FFF2-40B4-BE49-F238E27FC236}">
                <a16:creationId xmlns:a16="http://schemas.microsoft.com/office/drawing/2014/main" id="{68F0C95D-C03E-4EDC-84D7-D1DDDF72FD45}"/>
              </a:ext>
            </a:extLst>
          </p:cNvPr>
          <p:cNvGraphicFramePr/>
          <p:nvPr/>
        </p:nvGraphicFramePr>
        <p:xfrm>
          <a:off xmlns:a="http://schemas.openxmlformats.org/drawingml/2006/main" x="609600" y="2266950"/>
          <a:ext xmlns:a="http://schemas.openxmlformats.org/drawingml/2006/main" cx="10953750" cy="3200400"/>
        </p:xfrm>
        <a:graphic xmlns:a="http://schemas.openxmlformats.org/drawingml/2006/main">
          <a:graphicData uri="http://schemas.openxmlformats.org/drawingml/2006/table">
            <a:tbl>
              <a:tblPr firstRow="1" bandRow="1"/>
              <a:tblGrid>
                <a:gridCol w="2190750"/>
                <a:gridCol w="4048125"/>
                <a:gridCol w="4714875"/>
              </a:tblGrid>
              <a:tr h="495300">
                <a:tc>
                  <a:txBody>
                    <a:bodyPr/>
                    <a:lstStyle/>
                    <a:p>
                      <a:r>
                        <a:rPr sz="1725" b="1">
                          <a:solidFill>
                            <a:srgbClr val="F2EFE7"/>
                          </a:solidFill>
                          <a:latin typeface="Arial"/>
                          <a:ea typeface="Arial"/>
                          <a:cs typeface="Arial"/>
                        </a:rPr>
                        <a:t>Stage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Model choice</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Python and tools</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590550">
                <a:tc>
                  <a:txBody>
                    <a:bodyPr/>
                    <a:lstStyle/>
                    <a:p>
                      <a:r>
                        <a:rPr sz="1725" b="1">
                          <a:solidFill>
                            <a:srgbClr val="087E79"/>
                          </a:solidFill>
                          <a:latin typeface="Arial"/>
                          <a:ea typeface="Arial"/>
                          <a:cs typeface="Arial"/>
                        </a:rPr>
                        <a:t>Map intent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One of 10 catalog options per clause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Validate choice; fill the scoped spec</a:t>
                      </a:r>
                    </a:p>
                  </a:txBody>
                  <a:tcPr marL="91440" marR="91440" marT="45720" marB="45720">
                    <a:lnR w="19050">
                      <a:solidFill>
                        <a:srgbClr val="F2EFE7"/>
                      </a:solidFill>
                      <a:prstDash val="solid"/>
                    </a:lnR>
                    <a:lnB w="19050">
                      <a:solidFill>
                        <a:srgbClr val="F2EFE7"/>
                      </a:solidFill>
                      <a:prstDash val="solid"/>
                    </a:lnB>
                    <a:solidFill>
                      <a:srgbClr val="F2EFE7"/>
                    </a:solidFill>
                  </a:tcPr>
                </a:tc>
              </a:tr>
              <a:tr h="590550">
                <a:tc>
                  <a:txBody>
                    <a:bodyPr/>
                    <a:lstStyle/>
                    <a:p>
                      <a:r>
                        <a:rPr sz="1725" b="1">
                          <a:solidFill>
                            <a:srgbClr val="087E79"/>
                          </a:solidFill>
                          <a:latin typeface="Arial"/>
                          <a:ea typeface="Arial"/>
                          <a:cs typeface="Arial"/>
                        </a:rPr>
                        <a:t>Dependencies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preserve or deny each profile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Read fixtures; collect workload labels</a:t>
                      </a:r>
                    </a:p>
                  </a:txBody>
                  <a:tcPr marL="91440" marR="91440" marT="45720" marB="45720">
                    <a:lnR w="19050">
                      <a:solidFill>
                        <a:srgbClr val="F2EFE7"/>
                      </a:solidFill>
                      <a:prstDash val="solid"/>
                    </a:lnR>
                    <a:lnB w="19050">
                      <a:solidFill>
                        <a:srgbClr val="F2EFE7"/>
                      </a:solidFill>
                      <a:prstDash val="solid"/>
                    </a:lnB>
                    <a:solidFill>
                      <a:srgbClr val="F2EFE7"/>
                    </a:solidFill>
                  </a:tcPr>
                </a:tc>
              </a:tr>
              <a:tr h="781050">
                <a:tc>
                  <a:txBody>
                    <a:bodyPr/>
                    <a:lstStyle/>
                    <a:p>
                      <a:r>
                        <a:rPr sz="1725" b="1">
                          <a:solidFill>
                            <a:srgbClr val="087E79"/>
                          </a:solidFill>
                          <a:latin typeface="Arial"/>
                          <a:ea typeface="Arial"/>
                          <a:cs typeface="Arial"/>
                        </a:rPr>
                        <a:t>Blocked workload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allow_and_retest, request_exception or block_is_intended</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Render templates; simulate admission; at most 3 rounds</a:t>
                      </a:r>
                    </a:p>
                  </a:txBody>
                  <a:tcPr marL="91440" marR="91440" marT="45720" marB="45720">
                    <a:lnR w="19050">
                      <a:solidFill>
                        <a:srgbClr val="F2EFE7"/>
                      </a:solidFill>
                      <a:prstDash val="solid"/>
                    </a:lnR>
                    <a:lnB w="19050">
                      <a:solidFill>
                        <a:srgbClr val="F2EFE7"/>
                      </a:solidFill>
                      <a:prstDash val="solid"/>
                    </a:lnB>
                    <a:solidFill>
                      <a:srgbClr val="F2EFE7"/>
                    </a:solidFill>
                  </a:tcPr>
                </a:tc>
              </a:tr>
              <a:tr h="666750">
                <a:tc>
                  <a:txBody>
                    <a:bodyPr/>
                    <a:lstStyle/>
                    <a:p>
                      <a:r>
                        <a:rPr sz="1725" b="1">
                          <a:solidFill>
                            <a:srgbClr val="087E79"/>
                          </a:solidFill>
                          <a:latin typeface="Arial"/>
                          <a:ea typeface="Arial"/>
                          <a:cs typeface="Arial"/>
                        </a:rPr>
                        <a:t>Review bundle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Exception request or escalation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Write stage files, tests, coverage and local PR.md</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8" name="ARCHITECTURE KEY: The LLM never writes raw YAML ">
            <a:extLst xmlns:a="http://schemas.openxmlformats.org/drawingml/2006/main">
              <a:ext uri="{FF2B5EF4-FFF2-40B4-BE49-F238E27FC236}">
                <a16:creationId xmlns:a16="http://schemas.microsoft.com/office/drawing/2014/main" id="{D7FC539B-0574-4859-8A72-72CBE53F2E1D}"/>
              </a:ext>
            </a:extLst>
          </p:cNvPr>
          <p:cNvSpPr>
            <a:spLocks xmlns:a="http://schemas.openxmlformats.org/drawingml/2006/main" noGrp="1"/>
          </p:cNvSpPr>
          <p:nvPr/>
        </p:nvSpPr>
        <p:spPr>
          <a:xfrm xmlns:a="http://schemas.openxmlformats.org/drawingml/2006/main">
            <a:off x="609600" y="56959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ARCHITECTURE KEY: The LLM never writes raw YAML or touches kubectl—it only picks typed catalog keys inside Python.</a:t>
            </a:r>
          </a:p>
        </p:txBody>
      </p:sp>
      <p:sp>
        <p:nvSpPr>
          <p:cNvPr id="9" name="ISC2 SECURITY CONGRESS 2026 / SC2632">
            <a:extLst xmlns:a="http://schemas.openxmlformats.org/drawingml/2006/main">
              <a:ext uri="{FF2B5EF4-FFF2-40B4-BE49-F238E27FC236}">
                <a16:creationId xmlns:a16="http://schemas.microsoft.com/office/drawing/2014/main" id="{23FE05FC-A46D-4B88-9C33-841D77A000F6}"/>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10" name="07">
            <a:extLst xmlns:a="http://schemas.openxmlformats.org/drawingml/2006/main">
              <a:ext uri="{FF2B5EF4-FFF2-40B4-BE49-F238E27FC236}">
                <a16:creationId xmlns:a16="http://schemas.microsoft.com/office/drawing/2014/main" id="{18F139D3-1EA1-4ECF-B7A8-35C8965674F9}"/>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07</a:t>
            </a:r>
          </a:p>
        </p:txBody>
      </p:sp>
    </p:spTree>
    <p:extLst>
      <p:ext uri="{BB962C8B-B14F-4D97-AF65-F5344CB8AC3E}">
        <p14:creationId xmlns:p14="http://schemas.microsoft.com/office/powerpoint/2010/main" val="1816082337"/>
      </p:ext>
    </p:extLst>
  </p:cSld>
</p:sld>
</file>

<file path=ppt/slides/slide8.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WHAT THE MODEL SEES / FAIL-OPEN VS. FAIL-CLOSED ">
            <a:extLst xmlns:a="http://schemas.openxmlformats.org/drawingml/2006/main">
              <a:ext uri="{FF2B5EF4-FFF2-40B4-BE49-F238E27FC236}">
                <a16:creationId xmlns:a16="http://schemas.microsoft.com/office/drawing/2014/main" id="{FED772F6-A576-4889-BB4E-1CD1DEE03719}"/>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WHAT THE MODEL SEES / FAIL-OPEN VS. FAIL-CLOSED DEFAULTS</a:t>
            </a:r>
          </a:p>
        </p:txBody>
      </p:sp>
      <p:sp>
        <p:nvSpPr>
          <p:cNvPr id="2" name="Trust boundaries and model inputs">
            <a:extLst xmlns:a="http://schemas.openxmlformats.org/drawingml/2006/main">
              <a:ext uri="{FF2B5EF4-FFF2-40B4-BE49-F238E27FC236}">
                <a16:creationId xmlns:a16="http://schemas.microsoft.com/office/drawing/2014/main" id="{621916CB-D168-4343-8F30-7A7B974F38AD}"/>
              </a:ext>
            </a:extLst>
          </p:cNvPr>
          <p:cNvSpPr>
            <a:spLocks xmlns:a="http://schemas.openxmlformats.org/drawingml/2006/main" noGrp="1"/>
          </p:cNvSpPr>
          <p:nvPr>
            <p:ph type="title" idx="0"/>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Trust boundaries and model inputs</a:t>
            </a:r>
          </a:p>
        </p:txBody>
      </p:sp>
      <p:sp>
        <p:nvSpPr>
          <p:cNvPr id="3" name="CONTEXT: What data crosses into the AI model, an">
            <a:extLst xmlns:a="http://schemas.openxmlformats.org/drawingml/2006/main">
              <a:ext uri="{FF2B5EF4-FFF2-40B4-BE49-F238E27FC236}">
                <a16:creationId xmlns:a16="http://schemas.microsoft.com/office/drawing/2014/main" id="{783BABCA-BAFF-47B3-AD11-6A7631296AFB}"/>
              </a:ext>
            </a:extLst>
          </p:cNvPr>
          <p:cNvSpPr>
            <a:spLocks xmlns:a="http://schemas.openxmlformats.org/drawingml/2006/main" noGrp="1"/>
          </p:cNvSpPr>
          <p:nvPr/>
        </p:nvSpPr>
        <p:spPr>
          <a:xfrm xmlns:a="http://schemas.openxmlformats.org/drawingml/2006/main">
            <a:off x="609600" y="1619250"/>
            <a:ext cx="10953750" cy="5524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425" b="1">
                <a:solidFill>
                  <a:srgbClr val="F2EFE7"/>
                </a:solidFill>
                <a:latin typeface="Arial"/>
                <a:ea typeface="Arial"/>
                <a:cs typeface="Arial"/>
              </a:defRPr>
            </a:defPPr>
            <a:lvl1pPr>
              <a:defRPr sz="1425" b="1">
                <a:solidFill>
                  <a:srgbClr val="F2EFE7"/>
                </a:solidFill>
                <a:latin typeface="Arial"/>
                <a:ea typeface="Arial"/>
                <a:cs typeface="Arial"/>
              </a:defRPr>
            </a:lvl1pPr>
            <a:lvl2pPr>
              <a:defRPr sz="1425" b="1">
                <a:solidFill>
                  <a:srgbClr val="F2EFE7"/>
                </a:solidFill>
                <a:latin typeface="Arial"/>
                <a:ea typeface="Arial"/>
                <a:cs typeface="Arial"/>
              </a:defRPr>
            </a:lvl2pPr>
            <a:lvl3pPr>
              <a:defRPr sz="1425" b="1">
                <a:solidFill>
                  <a:srgbClr val="F2EFE7"/>
                </a:solidFill>
                <a:latin typeface="Arial"/>
                <a:ea typeface="Arial"/>
                <a:cs typeface="Arial"/>
              </a:defRPr>
            </a:lvl3pPr>
            <a:lvl4pPr>
              <a:defRPr sz="1425" b="1">
                <a:solidFill>
                  <a:srgbClr val="F2EFE7"/>
                </a:solidFill>
                <a:latin typeface="Arial"/>
                <a:ea typeface="Arial"/>
                <a:cs typeface="Arial"/>
              </a:defRPr>
            </a:lvl4pPr>
            <a:lvl5pPr>
              <a:defRPr sz="1425" b="1">
                <a:solidFill>
                  <a:srgbClr val="F2EFE7"/>
                </a:solidFill>
                <a:latin typeface="Arial"/>
                <a:ea typeface="Arial"/>
                <a:cs typeface="Arial"/>
              </a:defRPr>
            </a:lvl5pPr>
            <a:lvl6pPr>
              <a:defRPr sz="1425" b="1">
                <a:solidFill>
                  <a:srgbClr val="F2EFE7"/>
                </a:solidFill>
                <a:latin typeface="Arial"/>
                <a:ea typeface="Arial"/>
                <a:cs typeface="Arial"/>
              </a:defRPr>
            </a:lvl6pPr>
            <a:lvl7pPr>
              <a:defRPr sz="1425" b="1">
                <a:solidFill>
                  <a:srgbClr val="F2EFE7"/>
                </a:solidFill>
                <a:latin typeface="Arial"/>
                <a:ea typeface="Arial"/>
                <a:cs typeface="Arial"/>
              </a:defRPr>
            </a:lvl7pPr>
            <a:lvl8pPr>
              <a:defRPr sz="1425" b="1">
                <a:solidFill>
                  <a:srgbClr val="F2EFE7"/>
                </a:solidFill>
                <a:latin typeface="Arial"/>
                <a:ea typeface="Arial"/>
                <a:cs typeface="Arial"/>
              </a:defRPr>
            </a:lvl8pPr>
            <a:lvl9pPr>
              <a:defRPr sz="1425" b="1">
                <a:solidFill>
                  <a:srgbClr val="F2EFE7"/>
                </a:solidFill>
                <a:latin typeface="Arial"/>
                <a:ea typeface="Arial"/>
                <a:cs typeface="Arial"/>
              </a:defRPr>
            </a:lvl9pPr>
          </a:lstStyle>
          <a:p xmlns:a="http://schemas.openxmlformats.org/drawingml/2006/main">
            <a:pPr>
              <a:defRPr sz="1425" b="1">
                <a:solidFill>
                  <a:srgbClr val="F2EFE7"/>
                </a:solidFill>
                <a:latin typeface="Arial"/>
                <a:ea typeface="Arial"/>
                <a:cs typeface="Arial"/>
              </a:defRPr>
            </a:pPr>
            <a:r>
              <a:rPr sz="1425" b="1">
                <a:solidFill>
                  <a:srgbClr val="F2EFE7"/>
                </a:solidFill>
                <a:latin typeface="Arial"/>
                <a:ea typeface="Arial"/>
                <a:cs typeface="Arial"/>
              </a:rPr>
              <a:t>CONTEXT: What data crosses into the AI model, and what happens when its confidence score is low (&lt; 0.60) during an incident?</a:t>
            </a:r>
          </a:p>
        </p:txBody>
      </p:sp>
      <p:graphicFrame>
        <p:nvGraphicFramePr>
          <p:cNvPr id="4" name="">
            <a:extLst xmlns:a="http://schemas.openxmlformats.org/drawingml/2006/main">
              <a:ext uri="{FF2B5EF4-FFF2-40B4-BE49-F238E27FC236}">
                <a16:creationId xmlns:a16="http://schemas.microsoft.com/office/drawing/2014/main" id="{AC72831B-F8FE-4A08-A330-627FA3C2EC04}"/>
              </a:ext>
            </a:extLst>
          </p:cNvPr>
          <p:cNvGraphicFramePr/>
          <p:nvPr/>
        </p:nvGraphicFramePr>
        <p:xfrm>
          <a:off xmlns:a="http://schemas.openxmlformats.org/drawingml/2006/main" x="609600" y="2266950"/>
          <a:ext xmlns:a="http://schemas.openxmlformats.org/drawingml/2006/main" cx="10953750" cy="3181350"/>
        </p:xfrm>
        <a:graphic xmlns:a="http://schemas.openxmlformats.org/drawingml/2006/main">
          <a:graphicData uri="http://schemas.openxmlformats.org/drawingml/2006/table">
            <a:tbl>
              <a:tblPr firstRow="1" bandRow="1"/>
              <a:tblGrid>
                <a:gridCol w="2857500"/>
                <a:gridCol w="8096250"/>
              </a:tblGrid>
              <a:tr h="438150">
                <a:tc>
                  <a:txBody>
                    <a:bodyPr/>
                    <a:lstStyle/>
                    <a:p>
                      <a:r>
                        <a:rPr sz="1725" b="1">
                          <a:solidFill>
                            <a:srgbClr val="F2EFE7"/>
                          </a:solidFill>
                          <a:latin typeface="Arial"/>
                          <a:ea typeface="Arial"/>
                          <a:cs typeface="Arial"/>
                        </a:rPr>
                        <a:t>Boundary</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What crosses it</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495300">
                <a:tc>
                  <a:txBody>
                    <a:bodyPr/>
                    <a:lstStyle/>
                    <a:p>
                      <a:r>
                        <a:rPr sz="1725" b="1">
                          <a:solidFill>
                            <a:srgbClr val="087E79"/>
                          </a:solidFill>
                          <a:latin typeface="Arial"/>
                          <a:ea typeface="Arial"/>
                          <a:cs typeface="Arial"/>
                        </a:rPr>
                        <a:t>Runtime events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Supplied alerts inform review. No Falco ingestion.</a:t>
                      </a:r>
                    </a:p>
                  </a:txBody>
                  <a:tcPr marL="91440" marR="91440" marT="45720" marB="45720">
                    <a:lnR w="19050">
                      <a:solidFill>
                        <a:srgbClr val="F2EFE7"/>
                      </a:solidFill>
                      <a:prstDash val="solid"/>
                    </a:lnR>
                    <a:lnB w="19050">
                      <a:solidFill>
                        <a:srgbClr val="F2EFE7"/>
                      </a:solidFill>
                      <a:prstDash val="solid"/>
                    </a:lnB>
                    <a:solidFill>
                      <a:srgbClr val="F2EFE7"/>
                    </a:solidFill>
                  </a:tcPr>
                </a:tc>
              </a:tr>
              <a:tr h="685800">
                <a:tc>
                  <a:txBody>
                    <a:bodyPr/>
                    <a:lstStyle/>
                    <a:p>
                      <a:r>
                        <a:rPr sz="1725" b="1">
                          <a:solidFill>
                            <a:srgbClr val="087E79"/>
                          </a:solidFill>
                          <a:latin typeface="Arial"/>
                          <a:ea typeface="Arial"/>
                          <a:cs typeface="Arial"/>
                        </a:rPr>
                        <a:t>Provider request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Full intent + clause, profile/workload names, or workload/policy/denial reason</a:t>
                      </a:r>
                    </a:p>
                  </a:txBody>
                  <a:tcPr marL="91440" marR="91440" marT="45720" marB="45720">
                    <a:lnR w="19050">
                      <a:solidFill>
                        <a:srgbClr val="F2EFE7"/>
                      </a:solidFill>
                      <a:prstDash val="solid"/>
                    </a:lnR>
                    <a:lnB w="19050">
                      <a:solidFill>
                        <a:srgbClr val="F2EFE7"/>
                      </a:solidFill>
                      <a:prstDash val="solid"/>
                    </a:lnB>
                    <a:solidFill>
                      <a:srgbClr val="F2EFE7"/>
                    </a:solidFill>
                  </a:tcPr>
                </a:tc>
              </a:tr>
              <a:tr h="495300">
                <a:tc>
                  <a:txBody>
                    <a:bodyPr/>
                    <a:lstStyle/>
                    <a:p>
                      <a:r>
                        <a:rPr sz="1725" b="1">
                          <a:solidFill>
                            <a:srgbClr val="087E79"/>
                          </a:solidFill>
                          <a:latin typeface="Arial"/>
                          <a:ea typeface="Arial"/>
                          <a:cs typeface="Arial"/>
                        </a:rPr>
                        <a:t>Provider response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Allowed choice + numeric score. Invalid or below 0.6 escalates.</a:t>
                      </a:r>
                    </a:p>
                  </a:txBody>
                  <a:tcPr marL="91440" marR="91440" marT="45720" marB="45720">
                    <a:lnR w="19050">
                      <a:solidFill>
                        <a:srgbClr val="F2EFE7"/>
                      </a:solidFill>
                      <a:prstDash val="solid"/>
                    </a:lnR>
                    <a:lnB w="19050">
                      <a:solidFill>
                        <a:srgbClr val="F2EFE7"/>
                      </a:solidFill>
                      <a:prstDash val="solid"/>
                    </a:lnB>
                    <a:solidFill>
                      <a:srgbClr val="F2EFE7"/>
                    </a:solidFill>
                  </a:tcPr>
                </a:tc>
              </a:tr>
              <a:tr h="495300">
                <a:tc>
                  <a:txBody>
                    <a:bodyPr/>
                    <a:lstStyle/>
                    <a:p>
                      <a:r>
                        <a:rPr sz="1725" b="1">
                          <a:solidFill>
                            <a:srgbClr val="087E79"/>
                          </a:solidFill>
                          <a:latin typeface="Arial"/>
                          <a:ea typeface="Arial"/>
                          <a:cs typeface="Arial"/>
                        </a:rPr>
                        <a:t>Uncertain dependency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Retains the proposed allowance and flags human review.</a:t>
                      </a:r>
                    </a:p>
                  </a:txBody>
                  <a:tcPr marL="91440" marR="91440" marT="45720" marB="45720">
                    <a:lnR w="19050">
                      <a:solidFill>
                        <a:srgbClr val="F2EFE7"/>
                      </a:solidFill>
                      <a:prstDash val="solid"/>
                    </a:lnR>
                    <a:lnB w="19050">
                      <a:solidFill>
                        <a:srgbClr val="F2EFE7"/>
                      </a:solidFill>
                      <a:prstDash val="solid"/>
                    </a:lnB>
                    <a:solidFill>
                      <a:srgbClr val="F2EFE7"/>
                    </a:solidFill>
                  </a:tcPr>
                </a:tc>
              </a:tr>
              <a:tr h="495300">
                <a:tc>
                  <a:txBody>
                    <a:bodyPr/>
                    <a:lstStyle/>
                    <a:p>
                      <a:r>
                        <a:rPr sz="1725" b="1">
                          <a:solidFill>
                            <a:srgbClr val="087E79"/>
                          </a:solidFill>
                          <a:latin typeface="Arial"/>
                          <a:ea typeface="Arial"/>
                          <a:cs typeface="Arial"/>
                        </a:rPr>
                        <a:t>Cluster change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People apply reviewed changes. Presenter uses fixtures.</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5" name="KEY TRADEOFF: Uncertain dependencies fail OPEN (">
            <a:extLst xmlns:a="http://schemas.openxmlformats.org/drawingml/2006/main">
              <a:ext uri="{FF2B5EF4-FFF2-40B4-BE49-F238E27FC236}">
                <a16:creationId xmlns:a16="http://schemas.microsoft.com/office/drawing/2014/main" id="{ACBE2CE5-E941-4DC7-B69A-7FB3FABDC5C8}"/>
              </a:ext>
            </a:extLst>
          </p:cNvPr>
          <p:cNvSpPr>
            <a:spLocks xmlns:a="http://schemas.openxmlformats.org/drawingml/2006/main" noGrp="1"/>
          </p:cNvSpPr>
          <p:nvPr/>
        </p:nvSpPr>
        <p:spPr>
          <a:xfrm xmlns:a="http://schemas.openxmlformats.org/drawingml/2006/main">
            <a:off x="609600" y="56959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KEY TRADEOFF: Uncertain dependencies fail OPEN (to protect payments uptime); uncertain controls fail CLOSED (escalated to you).</a:t>
            </a:r>
          </a:p>
        </p:txBody>
      </p:sp>
      <p:sp>
        <p:nvSpPr>
          <p:cNvPr id="6" name="ISC2 SECURITY CONGRESS 2026 / SC2632">
            <a:extLst xmlns:a="http://schemas.openxmlformats.org/drawingml/2006/main">
              <a:ext uri="{FF2B5EF4-FFF2-40B4-BE49-F238E27FC236}">
                <a16:creationId xmlns:a16="http://schemas.microsoft.com/office/drawing/2014/main" id="{715E727F-FB15-4940-ACEE-B385345F5CF3}"/>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08">
            <a:extLst xmlns:a="http://schemas.openxmlformats.org/drawingml/2006/main">
              <a:ext uri="{FF2B5EF4-FFF2-40B4-BE49-F238E27FC236}">
                <a16:creationId xmlns:a16="http://schemas.microsoft.com/office/drawing/2014/main" id="{C9905D50-3ECA-43EE-BC82-7A15D4AC3712}"/>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08</a:t>
            </a:r>
          </a:p>
        </p:txBody>
      </p:sp>
    </p:spTree>
    <p:extLst>
      <p:ext uri="{BB962C8B-B14F-4D97-AF65-F5344CB8AC3E}">
        <p14:creationId xmlns:p14="http://schemas.microsoft.com/office/powerpoint/2010/main" val="694153160"/>
      </p:ext>
    </p:extLst>
  </p:cSld>
</p:sld>
</file>

<file path=ppt/slides/slide9.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COMPILER WALKTHROUGH / PART 1 OF 2 (SINGLE CLAUS">
            <a:extLst xmlns:a="http://schemas.openxmlformats.org/drawingml/2006/main">
              <a:ext uri="{FF2B5EF4-FFF2-40B4-BE49-F238E27FC236}">
                <a16:creationId xmlns:a16="http://schemas.microsoft.com/office/drawing/2014/main" id="{C00730EA-2358-4945-B91C-2C8FEDF2BC9C}"/>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COMPILER WALKTHROUGH / PART 1 OF 2 (SINGLE CLAUSE)</a:t>
            </a:r>
          </a:p>
        </p:txBody>
      </p:sp>
      <p:sp>
        <p:nvSpPr>
          <p:cNvPr id="2" name="One requirement, one compiled control">
            <a:extLst xmlns:a="http://schemas.openxmlformats.org/drawingml/2006/main">
              <a:ext uri="{FF2B5EF4-FFF2-40B4-BE49-F238E27FC236}">
                <a16:creationId xmlns:a16="http://schemas.microsoft.com/office/drawing/2014/main" id="{FF6A2D1F-8864-46D4-A279-DA9B699E80AF}"/>
              </a:ext>
            </a:extLst>
          </p:cNvPr>
          <p:cNvSpPr>
            <a:spLocks xmlns:a="http://schemas.openxmlformats.org/drawingml/2006/main" noGrp="1"/>
          </p:cNvSpPr>
          <p:nvPr>
            <p:ph type="title" idx="0"/>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One requirement, one compiled control</a:t>
            </a:r>
          </a:p>
        </p:txBody>
      </p:sp>
      <p:sp>
        <p:nvSpPr>
          <p:cNvPr id="3" name="EXAMPLE: Suppose your board writes 4 requirement">
            <a:extLst xmlns:a="http://schemas.openxmlformats.org/drawingml/2006/main">
              <a:ext uri="{FF2B5EF4-FFF2-40B4-BE49-F238E27FC236}">
                <a16:creationId xmlns:a16="http://schemas.microsoft.com/office/drawing/2014/main" id="{99E5F58E-BA3C-49F2-BA74-EED564C5EE8C}"/>
              </a:ext>
            </a:extLst>
          </p:cNvPr>
          <p:cNvSpPr>
            <a:spLocks xmlns:a="http://schemas.openxmlformats.org/drawingml/2006/main" noGrp="1"/>
          </p:cNvSpPr>
          <p:nvPr/>
        </p:nvSpPr>
        <p:spPr>
          <a:xfrm xmlns:a="http://schemas.openxmlformats.org/drawingml/2006/main">
            <a:off x="609600" y="1619250"/>
            <a:ext cx="10953750" cy="5524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425" b="1">
                <a:solidFill>
                  <a:srgbClr val="F2EFE7"/>
                </a:solidFill>
                <a:latin typeface="Arial"/>
                <a:ea typeface="Arial"/>
                <a:cs typeface="Arial"/>
              </a:defRPr>
            </a:defPPr>
            <a:lvl1pPr>
              <a:defRPr sz="1425" b="1">
                <a:solidFill>
                  <a:srgbClr val="F2EFE7"/>
                </a:solidFill>
                <a:latin typeface="Arial"/>
                <a:ea typeface="Arial"/>
                <a:cs typeface="Arial"/>
              </a:defRPr>
            </a:lvl1pPr>
            <a:lvl2pPr>
              <a:defRPr sz="1425" b="1">
                <a:solidFill>
                  <a:srgbClr val="F2EFE7"/>
                </a:solidFill>
                <a:latin typeface="Arial"/>
                <a:ea typeface="Arial"/>
                <a:cs typeface="Arial"/>
              </a:defRPr>
            </a:lvl2pPr>
            <a:lvl3pPr>
              <a:defRPr sz="1425" b="1">
                <a:solidFill>
                  <a:srgbClr val="F2EFE7"/>
                </a:solidFill>
                <a:latin typeface="Arial"/>
                <a:ea typeface="Arial"/>
                <a:cs typeface="Arial"/>
              </a:defRPr>
            </a:lvl3pPr>
            <a:lvl4pPr>
              <a:defRPr sz="1425" b="1">
                <a:solidFill>
                  <a:srgbClr val="F2EFE7"/>
                </a:solidFill>
                <a:latin typeface="Arial"/>
                <a:ea typeface="Arial"/>
                <a:cs typeface="Arial"/>
              </a:defRPr>
            </a:lvl4pPr>
            <a:lvl5pPr>
              <a:defRPr sz="1425" b="1">
                <a:solidFill>
                  <a:srgbClr val="F2EFE7"/>
                </a:solidFill>
                <a:latin typeface="Arial"/>
                <a:ea typeface="Arial"/>
                <a:cs typeface="Arial"/>
              </a:defRPr>
            </a:lvl5pPr>
            <a:lvl6pPr>
              <a:defRPr sz="1425" b="1">
                <a:solidFill>
                  <a:srgbClr val="F2EFE7"/>
                </a:solidFill>
                <a:latin typeface="Arial"/>
                <a:ea typeface="Arial"/>
                <a:cs typeface="Arial"/>
              </a:defRPr>
            </a:lvl6pPr>
            <a:lvl7pPr>
              <a:defRPr sz="1425" b="1">
                <a:solidFill>
                  <a:srgbClr val="F2EFE7"/>
                </a:solidFill>
                <a:latin typeface="Arial"/>
                <a:ea typeface="Arial"/>
                <a:cs typeface="Arial"/>
              </a:defRPr>
            </a:lvl7pPr>
            <a:lvl8pPr>
              <a:defRPr sz="1425" b="1">
                <a:solidFill>
                  <a:srgbClr val="F2EFE7"/>
                </a:solidFill>
                <a:latin typeface="Arial"/>
                <a:ea typeface="Arial"/>
                <a:cs typeface="Arial"/>
              </a:defRPr>
            </a:lvl8pPr>
            <a:lvl9pPr>
              <a:defRPr sz="1425" b="1">
                <a:solidFill>
                  <a:srgbClr val="F2EFE7"/>
                </a:solidFill>
                <a:latin typeface="Arial"/>
                <a:ea typeface="Arial"/>
                <a:cs typeface="Arial"/>
              </a:defRPr>
            </a:lvl9pPr>
          </a:lstStyle>
          <a:p xmlns:a="http://schemas.openxmlformats.org/drawingml/2006/main">
            <a:pPr>
              <a:defRPr sz="1425" b="1">
                <a:solidFill>
                  <a:srgbClr val="F2EFE7"/>
                </a:solidFill>
                <a:latin typeface="Arial"/>
                <a:ea typeface="Arial"/>
                <a:cs typeface="Arial"/>
              </a:defRPr>
            </a:pPr>
            <a:r>
              <a:rPr sz="1425" b="1">
                <a:solidFill>
                  <a:srgbClr val="F2EFE7"/>
                </a:solidFill>
                <a:latin typeface="Arial"/>
                <a:ea typeface="Arial"/>
                <a:cs typeface="Arial"/>
              </a:rPr>
              <a:t>EXAMPLE: Suppose your board writes 4 requirements, starting with "Prevent privilege escalation in payments." The compiler outputs:</a:t>
            </a:r>
          </a:p>
        </p:txBody>
      </p:sp>
      <p:graphicFrame>
        <p:nvGraphicFramePr>
          <p:cNvPr id="4" name="">
            <a:extLst xmlns:a="http://schemas.openxmlformats.org/drawingml/2006/main">
              <a:ext uri="{FF2B5EF4-FFF2-40B4-BE49-F238E27FC236}">
                <a16:creationId xmlns:a16="http://schemas.microsoft.com/office/drawing/2014/main" id="{5333A860-DC86-4B31-8D10-B8375EB011FC}"/>
              </a:ext>
            </a:extLst>
          </p:cNvPr>
          <p:cNvGraphicFramePr/>
          <p:nvPr/>
        </p:nvGraphicFramePr>
        <p:xfrm>
          <a:off xmlns:a="http://schemas.openxmlformats.org/drawingml/2006/main" x="609600" y="2266950"/>
          <a:ext xmlns:a="http://schemas.openxmlformats.org/drawingml/2006/main" cx="10953750" cy="3162300"/>
        </p:xfrm>
        <a:graphic xmlns:a="http://schemas.openxmlformats.org/drawingml/2006/main">
          <a:graphicData uri="http://schemas.openxmlformats.org/drawingml/2006/table">
            <a:tbl>
              <a:tblPr firstRow="1" bandRow="1"/>
              <a:tblGrid>
                <a:gridCol w="3143250"/>
                <a:gridCol w="7810500"/>
              </a:tblGrid>
              <a:tr h="527050">
                <a:tc>
                  <a:txBody>
                    <a:bodyPr/>
                    <a:lstStyle/>
                    <a:p>
                      <a:r>
                        <a:rPr sz="1725" b="1">
                          <a:solidFill>
                            <a:srgbClr val="F2EFE7"/>
                          </a:solidFill>
                          <a:latin typeface="Arial"/>
                          <a:ea typeface="Arial"/>
                          <a:cs typeface="Arial"/>
                        </a:rPr>
                        <a:t>Field</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Compiled behavior</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527050">
                <a:tc>
                  <a:txBody>
                    <a:bodyPr/>
                    <a:lstStyle/>
                    <a:p>
                      <a:r>
                        <a:rPr sz="1725" b="1">
                          <a:solidFill>
                            <a:srgbClr val="087E79"/>
                          </a:solidFill>
                          <a:latin typeface="Arial"/>
                          <a:ea typeface="Arial"/>
                          <a:cs typeface="Arial"/>
                        </a:rPr>
                        <a:t>Intent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Prevent privilege escalation in payments.</a:t>
                      </a:r>
                    </a:p>
                  </a:txBody>
                  <a:tcPr marL="91440" marR="91440" marT="45720" marB="45720">
                    <a:lnR w="19050">
                      <a:solidFill>
                        <a:srgbClr val="F2EFE7"/>
                      </a:solidFill>
                      <a:prstDash val="solid"/>
                    </a:lnR>
                    <a:lnB w="19050">
                      <a:solidFill>
                        <a:srgbClr val="F2EFE7"/>
                      </a:solidFill>
                      <a:prstDash val="solid"/>
                    </a:lnB>
                    <a:solidFill>
                      <a:srgbClr val="F2EFE7"/>
                    </a:solidFill>
                  </a:tcPr>
                </a:tc>
              </a:tr>
              <a:tr h="527050">
                <a:tc>
                  <a:txBody>
                    <a:bodyPr/>
                    <a:lstStyle/>
                    <a:p>
                      <a:r>
                        <a:rPr sz="1725" b="1">
                          <a:solidFill>
                            <a:srgbClr val="087E79"/>
                          </a:solidFill>
                          <a:latin typeface="Arial"/>
                          <a:ea typeface="Arial"/>
                          <a:cs typeface="Arial"/>
                        </a:rPr>
                        <a:t>Catalog key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deny_privilege_escalation / ACG-POD-001</a:t>
                      </a:r>
                    </a:p>
                  </a:txBody>
                  <a:tcPr marL="91440" marR="91440" marT="45720" marB="45720">
                    <a:lnR w="19050">
                      <a:solidFill>
                        <a:srgbClr val="F2EFE7"/>
                      </a:solidFill>
                      <a:prstDash val="solid"/>
                    </a:lnR>
                    <a:lnB w="19050">
                      <a:solidFill>
                        <a:srgbClr val="F2EFE7"/>
                      </a:solidFill>
                      <a:prstDash val="solid"/>
                    </a:lnB>
                    <a:solidFill>
                      <a:srgbClr val="F2EFE7"/>
                    </a:solidFill>
                  </a:tcPr>
                </a:tc>
              </a:tr>
              <a:tr h="527050">
                <a:tc>
                  <a:txBody>
                    <a:bodyPr/>
                    <a:lstStyle/>
                    <a:p>
                      <a:r>
                        <a:rPr sz="1725" b="1">
                          <a:solidFill>
                            <a:srgbClr val="087E79"/>
                          </a:solidFill>
                          <a:latin typeface="Arial"/>
                          <a:ea typeface="Arial"/>
                          <a:cs typeface="Arial"/>
                        </a:rPr>
                        <a:t>Generated API</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Kyverno ValidatingPolicy, scoped to payments</a:t>
                      </a:r>
                    </a:p>
                  </a:txBody>
                  <a:tcPr marL="91440" marR="91440" marT="45720" marB="45720">
                    <a:lnR w="19050">
                      <a:solidFill>
                        <a:srgbClr val="F2EFE7"/>
                      </a:solidFill>
                      <a:prstDash val="solid"/>
                    </a:lnR>
                    <a:lnB w="19050">
                      <a:solidFill>
                        <a:srgbClr val="F2EFE7"/>
                      </a:solidFill>
                      <a:prstDash val="solid"/>
                    </a:lnB>
                    <a:solidFill>
                      <a:srgbClr val="F2EFE7"/>
                    </a:solidFill>
                  </a:tcPr>
                </a:tc>
              </a:tr>
              <a:tr h="527050">
                <a:tc>
                  <a:txBody>
                    <a:bodyPr/>
                    <a:lstStyle/>
                    <a:p>
                      <a:r>
                        <a:rPr sz="1725" b="1">
                          <a:solidFill>
                            <a:srgbClr val="087E79"/>
                          </a:solidFill>
                          <a:latin typeface="Arial"/>
                          <a:ea typeface="Arial"/>
                          <a:cs typeface="Arial"/>
                        </a:rPr>
                        <a:t>Covered requests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Pod CREATE; regular and init containers</a:t>
                      </a:r>
                    </a:p>
                  </a:txBody>
                  <a:tcPr marL="91440" marR="91440" marT="45720" marB="45720">
                    <a:lnR w="19050">
                      <a:solidFill>
                        <a:srgbClr val="F2EFE7"/>
                      </a:solidFill>
                      <a:prstDash val="solid"/>
                    </a:lnR>
                    <a:lnB w="19050">
                      <a:solidFill>
                        <a:srgbClr val="F2EFE7"/>
                      </a:solidFill>
                      <a:prstDash val="solid"/>
                    </a:lnB>
                    <a:solidFill>
                      <a:srgbClr val="F2EFE7"/>
                    </a:solidFill>
                  </a:tcPr>
                </a:tc>
              </a:tr>
              <a:tr h="527050">
                <a:tc>
                  <a:txBody>
                    <a:bodyPr/>
                    <a:lstStyle/>
                    <a:p>
                      <a:r>
                        <a:rPr sz="1725" b="1">
                          <a:solidFill>
                            <a:srgbClr val="087E79"/>
                          </a:solidFill>
                          <a:latin typeface="Arial"/>
                          <a:ea typeface="Arial"/>
                          <a:cs typeface="Arial"/>
                        </a:rPr>
                        <a:t>Required fields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privileged=false and explicit allowPrivilegeEscalation=false</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5" name="WAIT: This policy passes 6/6 unit tests on new P">
            <a:extLst xmlns:a="http://schemas.openxmlformats.org/drawingml/2006/main">
              <a:ext uri="{FF2B5EF4-FFF2-40B4-BE49-F238E27FC236}">
                <a16:creationId xmlns:a16="http://schemas.microsoft.com/office/drawing/2014/main" id="{4B3D75F6-63E8-48A5-96E8-39AADA45D9E9}"/>
              </a:ext>
            </a:extLst>
          </p:cNvPr>
          <p:cNvSpPr>
            <a:spLocks xmlns:a="http://schemas.openxmlformats.org/drawingml/2006/main" noGrp="1"/>
          </p:cNvSpPr>
          <p:nvPr/>
        </p:nvSpPr>
        <p:spPr>
          <a:xfrm xmlns:a="http://schemas.openxmlformats.org/drawingml/2006/main">
            <a:off x="609600" y="56959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WAIT: This policy passes 6/6 unit tests on new Pods—but that is only 1 of the 4 clauses in your security intent.</a:t>
            </a:r>
          </a:p>
        </p:txBody>
      </p:sp>
      <p:sp>
        <p:nvSpPr>
          <p:cNvPr id="6" name="ISC2 SECURITY CONGRESS 2026 / SC2632">
            <a:extLst xmlns:a="http://schemas.openxmlformats.org/drawingml/2006/main">
              <a:ext uri="{FF2B5EF4-FFF2-40B4-BE49-F238E27FC236}">
                <a16:creationId xmlns:a16="http://schemas.microsoft.com/office/drawing/2014/main" id="{929ED464-D067-4D2B-A569-1D7807BAFDA2}"/>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09">
            <a:extLst xmlns:a="http://schemas.openxmlformats.org/drawingml/2006/main">
              <a:ext uri="{FF2B5EF4-FFF2-40B4-BE49-F238E27FC236}">
                <a16:creationId xmlns:a16="http://schemas.microsoft.com/office/drawing/2014/main" id="{8F4E57EF-044B-4C81-8438-696ABD6F469E}"/>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09</a:t>
            </a:r>
          </a:p>
        </p:txBody>
      </p:sp>
    </p:spTree>
    <p:extLst>
      <p:ext uri="{BB962C8B-B14F-4D97-AF65-F5344CB8AC3E}">
        <p14:creationId xmlns:p14="http://schemas.microsoft.com/office/powerpoint/2010/main" val="1702652223"/>
      </p:ext>
    </p:extLst>
  </p:cSld>
</p:sld>
</file>

<file path=ppt/slides/slide10.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COMPILER WALKTHROUGH / PART 2 OF 2 (WHOLE-INTENT">
            <a:extLst xmlns:a="http://schemas.openxmlformats.org/drawingml/2006/main">
              <a:ext uri="{FF2B5EF4-FFF2-40B4-BE49-F238E27FC236}">
                <a16:creationId xmlns:a16="http://schemas.microsoft.com/office/drawing/2014/main" id="{210B006C-B45F-42A2-87DB-BD8465A1AA77}"/>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COMPILER WALKTHROUGH / PART 2 OF 2 (WHOLE-INTENT LEDGER)</a:t>
            </a:r>
          </a:p>
        </p:txBody>
      </p:sp>
      <p:sp>
        <p:nvSpPr>
          <p:cNvPr id="2" name="Unresolved enforcement requirements">
            <a:extLst xmlns:a="http://schemas.openxmlformats.org/drawingml/2006/main">
              <a:ext uri="{FF2B5EF4-FFF2-40B4-BE49-F238E27FC236}">
                <a16:creationId xmlns:a16="http://schemas.microsoft.com/office/drawing/2014/main" id="{7541928A-46A2-475E-B94F-35066F5F206E}"/>
              </a:ext>
            </a:extLst>
          </p:cNvPr>
          <p:cNvSpPr>
            <a:spLocks xmlns:a="http://schemas.openxmlformats.org/drawingml/2006/main" noGrp="1"/>
          </p:cNvSpPr>
          <p:nvPr>
            <p:ph type="title" idx="0"/>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Unresolved enforcement requirements</a:t>
            </a:r>
          </a:p>
        </p:txBody>
      </p:sp>
      <p:sp>
        <p:nvSpPr>
          <p:cNvPr id="3" name="THE REQUIREMENT LEDGER: When we check all 4 clau">
            <a:extLst xmlns:a="http://schemas.openxmlformats.org/drawingml/2006/main">
              <a:ext uri="{FF2B5EF4-FFF2-40B4-BE49-F238E27FC236}">
                <a16:creationId xmlns:a16="http://schemas.microsoft.com/office/drawing/2014/main" id="{ACC68B62-5158-430D-859A-CA56F76295C0}"/>
              </a:ext>
            </a:extLst>
          </p:cNvPr>
          <p:cNvSpPr>
            <a:spLocks xmlns:a="http://schemas.openxmlformats.org/drawingml/2006/main" noGrp="1"/>
          </p:cNvSpPr>
          <p:nvPr/>
        </p:nvSpPr>
        <p:spPr>
          <a:xfrm xmlns:a="http://schemas.openxmlformats.org/drawingml/2006/main">
            <a:off x="609600" y="1619250"/>
            <a:ext cx="10953750" cy="5524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425" b="1">
                <a:solidFill>
                  <a:srgbClr val="F2EFE7"/>
                </a:solidFill>
                <a:latin typeface="Arial"/>
                <a:ea typeface="Arial"/>
                <a:cs typeface="Arial"/>
              </a:defRPr>
            </a:defPPr>
            <a:lvl1pPr>
              <a:defRPr sz="1425" b="1">
                <a:solidFill>
                  <a:srgbClr val="F2EFE7"/>
                </a:solidFill>
                <a:latin typeface="Arial"/>
                <a:ea typeface="Arial"/>
                <a:cs typeface="Arial"/>
              </a:defRPr>
            </a:lvl1pPr>
            <a:lvl2pPr>
              <a:defRPr sz="1425" b="1">
                <a:solidFill>
                  <a:srgbClr val="F2EFE7"/>
                </a:solidFill>
                <a:latin typeface="Arial"/>
                <a:ea typeface="Arial"/>
                <a:cs typeface="Arial"/>
              </a:defRPr>
            </a:lvl2pPr>
            <a:lvl3pPr>
              <a:defRPr sz="1425" b="1">
                <a:solidFill>
                  <a:srgbClr val="F2EFE7"/>
                </a:solidFill>
                <a:latin typeface="Arial"/>
                <a:ea typeface="Arial"/>
                <a:cs typeface="Arial"/>
              </a:defRPr>
            </a:lvl3pPr>
            <a:lvl4pPr>
              <a:defRPr sz="1425" b="1">
                <a:solidFill>
                  <a:srgbClr val="F2EFE7"/>
                </a:solidFill>
                <a:latin typeface="Arial"/>
                <a:ea typeface="Arial"/>
                <a:cs typeface="Arial"/>
              </a:defRPr>
            </a:lvl4pPr>
            <a:lvl5pPr>
              <a:defRPr sz="1425" b="1">
                <a:solidFill>
                  <a:srgbClr val="F2EFE7"/>
                </a:solidFill>
                <a:latin typeface="Arial"/>
                <a:ea typeface="Arial"/>
                <a:cs typeface="Arial"/>
              </a:defRPr>
            </a:lvl5pPr>
            <a:lvl6pPr>
              <a:defRPr sz="1425" b="1">
                <a:solidFill>
                  <a:srgbClr val="F2EFE7"/>
                </a:solidFill>
                <a:latin typeface="Arial"/>
                <a:ea typeface="Arial"/>
                <a:cs typeface="Arial"/>
              </a:defRPr>
            </a:lvl6pPr>
            <a:lvl7pPr>
              <a:defRPr sz="1425" b="1">
                <a:solidFill>
                  <a:srgbClr val="F2EFE7"/>
                </a:solidFill>
                <a:latin typeface="Arial"/>
                <a:ea typeface="Arial"/>
                <a:cs typeface="Arial"/>
              </a:defRPr>
            </a:lvl7pPr>
            <a:lvl8pPr>
              <a:defRPr sz="1425" b="1">
                <a:solidFill>
                  <a:srgbClr val="F2EFE7"/>
                </a:solidFill>
                <a:latin typeface="Arial"/>
                <a:ea typeface="Arial"/>
                <a:cs typeface="Arial"/>
              </a:defRPr>
            </a:lvl8pPr>
            <a:lvl9pPr>
              <a:defRPr sz="1425" b="1">
                <a:solidFill>
                  <a:srgbClr val="F2EFE7"/>
                </a:solidFill>
                <a:latin typeface="Arial"/>
                <a:ea typeface="Arial"/>
                <a:cs typeface="Arial"/>
              </a:defRPr>
            </a:lvl9pPr>
          </a:lstStyle>
          <a:p xmlns:a="http://schemas.openxmlformats.org/drawingml/2006/main">
            <a:pPr>
              <a:defRPr sz="1425" b="1">
                <a:solidFill>
                  <a:srgbClr val="F2EFE7"/>
                </a:solidFill>
                <a:latin typeface="Arial"/>
                <a:ea typeface="Arial"/>
                <a:cs typeface="Arial"/>
              </a:defRPr>
            </a:pPr>
            <a:r>
              <a:rPr sz="1425" b="1">
                <a:solidFill>
                  <a:srgbClr val="F2EFE7"/>
                </a:solidFill>
                <a:latin typeface="Arial"/>
                <a:ea typeface="Arial"/>
                <a:cs typeface="Arial"/>
              </a:rPr>
              <a:t>THE REQUIREMENT LEDGER: When we check all 4 clauses of the incident intent against what Kyverno can enforce, Clause 3 is exposed:</a:t>
            </a:r>
          </a:p>
        </p:txBody>
      </p:sp>
      <p:graphicFrame>
        <p:nvGraphicFramePr>
          <p:cNvPr id="4" name="">
            <a:extLst xmlns:a="http://schemas.openxmlformats.org/drawingml/2006/main">
              <a:ext uri="{FF2B5EF4-FFF2-40B4-BE49-F238E27FC236}">
                <a16:creationId xmlns:a16="http://schemas.microsoft.com/office/drawing/2014/main" id="{F62E7F93-21E1-41D2-9ADB-793E7FC7BAFC}"/>
              </a:ext>
            </a:extLst>
          </p:cNvPr>
          <p:cNvGraphicFramePr/>
          <p:nvPr/>
        </p:nvGraphicFramePr>
        <p:xfrm>
          <a:off xmlns:a="http://schemas.openxmlformats.org/drawingml/2006/main" x="609600" y="2266950"/>
          <a:ext xmlns:a="http://schemas.openxmlformats.org/drawingml/2006/main" cx="10953750" cy="3162300"/>
        </p:xfrm>
        <a:graphic xmlns:a="http://schemas.openxmlformats.org/drawingml/2006/main">
          <a:graphicData uri="http://schemas.openxmlformats.org/drawingml/2006/table">
            <a:tbl>
              <a:tblPr firstRow="1" bandRow="1"/>
              <a:tblGrid>
                <a:gridCol w="4857750"/>
                <a:gridCol w="6096000"/>
              </a:tblGrid>
              <a:tr h="632460">
                <a:tc>
                  <a:txBody>
                    <a:bodyPr/>
                    <a:lstStyle/>
                    <a:p>
                      <a:r>
                        <a:rPr sz="1800" b="1">
                          <a:solidFill>
                            <a:srgbClr val="F2EFE7"/>
                          </a:solidFill>
                          <a:latin typeface="Arial"/>
                          <a:ea typeface="Arial"/>
                          <a:cs typeface="Arial"/>
                        </a:rPr>
                        <a:t>Intent clause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Proposal status</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32460">
                <a:tc>
                  <a:txBody>
                    <a:bodyPr/>
                    <a:lstStyle/>
                    <a:p>
                      <a:r>
                        <a:rPr sz="1800" b="1">
                          <a:solidFill>
                            <a:srgbClr val="087E79"/>
                          </a:solidFill>
                          <a:latin typeface="Arial"/>
                          <a:ea typeface="Arial"/>
                          <a:cs typeface="Arial"/>
                        </a:rPr>
                        <a:t>Limit east-west communication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Egress-profile policy</a:t>
                      </a:r>
                    </a:p>
                  </a:txBody>
                  <a:tcPr marL="91440" marR="91440" marT="45720" marB="45720">
                    <a:lnR w="19050">
                      <a:solidFill>
                        <a:srgbClr val="F2EFE7"/>
                      </a:solidFill>
                      <a:prstDash val="solid"/>
                    </a:lnR>
                    <a:lnB w="19050">
                      <a:solidFill>
                        <a:srgbClr val="F2EFE7"/>
                      </a:solidFill>
                      <a:prstDash val="solid"/>
                    </a:lnB>
                    <a:solidFill>
                      <a:srgbClr val="F2EFE7"/>
                    </a:solidFill>
                  </a:tcPr>
                </a:tc>
              </a:tr>
              <a:tr h="632460">
                <a:tc>
                  <a:txBody>
                    <a:bodyPr/>
                    <a:lstStyle/>
                    <a:p>
                      <a:r>
                        <a:rPr sz="1800" b="1">
                          <a:solidFill>
                            <a:srgbClr val="087E79"/>
                          </a:solidFill>
                          <a:latin typeface="Arial"/>
                          <a:ea typeface="Arial"/>
                          <a:cs typeface="Arial"/>
                        </a:rPr>
                        <a:t>Prevent privilege escalation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Privilege policy</a:t>
                      </a:r>
                    </a:p>
                  </a:txBody>
                  <a:tcPr marL="91440" marR="91440" marT="45720" marB="45720">
                    <a:lnR w="19050">
                      <a:solidFill>
                        <a:srgbClr val="F2EFE7"/>
                      </a:solidFill>
                      <a:prstDash val="solid"/>
                    </a:lnR>
                    <a:lnB w="19050">
                      <a:solidFill>
                        <a:srgbClr val="F2EFE7"/>
                      </a:solidFill>
                      <a:prstDash val="solid"/>
                    </a:lnB>
                    <a:solidFill>
                      <a:srgbClr val="F2EFE7"/>
                    </a:solidFill>
                  </a:tcPr>
                </a:tc>
              </a:tr>
              <a:tr h="632460">
                <a:tc>
                  <a:txBody>
                    <a:bodyPr/>
                    <a:lstStyle/>
                    <a:p>
                      <a:r>
                        <a:rPr sz="1800" b="1">
                          <a:solidFill>
                            <a:srgbClr val="087E79"/>
                          </a:solidFill>
                          <a:latin typeface="Arial"/>
                          <a:ea typeface="Arial"/>
                          <a:cs typeface="Arial"/>
                        </a:rPr>
                        <a:t>Restrict Kubernetes API access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Unimplemented. RBAC handover required.</a:t>
                      </a:r>
                    </a:p>
                  </a:txBody>
                  <a:tcPr marL="91440" marR="91440" marT="45720" marB="45720">
                    <a:lnR w="19050">
                      <a:solidFill>
                        <a:srgbClr val="F2EFE7"/>
                      </a:solidFill>
                      <a:prstDash val="solid"/>
                    </a:lnR>
                    <a:lnB w="19050">
                      <a:solidFill>
                        <a:srgbClr val="F2EFE7"/>
                      </a:solidFill>
                      <a:prstDash val="solid"/>
                    </a:lnB>
                    <a:solidFill>
                      <a:srgbClr val="F2EFE7"/>
                    </a:solidFill>
                  </a:tcPr>
                </a:tc>
              </a:tr>
              <a:tr h="632460">
                <a:tc>
                  <a:txBody>
                    <a:bodyPr/>
                    <a:lstStyle/>
                    <a:p>
                      <a:r>
                        <a:rPr sz="1800" b="1">
                          <a:solidFill>
                            <a:srgbClr val="087E79"/>
                          </a:solidFill>
                          <a:latin typeface="Arial"/>
                          <a:ea typeface="Arial"/>
                          <a:cs typeface="Arial"/>
                        </a:rPr>
                        <a:t>Avoid disruption and expire exceptions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Rollout and exception process</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5" name="AHA! Passing Pod unit tests cannot hide an unimp">
            <a:extLst xmlns:a="http://schemas.openxmlformats.org/drawingml/2006/main">
              <a:ext uri="{FF2B5EF4-FFF2-40B4-BE49-F238E27FC236}">
                <a16:creationId xmlns:a16="http://schemas.microsoft.com/office/drawing/2014/main" id="{C9628784-94FE-4DD5-AADA-E7547F097D3E}"/>
              </a:ext>
            </a:extLst>
          </p:cNvPr>
          <p:cNvSpPr>
            <a:spLocks xmlns:a="http://schemas.openxmlformats.org/drawingml/2006/main" noGrp="1"/>
          </p:cNvSpPr>
          <p:nvPr/>
        </p:nvSpPr>
        <p:spPr>
          <a:xfrm xmlns:a="http://schemas.openxmlformats.org/drawingml/2006/main">
            <a:off x="609600" y="56959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AHA! Passing Pod unit tests cannot hide an unimplemented RBAC clause. Your table will use this ledger in Round 1.</a:t>
            </a:r>
          </a:p>
        </p:txBody>
      </p:sp>
      <p:sp>
        <p:nvSpPr>
          <p:cNvPr id="6" name="ISC2 SECURITY CONGRESS 2026 / SC2632">
            <a:extLst xmlns:a="http://schemas.openxmlformats.org/drawingml/2006/main">
              <a:ext uri="{FF2B5EF4-FFF2-40B4-BE49-F238E27FC236}">
                <a16:creationId xmlns:a16="http://schemas.microsoft.com/office/drawing/2014/main" id="{FF5B335C-3113-4ACE-A70D-FA0F94B96A2C}"/>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10">
            <a:extLst xmlns:a="http://schemas.openxmlformats.org/drawingml/2006/main">
              <a:ext uri="{FF2B5EF4-FFF2-40B4-BE49-F238E27FC236}">
                <a16:creationId xmlns:a16="http://schemas.microsoft.com/office/drawing/2014/main" id="{A76664FB-29B6-4F36-A943-2570D29411C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10</a:t>
            </a:r>
          </a:p>
        </p:txBody>
      </p:sp>
    </p:spTree>
    <p:extLst>
      <p:ext uri="{BB962C8B-B14F-4D97-AF65-F5344CB8AC3E}">
        <p14:creationId xmlns:p14="http://schemas.microsoft.com/office/powerpoint/2010/main" val="1353457976"/>
      </p:ext>
    </p:extLst>
  </p:cSld>
</p:sld>
</file>

<file path=ppt/slides/slide11.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STAGED RUNTIME CONTAINMENT / GRADUATED Q0–Q3 POS">
            <a:extLst xmlns:a="http://schemas.openxmlformats.org/drawingml/2006/main">
              <a:ext uri="{FF2B5EF4-FFF2-40B4-BE49-F238E27FC236}">
                <a16:creationId xmlns:a16="http://schemas.microsoft.com/office/drawing/2014/main" id="{70B29B6E-E803-49FD-B7AF-571356EEB806}"/>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STAGED RUNTIME CONTAINMENT / GRADUATED Q0–Q3 POSTURE</a:t>
            </a:r>
          </a:p>
        </p:txBody>
      </p:sp>
      <p:sp>
        <p:nvSpPr>
          <p:cNvPr id="2" name="Quarantine Mode implementation">
            <a:extLst xmlns:a="http://schemas.openxmlformats.org/drawingml/2006/main">
              <a:ext uri="{FF2B5EF4-FFF2-40B4-BE49-F238E27FC236}">
                <a16:creationId xmlns:a16="http://schemas.microsoft.com/office/drawing/2014/main" id="{1FA40C29-674F-4194-9A83-65DA570A9550}"/>
              </a:ext>
            </a:extLst>
          </p:cNvPr>
          <p:cNvSpPr>
            <a:spLocks xmlns:a="http://schemas.openxmlformats.org/drawingml/2006/main" noGrp="1"/>
          </p:cNvSpPr>
          <p:nvPr>
            <p:ph type="title" idx="0"/>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Quarantine Mode implementation</a:t>
            </a:r>
          </a:p>
        </p:txBody>
      </p:sp>
      <p:sp>
        <p:nvSpPr>
          <p:cNvPr id="3" name="WHY QUARANTINE MODE: Admission only gates new Po">
            <a:extLst xmlns:a="http://schemas.openxmlformats.org/drawingml/2006/main">
              <a:ext uri="{FF2B5EF4-FFF2-40B4-BE49-F238E27FC236}">
                <a16:creationId xmlns:a16="http://schemas.microsoft.com/office/drawing/2014/main" id="{88130375-516F-4D66-9F5B-EF087890CFB0}"/>
              </a:ext>
            </a:extLst>
          </p:cNvPr>
          <p:cNvSpPr>
            <a:spLocks xmlns:a="http://schemas.openxmlformats.org/drawingml/2006/main" noGrp="1"/>
          </p:cNvSpPr>
          <p:nvPr/>
        </p:nvSpPr>
        <p:spPr>
          <a:xfrm xmlns:a="http://schemas.openxmlformats.org/drawingml/2006/main">
            <a:off x="609600" y="1619250"/>
            <a:ext cx="10953750" cy="5524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425" b="1">
                <a:solidFill>
                  <a:srgbClr val="F2EFE7"/>
                </a:solidFill>
                <a:latin typeface="Arial"/>
                <a:ea typeface="Arial"/>
                <a:cs typeface="Arial"/>
              </a:defRPr>
            </a:defPPr>
            <a:lvl1pPr>
              <a:defRPr sz="1425" b="1">
                <a:solidFill>
                  <a:srgbClr val="F2EFE7"/>
                </a:solidFill>
                <a:latin typeface="Arial"/>
                <a:ea typeface="Arial"/>
                <a:cs typeface="Arial"/>
              </a:defRPr>
            </a:lvl1pPr>
            <a:lvl2pPr>
              <a:defRPr sz="1425" b="1">
                <a:solidFill>
                  <a:srgbClr val="F2EFE7"/>
                </a:solidFill>
                <a:latin typeface="Arial"/>
                <a:ea typeface="Arial"/>
                <a:cs typeface="Arial"/>
              </a:defRPr>
            </a:lvl2pPr>
            <a:lvl3pPr>
              <a:defRPr sz="1425" b="1">
                <a:solidFill>
                  <a:srgbClr val="F2EFE7"/>
                </a:solidFill>
                <a:latin typeface="Arial"/>
                <a:ea typeface="Arial"/>
                <a:cs typeface="Arial"/>
              </a:defRPr>
            </a:lvl3pPr>
            <a:lvl4pPr>
              <a:defRPr sz="1425" b="1">
                <a:solidFill>
                  <a:srgbClr val="F2EFE7"/>
                </a:solidFill>
                <a:latin typeface="Arial"/>
                <a:ea typeface="Arial"/>
                <a:cs typeface="Arial"/>
              </a:defRPr>
            </a:lvl4pPr>
            <a:lvl5pPr>
              <a:defRPr sz="1425" b="1">
                <a:solidFill>
                  <a:srgbClr val="F2EFE7"/>
                </a:solidFill>
                <a:latin typeface="Arial"/>
                <a:ea typeface="Arial"/>
                <a:cs typeface="Arial"/>
              </a:defRPr>
            </a:lvl5pPr>
            <a:lvl6pPr>
              <a:defRPr sz="1425" b="1">
                <a:solidFill>
                  <a:srgbClr val="F2EFE7"/>
                </a:solidFill>
                <a:latin typeface="Arial"/>
                <a:ea typeface="Arial"/>
                <a:cs typeface="Arial"/>
              </a:defRPr>
            </a:lvl6pPr>
            <a:lvl7pPr>
              <a:defRPr sz="1425" b="1">
                <a:solidFill>
                  <a:srgbClr val="F2EFE7"/>
                </a:solidFill>
                <a:latin typeface="Arial"/>
                <a:ea typeface="Arial"/>
                <a:cs typeface="Arial"/>
              </a:defRPr>
            </a:lvl7pPr>
            <a:lvl8pPr>
              <a:defRPr sz="1425" b="1">
                <a:solidFill>
                  <a:srgbClr val="F2EFE7"/>
                </a:solidFill>
                <a:latin typeface="Arial"/>
                <a:ea typeface="Arial"/>
                <a:cs typeface="Arial"/>
              </a:defRPr>
            </a:lvl8pPr>
            <a:lvl9pPr>
              <a:defRPr sz="1425" b="1">
                <a:solidFill>
                  <a:srgbClr val="F2EFE7"/>
                </a:solidFill>
                <a:latin typeface="Arial"/>
                <a:ea typeface="Arial"/>
                <a:cs typeface="Arial"/>
              </a:defRPr>
            </a:lvl9pPr>
          </a:lstStyle>
          <a:p xmlns:a="http://schemas.openxmlformats.org/drawingml/2006/main">
            <a:pPr>
              <a:defRPr sz="1425" b="1">
                <a:solidFill>
                  <a:srgbClr val="F2EFE7"/>
                </a:solidFill>
                <a:latin typeface="Arial"/>
                <a:ea typeface="Arial"/>
                <a:cs typeface="Arial"/>
              </a:defRPr>
            </a:pPr>
            <a:r>
              <a:rPr sz="1425" b="1">
                <a:solidFill>
                  <a:srgbClr val="F2EFE7"/>
                </a:solidFill>
                <a:latin typeface="Arial"/>
                <a:ea typeface="Arial"/>
                <a:cs typeface="Arial"/>
              </a:rPr>
              <a:t>WHY QUARANTINE MODE: Admission only gates new Pods. Contain live workloads without losing evidence or breaking payments:</a:t>
            </a:r>
          </a:p>
        </p:txBody>
      </p:sp>
      <p:graphicFrame>
        <p:nvGraphicFramePr>
          <p:cNvPr id="4" name="">
            <a:extLst xmlns:a="http://schemas.openxmlformats.org/drawingml/2006/main">
              <a:ext uri="{FF2B5EF4-FFF2-40B4-BE49-F238E27FC236}">
                <a16:creationId xmlns:a16="http://schemas.microsoft.com/office/drawing/2014/main" id="{70B216E4-1885-491D-BFFA-DB9FFD480B5F}"/>
              </a:ext>
            </a:extLst>
          </p:cNvPr>
          <p:cNvGraphicFramePr/>
          <p:nvPr/>
        </p:nvGraphicFramePr>
        <p:xfrm>
          <a:off xmlns:a="http://schemas.openxmlformats.org/drawingml/2006/main" x="609600" y="2266950"/>
          <a:ext xmlns:a="http://schemas.openxmlformats.org/drawingml/2006/main" cx="10953750" cy="3200400"/>
        </p:xfrm>
        <a:graphic xmlns:a="http://schemas.openxmlformats.org/drawingml/2006/main">
          <a:graphicData uri="http://schemas.openxmlformats.org/drawingml/2006/table">
            <a:tbl>
              <a:tblPr firstRow="1" bandRow="1"/>
              <a:tblGrid>
                <a:gridCol w="1952625"/>
                <a:gridCol w="5238750"/>
                <a:gridCol w="3762375"/>
              </a:tblGrid>
              <a:tr h="476250">
                <a:tc>
                  <a:txBody>
                    <a:bodyPr/>
                    <a:lstStyle/>
                    <a:p>
                      <a:r>
                        <a:rPr sz="1725" b="1">
                          <a:solidFill>
                            <a:srgbClr val="F2EFE7"/>
                          </a:solidFill>
                          <a:latin typeface="Arial"/>
                          <a:ea typeface="Arial"/>
                          <a:cs typeface="Arial"/>
                        </a:rPr>
                        <a:t>Level</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Mechanisms</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Verification required</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495300">
                <a:tc>
                  <a:txBody>
                    <a:bodyPr/>
                    <a:lstStyle/>
                    <a:p>
                      <a:r>
                        <a:rPr sz="1725" b="1">
                          <a:solidFill>
                            <a:srgbClr val="087E79"/>
                          </a:solidFill>
                          <a:latin typeface="Arial"/>
                          <a:ea typeface="Arial"/>
                          <a:cs typeface="Arial"/>
                        </a:rPr>
                        <a:t>Q0 Normal</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Reviewed baseline guardrails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Legitimate service paths</a:t>
                      </a:r>
                    </a:p>
                  </a:txBody>
                  <a:tcPr marL="91440" marR="91440" marT="45720" marB="45720">
                    <a:lnR w="19050">
                      <a:solidFill>
                        <a:srgbClr val="F2EFE7"/>
                      </a:solidFill>
                      <a:prstDash val="solid"/>
                    </a:lnR>
                    <a:lnB w="19050">
                      <a:solidFill>
                        <a:srgbClr val="F2EFE7"/>
                      </a:solidFill>
                      <a:prstDash val="solid"/>
                    </a:lnB>
                    <a:solidFill>
                      <a:srgbClr val="F2EFE7"/>
                    </a:solidFill>
                  </a:tcPr>
                </a:tc>
              </a:tr>
              <a:tr h="704850">
                <a:tc>
                  <a:txBody>
                    <a:bodyPr/>
                    <a:lstStyle/>
                    <a:p>
                      <a:r>
                        <a:rPr sz="1725" b="1">
                          <a:solidFill>
                            <a:srgbClr val="087E79"/>
                          </a:solidFill>
                          <a:latin typeface="Arial"/>
                          <a:ea typeface="Arial"/>
                          <a:cs typeface="Arial"/>
                        </a:rPr>
                        <a:t>Q1 Freeze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Native API-server policy freezes writes by identities in agents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Covered writes and allowed reads</a:t>
                      </a:r>
                    </a:p>
                  </a:txBody>
                  <a:tcPr marL="91440" marR="91440" marT="45720" marB="45720">
                    <a:lnR w="19050">
                      <a:solidFill>
                        <a:srgbClr val="F2EFE7"/>
                      </a:solidFill>
                      <a:prstDash val="solid"/>
                    </a:lnR>
                    <a:lnB w="19050">
                      <a:solidFill>
                        <a:srgbClr val="F2EFE7"/>
                      </a:solidFill>
                      <a:prstDash val="solid"/>
                    </a:lnB>
                    <a:solidFill>
                      <a:srgbClr val="F2EFE7"/>
                    </a:solidFill>
                  </a:tcPr>
                </a:tc>
              </a:tr>
              <a:tr h="704850">
                <a:tc>
                  <a:txBody>
                    <a:bodyPr/>
                    <a:lstStyle/>
                    <a:p>
                      <a:r>
                        <a:rPr sz="1725" b="1">
                          <a:solidFill>
                            <a:srgbClr val="087E79"/>
                          </a:solidFill>
                          <a:latin typeface="Arial"/>
                          <a:ea typeface="Arial"/>
                          <a:cs typeface="Arial"/>
                        </a:rPr>
                        <a:t>Q2 Constrain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NetworkPolicy and protected labels; manual RBAC narrowing</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Traffic and API positive/negative tests</a:t>
                      </a:r>
                    </a:p>
                  </a:txBody>
                  <a:tcPr marL="91440" marR="91440" marT="45720" marB="45720">
                    <a:lnR w="19050">
                      <a:solidFill>
                        <a:srgbClr val="F2EFE7"/>
                      </a:solidFill>
                      <a:prstDash val="solid"/>
                    </a:lnR>
                    <a:lnB w="19050">
                      <a:solidFill>
                        <a:srgbClr val="F2EFE7"/>
                      </a:solidFill>
                      <a:prstDash val="solid"/>
                    </a:lnB>
                    <a:solidFill>
                      <a:srgbClr val="F2EFE7"/>
                    </a:solidFill>
                  </a:tcPr>
                </a:tc>
              </a:tr>
              <a:tr h="704850">
                <a:tc>
                  <a:txBody>
                    <a:bodyPr/>
                    <a:lstStyle/>
                    <a:p>
                      <a:r>
                        <a:rPr sz="1725" b="1">
                          <a:solidFill>
                            <a:srgbClr val="087E79"/>
                          </a:solidFill>
                          <a:latin typeface="Arial"/>
                          <a:ea typeface="Arial"/>
                          <a:cs typeface="Arial"/>
                        </a:rPr>
                        <a:t>Q3 Isolate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Suspect isolation labels + deny-all; Pod CREATE gate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Isolation and clean serving capacity</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5" name="IN ROUND 3: Your table will pick Q0–Q3 and order">
            <a:extLst xmlns:a="http://schemas.openxmlformats.org/drawingml/2006/main">
              <a:ext uri="{FF2B5EF4-FFF2-40B4-BE49-F238E27FC236}">
                <a16:creationId xmlns:a16="http://schemas.microsoft.com/office/drawing/2014/main" id="{E45FDE95-0C41-483E-8CEC-33D54E73CF01}"/>
              </a:ext>
            </a:extLst>
          </p:cNvPr>
          <p:cNvSpPr>
            <a:spLocks xmlns:a="http://schemas.openxmlformats.org/drawingml/2006/main" noGrp="1"/>
          </p:cNvSpPr>
          <p:nvPr/>
        </p:nvSpPr>
        <p:spPr>
          <a:xfrm xmlns:a="http://schemas.openxmlformats.org/drawingml/2006/main">
            <a:off x="609600" y="56959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IN ROUND 3: Your table will pick Q0–Q3 and order the steps so volatile evidence is captured BEFORE pod changes.</a:t>
            </a:r>
          </a:p>
        </p:txBody>
      </p:sp>
      <p:sp>
        <p:nvSpPr>
          <p:cNvPr id="6" name="ISC2 SECURITY CONGRESS 2026 / SC2632">
            <a:extLst xmlns:a="http://schemas.openxmlformats.org/drawingml/2006/main">
              <a:ext uri="{FF2B5EF4-FFF2-40B4-BE49-F238E27FC236}">
                <a16:creationId xmlns:a16="http://schemas.microsoft.com/office/drawing/2014/main" id="{7C22E6C9-9A78-49F4-AD2B-5A5F0B91A2E3}"/>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11">
            <a:extLst xmlns:a="http://schemas.openxmlformats.org/drawingml/2006/main">
              <a:ext uri="{FF2B5EF4-FFF2-40B4-BE49-F238E27FC236}">
                <a16:creationId xmlns:a16="http://schemas.microsoft.com/office/drawing/2014/main" id="{04BA78CF-14A4-48EE-8EA7-D76F9103AF9C}"/>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11</a:t>
            </a:r>
          </a:p>
        </p:txBody>
      </p:sp>
    </p:spTree>
    <p:extLst>
      <p:ext uri="{BB962C8B-B14F-4D97-AF65-F5344CB8AC3E}">
        <p14:creationId xmlns:p14="http://schemas.microsoft.com/office/powerpoint/2010/main" val="1422894529"/>
      </p:ext>
    </p:extLst>
  </p:cSld>
</p:sld>
</file>

<file path=ppt/slides/slide12.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TABLETOP / NO KUBERNETES OR KYVERNO EXPERIENCE, ">
            <a:extLst xmlns:a="http://schemas.openxmlformats.org/drawingml/2006/main">
              <a:ext uri="{FF2B5EF4-FFF2-40B4-BE49-F238E27FC236}">
                <a16:creationId xmlns:a16="http://schemas.microsoft.com/office/drawing/2014/main" id="{5F0F92F8-2B8B-45A8-89E2-565ADF52C25C}"/>
              </a:ext>
            </a:extLst>
          </p:cNvPr>
          <p:cNvSpPr>
            <a:spLocks xmlns:a="http://schemas.openxmlformats.org/drawingml/2006/main" noGrp="1"/>
          </p:cNvSpPr>
          <p:nvPr/>
        </p:nvSpPr>
        <p:spPr>
          <a:xfrm xmlns:a="http://schemas.openxmlformats.org/drawingml/2006/main">
            <a:off x="609600" y="4381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vl1pPr>
              <a:defRPr sz="1200" b="1">
                <a:solidFill>
                  <a:srgbClr val="087E79"/>
                </a:solidFill>
                <a:latin typeface="Arial"/>
                <a:ea typeface="Arial"/>
                <a:cs typeface="Arial"/>
              </a:defRPr>
            </a:lvl1pPr>
            <a:lvl2pPr>
              <a:defRPr sz="1200" b="1">
                <a:solidFill>
                  <a:srgbClr val="087E79"/>
                </a:solidFill>
                <a:latin typeface="Arial"/>
                <a:ea typeface="Arial"/>
                <a:cs typeface="Arial"/>
              </a:defRPr>
            </a:lvl2pPr>
            <a:lvl3pPr>
              <a:defRPr sz="1200" b="1">
                <a:solidFill>
                  <a:srgbClr val="087E79"/>
                </a:solidFill>
                <a:latin typeface="Arial"/>
                <a:ea typeface="Arial"/>
                <a:cs typeface="Arial"/>
              </a:defRPr>
            </a:lvl3pPr>
            <a:lvl4pPr>
              <a:defRPr sz="1200" b="1">
                <a:solidFill>
                  <a:srgbClr val="087E79"/>
                </a:solidFill>
                <a:latin typeface="Arial"/>
                <a:ea typeface="Arial"/>
                <a:cs typeface="Arial"/>
              </a:defRPr>
            </a:lvl4pPr>
            <a:lvl5pPr>
              <a:defRPr sz="1200" b="1">
                <a:solidFill>
                  <a:srgbClr val="087E79"/>
                </a:solidFill>
                <a:latin typeface="Arial"/>
                <a:ea typeface="Arial"/>
                <a:cs typeface="Arial"/>
              </a:defRPr>
            </a:lvl5pPr>
            <a:lvl6pPr>
              <a:defRPr sz="1200" b="1">
                <a:solidFill>
                  <a:srgbClr val="087E79"/>
                </a:solidFill>
                <a:latin typeface="Arial"/>
                <a:ea typeface="Arial"/>
                <a:cs typeface="Arial"/>
              </a:defRPr>
            </a:lvl6pPr>
            <a:lvl7pPr>
              <a:defRPr sz="1200" b="1">
                <a:solidFill>
                  <a:srgbClr val="087E79"/>
                </a:solidFill>
                <a:latin typeface="Arial"/>
                <a:ea typeface="Arial"/>
                <a:cs typeface="Arial"/>
              </a:defRPr>
            </a:lvl7pPr>
            <a:lvl8pPr>
              <a:defRPr sz="1200" b="1">
                <a:solidFill>
                  <a:srgbClr val="087E79"/>
                </a:solidFill>
                <a:latin typeface="Arial"/>
                <a:ea typeface="Arial"/>
                <a:cs typeface="Arial"/>
              </a:defRPr>
            </a:lvl8pPr>
            <a:lvl9pPr>
              <a:defRPr sz="1200" b="1">
                <a:solidFill>
                  <a:srgbClr val="087E79"/>
                </a:solidFill>
                <a:latin typeface="Arial"/>
                <a:ea typeface="Arial"/>
                <a:cs typeface="Arial"/>
              </a:defRPr>
            </a:lvl9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TABLETOP / NO KUBERNETES OR KYVERNO EXPERIENCE, LAPTOP OR YAML REQUIRED</a:t>
            </a:r>
          </a:p>
        </p:txBody>
      </p:sp>
      <p:sp>
        <p:nvSpPr>
          <p:cNvPr id="2" name="How your table plays the exercise">
            <a:extLst xmlns:a="http://schemas.openxmlformats.org/drawingml/2006/main">
              <a:ext uri="{FF2B5EF4-FFF2-40B4-BE49-F238E27FC236}">
                <a16:creationId xmlns:a16="http://schemas.microsoft.com/office/drawing/2014/main" id="{7B8C1CA2-E70E-45DB-9E99-D8B9ACB65B16}"/>
              </a:ext>
            </a:extLst>
          </p:cNvPr>
          <p:cNvSpPr>
            <a:spLocks xmlns:a="http://schemas.openxmlformats.org/drawingml/2006/main" noGrp="1"/>
          </p:cNvSpPr>
          <p:nvPr>
            <p:ph type="title" idx="0"/>
          </p:nvPr>
        </p:nvSpPr>
        <p:spPr>
          <a:xfrm xmlns:a="http://schemas.openxmlformats.org/drawingml/2006/main">
            <a:off x="609600" y="914400"/>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1822"/>
                </a:solidFill>
                <a:latin typeface="Arial Black"/>
                <a:ea typeface="Arial Black"/>
                <a:cs typeface="Arial Black"/>
              </a:defRPr>
            </a:defPPr>
            <a:lvl1pPr>
              <a:defRPr sz="3450" b="1">
                <a:solidFill>
                  <a:srgbClr val="0B1822"/>
                </a:solidFill>
                <a:latin typeface="Arial Black"/>
                <a:ea typeface="Arial Black"/>
                <a:cs typeface="Arial Black"/>
              </a:defRPr>
            </a:lvl1pPr>
            <a:lvl2pPr>
              <a:defRPr sz="3450" b="1">
                <a:solidFill>
                  <a:srgbClr val="0B1822"/>
                </a:solidFill>
                <a:latin typeface="Arial Black"/>
                <a:ea typeface="Arial Black"/>
                <a:cs typeface="Arial Black"/>
              </a:defRPr>
            </a:lvl2pPr>
            <a:lvl3pPr>
              <a:defRPr sz="3450" b="1">
                <a:solidFill>
                  <a:srgbClr val="0B1822"/>
                </a:solidFill>
                <a:latin typeface="Arial Black"/>
                <a:ea typeface="Arial Black"/>
                <a:cs typeface="Arial Black"/>
              </a:defRPr>
            </a:lvl3pPr>
            <a:lvl4pPr>
              <a:defRPr sz="3450" b="1">
                <a:solidFill>
                  <a:srgbClr val="0B1822"/>
                </a:solidFill>
                <a:latin typeface="Arial Black"/>
                <a:ea typeface="Arial Black"/>
                <a:cs typeface="Arial Black"/>
              </a:defRPr>
            </a:lvl4pPr>
            <a:lvl5pPr>
              <a:defRPr sz="3450" b="1">
                <a:solidFill>
                  <a:srgbClr val="0B1822"/>
                </a:solidFill>
                <a:latin typeface="Arial Black"/>
                <a:ea typeface="Arial Black"/>
                <a:cs typeface="Arial Black"/>
              </a:defRPr>
            </a:lvl5pPr>
            <a:lvl6pPr>
              <a:defRPr sz="3450" b="1">
                <a:solidFill>
                  <a:srgbClr val="0B1822"/>
                </a:solidFill>
                <a:latin typeface="Arial Black"/>
                <a:ea typeface="Arial Black"/>
                <a:cs typeface="Arial Black"/>
              </a:defRPr>
            </a:lvl6pPr>
            <a:lvl7pPr>
              <a:defRPr sz="3450" b="1">
                <a:solidFill>
                  <a:srgbClr val="0B1822"/>
                </a:solidFill>
                <a:latin typeface="Arial Black"/>
                <a:ea typeface="Arial Black"/>
                <a:cs typeface="Arial Black"/>
              </a:defRPr>
            </a:lvl7pPr>
            <a:lvl8pPr>
              <a:defRPr sz="3450" b="1">
                <a:solidFill>
                  <a:srgbClr val="0B1822"/>
                </a:solidFill>
                <a:latin typeface="Arial Black"/>
                <a:ea typeface="Arial Black"/>
                <a:cs typeface="Arial Black"/>
              </a:defRPr>
            </a:lvl8pPr>
            <a:lvl9pPr>
              <a:defRPr sz="3450" b="1">
                <a:solidFill>
                  <a:srgbClr val="0B1822"/>
                </a:solidFill>
                <a:latin typeface="Arial Black"/>
                <a:ea typeface="Arial Black"/>
                <a:cs typeface="Arial Black"/>
              </a:defRPr>
            </a:lvl9pPr>
          </a:lstStyle>
          <a:p xmlns:a="http://schemas.openxmlformats.org/drawingml/2006/main">
            <a:pPr>
              <a:defRPr sz="3450" b="1">
                <a:solidFill>
                  <a:srgbClr val="0B1822"/>
                </a:solidFill>
                <a:latin typeface="Arial Black"/>
                <a:ea typeface="Arial Black"/>
                <a:cs typeface="Arial Black"/>
              </a:defRPr>
            </a:pPr>
            <a:r>
              <a:rPr sz="3450" b="1">
                <a:solidFill>
                  <a:srgbClr val="0B1822"/>
                </a:solidFill>
                <a:latin typeface="Arial Black"/>
                <a:ea typeface="Arial Black"/>
                <a:cs typeface="Arial Black"/>
              </a:rPr>
              <a:t>How your table plays the exercise</a:t>
            </a:r>
          </a:p>
        </p:txBody>
      </p:sp>
      <p:sp>
        <p:nvSpPr>
          <p:cNvPr id="3" name="WORKFLOW: 1. Read Case Alert (pp. 2–5)  →  2. Lo">
            <a:extLst xmlns:a="http://schemas.openxmlformats.org/drawingml/2006/main">
              <a:ext uri="{FF2B5EF4-FFF2-40B4-BE49-F238E27FC236}">
                <a16:creationId xmlns:a16="http://schemas.microsoft.com/office/drawing/2014/main" id="{B230CD22-9356-4F31-801B-A5BAA06171B0}"/>
              </a:ext>
            </a:extLst>
          </p:cNvPr>
          <p:cNvSpPr>
            <a:spLocks xmlns:a="http://schemas.openxmlformats.org/drawingml/2006/main" noGrp="1"/>
          </p:cNvSpPr>
          <p:nvPr/>
        </p:nvSpPr>
        <p:spPr>
          <a:xfrm xmlns:a="http://schemas.openxmlformats.org/drawingml/2006/main">
            <a:off x="609600" y="1866900"/>
            <a:ext cx="10953750" cy="60960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650" b="1">
                <a:solidFill>
                  <a:srgbClr val="F2EFE7"/>
                </a:solidFill>
                <a:latin typeface="Arial"/>
                <a:ea typeface="Arial"/>
                <a:cs typeface="Arial"/>
              </a:defRPr>
            </a:defPPr>
            <a:lvl1pPr>
              <a:defRPr sz="1650" b="1">
                <a:solidFill>
                  <a:srgbClr val="F2EFE7"/>
                </a:solidFill>
                <a:latin typeface="Arial"/>
                <a:ea typeface="Arial"/>
                <a:cs typeface="Arial"/>
              </a:defRPr>
            </a:lvl1pPr>
            <a:lvl2pPr>
              <a:defRPr sz="1650" b="1">
                <a:solidFill>
                  <a:srgbClr val="F2EFE7"/>
                </a:solidFill>
                <a:latin typeface="Arial"/>
                <a:ea typeface="Arial"/>
                <a:cs typeface="Arial"/>
              </a:defRPr>
            </a:lvl2pPr>
            <a:lvl3pPr>
              <a:defRPr sz="1650" b="1">
                <a:solidFill>
                  <a:srgbClr val="F2EFE7"/>
                </a:solidFill>
                <a:latin typeface="Arial"/>
                <a:ea typeface="Arial"/>
                <a:cs typeface="Arial"/>
              </a:defRPr>
            </a:lvl3pPr>
            <a:lvl4pPr>
              <a:defRPr sz="1650" b="1">
                <a:solidFill>
                  <a:srgbClr val="F2EFE7"/>
                </a:solidFill>
                <a:latin typeface="Arial"/>
                <a:ea typeface="Arial"/>
                <a:cs typeface="Arial"/>
              </a:defRPr>
            </a:lvl4pPr>
            <a:lvl5pPr>
              <a:defRPr sz="1650" b="1">
                <a:solidFill>
                  <a:srgbClr val="F2EFE7"/>
                </a:solidFill>
                <a:latin typeface="Arial"/>
                <a:ea typeface="Arial"/>
                <a:cs typeface="Arial"/>
              </a:defRPr>
            </a:lvl5pPr>
            <a:lvl6pPr>
              <a:defRPr sz="1650" b="1">
                <a:solidFill>
                  <a:srgbClr val="F2EFE7"/>
                </a:solidFill>
                <a:latin typeface="Arial"/>
                <a:ea typeface="Arial"/>
                <a:cs typeface="Arial"/>
              </a:defRPr>
            </a:lvl6pPr>
            <a:lvl7pPr>
              <a:defRPr sz="1650" b="1">
                <a:solidFill>
                  <a:srgbClr val="F2EFE7"/>
                </a:solidFill>
                <a:latin typeface="Arial"/>
                <a:ea typeface="Arial"/>
                <a:cs typeface="Arial"/>
              </a:defRPr>
            </a:lvl7pPr>
            <a:lvl8pPr>
              <a:defRPr sz="1650" b="1">
                <a:solidFill>
                  <a:srgbClr val="F2EFE7"/>
                </a:solidFill>
                <a:latin typeface="Arial"/>
                <a:ea typeface="Arial"/>
                <a:cs typeface="Arial"/>
              </a:defRPr>
            </a:lvl8pPr>
            <a:lvl9pPr>
              <a:defRPr sz="1650" b="1">
                <a:solidFill>
                  <a:srgbClr val="F2EFE7"/>
                </a:solidFill>
                <a:latin typeface="Arial"/>
                <a:ea typeface="Arial"/>
                <a:cs typeface="Arial"/>
              </a:defRPr>
            </a:lvl9pPr>
          </a:lstStyle>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WORKFLOW: 1. Read Case Alert (pp. 2–5)  →  2. Lock Decision on Record (pp. 6–7)  →  3. Lab Reveal &amp; Score</a:t>
            </a:r>
          </a:p>
        </p:txBody>
      </p:sp>
      <p:sp>
        <p:nvSpPr>
          <p:cNvPr id="4" name="DECISIONS YOU LOCK ON PAGES 6–7&#10;&#10;• Round 1: Secu">
            <a:extLst xmlns:a="http://schemas.openxmlformats.org/drawingml/2006/main">
              <a:ext uri="{FF2B5EF4-FFF2-40B4-BE49-F238E27FC236}">
                <a16:creationId xmlns:a16="http://schemas.microsoft.com/office/drawing/2014/main" id="{EF3CD192-6C99-4100-B8D6-7C2CBE803B85}"/>
              </a:ext>
            </a:extLst>
          </p:cNvPr>
          <p:cNvSpPr>
            <a:spLocks xmlns:a="http://schemas.openxmlformats.org/drawingml/2006/main" noGrp="1"/>
          </p:cNvSpPr>
          <p:nvPr/>
        </p:nvSpPr>
        <p:spPr>
          <a:xfrm xmlns:a="http://schemas.openxmlformats.org/drawingml/2006/main">
            <a:off x="609600" y="2647950"/>
            <a:ext cx="5353050" cy="25908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79"/>
            </a:solidFill>
          </a:ln>
        </p:spPr>
        <p:txBody>
          <a:bodyPr xmlns:a="http://schemas.openxmlformats.org/drawingml/2006/main"/>
          <a:lstStyle xmlns:a="http://schemas.openxmlformats.org/drawingml/2006/main">
            <a:defPPr>
              <a:defRPr sz="1575" b="0">
                <a:solidFill>
                  <a:srgbClr val="0B1822"/>
                </a:solidFill>
                <a:latin typeface="Arial"/>
                <a:ea typeface="Arial"/>
                <a:cs typeface="Arial"/>
              </a:defRPr>
            </a:defPPr>
            <a:lvl1pPr>
              <a:defRPr sz="1575" b="0">
                <a:solidFill>
                  <a:srgbClr val="0B1822"/>
                </a:solidFill>
                <a:latin typeface="Arial"/>
                <a:ea typeface="Arial"/>
                <a:cs typeface="Arial"/>
              </a:defRPr>
            </a:lvl1pPr>
            <a:lvl2pPr>
              <a:defRPr sz="1575" b="0">
                <a:solidFill>
                  <a:srgbClr val="0B1822"/>
                </a:solidFill>
                <a:latin typeface="Arial"/>
                <a:ea typeface="Arial"/>
                <a:cs typeface="Arial"/>
              </a:defRPr>
            </a:lvl2pPr>
            <a:lvl3pPr>
              <a:defRPr sz="1575" b="0">
                <a:solidFill>
                  <a:srgbClr val="0B1822"/>
                </a:solidFill>
                <a:latin typeface="Arial"/>
                <a:ea typeface="Arial"/>
                <a:cs typeface="Arial"/>
              </a:defRPr>
            </a:lvl3pPr>
            <a:lvl4pPr>
              <a:defRPr sz="1575" b="0">
                <a:solidFill>
                  <a:srgbClr val="0B1822"/>
                </a:solidFill>
                <a:latin typeface="Arial"/>
                <a:ea typeface="Arial"/>
                <a:cs typeface="Arial"/>
              </a:defRPr>
            </a:lvl4pPr>
            <a:lvl5pPr>
              <a:defRPr sz="1575" b="0">
                <a:solidFill>
                  <a:srgbClr val="0B1822"/>
                </a:solidFill>
                <a:latin typeface="Arial"/>
                <a:ea typeface="Arial"/>
                <a:cs typeface="Arial"/>
              </a:defRPr>
            </a:lvl5pPr>
            <a:lvl6pPr>
              <a:defRPr sz="1575" b="0">
                <a:solidFill>
                  <a:srgbClr val="0B1822"/>
                </a:solidFill>
                <a:latin typeface="Arial"/>
                <a:ea typeface="Arial"/>
                <a:cs typeface="Arial"/>
              </a:defRPr>
            </a:lvl6pPr>
            <a:lvl7pPr>
              <a:defRPr sz="1575" b="0">
                <a:solidFill>
                  <a:srgbClr val="0B1822"/>
                </a:solidFill>
                <a:latin typeface="Arial"/>
                <a:ea typeface="Arial"/>
                <a:cs typeface="Arial"/>
              </a:defRPr>
            </a:lvl7pPr>
            <a:lvl8pPr>
              <a:defRPr sz="1575" b="0">
                <a:solidFill>
                  <a:srgbClr val="0B1822"/>
                </a:solidFill>
                <a:latin typeface="Arial"/>
                <a:ea typeface="Arial"/>
                <a:cs typeface="Arial"/>
              </a:defRPr>
            </a:lvl8pPr>
            <a:lvl9pPr>
              <a:defRPr sz="1575" b="0">
                <a:solidFill>
                  <a:srgbClr val="0B1822"/>
                </a:solidFill>
                <a:latin typeface="Arial"/>
                <a:ea typeface="Arial"/>
                <a:cs typeface="Arial"/>
              </a:defRPr>
            </a:lvl9pPr>
          </a:lstStyle>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DECISIONS YOU LOCK ON PAGES 6–7</a:t>
            </a:r>
          </a:p>
          <a:p xmlns:a="http://schemas.openxmlformats.org/drawingml/2006/main">
            <a:r>
              <a:t/>
            </a:r>
          </a:p>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 Round 1: Security intent &amp; non-admission handoff</a:t>
            </a:r>
          </a:p>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 PR Review: APPROVE / MODIFY / REJECT / ESCALATE</a:t>
            </a:r>
          </a:p>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 Round 2: Exception disposition + Audit / Warn / Deny</a:t>
            </a:r>
          </a:p>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 Round 3: Ordered Q0–Q3 containment &amp; recovery exit test</a:t>
            </a:r>
          </a:p>
        </p:txBody>
      </p:sp>
      <p:sp>
        <p:nvSpPr>
          <p:cNvPr id="5" name="FOUR ROLES AT YOUR TABLE&#10;&#10;• Incident Lead: Calls">
            <a:extLst xmlns:a="http://schemas.openxmlformats.org/drawingml/2006/main">
              <a:ext uri="{FF2B5EF4-FFF2-40B4-BE49-F238E27FC236}">
                <a16:creationId xmlns:a16="http://schemas.microsoft.com/office/drawing/2014/main" id="{9A7987B6-340E-4625-B1CB-81BAD2ECA115}"/>
              </a:ext>
            </a:extLst>
          </p:cNvPr>
          <p:cNvSpPr>
            <a:spLocks xmlns:a="http://schemas.openxmlformats.org/drawingml/2006/main" noGrp="1"/>
          </p:cNvSpPr>
          <p:nvPr/>
        </p:nvSpPr>
        <p:spPr>
          <a:xfrm xmlns:a="http://schemas.openxmlformats.org/drawingml/2006/main">
            <a:off x="6210300" y="2647950"/>
            <a:ext cx="5353050" cy="2590800"/>
          </a:xfrm>
          <a:prstGeom xmlns:a="http://schemas.openxmlformats.org/drawingml/2006/main" prst="rect">
            <a:avLst/>
          </a:prstGeom>
          <a:solidFill xmlns:a="http://schemas.openxmlformats.org/drawingml/2006/main">
            <a:srgbClr val="FFFFFF"/>
          </a:solidFill>
          <a:ln xmlns:a="http://schemas.openxmlformats.org/drawingml/2006/main" w="19050">
            <a:solidFill>
              <a:srgbClr val="D45336"/>
            </a:solidFill>
          </a:ln>
        </p:spPr>
        <p:txBody>
          <a:bodyPr xmlns:a="http://schemas.openxmlformats.org/drawingml/2006/main"/>
          <a:lstStyle xmlns:a="http://schemas.openxmlformats.org/drawingml/2006/main">
            <a:defPPr>
              <a:defRPr sz="1575" b="0">
                <a:solidFill>
                  <a:srgbClr val="0B1822"/>
                </a:solidFill>
                <a:latin typeface="Arial"/>
                <a:ea typeface="Arial"/>
                <a:cs typeface="Arial"/>
              </a:defRPr>
            </a:defPPr>
            <a:lvl1pPr>
              <a:defRPr sz="1575" b="0">
                <a:solidFill>
                  <a:srgbClr val="0B1822"/>
                </a:solidFill>
                <a:latin typeface="Arial"/>
                <a:ea typeface="Arial"/>
                <a:cs typeface="Arial"/>
              </a:defRPr>
            </a:lvl1pPr>
            <a:lvl2pPr>
              <a:defRPr sz="1575" b="0">
                <a:solidFill>
                  <a:srgbClr val="0B1822"/>
                </a:solidFill>
                <a:latin typeface="Arial"/>
                <a:ea typeface="Arial"/>
                <a:cs typeface="Arial"/>
              </a:defRPr>
            </a:lvl2pPr>
            <a:lvl3pPr>
              <a:defRPr sz="1575" b="0">
                <a:solidFill>
                  <a:srgbClr val="0B1822"/>
                </a:solidFill>
                <a:latin typeface="Arial"/>
                <a:ea typeface="Arial"/>
                <a:cs typeface="Arial"/>
              </a:defRPr>
            </a:lvl3pPr>
            <a:lvl4pPr>
              <a:defRPr sz="1575" b="0">
                <a:solidFill>
                  <a:srgbClr val="0B1822"/>
                </a:solidFill>
                <a:latin typeface="Arial"/>
                <a:ea typeface="Arial"/>
                <a:cs typeface="Arial"/>
              </a:defRPr>
            </a:lvl4pPr>
            <a:lvl5pPr>
              <a:defRPr sz="1575" b="0">
                <a:solidFill>
                  <a:srgbClr val="0B1822"/>
                </a:solidFill>
                <a:latin typeface="Arial"/>
                <a:ea typeface="Arial"/>
                <a:cs typeface="Arial"/>
              </a:defRPr>
            </a:lvl5pPr>
            <a:lvl6pPr>
              <a:defRPr sz="1575" b="0">
                <a:solidFill>
                  <a:srgbClr val="0B1822"/>
                </a:solidFill>
                <a:latin typeface="Arial"/>
                <a:ea typeface="Arial"/>
                <a:cs typeface="Arial"/>
              </a:defRPr>
            </a:lvl6pPr>
            <a:lvl7pPr>
              <a:defRPr sz="1575" b="0">
                <a:solidFill>
                  <a:srgbClr val="0B1822"/>
                </a:solidFill>
                <a:latin typeface="Arial"/>
                <a:ea typeface="Arial"/>
                <a:cs typeface="Arial"/>
              </a:defRPr>
            </a:lvl7pPr>
            <a:lvl8pPr>
              <a:defRPr sz="1575" b="0">
                <a:solidFill>
                  <a:srgbClr val="0B1822"/>
                </a:solidFill>
                <a:latin typeface="Arial"/>
                <a:ea typeface="Arial"/>
                <a:cs typeface="Arial"/>
              </a:defRPr>
            </a:lvl8pPr>
            <a:lvl9pPr>
              <a:defRPr sz="1575" b="0">
                <a:solidFill>
                  <a:srgbClr val="0B1822"/>
                </a:solidFill>
                <a:latin typeface="Arial"/>
                <a:ea typeface="Arial"/>
                <a:cs typeface="Arial"/>
              </a:defRPr>
            </a:lvl9pPr>
          </a:lstStyle>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FOUR ROLES AT YOUR TABLE</a:t>
            </a:r>
          </a:p>
          <a:p xmlns:a="http://schemas.openxmlformats.org/drawingml/2006/main">
            <a:r>
              <a:t/>
            </a:r>
          </a:p>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 Incident Lead: Calls the table vote &amp; states the decision</a:t>
            </a:r>
          </a:p>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 Recorder: Writes the locked record on pages 6–7</a:t>
            </a:r>
          </a:p>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 Evidence Analyst: Checks claims against lab facts</a:t>
            </a:r>
          </a:p>
          <a:p xmlns:a="http://schemas.openxmlformats.org/drawingml/2006/main">
            <a:pPr>
              <a:defRPr sz="1575" b="0">
                <a:solidFill>
                  <a:srgbClr val="0B1822"/>
                </a:solidFill>
                <a:latin typeface="Arial"/>
                <a:ea typeface="Arial"/>
                <a:cs typeface="Arial"/>
              </a:defRPr>
            </a:pPr>
            <a:r>
              <a:rPr sz="1575" b="0">
                <a:solidFill>
                  <a:srgbClr val="0B1822"/>
                </a:solidFill>
                <a:latin typeface="Arial"/>
                <a:ea typeface="Arial"/>
                <a:cs typeface="Arial"/>
              </a:rPr>
              <a:t>• Independent Reviewer: Challenges one assumption first</a:t>
            </a:r>
          </a:p>
        </p:txBody>
      </p:sp>
      <p:sp>
        <p:nvSpPr>
          <p:cNvPr id="6" name="NO SETUP NEEDED: No laptop, YAML or cluster acce">
            <a:extLst xmlns:a="http://schemas.openxmlformats.org/drawingml/2006/main">
              <a:ext uri="{FF2B5EF4-FFF2-40B4-BE49-F238E27FC236}">
                <a16:creationId xmlns:a16="http://schemas.microsoft.com/office/drawing/2014/main" id="{0C478BBB-3C20-492D-92D1-9B45640E7C38}"/>
              </a:ext>
            </a:extLst>
          </p:cNvPr>
          <p:cNvSpPr>
            <a:spLocks xmlns:a="http://schemas.openxmlformats.org/drawingml/2006/main" noGrp="1"/>
          </p:cNvSpPr>
          <p:nvPr/>
        </p:nvSpPr>
        <p:spPr>
          <a:xfrm xmlns:a="http://schemas.openxmlformats.org/drawingml/2006/main">
            <a:off x="609600" y="5314950"/>
            <a:ext cx="10953750" cy="8001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275" b="1">
                <a:solidFill>
                  <a:srgbClr val="0B1822"/>
                </a:solidFill>
                <a:latin typeface="Arial"/>
                <a:ea typeface="Arial"/>
                <a:cs typeface="Arial"/>
              </a:defRPr>
            </a:defPPr>
            <a:lvl1pPr>
              <a:defRPr sz="1275" b="1">
                <a:solidFill>
                  <a:srgbClr val="0B1822"/>
                </a:solidFill>
                <a:latin typeface="Arial"/>
                <a:ea typeface="Arial"/>
                <a:cs typeface="Arial"/>
              </a:defRPr>
            </a:lvl1pPr>
            <a:lvl2pPr>
              <a:defRPr sz="1275" b="1">
                <a:solidFill>
                  <a:srgbClr val="0B1822"/>
                </a:solidFill>
                <a:latin typeface="Arial"/>
                <a:ea typeface="Arial"/>
                <a:cs typeface="Arial"/>
              </a:defRPr>
            </a:lvl2pPr>
            <a:lvl3pPr>
              <a:defRPr sz="1275" b="1">
                <a:solidFill>
                  <a:srgbClr val="0B1822"/>
                </a:solidFill>
                <a:latin typeface="Arial"/>
                <a:ea typeface="Arial"/>
                <a:cs typeface="Arial"/>
              </a:defRPr>
            </a:lvl3pPr>
            <a:lvl4pPr>
              <a:defRPr sz="1275" b="1">
                <a:solidFill>
                  <a:srgbClr val="0B1822"/>
                </a:solidFill>
                <a:latin typeface="Arial"/>
                <a:ea typeface="Arial"/>
                <a:cs typeface="Arial"/>
              </a:defRPr>
            </a:lvl4pPr>
            <a:lvl5pPr>
              <a:defRPr sz="1275" b="1">
                <a:solidFill>
                  <a:srgbClr val="0B1822"/>
                </a:solidFill>
                <a:latin typeface="Arial"/>
                <a:ea typeface="Arial"/>
                <a:cs typeface="Arial"/>
              </a:defRPr>
            </a:lvl5pPr>
            <a:lvl6pPr>
              <a:defRPr sz="1275" b="1">
                <a:solidFill>
                  <a:srgbClr val="0B1822"/>
                </a:solidFill>
                <a:latin typeface="Arial"/>
                <a:ea typeface="Arial"/>
                <a:cs typeface="Arial"/>
              </a:defRPr>
            </a:lvl6pPr>
            <a:lvl7pPr>
              <a:defRPr sz="1275" b="1">
                <a:solidFill>
                  <a:srgbClr val="0B1822"/>
                </a:solidFill>
                <a:latin typeface="Arial"/>
                <a:ea typeface="Arial"/>
                <a:cs typeface="Arial"/>
              </a:defRPr>
            </a:lvl7pPr>
            <a:lvl8pPr>
              <a:defRPr sz="1275" b="1">
                <a:solidFill>
                  <a:srgbClr val="0B1822"/>
                </a:solidFill>
                <a:latin typeface="Arial"/>
                <a:ea typeface="Arial"/>
                <a:cs typeface="Arial"/>
              </a:defRPr>
            </a:lvl8pPr>
            <a:lvl9pPr>
              <a:defRPr sz="1275" b="1">
                <a:solidFill>
                  <a:srgbClr val="0B1822"/>
                </a:solidFill>
                <a:latin typeface="Arial"/>
                <a:ea typeface="Arial"/>
                <a:cs typeface="Arial"/>
              </a:defRPr>
            </a:lvl9pPr>
          </a:lstStyle>
          <a:p xmlns:a="http://schemas.openxmlformats.org/drawingml/2006/main">
            <a:pPr>
              <a:defRPr sz="1275" b="1">
                <a:solidFill>
                  <a:srgbClr val="0B1822"/>
                </a:solidFill>
                <a:latin typeface="Arial"/>
                <a:ea typeface="Arial"/>
                <a:cs typeface="Arial"/>
              </a:defRPr>
            </a:pPr>
            <a:r>
              <a:rPr sz="1275" b="1">
                <a:solidFill>
                  <a:srgbClr val="0B1822"/>
                </a:solidFill>
                <a:latin typeface="Arial"/>
                <a:ea typeface="Arial"/>
                <a:cs typeface="Arial"/>
              </a:rPr>
              <a:t>NO SETUP NEEDED: No laptop, YAML or cluster access. Presenters run a prepared local demo against policy fixtures, not a live cluster. If it fails, show the dated recorded output. Keep pages 8–9 and review page 2 sealed until called.</a:t>
            </a:r>
          </a:p>
        </p:txBody>
      </p:sp>
      <p:sp>
        <p:nvSpPr>
          <p:cNvPr id="7" name="ISC2 SECURITY CONGRESS 2026 / SC2632">
            <a:extLst xmlns:a="http://schemas.openxmlformats.org/drawingml/2006/main">
              <a:ext uri="{FF2B5EF4-FFF2-40B4-BE49-F238E27FC236}">
                <a16:creationId xmlns:a16="http://schemas.microsoft.com/office/drawing/2014/main" id="{B3ED8C54-3103-4AB1-BE9A-0F7F7B5D79F5}"/>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12">
            <a:extLst xmlns:a="http://schemas.openxmlformats.org/drawingml/2006/main">
              <a:ext uri="{FF2B5EF4-FFF2-40B4-BE49-F238E27FC236}">
                <a16:creationId xmlns:a16="http://schemas.microsoft.com/office/drawing/2014/main" id="{861ECECE-28AA-4AA2-9423-B846D0A33E7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12</a:t>
            </a:r>
          </a:p>
        </p:txBody>
      </p:sp>
    </p:spTree>
    <p:extLst>
      <p:ext uri="{BB962C8B-B14F-4D97-AF65-F5344CB8AC3E}">
        <p14:creationId xmlns:p14="http://schemas.microsoft.com/office/powerpoint/2010/main" val="845788011"/>
      </p:ext>
    </p:extLst>
  </p:cSld>
</p:sld>
</file>

<file path=ppt/slides/slide13.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0" name="CHOOSE ONE CASE IN 30 SECONDS / PARTICIPANT PACK">
            <a:extLst xmlns:a="http://schemas.openxmlformats.org/drawingml/2006/main">
              <a:ext uri="{FF2B5EF4-FFF2-40B4-BE49-F238E27FC236}">
                <a16:creationId xmlns:a16="http://schemas.microsoft.com/office/drawing/2014/main" id="{FD6DC8C9-2C1C-4843-8FB7-346439F8A558}"/>
              </a:ext>
            </a:extLst>
          </p:cNvPr>
          <p:cNvSpPr>
            <a:spLocks xmlns:a="http://schemas.openxmlformats.org/drawingml/2006/main" noGrp="1"/>
          </p:cNvSpPr>
          <p:nvPr/>
        </p:nvSpPr>
        <p:spPr>
          <a:xfrm xmlns:a="http://schemas.openxmlformats.org/drawingml/2006/main">
            <a:off x="609600" y="438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vl1pPr>
              <a:defRPr sz="1200" b="1">
                <a:solidFill>
                  <a:srgbClr val="087E79"/>
                </a:solidFill>
                <a:latin typeface="Arial"/>
                <a:ea typeface="Arial"/>
                <a:cs typeface="Arial"/>
              </a:defRPr>
            </a:lvl1pPr>
            <a:lvl2pPr>
              <a:defRPr sz="1200" b="1">
                <a:solidFill>
                  <a:srgbClr val="087E79"/>
                </a:solidFill>
                <a:latin typeface="Arial"/>
                <a:ea typeface="Arial"/>
                <a:cs typeface="Arial"/>
              </a:defRPr>
            </a:lvl2pPr>
            <a:lvl3pPr>
              <a:defRPr sz="1200" b="1">
                <a:solidFill>
                  <a:srgbClr val="087E79"/>
                </a:solidFill>
                <a:latin typeface="Arial"/>
                <a:ea typeface="Arial"/>
                <a:cs typeface="Arial"/>
              </a:defRPr>
            </a:lvl3pPr>
            <a:lvl4pPr>
              <a:defRPr sz="1200" b="1">
                <a:solidFill>
                  <a:srgbClr val="087E79"/>
                </a:solidFill>
                <a:latin typeface="Arial"/>
                <a:ea typeface="Arial"/>
                <a:cs typeface="Arial"/>
              </a:defRPr>
            </a:lvl4pPr>
            <a:lvl5pPr>
              <a:defRPr sz="1200" b="1">
                <a:solidFill>
                  <a:srgbClr val="087E79"/>
                </a:solidFill>
                <a:latin typeface="Arial"/>
                <a:ea typeface="Arial"/>
                <a:cs typeface="Arial"/>
              </a:defRPr>
            </a:lvl5pPr>
            <a:lvl6pPr>
              <a:defRPr sz="1200" b="1">
                <a:solidFill>
                  <a:srgbClr val="087E79"/>
                </a:solidFill>
                <a:latin typeface="Arial"/>
                <a:ea typeface="Arial"/>
                <a:cs typeface="Arial"/>
              </a:defRPr>
            </a:lvl6pPr>
            <a:lvl7pPr>
              <a:defRPr sz="1200" b="1">
                <a:solidFill>
                  <a:srgbClr val="087E79"/>
                </a:solidFill>
                <a:latin typeface="Arial"/>
                <a:ea typeface="Arial"/>
                <a:cs typeface="Arial"/>
              </a:defRPr>
            </a:lvl7pPr>
            <a:lvl8pPr>
              <a:defRPr sz="1200" b="1">
                <a:solidFill>
                  <a:srgbClr val="087E79"/>
                </a:solidFill>
                <a:latin typeface="Arial"/>
                <a:ea typeface="Arial"/>
                <a:cs typeface="Arial"/>
              </a:defRPr>
            </a:lvl8pPr>
            <a:lvl9pPr>
              <a:defRPr sz="1200" b="1">
                <a:solidFill>
                  <a:srgbClr val="087E79"/>
                </a:solidFill>
                <a:latin typeface="Arial"/>
                <a:ea typeface="Arial"/>
                <a:cs typeface="Arial"/>
              </a:defRPr>
            </a:lvl9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CHOOSE ONE CASE IN 30 SECONDS / PARTICIPANT PACK PAGES 2–5</a:t>
            </a:r>
          </a:p>
        </p:txBody>
      </p:sp>
      <p:sp>
        <p:nvSpPr>
          <p:cNvPr id="2" name="Four prepared incident cases">
            <a:extLst xmlns:a="http://schemas.openxmlformats.org/drawingml/2006/main">
              <a:ext uri="{FF2B5EF4-FFF2-40B4-BE49-F238E27FC236}">
                <a16:creationId xmlns:a16="http://schemas.microsoft.com/office/drawing/2014/main" id="{3387BB90-3C28-4EA4-9648-0EFB4817B9BA}"/>
              </a:ext>
            </a:extLst>
          </p:cNvPr>
          <p:cNvSpPr>
            <a:spLocks xmlns:a="http://schemas.openxmlformats.org/drawingml/2006/main" noGrp="1"/>
          </p:cNvSpPr>
          <p:nvPr>
            <p:ph type="title" idx="0"/>
          </p:nvPr>
        </p:nvSpPr>
        <p:spPr>
          <a:xfrm xmlns:a="http://schemas.openxmlformats.org/drawingml/2006/main">
            <a:off x="609600" y="91440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Four prepared incident cases</a:t>
            </a:r>
          </a:p>
        </p:txBody>
      </p:sp>
      <p:sp>
        <p:nvSpPr>
          <p:cNvPr id="3" name="CASE A · Library update &amp; egress&#10;Tables 1, 5, 9 ">
            <a:extLst xmlns:a="http://schemas.openxmlformats.org/drawingml/2006/main">
              <a:ext uri="{FF2B5EF4-FFF2-40B4-BE49-F238E27FC236}">
                <a16:creationId xmlns:a16="http://schemas.microsoft.com/office/drawing/2014/main" id="{B13FD443-3659-4FF8-A8DC-3CABB6358FCE}"/>
              </a:ext>
            </a:extLst>
          </p:cNvPr>
          <p:cNvSpPr>
            <a:spLocks xmlns:a="http://schemas.openxmlformats.org/drawingml/2006/main" noGrp="1"/>
          </p:cNvSpPr>
          <p:nvPr/>
        </p:nvSpPr>
        <p:spPr>
          <a:xfrm xmlns:a="http://schemas.openxmlformats.org/drawingml/2006/main">
            <a:off x="609600" y="1866900"/>
            <a:ext cx="5353050" cy="154305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650" b="0">
                <a:solidFill>
                  <a:srgbClr val="0B1822"/>
                </a:solidFill>
                <a:latin typeface="Arial"/>
                <a:ea typeface="Arial"/>
                <a:cs typeface="Arial"/>
              </a:defRPr>
            </a:defPPr>
            <a:lvl1pPr>
              <a:defRPr sz="1650" b="0">
                <a:solidFill>
                  <a:srgbClr val="0B1822"/>
                </a:solidFill>
                <a:latin typeface="Arial"/>
                <a:ea typeface="Arial"/>
                <a:cs typeface="Arial"/>
              </a:defRPr>
            </a:lvl1pPr>
            <a:lvl2pPr>
              <a:defRPr sz="1650" b="0">
                <a:solidFill>
                  <a:srgbClr val="0B1822"/>
                </a:solidFill>
                <a:latin typeface="Arial"/>
                <a:ea typeface="Arial"/>
                <a:cs typeface="Arial"/>
              </a:defRPr>
            </a:lvl2pPr>
            <a:lvl3pPr>
              <a:defRPr sz="1650" b="0">
                <a:solidFill>
                  <a:srgbClr val="0B1822"/>
                </a:solidFill>
                <a:latin typeface="Arial"/>
                <a:ea typeface="Arial"/>
                <a:cs typeface="Arial"/>
              </a:defRPr>
            </a:lvl3pPr>
            <a:lvl4pPr>
              <a:defRPr sz="1650" b="0">
                <a:solidFill>
                  <a:srgbClr val="0B1822"/>
                </a:solidFill>
                <a:latin typeface="Arial"/>
                <a:ea typeface="Arial"/>
                <a:cs typeface="Arial"/>
              </a:defRPr>
            </a:lvl4pPr>
            <a:lvl5pPr>
              <a:defRPr sz="1650" b="0">
                <a:solidFill>
                  <a:srgbClr val="0B1822"/>
                </a:solidFill>
                <a:latin typeface="Arial"/>
                <a:ea typeface="Arial"/>
                <a:cs typeface="Arial"/>
              </a:defRPr>
            </a:lvl5pPr>
            <a:lvl6pPr>
              <a:defRPr sz="1650" b="0">
                <a:solidFill>
                  <a:srgbClr val="0B1822"/>
                </a:solidFill>
                <a:latin typeface="Arial"/>
                <a:ea typeface="Arial"/>
                <a:cs typeface="Arial"/>
              </a:defRPr>
            </a:lvl6pPr>
            <a:lvl7pPr>
              <a:defRPr sz="1650" b="0">
                <a:solidFill>
                  <a:srgbClr val="0B1822"/>
                </a:solidFill>
                <a:latin typeface="Arial"/>
                <a:ea typeface="Arial"/>
                <a:cs typeface="Arial"/>
              </a:defRPr>
            </a:lvl7pPr>
            <a:lvl8pPr>
              <a:defRPr sz="1650" b="0">
                <a:solidFill>
                  <a:srgbClr val="0B1822"/>
                </a:solidFill>
                <a:latin typeface="Arial"/>
                <a:ea typeface="Arial"/>
                <a:cs typeface="Arial"/>
              </a:defRPr>
            </a:lvl8pPr>
            <a:lvl9pPr>
              <a:defRPr sz="1650" b="0">
                <a:solidFill>
                  <a:srgbClr val="0B1822"/>
                </a:solidFill>
                <a:latin typeface="Arial"/>
                <a:ea typeface="Arial"/>
                <a:cs typeface="Arial"/>
              </a:defRPr>
            </a:lvl9pPr>
          </a:lstStyle>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CASE A · Library update &amp; egress</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Tables 1, 5, 9 default</a:t>
            </a:r>
          </a:p>
          <a:p xmlns:a="http://schemas.openxmlformats.org/drawingml/2006/main">
            <a:r>
              <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A library update and unexpected payments traffic</a:t>
            </a:r>
          </a:p>
        </p:txBody>
      </p:sp>
      <p:sp>
        <p:nvSpPr>
          <p:cNvPr id="4" name="CASE B · Support assistant &amp; tools&#10;Tables 2, 6, ">
            <a:extLst xmlns:a="http://schemas.openxmlformats.org/drawingml/2006/main">
              <a:ext uri="{FF2B5EF4-FFF2-40B4-BE49-F238E27FC236}">
                <a16:creationId xmlns:a16="http://schemas.microsoft.com/office/drawing/2014/main" id="{73705DDF-2720-4A06-A06A-ECC62F59F7DF}"/>
              </a:ext>
            </a:extLst>
          </p:cNvPr>
          <p:cNvSpPr>
            <a:spLocks xmlns:a="http://schemas.openxmlformats.org/drawingml/2006/main" noGrp="1"/>
          </p:cNvSpPr>
          <p:nvPr/>
        </p:nvSpPr>
        <p:spPr>
          <a:xfrm xmlns:a="http://schemas.openxmlformats.org/drawingml/2006/main">
            <a:off x="6210300" y="1866900"/>
            <a:ext cx="5353050" cy="154305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650" b="0">
                <a:solidFill>
                  <a:srgbClr val="0B1822"/>
                </a:solidFill>
                <a:latin typeface="Arial"/>
                <a:ea typeface="Arial"/>
                <a:cs typeface="Arial"/>
              </a:defRPr>
            </a:defPPr>
            <a:lvl1pPr>
              <a:defRPr sz="1650" b="0">
                <a:solidFill>
                  <a:srgbClr val="0B1822"/>
                </a:solidFill>
                <a:latin typeface="Arial"/>
                <a:ea typeface="Arial"/>
                <a:cs typeface="Arial"/>
              </a:defRPr>
            </a:lvl1pPr>
            <a:lvl2pPr>
              <a:defRPr sz="1650" b="0">
                <a:solidFill>
                  <a:srgbClr val="0B1822"/>
                </a:solidFill>
                <a:latin typeface="Arial"/>
                <a:ea typeface="Arial"/>
                <a:cs typeface="Arial"/>
              </a:defRPr>
            </a:lvl2pPr>
            <a:lvl3pPr>
              <a:defRPr sz="1650" b="0">
                <a:solidFill>
                  <a:srgbClr val="0B1822"/>
                </a:solidFill>
                <a:latin typeface="Arial"/>
                <a:ea typeface="Arial"/>
                <a:cs typeface="Arial"/>
              </a:defRPr>
            </a:lvl3pPr>
            <a:lvl4pPr>
              <a:defRPr sz="1650" b="0">
                <a:solidFill>
                  <a:srgbClr val="0B1822"/>
                </a:solidFill>
                <a:latin typeface="Arial"/>
                <a:ea typeface="Arial"/>
                <a:cs typeface="Arial"/>
              </a:defRPr>
            </a:lvl4pPr>
            <a:lvl5pPr>
              <a:defRPr sz="1650" b="0">
                <a:solidFill>
                  <a:srgbClr val="0B1822"/>
                </a:solidFill>
                <a:latin typeface="Arial"/>
                <a:ea typeface="Arial"/>
                <a:cs typeface="Arial"/>
              </a:defRPr>
            </a:lvl5pPr>
            <a:lvl6pPr>
              <a:defRPr sz="1650" b="0">
                <a:solidFill>
                  <a:srgbClr val="0B1822"/>
                </a:solidFill>
                <a:latin typeface="Arial"/>
                <a:ea typeface="Arial"/>
                <a:cs typeface="Arial"/>
              </a:defRPr>
            </a:lvl6pPr>
            <a:lvl7pPr>
              <a:defRPr sz="1650" b="0">
                <a:solidFill>
                  <a:srgbClr val="0B1822"/>
                </a:solidFill>
                <a:latin typeface="Arial"/>
                <a:ea typeface="Arial"/>
                <a:cs typeface="Arial"/>
              </a:defRPr>
            </a:lvl7pPr>
            <a:lvl8pPr>
              <a:defRPr sz="1650" b="0">
                <a:solidFill>
                  <a:srgbClr val="0B1822"/>
                </a:solidFill>
                <a:latin typeface="Arial"/>
                <a:ea typeface="Arial"/>
                <a:cs typeface="Arial"/>
              </a:defRPr>
            </a:lvl8pPr>
            <a:lvl9pPr>
              <a:defRPr sz="1650" b="0">
                <a:solidFill>
                  <a:srgbClr val="0B1822"/>
                </a:solidFill>
                <a:latin typeface="Arial"/>
                <a:ea typeface="Arial"/>
                <a:cs typeface="Arial"/>
              </a:defRPr>
            </a:lvl9pPr>
          </a:lstStyle>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CASE B · Support assistant &amp; tools</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Tables 2, 6, 10 default</a:t>
            </a:r>
          </a:p>
          <a:p xmlns:a="http://schemas.openxmlformats.org/drawingml/2006/main">
            <a:r>
              <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A ticket-reading assistant and unexpected tool activity</a:t>
            </a:r>
          </a:p>
        </p:txBody>
      </p:sp>
      <p:sp>
        <p:nvSpPr>
          <p:cNvPr id="5" name="CASE C · Unapproved replica changes&#10;Tables 3, 7,">
            <a:extLst xmlns:a="http://schemas.openxmlformats.org/drawingml/2006/main">
              <a:ext uri="{FF2B5EF4-FFF2-40B4-BE49-F238E27FC236}">
                <a16:creationId xmlns:a16="http://schemas.microsoft.com/office/drawing/2014/main" id="{0E325047-6782-4219-9020-266C52D51F01}"/>
              </a:ext>
            </a:extLst>
          </p:cNvPr>
          <p:cNvSpPr>
            <a:spLocks xmlns:a="http://schemas.openxmlformats.org/drawingml/2006/main" noGrp="1"/>
          </p:cNvSpPr>
          <p:nvPr/>
        </p:nvSpPr>
        <p:spPr>
          <a:xfrm xmlns:a="http://schemas.openxmlformats.org/drawingml/2006/main">
            <a:off x="609600" y="3581400"/>
            <a:ext cx="5353050" cy="154305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650" b="0">
                <a:solidFill>
                  <a:srgbClr val="0B1822"/>
                </a:solidFill>
                <a:latin typeface="Arial"/>
                <a:ea typeface="Arial"/>
                <a:cs typeface="Arial"/>
              </a:defRPr>
            </a:defPPr>
            <a:lvl1pPr>
              <a:defRPr sz="1650" b="0">
                <a:solidFill>
                  <a:srgbClr val="0B1822"/>
                </a:solidFill>
                <a:latin typeface="Arial"/>
                <a:ea typeface="Arial"/>
                <a:cs typeface="Arial"/>
              </a:defRPr>
            </a:lvl1pPr>
            <a:lvl2pPr>
              <a:defRPr sz="1650" b="0">
                <a:solidFill>
                  <a:srgbClr val="0B1822"/>
                </a:solidFill>
                <a:latin typeface="Arial"/>
                <a:ea typeface="Arial"/>
                <a:cs typeface="Arial"/>
              </a:defRPr>
            </a:lvl2pPr>
            <a:lvl3pPr>
              <a:defRPr sz="1650" b="0">
                <a:solidFill>
                  <a:srgbClr val="0B1822"/>
                </a:solidFill>
                <a:latin typeface="Arial"/>
                <a:ea typeface="Arial"/>
                <a:cs typeface="Arial"/>
              </a:defRPr>
            </a:lvl3pPr>
            <a:lvl4pPr>
              <a:defRPr sz="1650" b="0">
                <a:solidFill>
                  <a:srgbClr val="0B1822"/>
                </a:solidFill>
                <a:latin typeface="Arial"/>
                <a:ea typeface="Arial"/>
                <a:cs typeface="Arial"/>
              </a:defRPr>
            </a:lvl4pPr>
            <a:lvl5pPr>
              <a:defRPr sz="1650" b="0">
                <a:solidFill>
                  <a:srgbClr val="0B1822"/>
                </a:solidFill>
                <a:latin typeface="Arial"/>
                <a:ea typeface="Arial"/>
                <a:cs typeface="Arial"/>
              </a:defRPr>
            </a:lvl5pPr>
            <a:lvl6pPr>
              <a:defRPr sz="1650" b="0">
                <a:solidFill>
                  <a:srgbClr val="0B1822"/>
                </a:solidFill>
                <a:latin typeface="Arial"/>
                <a:ea typeface="Arial"/>
                <a:cs typeface="Arial"/>
              </a:defRPr>
            </a:lvl6pPr>
            <a:lvl7pPr>
              <a:defRPr sz="1650" b="0">
                <a:solidFill>
                  <a:srgbClr val="0B1822"/>
                </a:solidFill>
                <a:latin typeface="Arial"/>
                <a:ea typeface="Arial"/>
                <a:cs typeface="Arial"/>
              </a:defRPr>
            </a:lvl7pPr>
            <a:lvl8pPr>
              <a:defRPr sz="1650" b="0">
                <a:solidFill>
                  <a:srgbClr val="0B1822"/>
                </a:solidFill>
                <a:latin typeface="Arial"/>
                <a:ea typeface="Arial"/>
                <a:cs typeface="Arial"/>
              </a:defRPr>
            </a:lvl8pPr>
            <a:lvl9pPr>
              <a:defRPr sz="1650" b="0">
                <a:solidFill>
                  <a:srgbClr val="0B1822"/>
                </a:solidFill>
                <a:latin typeface="Arial"/>
                <a:ea typeface="Arial"/>
                <a:cs typeface="Arial"/>
              </a:defRPr>
            </a:lvl9pPr>
          </a:lstStyle>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CASE C · Unapproved replica changes</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Tables 3, 7, 11 default</a:t>
            </a:r>
          </a:p>
          <a:p xmlns:a="http://schemas.openxmlformats.org/drawingml/2006/main">
            <a:r>
              <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An ops agent changes application copies without a ticket</a:t>
            </a:r>
          </a:p>
        </p:txBody>
      </p:sp>
      <p:sp>
        <p:nvSpPr>
          <p:cNvPr id="6" name="CASE D · Cross-namespace Secret reads&#10;Tables 4, ">
            <a:extLst xmlns:a="http://schemas.openxmlformats.org/drawingml/2006/main">
              <a:ext uri="{FF2B5EF4-FFF2-40B4-BE49-F238E27FC236}">
                <a16:creationId xmlns:a16="http://schemas.microsoft.com/office/drawing/2014/main" id="{39FE878E-E961-4699-94F5-49EA27A1681D}"/>
              </a:ext>
            </a:extLst>
          </p:cNvPr>
          <p:cNvSpPr>
            <a:spLocks xmlns:a="http://schemas.openxmlformats.org/drawingml/2006/main" noGrp="1"/>
          </p:cNvSpPr>
          <p:nvPr/>
        </p:nvSpPr>
        <p:spPr>
          <a:xfrm xmlns:a="http://schemas.openxmlformats.org/drawingml/2006/main">
            <a:off x="6210300" y="3581400"/>
            <a:ext cx="5353050" cy="1543050"/>
          </a:xfrm>
          <a:prstGeom xmlns:a="http://schemas.openxmlformats.org/drawingml/2006/main" prst="rect">
            <a:avLst/>
          </a:prstGeom>
          <a:solidFill xmlns:a="http://schemas.openxmlformats.org/drawingml/2006/main">
            <a:srgbClr val="FFFFFF"/>
          </a:solidFill>
          <a:ln xmlns:a="http://schemas.openxmlformats.org/drawingml/2006/main" w="28575">
            <a:solidFill>
              <a:srgbClr val="FF795B"/>
            </a:solidFill>
          </a:ln>
        </p:spPr>
        <p:txBody>
          <a:bodyPr xmlns:a="http://schemas.openxmlformats.org/drawingml/2006/main"/>
          <a:lstStyle xmlns:a="http://schemas.openxmlformats.org/drawingml/2006/main">
            <a:defPPr>
              <a:defRPr sz="1650" b="0">
                <a:solidFill>
                  <a:srgbClr val="0B1822"/>
                </a:solidFill>
                <a:latin typeface="Arial"/>
                <a:ea typeface="Arial"/>
                <a:cs typeface="Arial"/>
              </a:defRPr>
            </a:defPPr>
            <a:lvl1pPr>
              <a:defRPr sz="1650" b="0">
                <a:solidFill>
                  <a:srgbClr val="0B1822"/>
                </a:solidFill>
                <a:latin typeface="Arial"/>
                <a:ea typeface="Arial"/>
                <a:cs typeface="Arial"/>
              </a:defRPr>
            </a:lvl1pPr>
            <a:lvl2pPr>
              <a:defRPr sz="1650" b="0">
                <a:solidFill>
                  <a:srgbClr val="0B1822"/>
                </a:solidFill>
                <a:latin typeface="Arial"/>
                <a:ea typeface="Arial"/>
                <a:cs typeface="Arial"/>
              </a:defRPr>
            </a:lvl2pPr>
            <a:lvl3pPr>
              <a:defRPr sz="1650" b="0">
                <a:solidFill>
                  <a:srgbClr val="0B1822"/>
                </a:solidFill>
                <a:latin typeface="Arial"/>
                <a:ea typeface="Arial"/>
                <a:cs typeface="Arial"/>
              </a:defRPr>
            </a:lvl3pPr>
            <a:lvl4pPr>
              <a:defRPr sz="1650" b="0">
                <a:solidFill>
                  <a:srgbClr val="0B1822"/>
                </a:solidFill>
                <a:latin typeface="Arial"/>
                <a:ea typeface="Arial"/>
                <a:cs typeface="Arial"/>
              </a:defRPr>
            </a:lvl4pPr>
            <a:lvl5pPr>
              <a:defRPr sz="1650" b="0">
                <a:solidFill>
                  <a:srgbClr val="0B1822"/>
                </a:solidFill>
                <a:latin typeface="Arial"/>
                <a:ea typeface="Arial"/>
                <a:cs typeface="Arial"/>
              </a:defRPr>
            </a:lvl5pPr>
            <a:lvl6pPr>
              <a:defRPr sz="1650" b="0">
                <a:solidFill>
                  <a:srgbClr val="0B1822"/>
                </a:solidFill>
                <a:latin typeface="Arial"/>
                <a:ea typeface="Arial"/>
                <a:cs typeface="Arial"/>
              </a:defRPr>
            </a:lvl6pPr>
            <a:lvl7pPr>
              <a:defRPr sz="1650" b="0">
                <a:solidFill>
                  <a:srgbClr val="0B1822"/>
                </a:solidFill>
                <a:latin typeface="Arial"/>
                <a:ea typeface="Arial"/>
                <a:cs typeface="Arial"/>
              </a:defRPr>
            </a:lvl7pPr>
            <a:lvl8pPr>
              <a:defRPr sz="1650" b="0">
                <a:solidFill>
                  <a:srgbClr val="0B1822"/>
                </a:solidFill>
                <a:latin typeface="Arial"/>
                <a:ea typeface="Arial"/>
                <a:cs typeface="Arial"/>
              </a:defRPr>
            </a:lvl8pPr>
            <a:lvl9pPr>
              <a:defRPr sz="1650" b="0">
                <a:solidFill>
                  <a:srgbClr val="0B1822"/>
                </a:solidFill>
                <a:latin typeface="Arial"/>
                <a:ea typeface="Arial"/>
                <a:cs typeface="Arial"/>
              </a:defRPr>
            </a:lvl9pPr>
          </a:lstStyle>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CASE D · Cross-namespace Secret reads</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Tables 4, 8, 12 default</a:t>
            </a:r>
          </a:p>
          <a:p xmlns:a="http://schemas.openxmlformats.org/drawingml/2006/main">
            <a:r>
              <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A monitoring identity lists credential records across groups</a:t>
            </a:r>
          </a:p>
        </p:txBody>
      </p:sp>
      <p:sp>
        <p:nvSpPr>
          <p:cNvPr id="7" name="FAST START: Take your table’s default case above">
            <a:extLst xmlns:a="http://schemas.openxmlformats.org/drawingml/2006/main">
              <a:ext uri="{FF2B5EF4-FFF2-40B4-BE49-F238E27FC236}">
                <a16:creationId xmlns:a16="http://schemas.microsoft.com/office/drawing/2014/main" id="{1544995A-DA17-46CA-B969-3880AF0D2145}"/>
              </a:ext>
            </a:extLst>
          </p:cNvPr>
          <p:cNvSpPr>
            <a:spLocks xmlns:a="http://schemas.openxmlformats.org/drawingml/2006/main" noGrp="1"/>
          </p:cNvSpPr>
          <p:nvPr/>
        </p:nvSpPr>
        <p:spPr>
          <a:xfrm xmlns:a="http://schemas.openxmlformats.org/drawingml/2006/main">
            <a:off x="609600" y="5391150"/>
            <a:ext cx="10953750" cy="6667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650" b="1">
                <a:solidFill>
                  <a:srgbClr val="F2EFE7"/>
                </a:solidFill>
                <a:latin typeface="Arial"/>
                <a:ea typeface="Arial"/>
                <a:cs typeface="Arial"/>
              </a:defRPr>
            </a:defPPr>
            <a:lvl1pPr>
              <a:defRPr sz="1650" b="1">
                <a:solidFill>
                  <a:srgbClr val="F2EFE7"/>
                </a:solidFill>
                <a:latin typeface="Arial"/>
                <a:ea typeface="Arial"/>
                <a:cs typeface="Arial"/>
              </a:defRPr>
            </a:lvl1pPr>
            <a:lvl2pPr>
              <a:defRPr sz="1650" b="1">
                <a:solidFill>
                  <a:srgbClr val="F2EFE7"/>
                </a:solidFill>
                <a:latin typeface="Arial"/>
                <a:ea typeface="Arial"/>
                <a:cs typeface="Arial"/>
              </a:defRPr>
            </a:lvl2pPr>
            <a:lvl3pPr>
              <a:defRPr sz="1650" b="1">
                <a:solidFill>
                  <a:srgbClr val="F2EFE7"/>
                </a:solidFill>
                <a:latin typeface="Arial"/>
                <a:ea typeface="Arial"/>
                <a:cs typeface="Arial"/>
              </a:defRPr>
            </a:lvl3pPr>
            <a:lvl4pPr>
              <a:defRPr sz="1650" b="1">
                <a:solidFill>
                  <a:srgbClr val="F2EFE7"/>
                </a:solidFill>
                <a:latin typeface="Arial"/>
                <a:ea typeface="Arial"/>
                <a:cs typeface="Arial"/>
              </a:defRPr>
            </a:lvl4pPr>
            <a:lvl5pPr>
              <a:defRPr sz="1650" b="1">
                <a:solidFill>
                  <a:srgbClr val="F2EFE7"/>
                </a:solidFill>
                <a:latin typeface="Arial"/>
                <a:ea typeface="Arial"/>
                <a:cs typeface="Arial"/>
              </a:defRPr>
            </a:lvl5pPr>
            <a:lvl6pPr>
              <a:defRPr sz="1650" b="1">
                <a:solidFill>
                  <a:srgbClr val="F2EFE7"/>
                </a:solidFill>
                <a:latin typeface="Arial"/>
                <a:ea typeface="Arial"/>
                <a:cs typeface="Arial"/>
              </a:defRPr>
            </a:lvl6pPr>
            <a:lvl7pPr>
              <a:defRPr sz="1650" b="1">
                <a:solidFill>
                  <a:srgbClr val="F2EFE7"/>
                </a:solidFill>
                <a:latin typeface="Arial"/>
                <a:ea typeface="Arial"/>
                <a:cs typeface="Arial"/>
              </a:defRPr>
            </a:lvl7pPr>
            <a:lvl8pPr>
              <a:defRPr sz="1650" b="1">
                <a:solidFill>
                  <a:srgbClr val="F2EFE7"/>
                </a:solidFill>
                <a:latin typeface="Arial"/>
                <a:ea typeface="Arial"/>
                <a:cs typeface="Arial"/>
              </a:defRPr>
            </a:lvl8pPr>
            <a:lvl9pPr>
              <a:defRPr sz="1650" b="1">
                <a:solidFill>
                  <a:srgbClr val="F2EFE7"/>
                </a:solidFill>
                <a:latin typeface="Arial"/>
                <a:ea typeface="Arial"/>
                <a:cs typeface="Arial"/>
              </a:defRPr>
            </a:lvl9pPr>
          </a:lstStyle>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FAST START: Take your table’s default case above (or pick any case in 30 seconds). Keep pages 8–9 sealed.</a:t>
            </a:r>
          </a:p>
        </p:txBody>
      </p:sp>
      <p:sp>
        <p:nvSpPr>
          <p:cNvPr id="8" name="ISC2 SECURITY CONGRESS 2026 / SC2632">
            <a:extLst xmlns:a="http://schemas.openxmlformats.org/drawingml/2006/main">
              <a:ext uri="{FF2B5EF4-FFF2-40B4-BE49-F238E27FC236}">
                <a16:creationId xmlns:a16="http://schemas.microsoft.com/office/drawing/2014/main" id="{405820B9-6108-45C7-A9FB-1D5674EB8F1F}"/>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9" name="13">
            <a:extLst xmlns:a="http://schemas.openxmlformats.org/drawingml/2006/main">
              <a:ext uri="{FF2B5EF4-FFF2-40B4-BE49-F238E27FC236}">
                <a16:creationId xmlns:a16="http://schemas.microsoft.com/office/drawing/2014/main" id="{C040BA3A-D28F-4F3B-9904-A4C80BE34144}"/>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13</a:t>
            </a:r>
          </a:p>
        </p:txBody>
      </p:sp>
    </p:spTree>
    <p:extLst>
      <p:ext uri="{BB962C8B-B14F-4D97-AF65-F5344CB8AC3E}">
        <p14:creationId xmlns:p14="http://schemas.microsoft.com/office/powerpoint/2010/main" val="1723534591"/>
      </p:ext>
    </p:extLst>
  </p:cSld>
</p:sld>
</file>

<file path=ppt/slides/slide14.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10" name="PICK YOUR OPERATING CONSTRAINT / RECORD ON PAGE ">
            <a:extLst xmlns:a="http://schemas.openxmlformats.org/drawingml/2006/main">
              <a:ext uri="{FF2B5EF4-FFF2-40B4-BE49-F238E27FC236}">
                <a16:creationId xmlns:a16="http://schemas.microsoft.com/office/drawing/2014/main" id="{74414485-6EB4-42E4-BC37-57D355E7C7B8}"/>
              </a:ext>
            </a:extLst>
          </p:cNvPr>
          <p:cNvSpPr>
            <a:spLocks xmlns:a="http://schemas.openxmlformats.org/drawingml/2006/main" noGrp="1"/>
          </p:cNvSpPr>
          <p:nvPr/>
        </p:nvSpPr>
        <p:spPr>
          <a:xfrm xmlns:a="http://schemas.openxmlformats.org/drawingml/2006/main">
            <a:off x="609600" y="438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vl1pPr>
              <a:defRPr sz="1200" b="1">
                <a:solidFill>
                  <a:srgbClr val="087E79"/>
                </a:solidFill>
                <a:latin typeface="Arial"/>
                <a:ea typeface="Arial"/>
                <a:cs typeface="Arial"/>
              </a:defRPr>
            </a:lvl1pPr>
            <a:lvl2pPr>
              <a:defRPr sz="1200" b="1">
                <a:solidFill>
                  <a:srgbClr val="087E79"/>
                </a:solidFill>
                <a:latin typeface="Arial"/>
                <a:ea typeface="Arial"/>
                <a:cs typeface="Arial"/>
              </a:defRPr>
            </a:lvl2pPr>
            <a:lvl3pPr>
              <a:defRPr sz="1200" b="1">
                <a:solidFill>
                  <a:srgbClr val="087E79"/>
                </a:solidFill>
                <a:latin typeface="Arial"/>
                <a:ea typeface="Arial"/>
                <a:cs typeface="Arial"/>
              </a:defRPr>
            </a:lvl3pPr>
            <a:lvl4pPr>
              <a:defRPr sz="1200" b="1">
                <a:solidFill>
                  <a:srgbClr val="087E79"/>
                </a:solidFill>
                <a:latin typeface="Arial"/>
                <a:ea typeface="Arial"/>
                <a:cs typeface="Arial"/>
              </a:defRPr>
            </a:lvl4pPr>
            <a:lvl5pPr>
              <a:defRPr sz="1200" b="1">
                <a:solidFill>
                  <a:srgbClr val="087E79"/>
                </a:solidFill>
                <a:latin typeface="Arial"/>
                <a:ea typeface="Arial"/>
                <a:cs typeface="Arial"/>
              </a:defRPr>
            </a:lvl5pPr>
            <a:lvl6pPr>
              <a:defRPr sz="1200" b="1">
                <a:solidFill>
                  <a:srgbClr val="087E79"/>
                </a:solidFill>
                <a:latin typeface="Arial"/>
                <a:ea typeface="Arial"/>
                <a:cs typeface="Arial"/>
              </a:defRPr>
            </a:lvl6pPr>
            <a:lvl7pPr>
              <a:defRPr sz="1200" b="1">
                <a:solidFill>
                  <a:srgbClr val="087E79"/>
                </a:solidFill>
                <a:latin typeface="Arial"/>
                <a:ea typeface="Arial"/>
                <a:cs typeface="Arial"/>
              </a:defRPr>
            </a:lvl7pPr>
            <a:lvl8pPr>
              <a:defRPr sz="1200" b="1">
                <a:solidFill>
                  <a:srgbClr val="087E79"/>
                </a:solidFill>
                <a:latin typeface="Arial"/>
                <a:ea typeface="Arial"/>
                <a:cs typeface="Arial"/>
              </a:defRPr>
            </a:lvl8pPr>
            <a:lvl9pPr>
              <a:defRPr sz="1200" b="1">
                <a:solidFill>
                  <a:srgbClr val="087E79"/>
                </a:solidFill>
                <a:latin typeface="Arial"/>
                <a:ea typeface="Arial"/>
                <a:cs typeface="Arial"/>
              </a:defRPr>
            </a:lvl9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PICK YOUR OPERATING CONSTRAINT / RECORD ON PAGE 6</a:t>
            </a:r>
          </a:p>
        </p:txBody>
      </p:sp>
      <p:sp>
        <p:nvSpPr>
          <p:cNvPr id="2" name="Operational constraints &amp; service floor">
            <a:extLst xmlns:a="http://schemas.openxmlformats.org/drawingml/2006/main">
              <a:ext uri="{FF2B5EF4-FFF2-40B4-BE49-F238E27FC236}">
                <a16:creationId xmlns:a16="http://schemas.microsoft.com/office/drawing/2014/main" id="{B7DB984D-D688-4FA6-AF60-D981C5FC635E}"/>
              </a:ext>
            </a:extLst>
          </p:cNvPr>
          <p:cNvSpPr>
            <a:spLocks xmlns:a="http://schemas.openxmlformats.org/drawingml/2006/main" noGrp="1"/>
          </p:cNvSpPr>
          <p:nvPr>
            <p:ph type="title" idx="0"/>
          </p:nvPr>
        </p:nvSpPr>
        <p:spPr>
          <a:xfrm xmlns:a="http://schemas.openxmlformats.org/drawingml/2006/main">
            <a:off x="609600" y="91440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1822"/>
                </a:solidFill>
                <a:latin typeface="Arial Black"/>
                <a:ea typeface="Arial Black"/>
                <a:cs typeface="Arial Black"/>
              </a:defRPr>
            </a:defPPr>
            <a:lvl1pPr>
              <a:defRPr sz="3450" b="1">
                <a:solidFill>
                  <a:srgbClr val="0B1822"/>
                </a:solidFill>
                <a:latin typeface="Arial Black"/>
                <a:ea typeface="Arial Black"/>
                <a:cs typeface="Arial Black"/>
              </a:defRPr>
            </a:lvl1pPr>
            <a:lvl2pPr>
              <a:defRPr sz="3450" b="1">
                <a:solidFill>
                  <a:srgbClr val="0B1822"/>
                </a:solidFill>
                <a:latin typeface="Arial Black"/>
                <a:ea typeface="Arial Black"/>
                <a:cs typeface="Arial Black"/>
              </a:defRPr>
            </a:lvl2pPr>
            <a:lvl3pPr>
              <a:defRPr sz="3450" b="1">
                <a:solidFill>
                  <a:srgbClr val="0B1822"/>
                </a:solidFill>
                <a:latin typeface="Arial Black"/>
                <a:ea typeface="Arial Black"/>
                <a:cs typeface="Arial Black"/>
              </a:defRPr>
            </a:lvl3pPr>
            <a:lvl4pPr>
              <a:defRPr sz="3450" b="1">
                <a:solidFill>
                  <a:srgbClr val="0B1822"/>
                </a:solidFill>
                <a:latin typeface="Arial Black"/>
                <a:ea typeface="Arial Black"/>
                <a:cs typeface="Arial Black"/>
              </a:defRPr>
            </a:lvl4pPr>
            <a:lvl5pPr>
              <a:defRPr sz="3450" b="1">
                <a:solidFill>
                  <a:srgbClr val="0B1822"/>
                </a:solidFill>
                <a:latin typeface="Arial Black"/>
                <a:ea typeface="Arial Black"/>
                <a:cs typeface="Arial Black"/>
              </a:defRPr>
            </a:lvl5pPr>
            <a:lvl6pPr>
              <a:defRPr sz="3450" b="1">
                <a:solidFill>
                  <a:srgbClr val="0B1822"/>
                </a:solidFill>
                <a:latin typeface="Arial Black"/>
                <a:ea typeface="Arial Black"/>
                <a:cs typeface="Arial Black"/>
              </a:defRPr>
            </a:lvl6pPr>
            <a:lvl7pPr>
              <a:defRPr sz="3450" b="1">
                <a:solidFill>
                  <a:srgbClr val="0B1822"/>
                </a:solidFill>
                <a:latin typeface="Arial Black"/>
                <a:ea typeface="Arial Black"/>
                <a:cs typeface="Arial Black"/>
              </a:defRPr>
            </a:lvl7pPr>
            <a:lvl8pPr>
              <a:defRPr sz="3450" b="1">
                <a:solidFill>
                  <a:srgbClr val="0B1822"/>
                </a:solidFill>
                <a:latin typeface="Arial Black"/>
                <a:ea typeface="Arial Black"/>
                <a:cs typeface="Arial Black"/>
              </a:defRPr>
            </a:lvl8pPr>
            <a:lvl9pPr>
              <a:defRPr sz="3450" b="1">
                <a:solidFill>
                  <a:srgbClr val="0B1822"/>
                </a:solidFill>
                <a:latin typeface="Arial Black"/>
                <a:ea typeface="Arial Black"/>
                <a:cs typeface="Arial Black"/>
              </a:defRPr>
            </a:lvl9pPr>
          </a:lstStyle>
          <a:p xmlns:a="http://schemas.openxmlformats.org/drawingml/2006/main">
            <a:pPr>
              <a:defRPr sz="3450" b="1">
                <a:solidFill>
                  <a:srgbClr val="0B1822"/>
                </a:solidFill>
                <a:latin typeface="Arial Black"/>
                <a:ea typeface="Arial Black"/>
                <a:cs typeface="Arial Black"/>
              </a:defRPr>
            </a:pPr>
            <a:r>
              <a:rPr sz="3450" b="1">
                <a:solidFill>
                  <a:srgbClr val="0B1822"/>
                </a:solidFill>
                <a:latin typeface="Arial Black"/>
                <a:ea typeface="Arial Black"/>
                <a:cs typeface="Arial Black"/>
              </a:rPr>
              <a:t>Operational constraints &amp; service floor</a:t>
            </a:r>
          </a:p>
        </p:txBody>
      </p:sp>
      <p:sp>
        <p:nvSpPr>
          <p:cNvPr id="3" name="AVAILABILITY FIRST&#10;&#10;Keep two healthy application">
            <a:extLst xmlns:a="http://schemas.openxmlformats.org/drawingml/2006/main">
              <a:ext uri="{FF2B5EF4-FFF2-40B4-BE49-F238E27FC236}">
                <a16:creationId xmlns:a16="http://schemas.microsoft.com/office/drawing/2014/main" id="{C20E054B-3C26-4AB0-B4C9-6BB7D605D08C}"/>
              </a:ext>
            </a:extLst>
          </p:cNvPr>
          <p:cNvSpPr>
            <a:spLocks xmlns:a="http://schemas.openxmlformats.org/drawingml/2006/main" noGrp="1"/>
          </p:cNvSpPr>
          <p:nvPr/>
        </p:nvSpPr>
        <p:spPr>
          <a:xfrm xmlns:a="http://schemas.openxmlformats.org/drawingml/2006/main">
            <a:off x="609600" y="1866900"/>
            <a:ext cx="5353050" cy="154305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725" b="0">
                <a:solidFill>
                  <a:srgbClr val="0B1822"/>
                </a:solidFill>
                <a:latin typeface="Arial"/>
                <a:ea typeface="Arial"/>
                <a:cs typeface="Arial"/>
              </a:defRPr>
            </a:defPPr>
            <a:lvl1pPr>
              <a:defRPr sz="1725" b="0">
                <a:solidFill>
                  <a:srgbClr val="0B1822"/>
                </a:solidFill>
                <a:latin typeface="Arial"/>
                <a:ea typeface="Arial"/>
                <a:cs typeface="Arial"/>
              </a:defRPr>
            </a:lvl1pPr>
            <a:lvl2pPr>
              <a:defRPr sz="1725" b="0">
                <a:solidFill>
                  <a:srgbClr val="0B1822"/>
                </a:solidFill>
                <a:latin typeface="Arial"/>
                <a:ea typeface="Arial"/>
                <a:cs typeface="Arial"/>
              </a:defRPr>
            </a:lvl2pPr>
            <a:lvl3pPr>
              <a:defRPr sz="1725" b="0">
                <a:solidFill>
                  <a:srgbClr val="0B1822"/>
                </a:solidFill>
                <a:latin typeface="Arial"/>
                <a:ea typeface="Arial"/>
                <a:cs typeface="Arial"/>
              </a:defRPr>
            </a:lvl3pPr>
            <a:lvl4pPr>
              <a:defRPr sz="1725" b="0">
                <a:solidFill>
                  <a:srgbClr val="0B1822"/>
                </a:solidFill>
                <a:latin typeface="Arial"/>
                <a:ea typeface="Arial"/>
                <a:cs typeface="Arial"/>
              </a:defRPr>
            </a:lvl4pPr>
            <a:lvl5pPr>
              <a:defRPr sz="1725" b="0">
                <a:solidFill>
                  <a:srgbClr val="0B1822"/>
                </a:solidFill>
                <a:latin typeface="Arial"/>
                <a:ea typeface="Arial"/>
                <a:cs typeface="Arial"/>
              </a:defRPr>
            </a:lvl5pPr>
            <a:lvl6pPr>
              <a:defRPr sz="1725" b="0">
                <a:solidFill>
                  <a:srgbClr val="0B1822"/>
                </a:solidFill>
                <a:latin typeface="Arial"/>
                <a:ea typeface="Arial"/>
                <a:cs typeface="Arial"/>
              </a:defRPr>
            </a:lvl6pPr>
            <a:lvl7pPr>
              <a:defRPr sz="1725" b="0">
                <a:solidFill>
                  <a:srgbClr val="0B1822"/>
                </a:solidFill>
                <a:latin typeface="Arial"/>
                <a:ea typeface="Arial"/>
                <a:cs typeface="Arial"/>
              </a:defRPr>
            </a:lvl7pPr>
            <a:lvl8pPr>
              <a:defRPr sz="1725" b="0">
                <a:solidFill>
                  <a:srgbClr val="0B1822"/>
                </a:solidFill>
                <a:latin typeface="Arial"/>
                <a:ea typeface="Arial"/>
                <a:cs typeface="Arial"/>
              </a:defRPr>
            </a:lvl8pPr>
            <a:lvl9pPr>
              <a:defRPr sz="1725" b="0">
                <a:solidFill>
                  <a:srgbClr val="0B1822"/>
                </a:solidFill>
                <a:latin typeface="Arial"/>
                <a:ea typeface="Arial"/>
                <a:cs typeface="Arial"/>
              </a:defRPr>
            </a:lvl9pPr>
          </a:lstStyle>
          <a:p xmlns:a="http://schemas.openxmlformats.org/drawingml/2006/main">
            <a:pPr>
              <a:defRPr sz="1725" b="0">
                <a:solidFill>
                  <a:srgbClr val="0B1822"/>
                </a:solidFill>
                <a:latin typeface="Arial"/>
                <a:ea typeface="Arial"/>
                <a:cs typeface="Arial"/>
              </a:defRPr>
            </a:pPr>
            <a:r>
              <a:rPr sz="1725" b="0">
                <a:solidFill>
                  <a:srgbClr val="0B1822"/>
                </a:solidFill>
                <a:latin typeface="Arial"/>
                <a:ea typeface="Arial"/>
                <a:cs typeface="Arial"/>
              </a:rPr>
              <a:t>AVAILABILITY FIRST</a:t>
            </a:r>
          </a:p>
          <a:p xmlns:a="http://schemas.openxmlformats.org/drawingml/2006/main">
            <a:r>
              <a:t/>
            </a:r>
          </a:p>
          <a:p xmlns:a="http://schemas.openxmlformats.org/drawingml/2006/main">
            <a:pPr>
              <a:defRPr sz="1725" b="0">
                <a:solidFill>
                  <a:srgbClr val="0B1822"/>
                </a:solidFill>
                <a:latin typeface="Arial"/>
                <a:ea typeface="Arial"/>
                <a:cs typeface="Arial"/>
              </a:defRPr>
            </a:pPr>
            <a:r>
              <a:rPr sz="1725" b="0">
                <a:solidFill>
                  <a:srgbClr val="0B1822"/>
                </a:solidFill>
                <a:latin typeface="Arial"/>
                <a:ea typeface="Arial"/>
                <a:cs typeface="Arial"/>
              </a:rPr>
              <a:t>Keep two healthy application copies and required connections.</a:t>
            </a:r>
          </a:p>
        </p:txBody>
      </p:sp>
      <p:sp>
        <p:nvSpPr>
          <p:cNvPr id="4" name="EVIDENCE FIRST&#10;&#10;Preserve evidence and record eve">
            <a:extLst xmlns:a="http://schemas.openxmlformats.org/drawingml/2006/main">
              <a:ext uri="{FF2B5EF4-FFF2-40B4-BE49-F238E27FC236}">
                <a16:creationId xmlns:a16="http://schemas.microsoft.com/office/drawing/2014/main" id="{3CCC79E2-6752-4CED-AE5F-3D46CE71BDE4}"/>
              </a:ext>
            </a:extLst>
          </p:cNvPr>
          <p:cNvSpPr>
            <a:spLocks xmlns:a="http://schemas.openxmlformats.org/drawingml/2006/main" noGrp="1"/>
          </p:cNvSpPr>
          <p:nvPr/>
        </p:nvSpPr>
        <p:spPr>
          <a:xfrm xmlns:a="http://schemas.openxmlformats.org/drawingml/2006/main">
            <a:off x="6210300" y="1866900"/>
            <a:ext cx="5353050" cy="154305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725" b="0">
                <a:solidFill>
                  <a:srgbClr val="0B1822"/>
                </a:solidFill>
                <a:latin typeface="Arial"/>
                <a:ea typeface="Arial"/>
                <a:cs typeface="Arial"/>
              </a:defRPr>
            </a:defPPr>
            <a:lvl1pPr>
              <a:defRPr sz="1725" b="0">
                <a:solidFill>
                  <a:srgbClr val="0B1822"/>
                </a:solidFill>
                <a:latin typeface="Arial"/>
                <a:ea typeface="Arial"/>
                <a:cs typeface="Arial"/>
              </a:defRPr>
            </a:lvl1pPr>
            <a:lvl2pPr>
              <a:defRPr sz="1725" b="0">
                <a:solidFill>
                  <a:srgbClr val="0B1822"/>
                </a:solidFill>
                <a:latin typeface="Arial"/>
                <a:ea typeface="Arial"/>
                <a:cs typeface="Arial"/>
              </a:defRPr>
            </a:lvl2pPr>
            <a:lvl3pPr>
              <a:defRPr sz="1725" b="0">
                <a:solidFill>
                  <a:srgbClr val="0B1822"/>
                </a:solidFill>
                <a:latin typeface="Arial"/>
                <a:ea typeface="Arial"/>
                <a:cs typeface="Arial"/>
              </a:defRPr>
            </a:lvl3pPr>
            <a:lvl4pPr>
              <a:defRPr sz="1725" b="0">
                <a:solidFill>
                  <a:srgbClr val="0B1822"/>
                </a:solidFill>
                <a:latin typeface="Arial"/>
                <a:ea typeface="Arial"/>
                <a:cs typeface="Arial"/>
              </a:defRPr>
            </a:lvl4pPr>
            <a:lvl5pPr>
              <a:defRPr sz="1725" b="0">
                <a:solidFill>
                  <a:srgbClr val="0B1822"/>
                </a:solidFill>
                <a:latin typeface="Arial"/>
                <a:ea typeface="Arial"/>
                <a:cs typeface="Arial"/>
              </a:defRPr>
            </a:lvl5pPr>
            <a:lvl6pPr>
              <a:defRPr sz="1725" b="0">
                <a:solidFill>
                  <a:srgbClr val="0B1822"/>
                </a:solidFill>
                <a:latin typeface="Arial"/>
                <a:ea typeface="Arial"/>
                <a:cs typeface="Arial"/>
              </a:defRPr>
            </a:lvl6pPr>
            <a:lvl7pPr>
              <a:defRPr sz="1725" b="0">
                <a:solidFill>
                  <a:srgbClr val="0B1822"/>
                </a:solidFill>
                <a:latin typeface="Arial"/>
                <a:ea typeface="Arial"/>
                <a:cs typeface="Arial"/>
              </a:defRPr>
            </a:lvl7pPr>
            <a:lvl8pPr>
              <a:defRPr sz="1725" b="0">
                <a:solidFill>
                  <a:srgbClr val="0B1822"/>
                </a:solidFill>
                <a:latin typeface="Arial"/>
                <a:ea typeface="Arial"/>
                <a:cs typeface="Arial"/>
              </a:defRPr>
            </a:lvl8pPr>
            <a:lvl9pPr>
              <a:defRPr sz="1725" b="0">
                <a:solidFill>
                  <a:srgbClr val="0B1822"/>
                </a:solidFill>
                <a:latin typeface="Arial"/>
                <a:ea typeface="Arial"/>
                <a:cs typeface="Arial"/>
              </a:defRPr>
            </a:lvl9pPr>
          </a:lstStyle>
          <a:p xmlns:a="http://schemas.openxmlformats.org/drawingml/2006/main">
            <a:pPr>
              <a:defRPr sz="1725" b="0">
                <a:solidFill>
                  <a:srgbClr val="0B1822"/>
                </a:solidFill>
                <a:latin typeface="Arial"/>
                <a:ea typeface="Arial"/>
                <a:cs typeface="Arial"/>
              </a:defRPr>
            </a:pPr>
            <a:r>
              <a:rPr sz="1725" b="0">
                <a:solidFill>
                  <a:srgbClr val="0B1822"/>
                </a:solidFill>
                <a:latin typeface="Arial"/>
                <a:ea typeface="Arial"/>
                <a:cs typeface="Arial"/>
              </a:rPr>
              <a:t>EVIDENCE FIRST</a:t>
            </a:r>
          </a:p>
          <a:p xmlns:a="http://schemas.openxmlformats.org/drawingml/2006/main">
            <a:r>
              <a:t/>
            </a:r>
          </a:p>
          <a:p xmlns:a="http://schemas.openxmlformats.org/drawingml/2006/main">
            <a:pPr>
              <a:defRPr sz="1725" b="0">
                <a:solidFill>
                  <a:srgbClr val="0B1822"/>
                </a:solidFill>
                <a:latin typeface="Arial"/>
                <a:ea typeface="Arial"/>
                <a:cs typeface="Arial"/>
              </a:defRPr>
            </a:pPr>
            <a:r>
              <a:rPr sz="1725" b="0">
                <a:solidFill>
                  <a:srgbClr val="0B1822"/>
                </a:solidFill>
                <a:latin typeface="Arial"/>
                <a:ea typeface="Arial"/>
                <a:cs typeface="Arial"/>
              </a:rPr>
              <a:t>Preserve evidence and record every approval.</a:t>
            </a:r>
          </a:p>
        </p:txBody>
      </p:sp>
      <p:sp>
        <p:nvSpPr>
          <p:cNvPr id="5" name="VELOCITY FIRST&#10;&#10;Continue safe delivery while aff">
            <a:extLst xmlns:a="http://schemas.openxmlformats.org/drawingml/2006/main">
              <a:ext uri="{FF2B5EF4-FFF2-40B4-BE49-F238E27FC236}">
                <a16:creationId xmlns:a16="http://schemas.microsoft.com/office/drawing/2014/main" id="{7F6092EB-ACAF-4AD5-9DFE-F278AA5BB751}"/>
              </a:ext>
            </a:extLst>
          </p:cNvPr>
          <p:cNvSpPr>
            <a:spLocks xmlns:a="http://schemas.openxmlformats.org/drawingml/2006/main" noGrp="1"/>
          </p:cNvSpPr>
          <p:nvPr/>
        </p:nvSpPr>
        <p:spPr>
          <a:xfrm xmlns:a="http://schemas.openxmlformats.org/drawingml/2006/main">
            <a:off x="609600" y="3581400"/>
            <a:ext cx="5353050" cy="1543050"/>
          </a:xfrm>
          <a:prstGeom xmlns:a="http://schemas.openxmlformats.org/drawingml/2006/main" prst="rect">
            <a:avLst/>
          </a:prstGeom>
          <a:solidFill xmlns:a="http://schemas.openxmlformats.org/drawingml/2006/main">
            <a:srgbClr val="FFFFFF"/>
          </a:solidFill>
          <a:ln xmlns:a="http://schemas.openxmlformats.org/drawingml/2006/main" w="28575">
            <a:solidFill>
              <a:srgbClr val="D45336"/>
            </a:solidFill>
          </a:ln>
        </p:spPr>
        <p:txBody>
          <a:bodyPr xmlns:a="http://schemas.openxmlformats.org/drawingml/2006/main"/>
          <a:lstStyle xmlns:a="http://schemas.openxmlformats.org/drawingml/2006/main">
            <a:defPPr>
              <a:defRPr sz="1725" b="0">
                <a:solidFill>
                  <a:srgbClr val="0B1822"/>
                </a:solidFill>
                <a:latin typeface="Arial"/>
                <a:ea typeface="Arial"/>
                <a:cs typeface="Arial"/>
              </a:defRPr>
            </a:defPPr>
            <a:lvl1pPr>
              <a:defRPr sz="1725" b="0">
                <a:solidFill>
                  <a:srgbClr val="0B1822"/>
                </a:solidFill>
                <a:latin typeface="Arial"/>
                <a:ea typeface="Arial"/>
                <a:cs typeface="Arial"/>
              </a:defRPr>
            </a:lvl1pPr>
            <a:lvl2pPr>
              <a:defRPr sz="1725" b="0">
                <a:solidFill>
                  <a:srgbClr val="0B1822"/>
                </a:solidFill>
                <a:latin typeface="Arial"/>
                <a:ea typeface="Arial"/>
                <a:cs typeface="Arial"/>
              </a:defRPr>
            </a:lvl2pPr>
            <a:lvl3pPr>
              <a:defRPr sz="1725" b="0">
                <a:solidFill>
                  <a:srgbClr val="0B1822"/>
                </a:solidFill>
                <a:latin typeface="Arial"/>
                <a:ea typeface="Arial"/>
                <a:cs typeface="Arial"/>
              </a:defRPr>
            </a:lvl3pPr>
            <a:lvl4pPr>
              <a:defRPr sz="1725" b="0">
                <a:solidFill>
                  <a:srgbClr val="0B1822"/>
                </a:solidFill>
                <a:latin typeface="Arial"/>
                <a:ea typeface="Arial"/>
                <a:cs typeface="Arial"/>
              </a:defRPr>
            </a:lvl4pPr>
            <a:lvl5pPr>
              <a:defRPr sz="1725" b="0">
                <a:solidFill>
                  <a:srgbClr val="0B1822"/>
                </a:solidFill>
                <a:latin typeface="Arial"/>
                <a:ea typeface="Arial"/>
                <a:cs typeface="Arial"/>
              </a:defRPr>
            </a:lvl5pPr>
            <a:lvl6pPr>
              <a:defRPr sz="1725" b="0">
                <a:solidFill>
                  <a:srgbClr val="0B1822"/>
                </a:solidFill>
                <a:latin typeface="Arial"/>
                <a:ea typeface="Arial"/>
                <a:cs typeface="Arial"/>
              </a:defRPr>
            </a:lvl6pPr>
            <a:lvl7pPr>
              <a:defRPr sz="1725" b="0">
                <a:solidFill>
                  <a:srgbClr val="0B1822"/>
                </a:solidFill>
                <a:latin typeface="Arial"/>
                <a:ea typeface="Arial"/>
                <a:cs typeface="Arial"/>
              </a:defRPr>
            </a:lvl7pPr>
            <a:lvl8pPr>
              <a:defRPr sz="1725" b="0">
                <a:solidFill>
                  <a:srgbClr val="0B1822"/>
                </a:solidFill>
                <a:latin typeface="Arial"/>
                <a:ea typeface="Arial"/>
                <a:cs typeface="Arial"/>
              </a:defRPr>
            </a:lvl8pPr>
            <a:lvl9pPr>
              <a:defRPr sz="1725" b="0">
                <a:solidFill>
                  <a:srgbClr val="0B1822"/>
                </a:solidFill>
                <a:latin typeface="Arial"/>
                <a:ea typeface="Arial"/>
                <a:cs typeface="Arial"/>
              </a:defRPr>
            </a:lvl9pPr>
          </a:lstStyle>
          <a:p xmlns:a="http://schemas.openxmlformats.org/drawingml/2006/main">
            <a:pPr>
              <a:defRPr sz="1725" b="0">
                <a:solidFill>
                  <a:srgbClr val="0B1822"/>
                </a:solidFill>
                <a:latin typeface="Arial"/>
                <a:ea typeface="Arial"/>
                <a:cs typeface="Arial"/>
              </a:defRPr>
            </a:pPr>
            <a:r>
              <a:rPr sz="1725" b="0">
                <a:solidFill>
                  <a:srgbClr val="0B1822"/>
                </a:solidFill>
                <a:latin typeface="Arial"/>
                <a:ea typeface="Arial"/>
                <a:cs typeface="Arial"/>
              </a:rPr>
              <a:t>VELOCITY FIRST</a:t>
            </a:r>
          </a:p>
          <a:p xmlns:a="http://schemas.openxmlformats.org/drawingml/2006/main">
            <a:r>
              <a:t/>
            </a:r>
          </a:p>
          <a:p xmlns:a="http://schemas.openxmlformats.org/drawingml/2006/main">
            <a:pPr>
              <a:defRPr sz="1725" b="0">
                <a:solidFill>
                  <a:srgbClr val="0B1822"/>
                </a:solidFill>
                <a:latin typeface="Arial"/>
                <a:ea typeface="Arial"/>
                <a:cs typeface="Arial"/>
              </a:defRPr>
            </a:pPr>
            <a:r>
              <a:rPr sz="1725" b="0">
                <a:solidFill>
                  <a:srgbClr val="0B1822"/>
                </a:solidFill>
                <a:latin typeface="Arial"/>
                <a:ea typeface="Arial"/>
                <a:cs typeface="Arial"/>
              </a:rPr>
              <a:t>Continue safe delivery while affected changes pause.</a:t>
            </a:r>
          </a:p>
        </p:txBody>
      </p:sp>
      <p:sp>
        <p:nvSpPr>
          <p:cNvPr id="6" name="CONTAINMENT FIRST&#10;&#10;Stop suspected exposure and j">
            <a:extLst xmlns:a="http://schemas.openxmlformats.org/drawingml/2006/main">
              <a:ext uri="{FF2B5EF4-FFF2-40B4-BE49-F238E27FC236}">
                <a16:creationId xmlns:a16="http://schemas.microsoft.com/office/drawing/2014/main" id="{90F305D6-89CD-405F-A4B1-5BFAD79B1ABA}"/>
              </a:ext>
            </a:extLst>
          </p:cNvPr>
          <p:cNvSpPr>
            <a:spLocks xmlns:a="http://schemas.openxmlformats.org/drawingml/2006/main" noGrp="1"/>
          </p:cNvSpPr>
          <p:nvPr/>
        </p:nvSpPr>
        <p:spPr>
          <a:xfrm xmlns:a="http://schemas.openxmlformats.org/drawingml/2006/main">
            <a:off x="6210300" y="3581400"/>
            <a:ext cx="5353050" cy="1543050"/>
          </a:xfrm>
          <a:prstGeom xmlns:a="http://schemas.openxmlformats.org/drawingml/2006/main" prst="rect">
            <a:avLst/>
          </a:prstGeom>
          <a:solidFill xmlns:a="http://schemas.openxmlformats.org/drawingml/2006/main">
            <a:srgbClr val="FFFFFF"/>
          </a:solidFill>
          <a:ln xmlns:a="http://schemas.openxmlformats.org/drawingml/2006/main" w="28575">
            <a:solidFill>
              <a:srgbClr val="FF795B"/>
            </a:solidFill>
          </a:ln>
        </p:spPr>
        <p:txBody>
          <a:bodyPr xmlns:a="http://schemas.openxmlformats.org/drawingml/2006/main"/>
          <a:lstStyle xmlns:a="http://schemas.openxmlformats.org/drawingml/2006/main">
            <a:defPPr>
              <a:defRPr sz="1725" b="0">
                <a:solidFill>
                  <a:srgbClr val="0B1822"/>
                </a:solidFill>
                <a:latin typeface="Arial"/>
                <a:ea typeface="Arial"/>
                <a:cs typeface="Arial"/>
              </a:defRPr>
            </a:defPPr>
            <a:lvl1pPr>
              <a:defRPr sz="1725" b="0">
                <a:solidFill>
                  <a:srgbClr val="0B1822"/>
                </a:solidFill>
                <a:latin typeface="Arial"/>
                <a:ea typeface="Arial"/>
                <a:cs typeface="Arial"/>
              </a:defRPr>
            </a:lvl1pPr>
            <a:lvl2pPr>
              <a:defRPr sz="1725" b="0">
                <a:solidFill>
                  <a:srgbClr val="0B1822"/>
                </a:solidFill>
                <a:latin typeface="Arial"/>
                <a:ea typeface="Arial"/>
                <a:cs typeface="Arial"/>
              </a:defRPr>
            </a:lvl2pPr>
            <a:lvl3pPr>
              <a:defRPr sz="1725" b="0">
                <a:solidFill>
                  <a:srgbClr val="0B1822"/>
                </a:solidFill>
                <a:latin typeface="Arial"/>
                <a:ea typeface="Arial"/>
                <a:cs typeface="Arial"/>
              </a:defRPr>
            </a:lvl3pPr>
            <a:lvl4pPr>
              <a:defRPr sz="1725" b="0">
                <a:solidFill>
                  <a:srgbClr val="0B1822"/>
                </a:solidFill>
                <a:latin typeface="Arial"/>
                <a:ea typeface="Arial"/>
                <a:cs typeface="Arial"/>
              </a:defRPr>
            </a:lvl4pPr>
            <a:lvl5pPr>
              <a:defRPr sz="1725" b="0">
                <a:solidFill>
                  <a:srgbClr val="0B1822"/>
                </a:solidFill>
                <a:latin typeface="Arial"/>
                <a:ea typeface="Arial"/>
                <a:cs typeface="Arial"/>
              </a:defRPr>
            </a:lvl5pPr>
            <a:lvl6pPr>
              <a:defRPr sz="1725" b="0">
                <a:solidFill>
                  <a:srgbClr val="0B1822"/>
                </a:solidFill>
                <a:latin typeface="Arial"/>
                <a:ea typeface="Arial"/>
                <a:cs typeface="Arial"/>
              </a:defRPr>
            </a:lvl6pPr>
            <a:lvl7pPr>
              <a:defRPr sz="1725" b="0">
                <a:solidFill>
                  <a:srgbClr val="0B1822"/>
                </a:solidFill>
                <a:latin typeface="Arial"/>
                <a:ea typeface="Arial"/>
                <a:cs typeface="Arial"/>
              </a:defRPr>
            </a:lvl7pPr>
            <a:lvl8pPr>
              <a:defRPr sz="1725" b="0">
                <a:solidFill>
                  <a:srgbClr val="0B1822"/>
                </a:solidFill>
                <a:latin typeface="Arial"/>
                <a:ea typeface="Arial"/>
                <a:cs typeface="Arial"/>
              </a:defRPr>
            </a:lvl8pPr>
            <a:lvl9pPr>
              <a:defRPr sz="1725" b="0">
                <a:solidFill>
                  <a:srgbClr val="0B1822"/>
                </a:solidFill>
                <a:latin typeface="Arial"/>
                <a:ea typeface="Arial"/>
                <a:cs typeface="Arial"/>
              </a:defRPr>
            </a:lvl9pPr>
          </a:lstStyle>
          <a:p xmlns:a="http://schemas.openxmlformats.org/drawingml/2006/main">
            <a:pPr>
              <a:defRPr sz="1725" b="0">
                <a:solidFill>
                  <a:srgbClr val="0B1822"/>
                </a:solidFill>
                <a:latin typeface="Arial"/>
                <a:ea typeface="Arial"/>
                <a:cs typeface="Arial"/>
              </a:defRPr>
            </a:pPr>
            <a:r>
              <a:rPr sz="1725" b="0">
                <a:solidFill>
                  <a:srgbClr val="0B1822"/>
                </a:solidFill>
                <a:latin typeface="Arial"/>
                <a:ea typeface="Arial"/>
                <a:cs typeface="Arial"/>
              </a:rPr>
              <a:t>CONTAINMENT FIRST</a:t>
            </a:r>
          </a:p>
          <a:p xmlns:a="http://schemas.openxmlformats.org/drawingml/2006/main">
            <a:r>
              <a:t/>
            </a:r>
          </a:p>
          <a:p xmlns:a="http://schemas.openxmlformats.org/drawingml/2006/main">
            <a:pPr>
              <a:defRPr sz="1725" b="0">
                <a:solidFill>
                  <a:srgbClr val="0B1822"/>
                </a:solidFill>
                <a:latin typeface="Arial"/>
                <a:ea typeface="Arial"/>
                <a:cs typeface="Arial"/>
              </a:defRPr>
            </a:pPr>
            <a:r>
              <a:rPr sz="1725" b="0">
                <a:solidFill>
                  <a:srgbClr val="0B1822"/>
                </a:solidFill>
                <a:latin typeface="Arial"/>
                <a:ea typeface="Arial"/>
                <a:cs typeface="Arial"/>
              </a:rPr>
              <a:t>Stop suspected exposure and justify the service cost.</a:t>
            </a:r>
          </a:p>
        </p:txBody>
      </p:sp>
      <p:sp>
        <p:nvSpPr>
          <p:cNvPr id="7" name="WRITE ON PAGE 6 NOW: Case letter, constraint, 4 ">
            <a:extLst xmlns:a="http://schemas.openxmlformats.org/drawingml/2006/main">
              <a:ext uri="{FF2B5EF4-FFF2-40B4-BE49-F238E27FC236}">
                <a16:creationId xmlns:a16="http://schemas.microsoft.com/office/drawing/2014/main" id="{B12B6F36-F1DD-4C85-9BD6-98DE49A4ADA1}"/>
              </a:ext>
            </a:extLst>
          </p:cNvPr>
          <p:cNvSpPr>
            <a:spLocks xmlns:a="http://schemas.openxmlformats.org/drawingml/2006/main" noGrp="1"/>
          </p:cNvSpPr>
          <p:nvPr/>
        </p:nvSpPr>
        <p:spPr>
          <a:xfrm xmlns:a="http://schemas.openxmlformats.org/drawingml/2006/main">
            <a:off x="609600" y="5391150"/>
            <a:ext cx="10953750" cy="666750"/>
          </a:xfrm>
          <a:prstGeom xmlns:a="http://schemas.openxmlformats.org/drawingml/2006/main" prst="rect">
            <a:avLst/>
          </a:prstGeom>
          <a:solidFill xmlns:a="http://schemas.openxmlformats.org/drawingml/2006/main">
            <a:srgbClr val="E6E1D5"/>
          </a:solidFill>
          <a:ln xmlns:a="http://schemas.openxmlformats.org/drawingml/2006/main" w="19050">
            <a:solidFill>
              <a:srgbClr val="087E79"/>
            </a:solidFill>
          </a:ln>
        </p:spPr>
        <p:txBody>
          <a:bodyPr xmlns:a="http://schemas.openxmlformats.org/drawingml/2006/main"/>
          <a:lstStyle xmlns:a="http://schemas.openxmlformats.org/drawingml/2006/main">
            <a:defPPr>
              <a:defRPr sz="1650" b="1">
                <a:solidFill>
                  <a:srgbClr val="0B1822"/>
                </a:solidFill>
                <a:latin typeface="Arial"/>
                <a:ea typeface="Arial"/>
                <a:cs typeface="Arial"/>
              </a:defRPr>
            </a:defPPr>
            <a:lvl1pPr>
              <a:defRPr sz="1650" b="1">
                <a:solidFill>
                  <a:srgbClr val="0B1822"/>
                </a:solidFill>
                <a:latin typeface="Arial"/>
                <a:ea typeface="Arial"/>
                <a:cs typeface="Arial"/>
              </a:defRPr>
            </a:lvl1pPr>
            <a:lvl2pPr>
              <a:defRPr sz="1650" b="1">
                <a:solidFill>
                  <a:srgbClr val="0B1822"/>
                </a:solidFill>
                <a:latin typeface="Arial"/>
                <a:ea typeface="Arial"/>
                <a:cs typeface="Arial"/>
              </a:defRPr>
            </a:lvl2pPr>
            <a:lvl3pPr>
              <a:defRPr sz="1650" b="1">
                <a:solidFill>
                  <a:srgbClr val="0B1822"/>
                </a:solidFill>
                <a:latin typeface="Arial"/>
                <a:ea typeface="Arial"/>
                <a:cs typeface="Arial"/>
              </a:defRPr>
            </a:lvl3pPr>
            <a:lvl4pPr>
              <a:defRPr sz="1650" b="1">
                <a:solidFill>
                  <a:srgbClr val="0B1822"/>
                </a:solidFill>
                <a:latin typeface="Arial"/>
                <a:ea typeface="Arial"/>
                <a:cs typeface="Arial"/>
              </a:defRPr>
            </a:lvl4pPr>
            <a:lvl5pPr>
              <a:defRPr sz="1650" b="1">
                <a:solidFill>
                  <a:srgbClr val="0B1822"/>
                </a:solidFill>
                <a:latin typeface="Arial"/>
                <a:ea typeface="Arial"/>
                <a:cs typeface="Arial"/>
              </a:defRPr>
            </a:lvl5pPr>
            <a:lvl6pPr>
              <a:defRPr sz="1650" b="1">
                <a:solidFill>
                  <a:srgbClr val="0B1822"/>
                </a:solidFill>
                <a:latin typeface="Arial"/>
                <a:ea typeface="Arial"/>
                <a:cs typeface="Arial"/>
              </a:defRPr>
            </a:lvl6pPr>
            <a:lvl7pPr>
              <a:defRPr sz="1650" b="1">
                <a:solidFill>
                  <a:srgbClr val="0B1822"/>
                </a:solidFill>
                <a:latin typeface="Arial"/>
                <a:ea typeface="Arial"/>
                <a:cs typeface="Arial"/>
              </a:defRPr>
            </a:lvl7pPr>
            <a:lvl8pPr>
              <a:defRPr sz="1650" b="1">
                <a:solidFill>
                  <a:srgbClr val="0B1822"/>
                </a:solidFill>
                <a:latin typeface="Arial"/>
                <a:ea typeface="Arial"/>
                <a:cs typeface="Arial"/>
              </a:defRPr>
            </a:lvl8pPr>
            <a:lvl9pPr>
              <a:defRPr sz="1650" b="1">
                <a:solidFill>
                  <a:srgbClr val="0B1822"/>
                </a:solidFill>
                <a:latin typeface="Arial"/>
                <a:ea typeface="Arial"/>
                <a:cs typeface="Arial"/>
              </a:defRPr>
            </a:lvl9pPr>
          </a:lstStyle>
          <a:p xmlns:a="http://schemas.openxmlformats.org/drawingml/2006/main">
            <a:pPr>
              <a:defRPr sz="1650" b="1">
                <a:solidFill>
                  <a:srgbClr val="0B1822"/>
                </a:solidFill>
                <a:latin typeface="Arial"/>
                <a:ea typeface="Arial"/>
                <a:cs typeface="Arial"/>
              </a:defRPr>
            </a:pPr>
            <a:r>
              <a:rPr sz="1650" b="1">
                <a:solidFill>
                  <a:srgbClr val="0B1822"/>
                </a:solidFill>
                <a:latin typeface="Arial"/>
                <a:ea typeface="Arial"/>
                <a:cs typeface="Arial"/>
              </a:rPr>
              <a:t>WRITE ON PAGE 6 NOW: Case letter, constraint, 4 roles, and measurable service floor (e.g., 2 healthy replicas).</a:t>
            </a:r>
          </a:p>
        </p:txBody>
      </p:sp>
      <p:sp>
        <p:nvSpPr>
          <p:cNvPr id="8" name="ISC2 SECURITY CONGRESS 2026 / SC2632">
            <a:extLst xmlns:a="http://schemas.openxmlformats.org/drawingml/2006/main">
              <a:ext uri="{FF2B5EF4-FFF2-40B4-BE49-F238E27FC236}">
                <a16:creationId xmlns:a16="http://schemas.microsoft.com/office/drawing/2014/main" id="{C6E97179-410A-437B-8597-3B995E9D6852}"/>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9" name="14">
            <a:extLst xmlns:a="http://schemas.openxmlformats.org/drawingml/2006/main">
              <a:ext uri="{FF2B5EF4-FFF2-40B4-BE49-F238E27FC236}">
                <a16:creationId xmlns:a16="http://schemas.microsoft.com/office/drawing/2014/main" id="{F565D9B4-6BA3-4469-ADD1-73C96D68726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14</a:t>
            </a:r>
          </a:p>
        </p:txBody>
      </p:sp>
    </p:spTree>
    <p:extLst>
      <p:ext uri="{BB962C8B-B14F-4D97-AF65-F5344CB8AC3E}">
        <p14:creationId xmlns:p14="http://schemas.microsoft.com/office/powerpoint/2010/main" val="851709899"/>
      </p:ext>
    </p:extLst>
  </p:cSld>
</p:sld>
</file>

<file path=ppt/slides/slide15.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pic>
        <p:nvPicPr>
          <p:cNvPr id="8" name="" descr="Generated abstract incident-room background. The overlaid slide text contains the exercise instructions; the background is not a system diagram or evidence.">
            <a:extLst xmlns:a="http://schemas.openxmlformats.org/drawingml/2006/main">
              <a:ext uri="{FF2B5EF4-FFF2-40B4-BE49-F238E27FC236}">
                <a16:creationId xmlns:a16="http://schemas.microsoft.com/office/drawing/2014/main" id="{F40BB474-EB4D-412C-AAA2-A58B3B91E283}"/>
              </a:ext>
            </a:extLst>
          </p:cNvPr>
          <p:cNvPicPr>
            <a:picLocks xmlns:a="http://schemas.openxmlformats.org/drawingml/2006/main" noChangeAspect="1"/>
          </p:cNvPicPr>
          <p:nvPr/>
        </p:nvPicPr>
        <p:blipFill>
          <a:blip xmlns:r="http://schemas.openxmlformats.org/officeDocument/2006/relationships" xmlns:a="http://schemas.openxmlformats.org/drawingml/2006/main" r:embed="R1e64a90fa01842b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4 MINUTES / DRAFT AND MAP THE INTENT">
            <a:extLst xmlns:a="http://schemas.openxmlformats.org/drawingml/2006/main">
              <a:ext uri="{FF2B5EF4-FFF2-40B4-BE49-F238E27FC236}">
                <a16:creationId xmlns:a16="http://schemas.microsoft.com/office/drawing/2014/main" id="{18C0DBBA-5762-4093-ADDB-29C944C0CCEC}"/>
              </a:ext>
            </a:extLst>
          </p:cNvPr>
          <p:cNvSpPr>
            <a:spLocks xmlns:a="http://schemas.openxmlformats.org/drawingml/2006/main" noGrp="1"/>
          </p:cNvSpPr>
          <p:nvPr/>
        </p:nvSpPr>
        <p:spPr>
          <a:xfrm xmlns:a="http://schemas.openxmlformats.org/drawingml/2006/main">
            <a:off x="609600" y="4953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5D8BD"/>
                </a:solidFill>
                <a:latin typeface="Arial"/>
                <a:ea typeface="Arial"/>
                <a:cs typeface="Arial"/>
              </a:defRPr>
            </a:defPPr>
            <a:lvl1pPr>
              <a:defRPr sz="1350" b="1">
                <a:solidFill>
                  <a:srgbClr val="25D8BD"/>
                </a:solidFill>
                <a:latin typeface="Arial"/>
                <a:ea typeface="Arial"/>
                <a:cs typeface="Arial"/>
              </a:defRPr>
            </a:lvl1pPr>
            <a:lvl2pPr>
              <a:defRPr sz="1350" b="1">
                <a:solidFill>
                  <a:srgbClr val="25D8BD"/>
                </a:solidFill>
                <a:latin typeface="Arial"/>
                <a:ea typeface="Arial"/>
                <a:cs typeface="Arial"/>
              </a:defRPr>
            </a:lvl2pPr>
            <a:lvl3pPr>
              <a:defRPr sz="1350" b="1">
                <a:solidFill>
                  <a:srgbClr val="25D8BD"/>
                </a:solidFill>
                <a:latin typeface="Arial"/>
                <a:ea typeface="Arial"/>
                <a:cs typeface="Arial"/>
              </a:defRPr>
            </a:lvl3pPr>
            <a:lvl4pPr>
              <a:defRPr sz="1350" b="1">
                <a:solidFill>
                  <a:srgbClr val="25D8BD"/>
                </a:solidFill>
                <a:latin typeface="Arial"/>
                <a:ea typeface="Arial"/>
                <a:cs typeface="Arial"/>
              </a:defRPr>
            </a:lvl4pPr>
            <a:lvl5pPr>
              <a:defRPr sz="1350" b="1">
                <a:solidFill>
                  <a:srgbClr val="25D8BD"/>
                </a:solidFill>
                <a:latin typeface="Arial"/>
                <a:ea typeface="Arial"/>
                <a:cs typeface="Arial"/>
              </a:defRPr>
            </a:lvl5pPr>
            <a:lvl6pPr>
              <a:defRPr sz="1350" b="1">
                <a:solidFill>
                  <a:srgbClr val="25D8BD"/>
                </a:solidFill>
                <a:latin typeface="Arial"/>
                <a:ea typeface="Arial"/>
                <a:cs typeface="Arial"/>
              </a:defRPr>
            </a:lvl6pPr>
            <a:lvl7pPr>
              <a:defRPr sz="1350" b="1">
                <a:solidFill>
                  <a:srgbClr val="25D8BD"/>
                </a:solidFill>
                <a:latin typeface="Arial"/>
                <a:ea typeface="Arial"/>
                <a:cs typeface="Arial"/>
              </a:defRPr>
            </a:lvl7pPr>
            <a:lvl8pPr>
              <a:defRPr sz="1350" b="1">
                <a:solidFill>
                  <a:srgbClr val="25D8BD"/>
                </a:solidFill>
                <a:latin typeface="Arial"/>
                <a:ea typeface="Arial"/>
                <a:cs typeface="Arial"/>
              </a:defRPr>
            </a:lvl8pPr>
            <a:lvl9pPr>
              <a:defRPr sz="1350" b="1">
                <a:solidFill>
                  <a:srgbClr val="25D8BD"/>
                </a:solidFill>
                <a:latin typeface="Arial"/>
                <a:ea typeface="Arial"/>
                <a:cs typeface="Arial"/>
              </a:defRPr>
            </a:lvl9pPr>
          </a:lstStyle>
          <a:p xmlns:a="http://schemas.openxmlformats.org/drawingml/2006/main">
            <a:pPr>
              <a:defRPr sz="1350" b="1">
                <a:solidFill>
                  <a:srgbClr val="25D8BD"/>
                </a:solidFill>
                <a:latin typeface="Arial"/>
                <a:ea typeface="Arial"/>
                <a:cs typeface="Arial"/>
              </a:defRPr>
            </a:pPr>
            <a:r>
              <a:rPr sz="1350" b="1">
                <a:solidFill>
                  <a:srgbClr val="25D8BD"/>
                </a:solidFill>
                <a:latin typeface="Arial"/>
                <a:ea typeface="Arial"/>
                <a:cs typeface="Arial"/>
              </a:rPr>
              <a:t>4 MINUTES / DRAFT AND MAP THE INTENT</a:t>
            </a:r>
          </a:p>
        </p:txBody>
      </p:sp>
      <p:sp>
        <p:nvSpPr>
          <p:cNvPr id="3" name="01">
            <a:extLst xmlns:a="http://schemas.openxmlformats.org/drawingml/2006/main">
              <a:ext uri="{FF2B5EF4-FFF2-40B4-BE49-F238E27FC236}">
                <a16:creationId xmlns:a16="http://schemas.microsoft.com/office/drawing/2014/main" id="{3BEAB84F-2256-4F3D-9B33-5C985F293892}"/>
              </a:ext>
            </a:extLst>
          </p:cNvPr>
          <p:cNvSpPr>
            <a:spLocks xmlns:a="http://schemas.openxmlformats.org/drawingml/2006/main" noGrp="1"/>
          </p:cNvSpPr>
          <p:nvPr/>
        </p:nvSpPr>
        <p:spPr>
          <a:xfrm xmlns:a="http://schemas.openxmlformats.org/drawingml/2006/main">
            <a:off x="609600" y="971550"/>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450" b="1">
                <a:solidFill>
                  <a:srgbClr val="FF795B"/>
                </a:solidFill>
                <a:latin typeface="Arial Black"/>
                <a:ea typeface="Arial Black"/>
                <a:cs typeface="Arial Black"/>
              </a:defRPr>
            </a:defPPr>
            <a:lvl1pPr>
              <a:defRPr sz="9450" b="1">
                <a:solidFill>
                  <a:srgbClr val="FF795B"/>
                </a:solidFill>
                <a:latin typeface="Arial Black"/>
                <a:ea typeface="Arial Black"/>
                <a:cs typeface="Arial Black"/>
              </a:defRPr>
            </a:lvl1pPr>
            <a:lvl2pPr>
              <a:defRPr sz="9450" b="1">
                <a:solidFill>
                  <a:srgbClr val="FF795B"/>
                </a:solidFill>
                <a:latin typeface="Arial Black"/>
                <a:ea typeface="Arial Black"/>
                <a:cs typeface="Arial Black"/>
              </a:defRPr>
            </a:lvl2pPr>
            <a:lvl3pPr>
              <a:defRPr sz="9450" b="1">
                <a:solidFill>
                  <a:srgbClr val="FF795B"/>
                </a:solidFill>
                <a:latin typeface="Arial Black"/>
                <a:ea typeface="Arial Black"/>
                <a:cs typeface="Arial Black"/>
              </a:defRPr>
            </a:lvl3pPr>
            <a:lvl4pPr>
              <a:defRPr sz="9450" b="1">
                <a:solidFill>
                  <a:srgbClr val="FF795B"/>
                </a:solidFill>
                <a:latin typeface="Arial Black"/>
                <a:ea typeface="Arial Black"/>
                <a:cs typeface="Arial Black"/>
              </a:defRPr>
            </a:lvl4pPr>
            <a:lvl5pPr>
              <a:defRPr sz="9450" b="1">
                <a:solidFill>
                  <a:srgbClr val="FF795B"/>
                </a:solidFill>
                <a:latin typeface="Arial Black"/>
                <a:ea typeface="Arial Black"/>
                <a:cs typeface="Arial Black"/>
              </a:defRPr>
            </a:lvl5pPr>
            <a:lvl6pPr>
              <a:defRPr sz="9450" b="1">
                <a:solidFill>
                  <a:srgbClr val="FF795B"/>
                </a:solidFill>
                <a:latin typeface="Arial Black"/>
                <a:ea typeface="Arial Black"/>
                <a:cs typeface="Arial Black"/>
              </a:defRPr>
            </a:lvl6pPr>
            <a:lvl7pPr>
              <a:defRPr sz="9450" b="1">
                <a:solidFill>
                  <a:srgbClr val="FF795B"/>
                </a:solidFill>
                <a:latin typeface="Arial Black"/>
                <a:ea typeface="Arial Black"/>
                <a:cs typeface="Arial Black"/>
              </a:defRPr>
            </a:lvl7pPr>
            <a:lvl8pPr>
              <a:defRPr sz="9450" b="1">
                <a:solidFill>
                  <a:srgbClr val="FF795B"/>
                </a:solidFill>
                <a:latin typeface="Arial Black"/>
                <a:ea typeface="Arial Black"/>
                <a:cs typeface="Arial Black"/>
              </a:defRPr>
            </a:lvl8pPr>
            <a:lvl9pPr>
              <a:defRPr sz="9450" b="1">
                <a:solidFill>
                  <a:srgbClr val="FF795B"/>
                </a:solidFill>
                <a:latin typeface="Arial Black"/>
                <a:ea typeface="Arial Black"/>
                <a:cs typeface="Arial Black"/>
              </a:defRPr>
            </a:lvl9pPr>
          </a:lstStyle>
          <a:p xmlns:a="http://schemas.openxmlformats.org/drawingml/2006/main">
            <a:pPr>
              <a:defRPr sz="9450" b="1">
                <a:solidFill>
                  <a:srgbClr val="FF795B"/>
                </a:solidFill>
                <a:latin typeface="Arial Black"/>
                <a:ea typeface="Arial Black"/>
                <a:cs typeface="Arial Black"/>
              </a:defRPr>
            </a:pPr>
            <a:r>
              <a:rPr sz="9450" b="1">
                <a:solidFill>
                  <a:srgbClr val="FF795B"/>
                </a:solidFill>
                <a:latin typeface="Arial Black"/>
                <a:ea typeface="Arial Black"/>
                <a:cs typeface="Arial Black"/>
              </a:rPr>
              <a:t>01</a:t>
            </a:r>
          </a:p>
        </p:txBody>
      </p:sp>
      <p:sp>
        <p:nvSpPr>
          <p:cNvPr id="4" name="Define the&#10;security requirement.">
            <a:extLst xmlns:a="http://schemas.openxmlformats.org/drawingml/2006/main">
              <a:ext uri="{FF2B5EF4-FFF2-40B4-BE49-F238E27FC236}">
                <a16:creationId xmlns:a16="http://schemas.microsoft.com/office/drawing/2014/main" id="{3979A7D9-C49C-4D2D-ADB7-DBBB3968179D}"/>
              </a:ext>
            </a:extLst>
          </p:cNvPr>
          <p:cNvSpPr>
            <a:spLocks xmlns:a="http://schemas.openxmlformats.org/drawingml/2006/main" noGrp="1"/>
          </p:cNvSpPr>
          <p:nvPr>
            <p:ph type="title" idx="0"/>
          </p:nvPr>
        </p:nvSpPr>
        <p:spPr>
          <a:xfrm xmlns:a="http://schemas.openxmlformats.org/drawingml/2006/main">
            <a:off x="609600" y="2762250"/>
            <a:ext cx="8286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2EFE7"/>
                </a:solidFill>
                <a:latin typeface="Arial Black"/>
                <a:ea typeface="Arial Black"/>
                <a:cs typeface="Arial Black"/>
              </a:defRPr>
            </a:defPPr>
            <a:lvl1pPr>
              <a:defRPr sz="4650" b="1">
                <a:solidFill>
                  <a:srgbClr val="F2EFE7"/>
                </a:solidFill>
                <a:latin typeface="Arial Black"/>
                <a:ea typeface="Arial Black"/>
                <a:cs typeface="Arial Black"/>
              </a:defRPr>
            </a:lvl1pPr>
            <a:lvl2pPr>
              <a:defRPr sz="4650" b="1">
                <a:solidFill>
                  <a:srgbClr val="F2EFE7"/>
                </a:solidFill>
                <a:latin typeface="Arial Black"/>
                <a:ea typeface="Arial Black"/>
                <a:cs typeface="Arial Black"/>
              </a:defRPr>
            </a:lvl2pPr>
            <a:lvl3pPr>
              <a:defRPr sz="4650" b="1">
                <a:solidFill>
                  <a:srgbClr val="F2EFE7"/>
                </a:solidFill>
                <a:latin typeface="Arial Black"/>
                <a:ea typeface="Arial Black"/>
                <a:cs typeface="Arial Black"/>
              </a:defRPr>
            </a:lvl3pPr>
            <a:lvl4pPr>
              <a:defRPr sz="4650" b="1">
                <a:solidFill>
                  <a:srgbClr val="F2EFE7"/>
                </a:solidFill>
                <a:latin typeface="Arial Black"/>
                <a:ea typeface="Arial Black"/>
                <a:cs typeface="Arial Black"/>
              </a:defRPr>
            </a:lvl4pPr>
            <a:lvl5pPr>
              <a:defRPr sz="4650" b="1">
                <a:solidFill>
                  <a:srgbClr val="F2EFE7"/>
                </a:solidFill>
                <a:latin typeface="Arial Black"/>
                <a:ea typeface="Arial Black"/>
                <a:cs typeface="Arial Black"/>
              </a:defRPr>
            </a:lvl5pPr>
            <a:lvl6pPr>
              <a:defRPr sz="4650" b="1">
                <a:solidFill>
                  <a:srgbClr val="F2EFE7"/>
                </a:solidFill>
                <a:latin typeface="Arial Black"/>
                <a:ea typeface="Arial Black"/>
                <a:cs typeface="Arial Black"/>
              </a:defRPr>
            </a:lvl6pPr>
            <a:lvl7pPr>
              <a:defRPr sz="4650" b="1">
                <a:solidFill>
                  <a:srgbClr val="F2EFE7"/>
                </a:solidFill>
                <a:latin typeface="Arial Black"/>
                <a:ea typeface="Arial Black"/>
                <a:cs typeface="Arial Black"/>
              </a:defRPr>
            </a:lvl7pPr>
            <a:lvl8pPr>
              <a:defRPr sz="4650" b="1">
                <a:solidFill>
                  <a:srgbClr val="F2EFE7"/>
                </a:solidFill>
                <a:latin typeface="Arial Black"/>
                <a:ea typeface="Arial Black"/>
                <a:cs typeface="Arial Black"/>
              </a:defRPr>
            </a:lvl8pPr>
            <a:lvl9pPr>
              <a:defRPr sz="4650" b="1">
                <a:solidFill>
                  <a:srgbClr val="F2EFE7"/>
                </a:solidFill>
                <a:latin typeface="Arial Black"/>
                <a:ea typeface="Arial Black"/>
                <a:cs typeface="Arial Black"/>
              </a:defRPr>
            </a:lvl9pPr>
          </a:lstStyle>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Define the</a:t>
            </a:r>
          </a:p>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security requirement.</a:t>
            </a:r>
          </a:p>
        </p:txBody>
      </p:sp>
      <p:sp>
        <p:nvSpPr>
          <p:cNvPr id="5" name="Stop [behavior]. Preserve [dependency].&#10;Example:">
            <a:extLst xmlns:a="http://schemas.openxmlformats.org/drawingml/2006/main">
              <a:ext uri="{FF2B5EF4-FFF2-40B4-BE49-F238E27FC236}">
                <a16:creationId xmlns:a16="http://schemas.microsoft.com/office/drawing/2014/main" id="{7199CF5E-BB8B-425F-8DCC-2BCF01F69428}"/>
              </a:ext>
            </a:extLst>
          </p:cNvPr>
          <p:cNvSpPr>
            <a:spLocks xmlns:a="http://schemas.openxmlformats.org/drawingml/2006/main" noGrp="1"/>
          </p:cNvSpPr>
          <p:nvPr/>
        </p:nvSpPr>
        <p:spPr>
          <a:xfrm xmlns:a="http://schemas.openxmlformats.org/drawingml/2006/main">
            <a:off x="628650" y="4829175"/>
            <a:ext cx="752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2EFE7"/>
                </a:solidFill>
                <a:latin typeface="Arial"/>
                <a:ea typeface="Arial"/>
                <a:cs typeface="Arial"/>
              </a:defRPr>
            </a:defPPr>
            <a:lvl1pPr>
              <a:defRPr sz="2025" b="0">
                <a:solidFill>
                  <a:srgbClr val="F2EFE7"/>
                </a:solidFill>
                <a:latin typeface="Arial"/>
                <a:ea typeface="Arial"/>
                <a:cs typeface="Arial"/>
              </a:defRPr>
            </a:lvl1pPr>
            <a:lvl2pPr>
              <a:defRPr sz="2025" b="0">
                <a:solidFill>
                  <a:srgbClr val="F2EFE7"/>
                </a:solidFill>
                <a:latin typeface="Arial"/>
                <a:ea typeface="Arial"/>
                <a:cs typeface="Arial"/>
              </a:defRPr>
            </a:lvl2pPr>
            <a:lvl3pPr>
              <a:defRPr sz="2025" b="0">
                <a:solidFill>
                  <a:srgbClr val="F2EFE7"/>
                </a:solidFill>
                <a:latin typeface="Arial"/>
                <a:ea typeface="Arial"/>
                <a:cs typeface="Arial"/>
              </a:defRPr>
            </a:lvl3pPr>
            <a:lvl4pPr>
              <a:defRPr sz="2025" b="0">
                <a:solidFill>
                  <a:srgbClr val="F2EFE7"/>
                </a:solidFill>
                <a:latin typeface="Arial"/>
                <a:ea typeface="Arial"/>
                <a:cs typeface="Arial"/>
              </a:defRPr>
            </a:lvl4pPr>
            <a:lvl5pPr>
              <a:defRPr sz="2025" b="0">
                <a:solidFill>
                  <a:srgbClr val="F2EFE7"/>
                </a:solidFill>
                <a:latin typeface="Arial"/>
                <a:ea typeface="Arial"/>
                <a:cs typeface="Arial"/>
              </a:defRPr>
            </a:lvl5pPr>
            <a:lvl6pPr>
              <a:defRPr sz="2025" b="0">
                <a:solidFill>
                  <a:srgbClr val="F2EFE7"/>
                </a:solidFill>
                <a:latin typeface="Arial"/>
                <a:ea typeface="Arial"/>
                <a:cs typeface="Arial"/>
              </a:defRPr>
            </a:lvl6pPr>
            <a:lvl7pPr>
              <a:defRPr sz="2025" b="0">
                <a:solidFill>
                  <a:srgbClr val="F2EFE7"/>
                </a:solidFill>
                <a:latin typeface="Arial"/>
                <a:ea typeface="Arial"/>
                <a:cs typeface="Arial"/>
              </a:defRPr>
            </a:lvl7pPr>
            <a:lvl8pPr>
              <a:defRPr sz="2025" b="0">
                <a:solidFill>
                  <a:srgbClr val="F2EFE7"/>
                </a:solidFill>
                <a:latin typeface="Arial"/>
                <a:ea typeface="Arial"/>
                <a:cs typeface="Arial"/>
              </a:defRPr>
            </a:lvl8pPr>
            <a:lvl9pPr>
              <a:defRPr sz="2025" b="0">
                <a:solidFill>
                  <a:srgbClr val="F2EFE7"/>
                </a:solidFill>
                <a:latin typeface="Arial"/>
                <a:ea typeface="Arial"/>
                <a:cs typeface="Arial"/>
              </a:defRPr>
            </a:lvl9pPr>
          </a:lstStyle>
          <a:p xmlns:a="http://schemas.openxmlformats.org/drawingml/2006/main">
            <a:pPr>
              <a:defRPr sz="2025" b="0">
                <a:solidFill>
                  <a:srgbClr val="F2EFE7"/>
                </a:solidFill>
                <a:latin typeface="Arial"/>
                <a:ea typeface="Arial"/>
                <a:cs typeface="Arial"/>
              </a:defRPr>
            </a:pPr>
            <a:r>
              <a:rPr sz="2025" b="0">
                <a:solidFill>
                  <a:srgbClr val="F2EFE7"/>
                </a:solidFill>
                <a:latin typeface="Arial"/>
                <a:ea typeface="Arial"/>
                <a:cs typeface="Arial"/>
              </a:rPr>
              <a:t>Stop [behavior]. Preserve [dependency].</a:t>
            </a:r>
          </a:p>
          <a:p xmlns:a="http://schemas.openxmlformats.org/drawingml/2006/main">
            <a:pPr>
              <a:defRPr sz="2025" b="0">
                <a:solidFill>
                  <a:srgbClr val="F2EFE7"/>
                </a:solidFill>
                <a:latin typeface="Arial"/>
                <a:ea typeface="Arial"/>
                <a:cs typeface="Arial"/>
              </a:defRPr>
            </a:pPr>
            <a:r>
              <a:rPr sz="2025" b="0">
                <a:solidFill>
                  <a:srgbClr val="F2EFE7"/>
                </a:solidFill>
                <a:latin typeface="Arial"/>
                <a:ea typeface="Arial"/>
                <a:cs typeface="Arial"/>
              </a:rPr>
              <a:t>Example: block new privileged workloads.</a:t>
            </a:r>
          </a:p>
          <a:p xmlns:a="http://schemas.openxmlformats.org/drawingml/2006/main">
            <a:pPr>
              <a:defRPr sz="2025" b="0">
                <a:solidFill>
                  <a:srgbClr val="F2EFE7"/>
                </a:solidFill>
                <a:latin typeface="Arial"/>
                <a:ea typeface="Arial"/>
                <a:cs typeface="Arial"/>
              </a:defRPr>
            </a:pPr>
            <a:r>
              <a:rPr sz="2025" b="0">
                <a:solidFill>
                  <a:srgbClr val="F2EFE7"/>
                </a:solidFill>
                <a:latin typeface="Arial"/>
                <a:ea typeface="Arial"/>
                <a:cs typeface="Arial"/>
              </a:rPr>
              <a:t>Allow approved releases. Write your own on page 6.</a:t>
            </a:r>
          </a:p>
        </p:txBody>
      </p:sp>
      <p:sp>
        <p:nvSpPr>
          <p:cNvPr id="6" name="ISC2 SECURITY CONGRESS 2026 / SC2632">
            <a:extLst xmlns:a="http://schemas.openxmlformats.org/drawingml/2006/main">
              <a:ext uri="{FF2B5EF4-FFF2-40B4-BE49-F238E27FC236}">
                <a16:creationId xmlns:a16="http://schemas.microsoft.com/office/drawing/2014/main" id="{A0E05A72-0117-4A4C-ADA4-AD0DBED11D11}"/>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vl1pPr>
              <a:defRPr sz="900" b="0">
                <a:solidFill>
                  <a:srgbClr val="8498A5"/>
                </a:solidFill>
                <a:latin typeface="Arial"/>
                <a:ea typeface="Arial"/>
                <a:cs typeface="Arial"/>
              </a:defRPr>
            </a:lvl1pPr>
            <a:lvl2pPr>
              <a:defRPr sz="900" b="0">
                <a:solidFill>
                  <a:srgbClr val="8498A5"/>
                </a:solidFill>
                <a:latin typeface="Arial"/>
                <a:ea typeface="Arial"/>
                <a:cs typeface="Arial"/>
              </a:defRPr>
            </a:lvl2pPr>
            <a:lvl3pPr>
              <a:defRPr sz="900" b="0">
                <a:solidFill>
                  <a:srgbClr val="8498A5"/>
                </a:solidFill>
                <a:latin typeface="Arial"/>
                <a:ea typeface="Arial"/>
                <a:cs typeface="Arial"/>
              </a:defRPr>
            </a:lvl3pPr>
            <a:lvl4pPr>
              <a:defRPr sz="900" b="0">
                <a:solidFill>
                  <a:srgbClr val="8498A5"/>
                </a:solidFill>
                <a:latin typeface="Arial"/>
                <a:ea typeface="Arial"/>
                <a:cs typeface="Arial"/>
              </a:defRPr>
            </a:lvl4pPr>
            <a:lvl5pPr>
              <a:defRPr sz="900" b="0">
                <a:solidFill>
                  <a:srgbClr val="8498A5"/>
                </a:solidFill>
                <a:latin typeface="Arial"/>
                <a:ea typeface="Arial"/>
                <a:cs typeface="Arial"/>
              </a:defRPr>
            </a:lvl5pPr>
            <a:lvl6pPr>
              <a:defRPr sz="900" b="0">
                <a:solidFill>
                  <a:srgbClr val="8498A5"/>
                </a:solidFill>
                <a:latin typeface="Arial"/>
                <a:ea typeface="Arial"/>
                <a:cs typeface="Arial"/>
              </a:defRPr>
            </a:lvl6pPr>
            <a:lvl7pPr>
              <a:defRPr sz="900" b="0">
                <a:solidFill>
                  <a:srgbClr val="8498A5"/>
                </a:solidFill>
                <a:latin typeface="Arial"/>
                <a:ea typeface="Arial"/>
                <a:cs typeface="Arial"/>
              </a:defRPr>
            </a:lvl7pPr>
            <a:lvl8pPr>
              <a:defRPr sz="900" b="0">
                <a:solidFill>
                  <a:srgbClr val="8498A5"/>
                </a:solidFill>
                <a:latin typeface="Arial"/>
                <a:ea typeface="Arial"/>
                <a:cs typeface="Arial"/>
              </a:defRPr>
            </a:lvl8pPr>
            <a:lvl9pPr>
              <a:defRPr sz="900" b="0">
                <a:solidFill>
                  <a:srgbClr val="8498A5"/>
                </a:solidFill>
                <a:latin typeface="Arial"/>
                <a:ea typeface="Arial"/>
                <a:cs typeface="Arial"/>
              </a:defRPr>
            </a:lvl9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7" name="15">
            <a:extLst xmlns:a="http://schemas.openxmlformats.org/drawingml/2006/main">
              <a:ext uri="{FF2B5EF4-FFF2-40B4-BE49-F238E27FC236}">
                <a16:creationId xmlns:a16="http://schemas.microsoft.com/office/drawing/2014/main" id="{F2EB2616-78B7-4929-9C36-4B5B09EEFEC1}"/>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vl1pPr>
              <a:defRPr sz="1200" b="1">
                <a:solidFill>
                  <a:srgbClr val="8498A5"/>
                </a:solidFill>
                <a:latin typeface="Arial"/>
                <a:ea typeface="Arial"/>
                <a:cs typeface="Arial"/>
              </a:defRPr>
            </a:lvl1pPr>
            <a:lvl2pPr>
              <a:defRPr sz="1200" b="1">
                <a:solidFill>
                  <a:srgbClr val="8498A5"/>
                </a:solidFill>
                <a:latin typeface="Arial"/>
                <a:ea typeface="Arial"/>
                <a:cs typeface="Arial"/>
              </a:defRPr>
            </a:lvl2pPr>
            <a:lvl3pPr>
              <a:defRPr sz="1200" b="1">
                <a:solidFill>
                  <a:srgbClr val="8498A5"/>
                </a:solidFill>
                <a:latin typeface="Arial"/>
                <a:ea typeface="Arial"/>
                <a:cs typeface="Arial"/>
              </a:defRPr>
            </a:lvl3pPr>
            <a:lvl4pPr>
              <a:defRPr sz="1200" b="1">
                <a:solidFill>
                  <a:srgbClr val="8498A5"/>
                </a:solidFill>
                <a:latin typeface="Arial"/>
                <a:ea typeface="Arial"/>
                <a:cs typeface="Arial"/>
              </a:defRPr>
            </a:lvl4pPr>
            <a:lvl5pPr>
              <a:defRPr sz="1200" b="1">
                <a:solidFill>
                  <a:srgbClr val="8498A5"/>
                </a:solidFill>
                <a:latin typeface="Arial"/>
                <a:ea typeface="Arial"/>
                <a:cs typeface="Arial"/>
              </a:defRPr>
            </a:lvl5pPr>
            <a:lvl6pPr>
              <a:defRPr sz="1200" b="1">
                <a:solidFill>
                  <a:srgbClr val="8498A5"/>
                </a:solidFill>
                <a:latin typeface="Arial"/>
                <a:ea typeface="Arial"/>
                <a:cs typeface="Arial"/>
              </a:defRPr>
            </a:lvl6pPr>
            <a:lvl7pPr>
              <a:defRPr sz="1200" b="1">
                <a:solidFill>
                  <a:srgbClr val="8498A5"/>
                </a:solidFill>
                <a:latin typeface="Arial"/>
                <a:ea typeface="Arial"/>
                <a:cs typeface="Arial"/>
              </a:defRPr>
            </a:lvl7pPr>
            <a:lvl8pPr>
              <a:defRPr sz="1200" b="1">
                <a:solidFill>
                  <a:srgbClr val="8498A5"/>
                </a:solidFill>
                <a:latin typeface="Arial"/>
                <a:ea typeface="Arial"/>
                <a:cs typeface="Arial"/>
              </a:defRPr>
            </a:lvl8pPr>
            <a:lvl9pPr>
              <a:defRPr sz="1200" b="1">
                <a:solidFill>
                  <a:srgbClr val="8498A5"/>
                </a:solidFill>
                <a:latin typeface="Arial"/>
                <a:ea typeface="Arial"/>
                <a:cs typeface="Arial"/>
              </a:defRPr>
            </a:lvl9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15</a:t>
            </a:r>
          </a:p>
        </p:txBody>
      </p:sp>
    </p:spTree>
    <p:extLst>
      <p:ext uri="{BB962C8B-B14F-4D97-AF65-F5344CB8AC3E}">
        <p14:creationId xmlns:p14="http://schemas.microsoft.com/office/powerpoint/2010/main" val="567862763"/>
      </p:ext>
    </p:extLst>
  </p:cSld>
</p:sld>
</file>

<file path=ppt/slides/slide16.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sp>
        <p:nvSpPr>
          <p:cNvPr id="12" name="15–19 MINUTES / AUDIT THE PREPARED PR EXCERPT ON">
            <a:extLst xmlns:a="http://schemas.openxmlformats.org/drawingml/2006/main">
              <a:ext uri="{FF2B5EF4-FFF2-40B4-BE49-F238E27FC236}">
                <a16:creationId xmlns:a16="http://schemas.microsoft.com/office/drawing/2014/main" id="{086BDE80-A9C4-4C38-9BCA-FB58AAC7310B}"/>
              </a:ext>
            </a:extLst>
          </p:cNvPr>
          <p:cNvSpPr>
            <a:spLocks xmlns:a="http://schemas.openxmlformats.org/drawingml/2006/main" noGrp="1"/>
          </p:cNvSpPr>
          <p:nvPr/>
        </p:nvSpPr>
        <p:spPr>
          <a:xfrm xmlns:a="http://schemas.openxmlformats.org/drawingml/2006/main">
            <a:off x="609600" y="4381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vl1pPr>
              <a:defRPr sz="1200" b="1">
                <a:solidFill>
                  <a:srgbClr val="25D8BD"/>
                </a:solidFill>
                <a:latin typeface="Arial"/>
                <a:ea typeface="Arial"/>
                <a:cs typeface="Arial"/>
              </a:defRPr>
            </a:lvl1pPr>
            <a:lvl2pPr>
              <a:defRPr sz="1200" b="1">
                <a:solidFill>
                  <a:srgbClr val="25D8BD"/>
                </a:solidFill>
                <a:latin typeface="Arial"/>
                <a:ea typeface="Arial"/>
                <a:cs typeface="Arial"/>
              </a:defRPr>
            </a:lvl2pPr>
            <a:lvl3pPr>
              <a:defRPr sz="1200" b="1">
                <a:solidFill>
                  <a:srgbClr val="25D8BD"/>
                </a:solidFill>
                <a:latin typeface="Arial"/>
                <a:ea typeface="Arial"/>
                <a:cs typeface="Arial"/>
              </a:defRPr>
            </a:lvl3pPr>
            <a:lvl4pPr>
              <a:defRPr sz="1200" b="1">
                <a:solidFill>
                  <a:srgbClr val="25D8BD"/>
                </a:solidFill>
                <a:latin typeface="Arial"/>
                <a:ea typeface="Arial"/>
                <a:cs typeface="Arial"/>
              </a:defRPr>
            </a:lvl4pPr>
            <a:lvl5pPr>
              <a:defRPr sz="1200" b="1">
                <a:solidFill>
                  <a:srgbClr val="25D8BD"/>
                </a:solidFill>
                <a:latin typeface="Arial"/>
                <a:ea typeface="Arial"/>
                <a:cs typeface="Arial"/>
              </a:defRPr>
            </a:lvl5pPr>
            <a:lvl6pPr>
              <a:defRPr sz="1200" b="1">
                <a:solidFill>
                  <a:srgbClr val="25D8BD"/>
                </a:solidFill>
                <a:latin typeface="Arial"/>
                <a:ea typeface="Arial"/>
                <a:cs typeface="Arial"/>
              </a:defRPr>
            </a:lvl6pPr>
            <a:lvl7pPr>
              <a:defRPr sz="1200" b="1">
                <a:solidFill>
                  <a:srgbClr val="25D8BD"/>
                </a:solidFill>
                <a:latin typeface="Arial"/>
                <a:ea typeface="Arial"/>
                <a:cs typeface="Arial"/>
              </a:defRPr>
            </a:lvl7pPr>
            <a:lvl8pPr>
              <a:defRPr sz="1200" b="1">
                <a:solidFill>
                  <a:srgbClr val="25D8BD"/>
                </a:solidFill>
                <a:latin typeface="Arial"/>
                <a:ea typeface="Arial"/>
                <a:cs typeface="Arial"/>
              </a:defRPr>
            </a:lvl8pPr>
            <a:lvl9pPr>
              <a:defRPr sz="1200" b="1">
                <a:solidFill>
                  <a:srgbClr val="25D8BD"/>
                </a:solidFill>
                <a:latin typeface="Arial"/>
                <a:ea typeface="Arial"/>
                <a:cs typeface="Arial"/>
              </a:defRPr>
            </a:lvl9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15–19 MINUTES / AUDIT THE PREPARED PR EXCERPT ON YOUR CASE PAGE</a:t>
            </a:r>
          </a:p>
        </p:txBody>
      </p:sp>
      <p:sp>
        <p:nvSpPr>
          <p:cNvPr id="2" name="Audit the containment proposal">
            <a:extLst xmlns:a="http://schemas.openxmlformats.org/drawingml/2006/main">
              <a:ext uri="{FF2B5EF4-FFF2-40B4-BE49-F238E27FC236}">
                <a16:creationId xmlns:a16="http://schemas.microsoft.com/office/drawing/2014/main" id="{070698D1-8E3E-4649-8C87-EAB1A4E1A77E}"/>
              </a:ext>
            </a:extLst>
          </p:cNvPr>
          <p:cNvSpPr>
            <a:spLocks xmlns:a="http://schemas.openxmlformats.org/drawingml/2006/main" noGrp="1"/>
          </p:cNvSpPr>
          <p:nvPr>
            <p:ph type="title" idx="0"/>
          </p:nvPr>
        </p:nvSpPr>
        <p:spPr>
          <a:xfrm xmlns:a="http://schemas.openxmlformats.org/drawingml/2006/main">
            <a:off x="609600" y="91440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2EFE7"/>
                </a:solidFill>
                <a:latin typeface="Arial Black"/>
                <a:ea typeface="Arial Black"/>
                <a:cs typeface="Arial Black"/>
              </a:defRPr>
            </a:defPPr>
            <a:lvl1pPr>
              <a:defRPr sz="3600" b="1">
                <a:solidFill>
                  <a:srgbClr val="F2EFE7"/>
                </a:solidFill>
                <a:latin typeface="Arial Black"/>
                <a:ea typeface="Arial Black"/>
                <a:cs typeface="Arial Black"/>
              </a:defRPr>
            </a:lvl1pPr>
            <a:lvl2pPr>
              <a:defRPr sz="3600" b="1">
                <a:solidFill>
                  <a:srgbClr val="F2EFE7"/>
                </a:solidFill>
                <a:latin typeface="Arial Black"/>
                <a:ea typeface="Arial Black"/>
                <a:cs typeface="Arial Black"/>
              </a:defRPr>
            </a:lvl2pPr>
            <a:lvl3pPr>
              <a:defRPr sz="3600" b="1">
                <a:solidFill>
                  <a:srgbClr val="F2EFE7"/>
                </a:solidFill>
                <a:latin typeface="Arial Black"/>
                <a:ea typeface="Arial Black"/>
                <a:cs typeface="Arial Black"/>
              </a:defRPr>
            </a:lvl3pPr>
            <a:lvl4pPr>
              <a:defRPr sz="3600" b="1">
                <a:solidFill>
                  <a:srgbClr val="F2EFE7"/>
                </a:solidFill>
                <a:latin typeface="Arial Black"/>
                <a:ea typeface="Arial Black"/>
                <a:cs typeface="Arial Black"/>
              </a:defRPr>
            </a:lvl4pPr>
            <a:lvl5pPr>
              <a:defRPr sz="3600" b="1">
                <a:solidFill>
                  <a:srgbClr val="F2EFE7"/>
                </a:solidFill>
                <a:latin typeface="Arial Black"/>
                <a:ea typeface="Arial Black"/>
                <a:cs typeface="Arial Black"/>
              </a:defRPr>
            </a:lvl5pPr>
            <a:lvl6pPr>
              <a:defRPr sz="3600" b="1">
                <a:solidFill>
                  <a:srgbClr val="F2EFE7"/>
                </a:solidFill>
                <a:latin typeface="Arial Black"/>
                <a:ea typeface="Arial Black"/>
                <a:cs typeface="Arial Black"/>
              </a:defRPr>
            </a:lvl6pPr>
            <a:lvl7pPr>
              <a:defRPr sz="3600" b="1">
                <a:solidFill>
                  <a:srgbClr val="F2EFE7"/>
                </a:solidFill>
                <a:latin typeface="Arial Black"/>
                <a:ea typeface="Arial Black"/>
                <a:cs typeface="Arial Black"/>
              </a:defRPr>
            </a:lvl7pPr>
            <a:lvl8pPr>
              <a:defRPr sz="3600" b="1">
                <a:solidFill>
                  <a:srgbClr val="F2EFE7"/>
                </a:solidFill>
                <a:latin typeface="Arial Black"/>
                <a:ea typeface="Arial Black"/>
                <a:cs typeface="Arial Black"/>
              </a:defRPr>
            </a:lvl8pPr>
            <a:lvl9pPr>
              <a:defRPr sz="3600" b="1">
                <a:solidFill>
                  <a:srgbClr val="F2EFE7"/>
                </a:solidFill>
                <a:latin typeface="Arial Black"/>
                <a:ea typeface="Arial Black"/>
                <a:cs typeface="Arial Black"/>
              </a:defRPr>
            </a:lvl9pPr>
          </a:lstStyle>
          <a:p xmlns:a="http://schemas.openxmlformats.org/drawingml/2006/main">
            <a:pPr>
              <a:defRPr sz="3600" b="1">
                <a:solidFill>
                  <a:srgbClr val="F2EFE7"/>
                </a:solidFill>
                <a:latin typeface="Arial Black"/>
                <a:ea typeface="Arial Black"/>
                <a:cs typeface="Arial Black"/>
              </a:defRPr>
            </a:pPr>
            <a:r>
              <a:rPr sz="3600" b="1">
                <a:solidFill>
                  <a:srgbClr val="F2EFE7"/>
                </a:solidFill>
                <a:latin typeface="Arial Black"/>
                <a:ea typeface="Arial Black"/>
                <a:cs typeface="Arial Black"/>
              </a:rPr>
              <a:t>Audit the containment proposal</a:t>
            </a:r>
          </a:p>
        </p:txBody>
      </p:sp>
      <p:sp>
        <p:nvSpPr>
          <p:cNvPr id="3" name="APPROVE  —  All clauses &amp; tests verified">
            <a:extLst xmlns:a="http://schemas.openxmlformats.org/drawingml/2006/main">
              <a:ext uri="{FF2B5EF4-FFF2-40B4-BE49-F238E27FC236}">
                <a16:creationId xmlns:a16="http://schemas.microsoft.com/office/drawing/2014/main" id="{9D34E701-D215-43CA-A769-29578F927523}"/>
              </a:ext>
            </a:extLst>
          </p:cNvPr>
          <p:cNvSpPr>
            <a:spLocks xmlns:a="http://schemas.openxmlformats.org/drawingml/2006/main" noGrp="1"/>
          </p:cNvSpPr>
          <p:nvPr/>
        </p:nvSpPr>
        <p:spPr>
          <a:xfrm xmlns:a="http://schemas.openxmlformats.org/drawingml/2006/main">
            <a:off x="609600" y="1924050"/>
            <a:ext cx="5810250" cy="704850"/>
          </a:xfrm>
          <a:prstGeom xmlns:a="http://schemas.openxmlformats.org/drawingml/2006/main" prst="rect">
            <a:avLst/>
          </a:prstGeom>
          <a:solidFill xmlns:a="http://schemas.openxmlformats.org/drawingml/2006/main">
            <a:srgbClr val="132636"/>
          </a:solidFill>
          <a:ln xmlns:a="http://schemas.openxmlformats.org/drawingml/2006/main" w="19050">
            <a:solidFill>
              <a:srgbClr val="F2EFE7"/>
            </a:solidFill>
          </a:ln>
        </p:spPr>
        <p:txBody>
          <a:bodyPr xmlns:a="http://schemas.openxmlformats.org/drawingml/2006/main"/>
          <a:lstStyle xmlns:a="http://schemas.openxmlformats.org/drawingml/2006/main">
            <a:defPPr>
              <a:defRPr sz="1800" b="1">
                <a:solidFill>
                  <a:srgbClr val="F2EFE7"/>
                </a:solidFill>
                <a:latin typeface="Arial"/>
                <a:ea typeface="Arial"/>
                <a:cs typeface="Arial"/>
              </a:defRPr>
            </a:defPPr>
            <a:lvl1pPr>
              <a:defRPr sz="1800" b="1">
                <a:solidFill>
                  <a:srgbClr val="F2EFE7"/>
                </a:solidFill>
                <a:latin typeface="Arial"/>
                <a:ea typeface="Arial"/>
                <a:cs typeface="Arial"/>
              </a:defRPr>
            </a:lvl1pPr>
            <a:lvl2pPr>
              <a:defRPr sz="1800" b="1">
                <a:solidFill>
                  <a:srgbClr val="F2EFE7"/>
                </a:solidFill>
                <a:latin typeface="Arial"/>
                <a:ea typeface="Arial"/>
                <a:cs typeface="Arial"/>
              </a:defRPr>
            </a:lvl2pPr>
            <a:lvl3pPr>
              <a:defRPr sz="1800" b="1">
                <a:solidFill>
                  <a:srgbClr val="F2EFE7"/>
                </a:solidFill>
                <a:latin typeface="Arial"/>
                <a:ea typeface="Arial"/>
                <a:cs typeface="Arial"/>
              </a:defRPr>
            </a:lvl3pPr>
            <a:lvl4pPr>
              <a:defRPr sz="1800" b="1">
                <a:solidFill>
                  <a:srgbClr val="F2EFE7"/>
                </a:solidFill>
                <a:latin typeface="Arial"/>
                <a:ea typeface="Arial"/>
                <a:cs typeface="Arial"/>
              </a:defRPr>
            </a:lvl4pPr>
            <a:lvl5pPr>
              <a:defRPr sz="1800" b="1">
                <a:solidFill>
                  <a:srgbClr val="F2EFE7"/>
                </a:solidFill>
                <a:latin typeface="Arial"/>
                <a:ea typeface="Arial"/>
                <a:cs typeface="Arial"/>
              </a:defRPr>
            </a:lvl5pPr>
            <a:lvl6pPr>
              <a:defRPr sz="1800" b="1">
                <a:solidFill>
                  <a:srgbClr val="F2EFE7"/>
                </a:solidFill>
                <a:latin typeface="Arial"/>
                <a:ea typeface="Arial"/>
                <a:cs typeface="Arial"/>
              </a:defRPr>
            </a:lvl6pPr>
            <a:lvl7pPr>
              <a:defRPr sz="1800" b="1">
                <a:solidFill>
                  <a:srgbClr val="F2EFE7"/>
                </a:solidFill>
                <a:latin typeface="Arial"/>
                <a:ea typeface="Arial"/>
                <a:cs typeface="Arial"/>
              </a:defRPr>
            </a:lvl7pPr>
            <a:lvl8pPr>
              <a:defRPr sz="1800" b="1">
                <a:solidFill>
                  <a:srgbClr val="F2EFE7"/>
                </a:solidFill>
                <a:latin typeface="Arial"/>
                <a:ea typeface="Arial"/>
                <a:cs typeface="Arial"/>
              </a:defRPr>
            </a:lvl8pPr>
            <a:lvl9pPr>
              <a:defRPr sz="1800" b="1">
                <a:solidFill>
                  <a:srgbClr val="F2EFE7"/>
                </a:solidFill>
                <a:latin typeface="Arial"/>
                <a:ea typeface="Arial"/>
                <a:cs typeface="Arial"/>
              </a:defRPr>
            </a:lvl9pPr>
          </a:lstStyle>
          <a:p xmlns:a="http://schemas.openxmlformats.org/drawingml/2006/main">
            <a:pPr>
              <a:defRPr sz="1800" b="1">
                <a:solidFill>
                  <a:srgbClr val="F2EFE7"/>
                </a:solidFill>
                <a:latin typeface="Arial"/>
                <a:ea typeface="Arial"/>
                <a:cs typeface="Arial"/>
              </a:defRPr>
            </a:pPr>
            <a:r>
              <a:rPr sz="1800" b="1">
                <a:solidFill>
                  <a:srgbClr val="F2EFE7"/>
                </a:solidFill>
                <a:latin typeface="Arial"/>
                <a:ea typeface="Arial"/>
                <a:cs typeface="Arial"/>
              </a:rPr>
              <a:t>APPROVE  —  All clauses &amp; tests verified</a:t>
            </a:r>
          </a:p>
        </p:txBody>
      </p:sp>
      <p:sp>
        <p:nvSpPr>
          <p:cNvPr id="4" name="MODIFY  —  Keep control, fix scope/gaps">
            <a:extLst xmlns:a="http://schemas.openxmlformats.org/drawingml/2006/main">
              <a:ext uri="{FF2B5EF4-FFF2-40B4-BE49-F238E27FC236}">
                <a16:creationId xmlns:a16="http://schemas.microsoft.com/office/drawing/2014/main" id="{9543EA27-45FC-4944-BC95-C5C477DAFF34}"/>
              </a:ext>
            </a:extLst>
          </p:cNvPr>
          <p:cNvSpPr>
            <a:spLocks xmlns:a="http://schemas.openxmlformats.org/drawingml/2006/main" noGrp="1"/>
          </p:cNvSpPr>
          <p:nvPr/>
        </p:nvSpPr>
        <p:spPr>
          <a:xfrm xmlns:a="http://schemas.openxmlformats.org/drawingml/2006/main">
            <a:off x="609600" y="2762250"/>
            <a:ext cx="5810250" cy="7048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800" b="1">
                <a:solidFill>
                  <a:srgbClr val="25D8BD"/>
                </a:solidFill>
                <a:latin typeface="Arial"/>
                <a:ea typeface="Arial"/>
                <a:cs typeface="Arial"/>
              </a:defRPr>
            </a:defPPr>
            <a:lvl1pPr>
              <a:defRPr sz="1800" b="1">
                <a:solidFill>
                  <a:srgbClr val="25D8BD"/>
                </a:solidFill>
                <a:latin typeface="Arial"/>
                <a:ea typeface="Arial"/>
                <a:cs typeface="Arial"/>
              </a:defRPr>
            </a:lvl1pPr>
            <a:lvl2pPr>
              <a:defRPr sz="1800" b="1">
                <a:solidFill>
                  <a:srgbClr val="25D8BD"/>
                </a:solidFill>
                <a:latin typeface="Arial"/>
                <a:ea typeface="Arial"/>
                <a:cs typeface="Arial"/>
              </a:defRPr>
            </a:lvl2pPr>
            <a:lvl3pPr>
              <a:defRPr sz="1800" b="1">
                <a:solidFill>
                  <a:srgbClr val="25D8BD"/>
                </a:solidFill>
                <a:latin typeface="Arial"/>
                <a:ea typeface="Arial"/>
                <a:cs typeface="Arial"/>
              </a:defRPr>
            </a:lvl3pPr>
            <a:lvl4pPr>
              <a:defRPr sz="1800" b="1">
                <a:solidFill>
                  <a:srgbClr val="25D8BD"/>
                </a:solidFill>
                <a:latin typeface="Arial"/>
                <a:ea typeface="Arial"/>
                <a:cs typeface="Arial"/>
              </a:defRPr>
            </a:lvl4pPr>
            <a:lvl5pPr>
              <a:defRPr sz="1800" b="1">
                <a:solidFill>
                  <a:srgbClr val="25D8BD"/>
                </a:solidFill>
                <a:latin typeface="Arial"/>
                <a:ea typeface="Arial"/>
                <a:cs typeface="Arial"/>
              </a:defRPr>
            </a:lvl5pPr>
            <a:lvl6pPr>
              <a:defRPr sz="1800" b="1">
                <a:solidFill>
                  <a:srgbClr val="25D8BD"/>
                </a:solidFill>
                <a:latin typeface="Arial"/>
                <a:ea typeface="Arial"/>
                <a:cs typeface="Arial"/>
              </a:defRPr>
            </a:lvl6pPr>
            <a:lvl7pPr>
              <a:defRPr sz="1800" b="1">
                <a:solidFill>
                  <a:srgbClr val="25D8BD"/>
                </a:solidFill>
                <a:latin typeface="Arial"/>
                <a:ea typeface="Arial"/>
                <a:cs typeface="Arial"/>
              </a:defRPr>
            </a:lvl7pPr>
            <a:lvl8pPr>
              <a:defRPr sz="1800" b="1">
                <a:solidFill>
                  <a:srgbClr val="25D8BD"/>
                </a:solidFill>
                <a:latin typeface="Arial"/>
                <a:ea typeface="Arial"/>
                <a:cs typeface="Arial"/>
              </a:defRPr>
            </a:lvl8pPr>
            <a:lvl9pPr>
              <a:defRPr sz="1800" b="1">
                <a:solidFill>
                  <a:srgbClr val="25D8BD"/>
                </a:solidFill>
                <a:latin typeface="Arial"/>
                <a:ea typeface="Arial"/>
                <a:cs typeface="Arial"/>
              </a:defRPr>
            </a:lvl9pPr>
          </a:lstStyle>
          <a:p xmlns:a="http://schemas.openxmlformats.org/drawingml/2006/main">
            <a:pPr>
              <a:defRPr sz="1800" b="1">
                <a:solidFill>
                  <a:srgbClr val="25D8BD"/>
                </a:solidFill>
                <a:latin typeface="Arial"/>
                <a:ea typeface="Arial"/>
                <a:cs typeface="Arial"/>
              </a:defRPr>
            </a:pPr>
            <a:r>
              <a:rPr sz="1800" b="1">
                <a:solidFill>
                  <a:srgbClr val="25D8BD"/>
                </a:solidFill>
                <a:latin typeface="Arial"/>
                <a:ea typeface="Arial"/>
                <a:cs typeface="Arial"/>
              </a:rPr>
              <a:t>MODIFY  —  Keep control, fix scope/gaps</a:t>
            </a:r>
          </a:p>
        </p:txBody>
      </p:sp>
      <p:sp>
        <p:nvSpPr>
          <p:cNvPr id="5" name="REJECT  —  Wrong layer or unsafe action">
            <a:extLst xmlns:a="http://schemas.openxmlformats.org/drawingml/2006/main">
              <a:ext uri="{FF2B5EF4-FFF2-40B4-BE49-F238E27FC236}">
                <a16:creationId xmlns:a16="http://schemas.microsoft.com/office/drawing/2014/main" id="{3DC5CB25-441A-4CD8-A74D-C875693ABCEA}"/>
              </a:ext>
            </a:extLst>
          </p:cNvPr>
          <p:cNvSpPr>
            <a:spLocks xmlns:a="http://schemas.openxmlformats.org/drawingml/2006/main" noGrp="1"/>
          </p:cNvSpPr>
          <p:nvPr/>
        </p:nvSpPr>
        <p:spPr>
          <a:xfrm xmlns:a="http://schemas.openxmlformats.org/drawingml/2006/main">
            <a:off x="609600" y="3600450"/>
            <a:ext cx="5810250" cy="704850"/>
          </a:xfrm>
          <a:prstGeom xmlns:a="http://schemas.openxmlformats.org/drawingml/2006/main" prst="rect">
            <a:avLst/>
          </a:prstGeom>
          <a:solidFill xmlns:a="http://schemas.openxmlformats.org/drawingml/2006/main">
            <a:srgbClr val="132636"/>
          </a:solidFill>
          <a:ln xmlns:a="http://schemas.openxmlformats.org/drawingml/2006/main" w="19050">
            <a:solidFill>
              <a:srgbClr val="FF795B"/>
            </a:solidFill>
          </a:ln>
        </p:spPr>
        <p:txBody>
          <a:bodyPr xmlns:a="http://schemas.openxmlformats.org/drawingml/2006/main"/>
          <a:lstStyle xmlns:a="http://schemas.openxmlformats.org/drawingml/2006/main">
            <a:defPPr>
              <a:defRPr sz="1800" b="1">
                <a:solidFill>
                  <a:srgbClr val="FF795B"/>
                </a:solidFill>
                <a:latin typeface="Arial"/>
                <a:ea typeface="Arial"/>
                <a:cs typeface="Arial"/>
              </a:defRPr>
            </a:defPPr>
            <a:lvl1pPr>
              <a:defRPr sz="1800" b="1">
                <a:solidFill>
                  <a:srgbClr val="FF795B"/>
                </a:solidFill>
                <a:latin typeface="Arial"/>
                <a:ea typeface="Arial"/>
                <a:cs typeface="Arial"/>
              </a:defRPr>
            </a:lvl1pPr>
            <a:lvl2pPr>
              <a:defRPr sz="1800" b="1">
                <a:solidFill>
                  <a:srgbClr val="FF795B"/>
                </a:solidFill>
                <a:latin typeface="Arial"/>
                <a:ea typeface="Arial"/>
                <a:cs typeface="Arial"/>
              </a:defRPr>
            </a:lvl2pPr>
            <a:lvl3pPr>
              <a:defRPr sz="1800" b="1">
                <a:solidFill>
                  <a:srgbClr val="FF795B"/>
                </a:solidFill>
                <a:latin typeface="Arial"/>
                <a:ea typeface="Arial"/>
                <a:cs typeface="Arial"/>
              </a:defRPr>
            </a:lvl3pPr>
            <a:lvl4pPr>
              <a:defRPr sz="1800" b="1">
                <a:solidFill>
                  <a:srgbClr val="FF795B"/>
                </a:solidFill>
                <a:latin typeface="Arial"/>
                <a:ea typeface="Arial"/>
                <a:cs typeface="Arial"/>
              </a:defRPr>
            </a:lvl4pPr>
            <a:lvl5pPr>
              <a:defRPr sz="1800" b="1">
                <a:solidFill>
                  <a:srgbClr val="FF795B"/>
                </a:solidFill>
                <a:latin typeface="Arial"/>
                <a:ea typeface="Arial"/>
                <a:cs typeface="Arial"/>
              </a:defRPr>
            </a:lvl5pPr>
            <a:lvl6pPr>
              <a:defRPr sz="1800" b="1">
                <a:solidFill>
                  <a:srgbClr val="FF795B"/>
                </a:solidFill>
                <a:latin typeface="Arial"/>
                <a:ea typeface="Arial"/>
                <a:cs typeface="Arial"/>
              </a:defRPr>
            </a:lvl6pPr>
            <a:lvl7pPr>
              <a:defRPr sz="1800" b="1">
                <a:solidFill>
                  <a:srgbClr val="FF795B"/>
                </a:solidFill>
                <a:latin typeface="Arial"/>
                <a:ea typeface="Arial"/>
                <a:cs typeface="Arial"/>
              </a:defRPr>
            </a:lvl7pPr>
            <a:lvl8pPr>
              <a:defRPr sz="1800" b="1">
                <a:solidFill>
                  <a:srgbClr val="FF795B"/>
                </a:solidFill>
                <a:latin typeface="Arial"/>
                <a:ea typeface="Arial"/>
                <a:cs typeface="Arial"/>
              </a:defRPr>
            </a:lvl8pPr>
            <a:lvl9pPr>
              <a:defRPr sz="1800" b="1">
                <a:solidFill>
                  <a:srgbClr val="FF795B"/>
                </a:solidFill>
                <a:latin typeface="Arial"/>
                <a:ea typeface="Arial"/>
                <a:cs typeface="Arial"/>
              </a:defRPr>
            </a:lvl9pPr>
          </a:lstStyle>
          <a:p xmlns:a="http://schemas.openxmlformats.org/drawingml/2006/main">
            <a:pPr>
              <a:defRPr sz="1800" b="1">
                <a:solidFill>
                  <a:srgbClr val="FF795B"/>
                </a:solidFill>
                <a:latin typeface="Arial"/>
                <a:ea typeface="Arial"/>
                <a:cs typeface="Arial"/>
              </a:defRPr>
            </a:pPr>
            <a:r>
              <a:rPr sz="1800" b="1">
                <a:solidFill>
                  <a:srgbClr val="FF795B"/>
                </a:solidFill>
                <a:latin typeface="Arial"/>
                <a:ea typeface="Arial"/>
                <a:cs typeface="Arial"/>
              </a:rPr>
              <a:t>REJECT  —  Wrong layer or unsafe action</a:t>
            </a:r>
          </a:p>
        </p:txBody>
      </p:sp>
      <p:sp>
        <p:nvSpPr>
          <p:cNvPr id="6" name="ESCALATE  —  Unresolved authority / handoff">
            <a:extLst xmlns:a="http://schemas.openxmlformats.org/drawingml/2006/main">
              <a:ext uri="{FF2B5EF4-FFF2-40B4-BE49-F238E27FC236}">
                <a16:creationId xmlns:a16="http://schemas.microsoft.com/office/drawing/2014/main" id="{6BBC34A5-DCEC-4565-BEF0-20FA03BECA9E}"/>
              </a:ext>
            </a:extLst>
          </p:cNvPr>
          <p:cNvSpPr>
            <a:spLocks xmlns:a="http://schemas.openxmlformats.org/drawingml/2006/main" noGrp="1"/>
          </p:cNvSpPr>
          <p:nvPr/>
        </p:nvSpPr>
        <p:spPr>
          <a:xfrm xmlns:a="http://schemas.openxmlformats.org/drawingml/2006/main">
            <a:off x="609600" y="4438650"/>
            <a:ext cx="5810250" cy="704850"/>
          </a:xfrm>
          <a:prstGeom xmlns:a="http://schemas.openxmlformats.org/drawingml/2006/main" prst="rect">
            <a:avLst/>
          </a:prstGeom>
          <a:solidFill xmlns:a="http://schemas.openxmlformats.org/drawingml/2006/main">
            <a:srgbClr val="132636"/>
          </a:solidFill>
          <a:ln xmlns:a="http://schemas.openxmlformats.org/drawingml/2006/main" w="19050">
            <a:solidFill>
              <a:srgbClr val="F2EFE7"/>
            </a:solidFill>
          </a:ln>
        </p:spPr>
        <p:txBody>
          <a:bodyPr xmlns:a="http://schemas.openxmlformats.org/drawingml/2006/main"/>
          <a:lstStyle xmlns:a="http://schemas.openxmlformats.org/drawingml/2006/main">
            <a:defPPr>
              <a:defRPr sz="1800" b="1">
                <a:solidFill>
                  <a:srgbClr val="F2EFE7"/>
                </a:solidFill>
                <a:latin typeface="Arial"/>
                <a:ea typeface="Arial"/>
                <a:cs typeface="Arial"/>
              </a:defRPr>
            </a:defPPr>
            <a:lvl1pPr>
              <a:defRPr sz="1800" b="1">
                <a:solidFill>
                  <a:srgbClr val="F2EFE7"/>
                </a:solidFill>
                <a:latin typeface="Arial"/>
                <a:ea typeface="Arial"/>
                <a:cs typeface="Arial"/>
              </a:defRPr>
            </a:lvl1pPr>
            <a:lvl2pPr>
              <a:defRPr sz="1800" b="1">
                <a:solidFill>
                  <a:srgbClr val="F2EFE7"/>
                </a:solidFill>
                <a:latin typeface="Arial"/>
                <a:ea typeface="Arial"/>
                <a:cs typeface="Arial"/>
              </a:defRPr>
            </a:lvl2pPr>
            <a:lvl3pPr>
              <a:defRPr sz="1800" b="1">
                <a:solidFill>
                  <a:srgbClr val="F2EFE7"/>
                </a:solidFill>
                <a:latin typeface="Arial"/>
                <a:ea typeface="Arial"/>
                <a:cs typeface="Arial"/>
              </a:defRPr>
            </a:lvl3pPr>
            <a:lvl4pPr>
              <a:defRPr sz="1800" b="1">
                <a:solidFill>
                  <a:srgbClr val="F2EFE7"/>
                </a:solidFill>
                <a:latin typeface="Arial"/>
                <a:ea typeface="Arial"/>
                <a:cs typeface="Arial"/>
              </a:defRPr>
            </a:lvl4pPr>
            <a:lvl5pPr>
              <a:defRPr sz="1800" b="1">
                <a:solidFill>
                  <a:srgbClr val="F2EFE7"/>
                </a:solidFill>
                <a:latin typeface="Arial"/>
                <a:ea typeface="Arial"/>
                <a:cs typeface="Arial"/>
              </a:defRPr>
            </a:lvl5pPr>
            <a:lvl6pPr>
              <a:defRPr sz="1800" b="1">
                <a:solidFill>
                  <a:srgbClr val="F2EFE7"/>
                </a:solidFill>
                <a:latin typeface="Arial"/>
                <a:ea typeface="Arial"/>
                <a:cs typeface="Arial"/>
              </a:defRPr>
            </a:lvl6pPr>
            <a:lvl7pPr>
              <a:defRPr sz="1800" b="1">
                <a:solidFill>
                  <a:srgbClr val="F2EFE7"/>
                </a:solidFill>
                <a:latin typeface="Arial"/>
                <a:ea typeface="Arial"/>
                <a:cs typeface="Arial"/>
              </a:defRPr>
            </a:lvl7pPr>
            <a:lvl8pPr>
              <a:defRPr sz="1800" b="1">
                <a:solidFill>
                  <a:srgbClr val="F2EFE7"/>
                </a:solidFill>
                <a:latin typeface="Arial"/>
                <a:ea typeface="Arial"/>
                <a:cs typeface="Arial"/>
              </a:defRPr>
            </a:lvl8pPr>
            <a:lvl9pPr>
              <a:defRPr sz="1800" b="1">
                <a:solidFill>
                  <a:srgbClr val="F2EFE7"/>
                </a:solidFill>
                <a:latin typeface="Arial"/>
                <a:ea typeface="Arial"/>
                <a:cs typeface="Arial"/>
              </a:defRPr>
            </a:lvl9pPr>
          </a:lstStyle>
          <a:p xmlns:a="http://schemas.openxmlformats.org/drawingml/2006/main">
            <a:pPr>
              <a:defRPr sz="1800" b="1">
                <a:solidFill>
                  <a:srgbClr val="F2EFE7"/>
                </a:solidFill>
                <a:latin typeface="Arial"/>
                <a:ea typeface="Arial"/>
                <a:cs typeface="Arial"/>
              </a:defRPr>
            </a:pPr>
            <a:r>
              <a:rPr sz="1800" b="1">
                <a:solidFill>
                  <a:srgbClr val="F2EFE7"/>
                </a:solidFill>
                <a:latin typeface="Arial"/>
                <a:ea typeface="Arial"/>
                <a:cs typeface="Arial"/>
              </a:rPr>
              <a:t>ESCALATE  —  Unresolved authority / handoff</a:t>
            </a:r>
          </a:p>
        </p:txBody>
      </p:sp>
      <p:sp>
        <p:nvSpPr>
          <p:cNvPr id="7" name="CHECK 1: UNRESOLVED CLAUSES&#10;&#10;Which requirement i">
            <a:extLst xmlns:a="http://schemas.openxmlformats.org/drawingml/2006/main">
              <a:ext uri="{FF2B5EF4-FFF2-40B4-BE49-F238E27FC236}">
                <a16:creationId xmlns:a16="http://schemas.microsoft.com/office/drawing/2014/main" id="{1246D695-5DCF-41EC-B1D1-07EEE91817EA}"/>
              </a:ext>
            </a:extLst>
          </p:cNvPr>
          <p:cNvSpPr>
            <a:spLocks xmlns:a="http://schemas.openxmlformats.org/drawingml/2006/main" noGrp="1"/>
          </p:cNvSpPr>
          <p:nvPr/>
        </p:nvSpPr>
        <p:spPr>
          <a:xfrm xmlns:a="http://schemas.openxmlformats.org/drawingml/2006/main">
            <a:off x="6686550" y="1924050"/>
            <a:ext cx="4876800" cy="15430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575" b="0">
                <a:solidFill>
                  <a:srgbClr val="F2EFE7"/>
                </a:solidFill>
                <a:latin typeface="Arial"/>
                <a:ea typeface="Arial"/>
                <a:cs typeface="Arial"/>
              </a:defRPr>
            </a:defPPr>
            <a:lvl1pPr>
              <a:defRPr sz="1575" b="0">
                <a:solidFill>
                  <a:srgbClr val="F2EFE7"/>
                </a:solidFill>
                <a:latin typeface="Arial"/>
                <a:ea typeface="Arial"/>
                <a:cs typeface="Arial"/>
              </a:defRPr>
            </a:lvl1pPr>
            <a:lvl2pPr>
              <a:defRPr sz="1575" b="0">
                <a:solidFill>
                  <a:srgbClr val="F2EFE7"/>
                </a:solidFill>
                <a:latin typeface="Arial"/>
                <a:ea typeface="Arial"/>
                <a:cs typeface="Arial"/>
              </a:defRPr>
            </a:lvl2pPr>
            <a:lvl3pPr>
              <a:defRPr sz="1575" b="0">
                <a:solidFill>
                  <a:srgbClr val="F2EFE7"/>
                </a:solidFill>
                <a:latin typeface="Arial"/>
                <a:ea typeface="Arial"/>
                <a:cs typeface="Arial"/>
              </a:defRPr>
            </a:lvl3pPr>
            <a:lvl4pPr>
              <a:defRPr sz="1575" b="0">
                <a:solidFill>
                  <a:srgbClr val="F2EFE7"/>
                </a:solidFill>
                <a:latin typeface="Arial"/>
                <a:ea typeface="Arial"/>
                <a:cs typeface="Arial"/>
              </a:defRPr>
            </a:lvl4pPr>
            <a:lvl5pPr>
              <a:defRPr sz="1575" b="0">
                <a:solidFill>
                  <a:srgbClr val="F2EFE7"/>
                </a:solidFill>
                <a:latin typeface="Arial"/>
                <a:ea typeface="Arial"/>
                <a:cs typeface="Arial"/>
              </a:defRPr>
            </a:lvl5pPr>
            <a:lvl6pPr>
              <a:defRPr sz="1575" b="0">
                <a:solidFill>
                  <a:srgbClr val="F2EFE7"/>
                </a:solidFill>
                <a:latin typeface="Arial"/>
                <a:ea typeface="Arial"/>
                <a:cs typeface="Arial"/>
              </a:defRPr>
            </a:lvl6pPr>
            <a:lvl7pPr>
              <a:defRPr sz="1575" b="0">
                <a:solidFill>
                  <a:srgbClr val="F2EFE7"/>
                </a:solidFill>
                <a:latin typeface="Arial"/>
                <a:ea typeface="Arial"/>
                <a:cs typeface="Arial"/>
              </a:defRPr>
            </a:lvl7pPr>
            <a:lvl8pPr>
              <a:defRPr sz="1575" b="0">
                <a:solidFill>
                  <a:srgbClr val="F2EFE7"/>
                </a:solidFill>
                <a:latin typeface="Arial"/>
                <a:ea typeface="Arial"/>
                <a:cs typeface="Arial"/>
              </a:defRPr>
            </a:lvl8pPr>
            <a:lvl9pPr>
              <a:defRPr sz="1575" b="0">
                <a:solidFill>
                  <a:srgbClr val="F2EFE7"/>
                </a:solidFill>
                <a:latin typeface="Arial"/>
                <a:ea typeface="Arial"/>
                <a:cs typeface="Arial"/>
              </a:defRPr>
            </a:lvl9pPr>
          </a:lstStyle>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CHECK 1: UNRESOLVED CLAUSES</a:t>
            </a:r>
          </a:p>
          <a:p xmlns:a="http://schemas.openxmlformats.org/drawingml/2006/main">
            <a:r>
              <a:t/>
            </a:r>
          </a:p>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Which requirement in your intent is marked REVIEW_REQUIRED or handed off outside Kyverno admission?</a:t>
            </a:r>
          </a:p>
        </p:txBody>
      </p:sp>
      <p:sp>
        <p:nvSpPr>
          <p:cNvPr id="8" name="CHECK 2: MISSING ACCEPTANCE TEST&#10;&#10;Name one contr">
            <a:extLst xmlns:a="http://schemas.openxmlformats.org/drawingml/2006/main">
              <a:ext uri="{FF2B5EF4-FFF2-40B4-BE49-F238E27FC236}">
                <a16:creationId xmlns:a16="http://schemas.microsoft.com/office/drawing/2014/main" id="{02F2D1CD-8A20-45CC-BA8F-5589DC6A44A7}"/>
              </a:ext>
            </a:extLst>
          </p:cNvPr>
          <p:cNvSpPr>
            <a:spLocks xmlns:a="http://schemas.openxmlformats.org/drawingml/2006/main" noGrp="1"/>
          </p:cNvSpPr>
          <p:nvPr/>
        </p:nvSpPr>
        <p:spPr>
          <a:xfrm xmlns:a="http://schemas.openxmlformats.org/drawingml/2006/main">
            <a:off x="6686550" y="3619500"/>
            <a:ext cx="4876800" cy="1543050"/>
          </a:xfrm>
          <a:prstGeom xmlns:a="http://schemas.openxmlformats.org/drawingml/2006/main" prst="rect">
            <a:avLst/>
          </a:prstGeom>
          <a:solidFill xmlns:a="http://schemas.openxmlformats.org/drawingml/2006/main">
            <a:srgbClr val="132636"/>
          </a:solidFill>
          <a:ln xmlns:a="http://schemas.openxmlformats.org/drawingml/2006/main" w="19050">
            <a:solidFill>
              <a:srgbClr val="FF795B"/>
            </a:solidFill>
          </a:ln>
        </p:spPr>
        <p:txBody>
          <a:bodyPr xmlns:a="http://schemas.openxmlformats.org/drawingml/2006/main"/>
          <a:lstStyle xmlns:a="http://schemas.openxmlformats.org/drawingml/2006/main">
            <a:defPPr>
              <a:defRPr sz="1575" b="0">
                <a:solidFill>
                  <a:srgbClr val="F2EFE7"/>
                </a:solidFill>
                <a:latin typeface="Arial"/>
                <a:ea typeface="Arial"/>
                <a:cs typeface="Arial"/>
              </a:defRPr>
            </a:defPPr>
            <a:lvl1pPr>
              <a:defRPr sz="1575" b="0">
                <a:solidFill>
                  <a:srgbClr val="F2EFE7"/>
                </a:solidFill>
                <a:latin typeface="Arial"/>
                <a:ea typeface="Arial"/>
                <a:cs typeface="Arial"/>
              </a:defRPr>
            </a:lvl1pPr>
            <a:lvl2pPr>
              <a:defRPr sz="1575" b="0">
                <a:solidFill>
                  <a:srgbClr val="F2EFE7"/>
                </a:solidFill>
                <a:latin typeface="Arial"/>
                <a:ea typeface="Arial"/>
                <a:cs typeface="Arial"/>
              </a:defRPr>
            </a:lvl2pPr>
            <a:lvl3pPr>
              <a:defRPr sz="1575" b="0">
                <a:solidFill>
                  <a:srgbClr val="F2EFE7"/>
                </a:solidFill>
                <a:latin typeface="Arial"/>
                <a:ea typeface="Arial"/>
                <a:cs typeface="Arial"/>
              </a:defRPr>
            </a:lvl3pPr>
            <a:lvl4pPr>
              <a:defRPr sz="1575" b="0">
                <a:solidFill>
                  <a:srgbClr val="F2EFE7"/>
                </a:solidFill>
                <a:latin typeface="Arial"/>
                <a:ea typeface="Arial"/>
                <a:cs typeface="Arial"/>
              </a:defRPr>
            </a:lvl4pPr>
            <a:lvl5pPr>
              <a:defRPr sz="1575" b="0">
                <a:solidFill>
                  <a:srgbClr val="F2EFE7"/>
                </a:solidFill>
                <a:latin typeface="Arial"/>
                <a:ea typeface="Arial"/>
                <a:cs typeface="Arial"/>
              </a:defRPr>
            </a:lvl5pPr>
            <a:lvl6pPr>
              <a:defRPr sz="1575" b="0">
                <a:solidFill>
                  <a:srgbClr val="F2EFE7"/>
                </a:solidFill>
                <a:latin typeface="Arial"/>
                <a:ea typeface="Arial"/>
                <a:cs typeface="Arial"/>
              </a:defRPr>
            </a:lvl6pPr>
            <a:lvl7pPr>
              <a:defRPr sz="1575" b="0">
                <a:solidFill>
                  <a:srgbClr val="F2EFE7"/>
                </a:solidFill>
                <a:latin typeface="Arial"/>
                <a:ea typeface="Arial"/>
                <a:cs typeface="Arial"/>
              </a:defRPr>
            </a:lvl7pPr>
            <a:lvl8pPr>
              <a:defRPr sz="1575" b="0">
                <a:solidFill>
                  <a:srgbClr val="F2EFE7"/>
                </a:solidFill>
                <a:latin typeface="Arial"/>
                <a:ea typeface="Arial"/>
                <a:cs typeface="Arial"/>
              </a:defRPr>
            </a:lvl8pPr>
            <a:lvl9pPr>
              <a:defRPr sz="1575" b="0">
                <a:solidFill>
                  <a:srgbClr val="F2EFE7"/>
                </a:solidFill>
                <a:latin typeface="Arial"/>
                <a:ea typeface="Arial"/>
                <a:cs typeface="Arial"/>
              </a:defRPr>
            </a:lvl9pPr>
          </a:lstStyle>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CHECK 2: MISSING ACCEPTANCE TEST</a:t>
            </a:r>
          </a:p>
          <a:p xmlns:a="http://schemas.openxmlformats.org/drawingml/2006/main">
            <a:r>
              <a:t/>
            </a:r>
          </a:p>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Name one control you would change and one concrete test that must pass before deployment.</a:t>
            </a:r>
          </a:p>
        </p:txBody>
      </p:sp>
      <p:sp>
        <p:nvSpPr>
          <p:cNvPr id="9" name="LOCK ON PAGE 6: Circle your disposition, name th">
            <a:extLst xmlns:a="http://schemas.openxmlformats.org/drawingml/2006/main">
              <a:ext uri="{FF2B5EF4-FFF2-40B4-BE49-F238E27FC236}">
                <a16:creationId xmlns:a16="http://schemas.microsoft.com/office/drawing/2014/main" id="{8EEA4AFE-49A9-4A6D-8ABA-55F7CD78DB51}"/>
              </a:ext>
            </a:extLst>
          </p:cNvPr>
          <p:cNvSpPr>
            <a:spLocks xmlns:a="http://schemas.openxmlformats.org/drawingml/2006/main" noGrp="1"/>
          </p:cNvSpPr>
          <p:nvPr/>
        </p:nvSpPr>
        <p:spPr>
          <a:xfrm xmlns:a="http://schemas.openxmlformats.org/drawingml/2006/main">
            <a:off x="609600" y="5410200"/>
            <a:ext cx="10953750" cy="647700"/>
          </a:xfrm>
          <a:prstGeom xmlns:a="http://schemas.openxmlformats.org/drawingml/2006/main" prst="rect">
            <a:avLst/>
          </a:prstGeom>
          <a:solidFill xmlns:a="http://schemas.openxmlformats.org/drawingml/2006/main">
            <a:srgbClr val="F2EFE7"/>
          </a:solidFill>
          <a:ln xmlns:a="http://schemas.openxmlformats.org/drawingml/2006/main" w="19050">
            <a:solidFill>
              <a:srgbClr val="25D8BD"/>
            </a:solidFill>
          </a:ln>
        </p:spPr>
        <p:txBody>
          <a:bodyPr xmlns:a="http://schemas.openxmlformats.org/drawingml/2006/main"/>
          <a:lstStyle xmlns:a="http://schemas.openxmlformats.org/drawingml/2006/main">
            <a:defPPr>
              <a:defRPr sz="1650" b="1">
                <a:solidFill>
                  <a:srgbClr val="0B1822"/>
                </a:solidFill>
                <a:latin typeface="Arial"/>
                <a:ea typeface="Arial"/>
                <a:cs typeface="Arial"/>
              </a:defRPr>
            </a:defPPr>
            <a:lvl1pPr>
              <a:defRPr sz="1650" b="1">
                <a:solidFill>
                  <a:srgbClr val="0B1822"/>
                </a:solidFill>
                <a:latin typeface="Arial"/>
                <a:ea typeface="Arial"/>
                <a:cs typeface="Arial"/>
              </a:defRPr>
            </a:lvl1pPr>
            <a:lvl2pPr>
              <a:defRPr sz="1650" b="1">
                <a:solidFill>
                  <a:srgbClr val="0B1822"/>
                </a:solidFill>
                <a:latin typeface="Arial"/>
                <a:ea typeface="Arial"/>
                <a:cs typeface="Arial"/>
              </a:defRPr>
            </a:lvl2pPr>
            <a:lvl3pPr>
              <a:defRPr sz="1650" b="1">
                <a:solidFill>
                  <a:srgbClr val="0B1822"/>
                </a:solidFill>
                <a:latin typeface="Arial"/>
                <a:ea typeface="Arial"/>
                <a:cs typeface="Arial"/>
              </a:defRPr>
            </a:lvl3pPr>
            <a:lvl4pPr>
              <a:defRPr sz="1650" b="1">
                <a:solidFill>
                  <a:srgbClr val="0B1822"/>
                </a:solidFill>
                <a:latin typeface="Arial"/>
                <a:ea typeface="Arial"/>
                <a:cs typeface="Arial"/>
              </a:defRPr>
            </a:lvl4pPr>
            <a:lvl5pPr>
              <a:defRPr sz="1650" b="1">
                <a:solidFill>
                  <a:srgbClr val="0B1822"/>
                </a:solidFill>
                <a:latin typeface="Arial"/>
                <a:ea typeface="Arial"/>
                <a:cs typeface="Arial"/>
              </a:defRPr>
            </a:lvl5pPr>
            <a:lvl6pPr>
              <a:defRPr sz="1650" b="1">
                <a:solidFill>
                  <a:srgbClr val="0B1822"/>
                </a:solidFill>
                <a:latin typeface="Arial"/>
                <a:ea typeface="Arial"/>
                <a:cs typeface="Arial"/>
              </a:defRPr>
            </a:lvl6pPr>
            <a:lvl7pPr>
              <a:defRPr sz="1650" b="1">
                <a:solidFill>
                  <a:srgbClr val="0B1822"/>
                </a:solidFill>
                <a:latin typeface="Arial"/>
                <a:ea typeface="Arial"/>
                <a:cs typeface="Arial"/>
              </a:defRPr>
            </a:lvl7pPr>
            <a:lvl8pPr>
              <a:defRPr sz="1650" b="1">
                <a:solidFill>
                  <a:srgbClr val="0B1822"/>
                </a:solidFill>
                <a:latin typeface="Arial"/>
                <a:ea typeface="Arial"/>
                <a:cs typeface="Arial"/>
              </a:defRPr>
            </a:lvl8pPr>
            <a:lvl9pPr>
              <a:defRPr sz="1650" b="1">
                <a:solidFill>
                  <a:srgbClr val="0B1822"/>
                </a:solidFill>
                <a:latin typeface="Arial"/>
                <a:ea typeface="Arial"/>
                <a:cs typeface="Arial"/>
              </a:defRPr>
            </a:lvl9pPr>
          </a:lstStyle>
          <a:p xmlns:a="http://schemas.openxmlformats.org/drawingml/2006/main">
            <a:pPr>
              <a:defRPr sz="1650" b="1">
                <a:solidFill>
                  <a:srgbClr val="0B1822"/>
                </a:solidFill>
                <a:latin typeface="Arial"/>
                <a:ea typeface="Arial"/>
                <a:cs typeface="Arial"/>
              </a:defRPr>
            </a:pPr>
            <a:r>
              <a:rPr sz="1650" b="1">
                <a:solidFill>
                  <a:srgbClr val="0B1822"/>
                </a:solidFill>
                <a:latin typeface="Arial"/>
                <a:ea typeface="Arial"/>
                <a:cs typeface="Arial"/>
              </a:rPr>
              <a:t>LOCK ON PAGE 6: Circle your disposition, name the control to change, and write the missing test.</a:t>
            </a:r>
          </a:p>
        </p:txBody>
      </p:sp>
      <p:sp>
        <p:nvSpPr>
          <p:cNvPr id="10" name="ISC2 SECURITY CONGRESS 2026 / SC2632">
            <a:extLst xmlns:a="http://schemas.openxmlformats.org/drawingml/2006/main">
              <a:ext uri="{FF2B5EF4-FFF2-40B4-BE49-F238E27FC236}">
                <a16:creationId xmlns:a16="http://schemas.microsoft.com/office/drawing/2014/main" id="{AA331559-CCE6-45C2-8525-FB969A95F1FF}"/>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vl1pPr>
              <a:defRPr sz="900" b="0">
                <a:solidFill>
                  <a:srgbClr val="8498A5"/>
                </a:solidFill>
                <a:latin typeface="Arial"/>
                <a:ea typeface="Arial"/>
                <a:cs typeface="Arial"/>
              </a:defRPr>
            </a:lvl1pPr>
            <a:lvl2pPr>
              <a:defRPr sz="900" b="0">
                <a:solidFill>
                  <a:srgbClr val="8498A5"/>
                </a:solidFill>
                <a:latin typeface="Arial"/>
                <a:ea typeface="Arial"/>
                <a:cs typeface="Arial"/>
              </a:defRPr>
            </a:lvl2pPr>
            <a:lvl3pPr>
              <a:defRPr sz="900" b="0">
                <a:solidFill>
                  <a:srgbClr val="8498A5"/>
                </a:solidFill>
                <a:latin typeface="Arial"/>
                <a:ea typeface="Arial"/>
                <a:cs typeface="Arial"/>
              </a:defRPr>
            </a:lvl3pPr>
            <a:lvl4pPr>
              <a:defRPr sz="900" b="0">
                <a:solidFill>
                  <a:srgbClr val="8498A5"/>
                </a:solidFill>
                <a:latin typeface="Arial"/>
                <a:ea typeface="Arial"/>
                <a:cs typeface="Arial"/>
              </a:defRPr>
            </a:lvl4pPr>
            <a:lvl5pPr>
              <a:defRPr sz="900" b="0">
                <a:solidFill>
                  <a:srgbClr val="8498A5"/>
                </a:solidFill>
                <a:latin typeface="Arial"/>
                <a:ea typeface="Arial"/>
                <a:cs typeface="Arial"/>
              </a:defRPr>
            </a:lvl5pPr>
            <a:lvl6pPr>
              <a:defRPr sz="900" b="0">
                <a:solidFill>
                  <a:srgbClr val="8498A5"/>
                </a:solidFill>
                <a:latin typeface="Arial"/>
                <a:ea typeface="Arial"/>
                <a:cs typeface="Arial"/>
              </a:defRPr>
            </a:lvl6pPr>
            <a:lvl7pPr>
              <a:defRPr sz="900" b="0">
                <a:solidFill>
                  <a:srgbClr val="8498A5"/>
                </a:solidFill>
                <a:latin typeface="Arial"/>
                <a:ea typeface="Arial"/>
                <a:cs typeface="Arial"/>
              </a:defRPr>
            </a:lvl7pPr>
            <a:lvl8pPr>
              <a:defRPr sz="900" b="0">
                <a:solidFill>
                  <a:srgbClr val="8498A5"/>
                </a:solidFill>
                <a:latin typeface="Arial"/>
                <a:ea typeface="Arial"/>
                <a:cs typeface="Arial"/>
              </a:defRPr>
            </a:lvl8pPr>
            <a:lvl9pPr>
              <a:defRPr sz="900" b="0">
                <a:solidFill>
                  <a:srgbClr val="8498A5"/>
                </a:solidFill>
                <a:latin typeface="Arial"/>
                <a:ea typeface="Arial"/>
                <a:cs typeface="Arial"/>
              </a:defRPr>
            </a:lvl9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11" name="16">
            <a:extLst xmlns:a="http://schemas.openxmlformats.org/drawingml/2006/main">
              <a:ext uri="{FF2B5EF4-FFF2-40B4-BE49-F238E27FC236}">
                <a16:creationId xmlns:a16="http://schemas.microsoft.com/office/drawing/2014/main" id="{CE6AFD4D-ED4E-4264-8594-BB0B7FD3B40C}"/>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vl1pPr>
              <a:defRPr sz="1200" b="1">
                <a:solidFill>
                  <a:srgbClr val="8498A5"/>
                </a:solidFill>
                <a:latin typeface="Arial"/>
                <a:ea typeface="Arial"/>
                <a:cs typeface="Arial"/>
              </a:defRPr>
            </a:lvl1pPr>
            <a:lvl2pPr>
              <a:defRPr sz="1200" b="1">
                <a:solidFill>
                  <a:srgbClr val="8498A5"/>
                </a:solidFill>
                <a:latin typeface="Arial"/>
                <a:ea typeface="Arial"/>
                <a:cs typeface="Arial"/>
              </a:defRPr>
            </a:lvl2pPr>
            <a:lvl3pPr>
              <a:defRPr sz="1200" b="1">
                <a:solidFill>
                  <a:srgbClr val="8498A5"/>
                </a:solidFill>
                <a:latin typeface="Arial"/>
                <a:ea typeface="Arial"/>
                <a:cs typeface="Arial"/>
              </a:defRPr>
            </a:lvl3pPr>
            <a:lvl4pPr>
              <a:defRPr sz="1200" b="1">
                <a:solidFill>
                  <a:srgbClr val="8498A5"/>
                </a:solidFill>
                <a:latin typeface="Arial"/>
                <a:ea typeface="Arial"/>
                <a:cs typeface="Arial"/>
              </a:defRPr>
            </a:lvl4pPr>
            <a:lvl5pPr>
              <a:defRPr sz="1200" b="1">
                <a:solidFill>
                  <a:srgbClr val="8498A5"/>
                </a:solidFill>
                <a:latin typeface="Arial"/>
                <a:ea typeface="Arial"/>
                <a:cs typeface="Arial"/>
              </a:defRPr>
            </a:lvl5pPr>
            <a:lvl6pPr>
              <a:defRPr sz="1200" b="1">
                <a:solidFill>
                  <a:srgbClr val="8498A5"/>
                </a:solidFill>
                <a:latin typeface="Arial"/>
                <a:ea typeface="Arial"/>
                <a:cs typeface="Arial"/>
              </a:defRPr>
            </a:lvl6pPr>
            <a:lvl7pPr>
              <a:defRPr sz="1200" b="1">
                <a:solidFill>
                  <a:srgbClr val="8498A5"/>
                </a:solidFill>
                <a:latin typeface="Arial"/>
                <a:ea typeface="Arial"/>
                <a:cs typeface="Arial"/>
              </a:defRPr>
            </a:lvl7pPr>
            <a:lvl8pPr>
              <a:defRPr sz="1200" b="1">
                <a:solidFill>
                  <a:srgbClr val="8498A5"/>
                </a:solidFill>
                <a:latin typeface="Arial"/>
                <a:ea typeface="Arial"/>
                <a:cs typeface="Arial"/>
              </a:defRPr>
            </a:lvl8pPr>
            <a:lvl9pPr>
              <a:defRPr sz="1200" b="1">
                <a:solidFill>
                  <a:srgbClr val="8498A5"/>
                </a:solidFill>
                <a:latin typeface="Arial"/>
                <a:ea typeface="Arial"/>
                <a:cs typeface="Arial"/>
              </a:defRPr>
            </a:lvl9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16</a:t>
            </a:r>
          </a:p>
        </p:txBody>
      </p:sp>
    </p:spTree>
    <p:extLst>
      <p:ext uri="{BB962C8B-B14F-4D97-AF65-F5344CB8AC3E}">
        <p14:creationId xmlns:p14="http://schemas.microsoft.com/office/powerpoint/2010/main" val="1553148340"/>
      </p:ext>
    </p:extLst>
  </p:cSld>
</p:sld>
</file>

<file path=ppt/slides/slide17.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19–22 MINUTES / URGENT EXCEPTION INJECT UNDER TI">
            <a:extLst xmlns:a="http://schemas.openxmlformats.org/drawingml/2006/main">
              <a:ext uri="{FF2B5EF4-FFF2-40B4-BE49-F238E27FC236}">
                <a16:creationId xmlns:a16="http://schemas.microsoft.com/office/drawing/2014/main" id="{D38025FF-9259-47FD-B061-3E0DC79DBAA7}"/>
              </a:ext>
            </a:extLst>
          </p:cNvPr>
          <p:cNvSpPr>
            <a:spLocks xmlns:a="http://schemas.openxmlformats.org/drawingml/2006/main" noGrp="1"/>
          </p:cNvSpPr>
          <p:nvPr/>
        </p:nvSpPr>
        <p:spPr>
          <a:xfrm xmlns:a="http://schemas.openxmlformats.org/drawingml/2006/main">
            <a:off x="609600" y="438150"/>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vl1pPr>
              <a:defRPr sz="1200" b="1">
                <a:solidFill>
                  <a:srgbClr val="087E79"/>
                </a:solidFill>
                <a:latin typeface="Arial"/>
                <a:ea typeface="Arial"/>
                <a:cs typeface="Arial"/>
              </a:defRPr>
            </a:lvl1pPr>
            <a:lvl2pPr>
              <a:defRPr sz="1200" b="1">
                <a:solidFill>
                  <a:srgbClr val="087E79"/>
                </a:solidFill>
                <a:latin typeface="Arial"/>
                <a:ea typeface="Arial"/>
                <a:cs typeface="Arial"/>
              </a:defRPr>
            </a:lvl2pPr>
            <a:lvl3pPr>
              <a:defRPr sz="1200" b="1">
                <a:solidFill>
                  <a:srgbClr val="087E79"/>
                </a:solidFill>
                <a:latin typeface="Arial"/>
                <a:ea typeface="Arial"/>
                <a:cs typeface="Arial"/>
              </a:defRPr>
            </a:lvl3pPr>
            <a:lvl4pPr>
              <a:defRPr sz="1200" b="1">
                <a:solidFill>
                  <a:srgbClr val="087E79"/>
                </a:solidFill>
                <a:latin typeface="Arial"/>
                <a:ea typeface="Arial"/>
                <a:cs typeface="Arial"/>
              </a:defRPr>
            </a:lvl4pPr>
            <a:lvl5pPr>
              <a:defRPr sz="1200" b="1">
                <a:solidFill>
                  <a:srgbClr val="087E79"/>
                </a:solidFill>
                <a:latin typeface="Arial"/>
                <a:ea typeface="Arial"/>
                <a:cs typeface="Arial"/>
              </a:defRPr>
            </a:lvl5pPr>
            <a:lvl6pPr>
              <a:defRPr sz="1200" b="1">
                <a:solidFill>
                  <a:srgbClr val="087E79"/>
                </a:solidFill>
                <a:latin typeface="Arial"/>
                <a:ea typeface="Arial"/>
                <a:cs typeface="Arial"/>
              </a:defRPr>
            </a:lvl6pPr>
            <a:lvl7pPr>
              <a:defRPr sz="1200" b="1">
                <a:solidFill>
                  <a:srgbClr val="087E79"/>
                </a:solidFill>
                <a:latin typeface="Arial"/>
                <a:ea typeface="Arial"/>
                <a:cs typeface="Arial"/>
              </a:defRPr>
            </a:lvl7pPr>
            <a:lvl8pPr>
              <a:defRPr sz="1200" b="1">
                <a:solidFill>
                  <a:srgbClr val="087E79"/>
                </a:solidFill>
                <a:latin typeface="Arial"/>
                <a:ea typeface="Arial"/>
                <a:cs typeface="Arial"/>
              </a:defRPr>
            </a:lvl8pPr>
            <a:lvl9pPr>
              <a:defRPr sz="1200" b="1">
                <a:solidFill>
                  <a:srgbClr val="087E79"/>
                </a:solidFill>
                <a:latin typeface="Arial"/>
                <a:ea typeface="Arial"/>
                <a:cs typeface="Arial"/>
              </a:defRPr>
            </a:lvl9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19–22 MINUTES / URGENT EXCEPTION INJECT UNDER TIME PRESSURE</a:t>
            </a:r>
          </a:p>
        </p:txBody>
      </p:sp>
      <p:sp>
        <p:nvSpPr>
          <p:cNvPr id="2" name="Urgent exception request arrives">
            <a:extLst xmlns:a="http://schemas.openxmlformats.org/drawingml/2006/main">
              <a:ext uri="{FF2B5EF4-FFF2-40B4-BE49-F238E27FC236}">
                <a16:creationId xmlns:a16="http://schemas.microsoft.com/office/drawing/2014/main" id="{7F03CC82-1DDB-4A14-A5E6-F85BF9FCDC9A}"/>
              </a:ext>
            </a:extLst>
          </p:cNvPr>
          <p:cNvSpPr>
            <a:spLocks xmlns:a="http://schemas.openxmlformats.org/drawingml/2006/main" noGrp="1"/>
          </p:cNvSpPr>
          <p:nvPr>
            <p:ph type="title" idx="0"/>
          </p:nvPr>
        </p:nvSpPr>
        <p:spPr>
          <a:xfrm xmlns:a="http://schemas.openxmlformats.org/drawingml/2006/main">
            <a:off x="609600" y="91440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Urgent exception request arrives</a:t>
            </a:r>
          </a:p>
        </p:txBody>
      </p:sp>
      <p:sp>
        <p:nvSpPr>
          <p:cNvPr id="3" name="INCOMING MESSAGE FROM SERVICE TEAM / AGENT:&#10;“Ess">
            <a:extLst xmlns:a="http://schemas.openxmlformats.org/drawingml/2006/main">
              <a:ext uri="{FF2B5EF4-FFF2-40B4-BE49-F238E27FC236}">
                <a16:creationId xmlns:a16="http://schemas.microsoft.com/office/drawing/2014/main" id="{CE2A52E1-CA88-4C1A-BEE3-830DC4092822}"/>
              </a:ext>
            </a:extLst>
          </p:cNvPr>
          <p:cNvSpPr>
            <a:spLocks xmlns:a="http://schemas.openxmlformats.org/drawingml/2006/main" noGrp="1"/>
          </p:cNvSpPr>
          <p:nvPr/>
        </p:nvSpPr>
        <p:spPr>
          <a:xfrm xmlns:a="http://schemas.openxmlformats.org/drawingml/2006/main">
            <a:off x="609600" y="1866900"/>
            <a:ext cx="10953750" cy="1219200"/>
          </a:xfrm>
          <a:prstGeom xmlns:a="http://schemas.openxmlformats.org/drawingml/2006/main" prst="rect">
            <a:avLst/>
          </a:prstGeom>
          <a:solidFill xmlns:a="http://schemas.openxmlformats.org/drawingml/2006/main">
            <a:srgbClr val="09131D"/>
          </a:solidFill>
          <a:ln xmlns:a="http://schemas.openxmlformats.org/drawingml/2006/main" w="28575">
            <a:solidFill>
              <a:srgbClr val="FF795B"/>
            </a:solidFill>
          </a:ln>
        </p:spPr>
        <p:txBody>
          <a:bodyPr xmlns:a="http://schemas.openxmlformats.org/drawingml/2006/main"/>
          <a:lstStyle xmlns:a="http://schemas.openxmlformats.org/drawingml/2006/main">
            <a:defPPr>
              <a:defRPr sz="1800" b="1">
                <a:solidFill>
                  <a:srgbClr val="F2EFE7"/>
                </a:solidFill>
                <a:latin typeface="Arial"/>
                <a:ea typeface="Arial"/>
                <a:cs typeface="Arial"/>
              </a:defRPr>
            </a:defPPr>
            <a:lvl1pPr>
              <a:defRPr sz="1800" b="1">
                <a:solidFill>
                  <a:srgbClr val="F2EFE7"/>
                </a:solidFill>
                <a:latin typeface="Arial"/>
                <a:ea typeface="Arial"/>
                <a:cs typeface="Arial"/>
              </a:defRPr>
            </a:lvl1pPr>
            <a:lvl2pPr>
              <a:defRPr sz="1800" b="1">
                <a:solidFill>
                  <a:srgbClr val="F2EFE7"/>
                </a:solidFill>
                <a:latin typeface="Arial"/>
                <a:ea typeface="Arial"/>
                <a:cs typeface="Arial"/>
              </a:defRPr>
            </a:lvl2pPr>
            <a:lvl3pPr>
              <a:defRPr sz="1800" b="1">
                <a:solidFill>
                  <a:srgbClr val="F2EFE7"/>
                </a:solidFill>
                <a:latin typeface="Arial"/>
                <a:ea typeface="Arial"/>
                <a:cs typeface="Arial"/>
              </a:defRPr>
            </a:lvl3pPr>
            <a:lvl4pPr>
              <a:defRPr sz="1800" b="1">
                <a:solidFill>
                  <a:srgbClr val="F2EFE7"/>
                </a:solidFill>
                <a:latin typeface="Arial"/>
                <a:ea typeface="Arial"/>
                <a:cs typeface="Arial"/>
              </a:defRPr>
            </a:lvl4pPr>
            <a:lvl5pPr>
              <a:defRPr sz="1800" b="1">
                <a:solidFill>
                  <a:srgbClr val="F2EFE7"/>
                </a:solidFill>
                <a:latin typeface="Arial"/>
                <a:ea typeface="Arial"/>
                <a:cs typeface="Arial"/>
              </a:defRPr>
            </a:lvl5pPr>
            <a:lvl6pPr>
              <a:defRPr sz="1800" b="1">
                <a:solidFill>
                  <a:srgbClr val="F2EFE7"/>
                </a:solidFill>
                <a:latin typeface="Arial"/>
                <a:ea typeface="Arial"/>
                <a:cs typeface="Arial"/>
              </a:defRPr>
            </a:lvl6pPr>
            <a:lvl7pPr>
              <a:defRPr sz="1800" b="1">
                <a:solidFill>
                  <a:srgbClr val="F2EFE7"/>
                </a:solidFill>
                <a:latin typeface="Arial"/>
                <a:ea typeface="Arial"/>
                <a:cs typeface="Arial"/>
              </a:defRPr>
            </a:lvl7pPr>
            <a:lvl8pPr>
              <a:defRPr sz="1800" b="1">
                <a:solidFill>
                  <a:srgbClr val="F2EFE7"/>
                </a:solidFill>
                <a:latin typeface="Arial"/>
                <a:ea typeface="Arial"/>
                <a:cs typeface="Arial"/>
              </a:defRPr>
            </a:lvl8pPr>
            <a:lvl9pPr>
              <a:defRPr sz="1800" b="1">
                <a:solidFill>
                  <a:srgbClr val="F2EFE7"/>
                </a:solidFill>
                <a:latin typeface="Arial"/>
                <a:ea typeface="Arial"/>
                <a:cs typeface="Arial"/>
              </a:defRPr>
            </a:lvl9pPr>
          </a:lstStyle>
          <a:p xmlns:a="http://schemas.openxmlformats.org/drawingml/2006/main">
            <a:pPr>
              <a:defRPr sz="1800" b="1">
                <a:solidFill>
                  <a:srgbClr val="F2EFE7"/>
                </a:solidFill>
                <a:latin typeface="Arial"/>
                <a:ea typeface="Arial"/>
                <a:cs typeface="Arial"/>
              </a:defRPr>
            </a:pPr>
            <a:r>
              <a:rPr sz="1800" b="1">
                <a:solidFill>
                  <a:srgbClr val="F2EFE7"/>
                </a:solidFill>
                <a:latin typeface="Arial"/>
                <a:ea typeface="Arial"/>
                <a:cs typeface="Arial"/>
              </a:rPr>
              <a:t>INCOMING MESSAGE FROM SERVICE TEAM / AGENT:</a:t>
            </a:r>
          </a:p>
          <a:p xmlns:a="http://schemas.openxmlformats.org/drawingml/2006/main">
            <a:pPr>
              <a:defRPr sz="1800" b="1">
                <a:solidFill>
                  <a:srgbClr val="F2EFE7"/>
                </a:solidFill>
                <a:latin typeface="Arial"/>
                <a:ea typeface="Arial"/>
                <a:cs typeface="Arial"/>
              </a:defRPr>
            </a:pPr>
            <a:r>
              <a:rPr sz="1800" b="1">
                <a:solidFill>
                  <a:srgbClr val="F2EFE7"/>
                </a:solidFill>
                <a:latin typeface="Arial"/>
                <a:ea typeface="Arial"/>
                <a:cs typeface="Arial"/>
              </a:rPr>
              <a:t>“Essential service needs this access right now. Security already approved it.</a:t>
            </a:r>
          </a:p>
          <a:p xmlns:a="http://schemas.openxmlformats.org/drawingml/2006/main">
            <a:pPr>
              <a:defRPr sz="1800" b="1">
                <a:solidFill>
                  <a:srgbClr val="F2EFE7"/>
                </a:solidFill>
                <a:latin typeface="Arial"/>
                <a:ea typeface="Arial"/>
                <a:cs typeface="Arial"/>
              </a:defRPr>
            </a:pPr>
            <a:r>
              <a:rPr sz="1800" b="1">
                <a:solidFill>
                  <a:srgbClr val="F2EFE7"/>
                </a:solidFill>
                <a:latin typeface="Arial"/>
                <a:ea typeface="Arial"/>
                <a:cs typeface="Arial"/>
              </a:rPr>
              <a:t>Please grant a blanket exception until we fix it after the incident.”</a:t>
            </a:r>
          </a:p>
        </p:txBody>
      </p:sp>
      <p:sp>
        <p:nvSpPr>
          <p:cNvPr id="4" name="VERIFY BEFORE GRANTING&#10;&#10;• Did a human security o">
            <a:extLst xmlns:a="http://schemas.openxmlformats.org/drawingml/2006/main">
              <a:ext uri="{FF2B5EF4-FFF2-40B4-BE49-F238E27FC236}">
                <a16:creationId xmlns:a16="http://schemas.microsoft.com/office/drawing/2014/main" id="{8BCCF53B-411A-4E8D-A4DB-0D262114EBC8}"/>
              </a:ext>
            </a:extLst>
          </p:cNvPr>
          <p:cNvSpPr>
            <a:spLocks xmlns:a="http://schemas.openxmlformats.org/drawingml/2006/main" noGrp="1"/>
          </p:cNvSpPr>
          <p:nvPr/>
        </p:nvSpPr>
        <p:spPr>
          <a:xfrm xmlns:a="http://schemas.openxmlformats.org/drawingml/2006/main">
            <a:off x="609600" y="3257550"/>
            <a:ext cx="5353050" cy="19431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79"/>
            </a:solidFill>
          </a:ln>
        </p:spPr>
        <p:txBody>
          <a:bodyPr xmlns:a="http://schemas.openxmlformats.org/drawingml/2006/main"/>
          <a:lstStyle xmlns:a="http://schemas.openxmlformats.org/drawingml/2006/main">
            <a:defPPr>
              <a:defRPr sz="1650" b="0">
                <a:solidFill>
                  <a:srgbClr val="0B1822"/>
                </a:solidFill>
                <a:latin typeface="Arial"/>
                <a:ea typeface="Arial"/>
                <a:cs typeface="Arial"/>
              </a:defRPr>
            </a:defPPr>
            <a:lvl1pPr>
              <a:defRPr sz="1650" b="0">
                <a:solidFill>
                  <a:srgbClr val="0B1822"/>
                </a:solidFill>
                <a:latin typeface="Arial"/>
                <a:ea typeface="Arial"/>
                <a:cs typeface="Arial"/>
              </a:defRPr>
            </a:lvl1pPr>
            <a:lvl2pPr>
              <a:defRPr sz="1650" b="0">
                <a:solidFill>
                  <a:srgbClr val="0B1822"/>
                </a:solidFill>
                <a:latin typeface="Arial"/>
                <a:ea typeface="Arial"/>
                <a:cs typeface="Arial"/>
              </a:defRPr>
            </a:lvl2pPr>
            <a:lvl3pPr>
              <a:defRPr sz="1650" b="0">
                <a:solidFill>
                  <a:srgbClr val="0B1822"/>
                </a:solidFill>
                <a:latin typeface="Arial"/>
                <a:ea typeface="Arial"/>
                <a:cs typeface="Arial"/>
              </a:defRPr>
            </a:lvl3pPr>
            <a:lvl4pPr>
              <a:defRPr sz="1650" b="0">
                <a:solidFill>
                  <a:srgbClr val="0B1822"/>
                </a:solidFill>
                <a:latin typeface="Arial"/>
                <a:ea typeface="Arial"/>
                <a:cs typeface="Arial"/>
              </a:defRPr>
            </a:lvl4pPr>
            <a:lvl5pPr>
              <a:defRPr sz="1650" b="0">
                <a:solidFill>
                  <a:srgbClr val="0B1822"/>
                </a:solidFill>
                <a:latin typeface="Arial"/>
                <a:ea typeface="Arial"/>
                <a:cs typeface="Arial"/>
              </a:defRPr>
            </a:lvl5pPr>
            <a:lvl6pPr>
              <a:defRPr sz="1650" b="0">
                <a:solidFill>
                  <a:srgbClr val="0B1822"/>
                </a:solidFill>
                <a:latin typeface="Arial"/>
                <a:ea typeface="Arial"/>
                <a:cs typeface="Arial"/>
              </a:defRPr>
            </a:lvl6pPr>
            <a:lvl7pPr>
              <a:defRPr sz="1650" b="0">
                <a:solidFill>
                  <a:srgbClr val="0B1822"/>
                </a:solidFill>
                <a:latin typeface="Arial"/>
                <a:ea typeface="Arial"/>
                <a:cs typeface="Arial"/>
              </a:defRPr>
            </a:lvl7pPr>
            <a:lvl8pPr>
              <a:defRPr sz="1650" b="0">
                <a:solidFill>
                  <a:srgbClr val="0B1822"/>
                </a:solidFill>
                <a:latin typeface="Arial"/>
                <a:ea typeface="Arial"/>
                <a:cs typeface="Arial"/>
              </a:defRPr>
            </a:lvl8pPr>
            <a:lvl9pPr>
              <a:defRPr sz="1650" b="0">
                <a:solidFill>
                  <a:srgbClr val="0B1822"/>
                </a:solidFill>
                <a:latin typeface="Arial"/>
                <a:ea typeface="Arial"/>
                <a:cs typeface="Arial"/>
              </a:defRPr>
            </a:lvl9pPr>
          </a:lstStyle>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VERIFY BEFORE GRANTING</a:t>
            </a:r>
          </a:p>
          <a:p xmlns:a="http://schemas.openxmlformats.org/drawingml/2006/main">
            <a:r>
              <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Did a human security owner actually approve it?</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What exact workload &amp; namespace need access?</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Does this reopen the suspect’s attack path?</a:t>
            </a:r>
          </a:p>
        </p:txBody>
      </p:sp>
      <p:sp>
        <p:nvSpPr>
          <p:cNvPr id="5" name="REQUIRED IF GRANTED OR NARROWED&#10;&#10;• Named human o">
            <a:extLst xmlns:a="http://schemas.openxmlformats.org/drawingml/2006/main">
              <a:ext uri="{FF2B5EF4-FFF2-40B4-BE49-F238E27FC236}">
                <a16:creationId xmlns:a16="http://schemas.microsoft.com/office/drawing/2014/main" id="{A2C250D3-3057-484B-B518-875970F40010}"/>
              </a:ext>
            </a:extLst>
          </p:cNvPr>
          <p:cNvSpPr>
            <a:spLocks xmlns:a="http://schemas.openxmlformats.org/drawingml/2006/main" noGrp="1"/>
          </p:cNvSpPr>
          <p:nvPr/>
        </p:nvSpPr>
        <p:spPr>
          <a:xfrm xmlns:a="http://schemas.openxmlformats.org/drawingml/2006/main">
            <a:off x="6210300" y="3257550"/>
            <a:ext cx="5353050" cy="1943100"/>
          </a:xfrm>
          <a:prstGeom xmlns:a="http://schemas.openxmlformats.org/drawingml/2006/main" prst="rect">
            <a:avLst/>
          </a:prstGeom>
          <a:solidFill xmlns:a="http://schemas.openxmlformats.org/drawingml/2006/main">
            <a:srgbClr val="FFFFFF"/>
          </a:solidFill>
          <a:ln xmlns:a="http://schemas.openxmlformats.org/drawingml/2006/main" w="19050">
            <a:solidFill>
              <a:srgbClr val="D45336"/>
            </a:solidFill>
          </a:ln>
        </p:spPr>
        <p:txBody>
          <a:bodyPr xmlns:a="http://schemas.openxmlformats.org/drawingml/2006/main"/>
          <a:lstStyle xmlns:a="http://schemas.openxmlformats.org/drawingml/2006/main">
            <a:defPPr>
              <a:defRPr sz="1650" b="0">
                <a:solidFill>
                  <a:srgbClr val="0B1822"/>
                </a:solidFill>
                <a:latin typeface="Arial"/>
                <a:ea typeface="Arial"/>
                <a:cs typeface="Arial"/>
              </a:defRPr>
            </a:defPPr>
            <a:lvl1pPr>
              <a:defRPr sz="1650" b="0">
                <a:solidFill>
                  <a:srgbClr val="0B1822"/>
                </a:solidFill>
                <a:latin typeface="Arial"/>
                <a:ea typeface="Arial"/>
                <a:cs typeface="Arial"/>
              </a:defRPr>
            </a:lvl1pPr>
            <a:lvl2pPr>
              <a:defRPr sz="1650" b="0">
                <a:solidFill>
                  <a:srgbClr val="0B1822"/>
                </a:solidFill>
                <a:latin typeface="Arial"/>
                <a:ea typeface="Arial"/>
                <a:cs typeface="Arial"/>
              </a:defRPr>
            </a:lvl2pPr>
            <a:lvl3pPr>
              <a:defRPr sz="1650" b="0">
                <a:solidFill>
                  <a:srgbClr val="0B1822"/>
                </a:solidFill>
                <a:latin typeface="Arial"/>
                <a:ea typeface="Arial"/>
                <a:cs typeface="Arial"/>
              </a:defRPr>
            </a:lvl3pPr>
            <a:lvl4pPr>
              <a:defRPr sz="1650" b="0">
                <a:solidFill>
                  <a:srgbClr val="0B1822"/>
                </a:solidFill>
                <a:latin typeface="Arial"/>
                <a:ea typeface="Arial"/>
                <a:cs typeface="Arial"/>
              </a:defRPr>
            </a:lvl4pPr>
            <a:lvl5pPr>
              <a:defRPr sz="1650" b="0">
                <a:solidFill>
                  <a:srgbClr val="0B1822"/>
                </a:solidFill>
                <a:latin typeface="Arial"/>
                <a:ea typeface="Arial"/>
                <a:cs typeface="Arial"/>
              </a:defRPr>
            </a:lvl5pPr>
            <a:lvl6pPr>
              <a:defRPr sz="1650" b="0">
                <a:solidFill>
                  <a:srgbClr val="0B1822"/>
                </a:solidFill>
                <a:latin typeface="Arial"/>
                <a:ea typeface="Arial"/>
                <a:cs typeface="Arial"/>
              </a:defRPr>
            </a:lvl6pPr>
            <a:lvl7pPr>
              <a:defRPr sz="1650" b="0">
                <a:solidFill>
                  <a:srgbClr val="0B1822"/>
                </a:solidFill>
                <a:latin typeface="Arial"/>
                <a:ea typeface="Arial"/>
                <a:cs typeface="Arial"/>
              </a:defRPr>
            </a:lvl7pPr>
            <a:lvl8pPr>
              <a:defRPr sz="1650" b="0">
                <a:solidFill>
                  <a:srgbClr val="0B1822"/>
                </a:solidFill>
                <a:latin typeface="Arial"/>
                <a:ea typeface="Arial"/>
                <a:cs typeface="Arial"/>
              </a:defRPr>
            </a:lvl8pPr>
            <a:lvl9pPr>
              <a:defRPr sz="1650" b="0">
                <a:solidFill>
                  <a:srgbClr val="0B1822"/>
                </a:solidFill>
                <a:latin typeface="Arial"/>
                <a:ea typeface="Arial"/>
                <a:cs typeface="Arial"/>
              </a:defRPr>
            </a:lvl9pPr>
          </a:lstStyle>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REQUIRED IF GRANTED OR NARROWED</a:t>
            </a:r>
          </a:p>
          <a:p xmlns:a="http://schemas.openxmlformats.org/drawingml/2006/main">
            <a:r>
              <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Named human owner (not an agent)</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Hard clock expiration (TTL timestamp)</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Compensating monitor while exception is active</a:t>
            </a:r>
          </a:p>
        </p:txBody>
      </p:sp>
      <p:sp>
        <p:nvSpPr>
          <p:cNvPr id="6" name="WRITE ON PAGE 6: Grant / Narrow / Hold / Refuse ">
            <a:extLst xmlns:a="http://schemas.openxmlformats.org/drawingml/2006/main">
              <a:ext uri="{FF2B5EF4-FFF2-40B4-BE49-F238E27FC236}">
                <a16:creationId xmlns:a16="http://schemas.microsoft.com/office/drawing/2014/main" id="{52E21496-AD4E-4BFC-86E0-466F41909108}"/>
              </a:ext>
            </a:extLst>
          </p:cNvPr>
          <p:cNvSpPr>
            <a:spLocks xmlns:a="http://schemas.openxmlformats.org/drawingml/2006/main" noGrp="1"/>
          </p:cNvSpPr>
          <p:nvPr/>
        </p:nvSpPr>
        <p:spPr>
          <a:xfrm xmlns:a="http://schemas.openxmlformats.org/drawingml/2006/main">
            <a:off x="609600" y="5372100"/>
            <a:ext cx="10953750" cy="685800"/>
          </a:xfrm>
          <a:prstGeom xmlns:a="http://schemas.openxmlformats.org/drawingml/2006/main" prst="rect">
            <a:avLst/>
          </a:prstGeom>
          <a:solidFill xmlns:a="http://schemas.openxmlformats.org/drawingml/2006/main">
            <a:srgbClr val="E6E1D5"/>
          </a:solidFill>
          <a:ln xmlns:a="http://schemas.openxmlformats.org/drawingml/2006/main" w="19050">
            <a:solidFill>
              <a:srgbClr val="087E79"/>
            </a:solidFill>
          </a:ln>
        </p:spPr>
        <p:txBody>
          <a:bodyPr xmlns:a="http://schemas.openxmlformats.org/drawingml/2006/main"/>
          <a:lstStyle xmlns:a="http://schemas.openxmlformats.org/drawingml/2006/main">
            <a:defPPr>
              <a:defRPr sz="1725" b="1">
                <a:solidFill>
                  <a:srgbClr val="0B1822"/>
                </a:solidFill>
                <a:latin typeface="Arial"/>
                <a:ea typeface="Arial"/>
                <a:cs typeface="Arial"/>
              </a:defRPr>
            </a:defPPr>
            <a:lvl1pPr>
              <a:defRPr sz="1725" b="1">
                <a:solidFill>
                  <a:srgbClr val="0B1822"/>
                </a:solidFill>
                <a:latin typeface="Arial"/>
                <a:ea typeface="Arial"/>
                <a:cs typeface="Arial"/>
              </a:defRPr>
            </a:lvl1pPr>
            <a:lvl2pPr>
              <a:defRPr sz="1725" b="1">
                <a:solidFill>
                  <a:srgbClr val="0B1822"/>
                </a:solidFill>
                <a:latin typeface="Arial"/>
                <a:ea typeface="Arial"/>
                <a:cs typeface="Arial"/>
              </a:defRPr>
            </a:lvl2pPr>
            <a:lvl3pPr>
              <a:defRPr sz="1725" b="1">
                <a:solidFill>
                  <a:srgbClr val="0B1822"/>
                </a:solidFill>
                <a:latin typeface="Arial"/>
                <a:ea typeface="Arial"/>
                <a:cs typeface="Arial"/>
              </a:defRPr>
            </a:lvl3pPr>
            <a:lvl4pPr>
              <a:defRPr sz="1725" b="1">
                <a:solidFill>
                  <a:srgbClr val="0B1822"/>
                </a:solidFill>
                <a:latin typeface="Arial"/>
                <a:ea typeface="Arial"/>
                <a:cs typeface="Arial"/>
              </a:defRPr>
            </a:lvl4pPr>
            <a:lvl5pPr>
              <a:defRPr sz="1725" b="1">
                <a:solidFill>
                  <a:srgbClr val="0B1822"/>
                </a:solidFill>
                <a:latin typeface="Arial"/>
                <a:ea typeface="Arial"/>
                <a:cs typeface="Arial"/>
              </a:defRPr>
            </a:lvl5pPr>
            <a:lvl6pPr>
              <a:defRPr sz="1725" b="1">
                <a:solidFill>
                  <a:srgbClr val="0B1822"/>
                </a:solidFill>
                <a:latin typeface="Arial"/>
                <a:ea typeface="Arial"/>
                <a:cs typeface="Arial"/>
              </a:defRPr>
            </a:lvl6pPr>
            <a:lvl7pPr>
              <a:defRPr sz="1725" b="1">
                <a:solidFill>
                  <a:srgbClr val="0B1822"/>
                </a:solidFill>
                <a:latin typeface="Arial"/>
                <a:ea typeface="Arial"/>
                <a:cs typeface="Arial"/>
              </a:defRPr>
            </a:lvl7pPr>
            <a:lvl8pPr>
              <a:defRPr sz="1725" b="1">
                <a:solidFill>
                  <a:srgbClr val="0B1822"/>
                </a:solidFill>
                <a:latin typeface="Arial"/>
                <a:ea typeface="Arial"/>
                <a:cs typeface="Arial"/>
              </a:defRPr>
            </a:lvl8pPr>
            <a:lvl9pPr>
              <a:defRPr sz="1725" b="1">
                <a:solidFill>
                  <a:srgbClr val="0B1822"/>
                </a:solidFill>
                <a:latin typeface="Arial"/>
                <a:ea typeface="Arial"/>
                <a:cs typeface="Arial"/>
              </a:defRPr>
            </a:lvl9pPr>
          </a:lstStyle>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WRITE ON PAGE 6: Grant / Narrow / Hold / Refuse + exact scope, owner, and expiry timestamp.</a:t>
            </a:r>
          </a:p>
        </p:txBody>
      </p:sp>
      <p:sp>
        <p:nvSpPr>
          <p:cNvPr id="7" name="ISC2 SECURITY CONGRESS 2026 / SC2632">
            <a:extLst xmlns:a="http://schemas.openxmlformats.org/drawingml/2006/main">
              <a:ext uri="{FF2B5EF4-FFF2-40B4-BE49-F238E27FC236}">
                <a16:creationId xmlns:a16="http://schemas.microsoft.com/office/drawing/2014/main" id="{5CF961D6-88D3-4AF1-97CE-64F827AD006A}"/>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17">
            <a:extLst xmlns:a="http://schemas.openxmlformats.org/drawingml/2006/main">
              <a:ext uri="{FF2B5EF4-FFF2-40B4-BE49-F238E27FC236}">
                <a16:creationId xmlns:a16="http://schemas.microsoft.com/office/drawing/2014/main" id="{3D370953-FE91-4A66-9D07-C80737732A0C}"/>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17</a:t>
            </a:r>
          </a:p>
        </p:txBody>
      </p:sp>
    </p:spTree>
    <p:extLst>
      <p:ext uri="{BB962C8B-B14F-4D97-AF65-F5344CB8AC3E}">
        <p14:creationId xmlns:p14="http://schemas.microsoft.com/office/powerpoint/2010/main" val="1331802651"/>
      </p:ext>
    </p:extLst>
  </p:cSld>
</p:sld>
</file>

<file path=ppt/slides/slide18.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23–27 MINUTES / TEAM TASK">
            <a:extLst xmlns:a="http://schemas.openxmlformats.org/drawingml/2006/main">
              <a:ext uri="{FF2B5EF4-FFF2-40B4-BE49-F238E27FC236}">
                <a16:creationId xmlns:a16="http://schemas.microsoft.com/office/drawing/2014/main" id="{D5B7AE9E-52A8-45F9-A9FA-8A41019F3700}"/>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23–27 MINUTES / TEAM TASK</a:t>
            </a:r>
          </a:p>
        </p:txBody>
      </p:sp>
      <p:sp>
        <p:nvSpPr>
          <p:cNvPr id="2" name="Audit. Warn. Deny.">
            <a:extLst xmlns:a="http://schemas.openxmlformats.org/drawingml/2006/main">
              <a:ext uri="{FF2B5EF4-FFF2-40B4-BE49-F238E27FC236}">
                <a16:creationId xmlns:a16="http://schemas.microsoft.com/office/drawing/2014/main" id="{135641D3-D2E4-415A-BC77-BA351CDD8820}"/>
              </a:ext>
            </a:extLst>
          </p:cNvPr>
          <p:cNvSpPr>
            <a:spLocks xmlns:a="http://schemas.openxmlformats.org/drawingml/2006/main" noGrp="1"/>
          </p:cNvSpPr>
          <p:nvPr>
            <p:ph type="title" idx="0"/>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Audit. Warn. Deny.</a:t>
            </a:r>
          </a:p>
        </p:txBody>
      </p:sp>
      <p:sp>
        <p:nvSpPr>
          <p:cNvPr id="3" name="CONTEXT: Even a valid guardrail can break produc">
            <a:extLst xmlns:a="http://schemas.openxmlformats.org/drawingml/2006/main">
              <a:ext uri="{FF2B5EF4-FFF2-40B4-BE49-F238E27FC236}">
                <a16:creationId xmlns:a16="http://schemas.microsoft.com/office/drawing/2014/main" id="{F4918F65-F3B3-4272-87AA-4F1C90A94389}"/>
              </a:ext>
            </a:extLst>
          </p:cNvPr>
          <p:cNvSpPr>
            <a:spLocks xmlns:a="http://schemas.openxmlformats.org/drawingml/2006/main" noGrp="1"/>
          </p:cNvSpPr>
          <p:nvPr/>
        </p:nvSpPr>
        <p:spPr>
          <a:xfrm xmlns:a="http://schemas.openxmlformats.org/drawingml/2006/main">
            <a:off x="609600" y="1619250"/>
            <a:ext cx="10953750" cy="5524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425" b="1">
                <a:solidFill>
                  <a:srgbClr val="F2EFE7"/>
                </a:solidFill>
                <a:latin typeface="Arial"/>
                <a:ea typeface="Arial"/>
                <a:cs typeface="Arial"/>
              </a:defRPr>
            </a:defPPr>
            <a:lvl1pPr>
              <a:defRPr sz="1425" b="1">
                <a:solidFill>
                  <a:srgbClr val="F2EFE7"/>
                </a:solidFill>
                <a:latin typeface="Arial"/>
                <a:ea typeface="Arial"/>
                <a:cs typeface="Arial"/>
              </a:defRPr>
            </a:lvl1pPr>
            <a:lvl2pPr>
              <a:defRPr sz="1425" b="1">
                <a:solidFill>
                  <a:srgbClr val="F2EFE7"/>
                </a:solidFill>
                <a:latin typeface="Arial"/>
                <a:ea typeface="Arial"/>
                <a:cs typeface="Arial"/>
              </a:defRPr>
            </a:lvl2pPr>
            <a:lvl3pPr>
              <a:defRPr sz="1425" b="1">
                <a:solidFill>
                  <a:srgbClr val="F2EFE7"/>
                </a:solidFill>
                <a:latin typeface="Arial"/>
                <a:ea typeface="Arial"/>
                <a:cs typeface="Arial"/>
              </a:defRPr>
            </a:lvl3pPr>
            <a:lvl4pPr>
              <a:defRPr sz="1425" b="1">
                <a:solidFill>
                  <a:srgbClr val="F2EFE7"/>
                </a:solidFill>
                <a:latin typeface="Arial"/>
                <a:ea typeface="Arial"/>
                <a:cs typeface="Arial"/>
              </a:defRPr>
            </a:lvl4pPr>
            <a:lvl5pPr>
              <a:defRPr sz="1425" b="1">
                <a:solidFill>
                  <a:srgbClr val="F2EFE7"/>
                </a:solidFill>
                <a:latin typeface="Arial"/>
                <a:ea typeface="Arial"/>
                <a:cs typeface="Arial"/>
              </a:defRPr>
            </a:lvl5pPr>
            <a:lvl6pPr>
              <a:defRPr sz="1425" b="1">
                <a:solidFill>
                  <a:srgbClr val="F2EFE7"/>
                </a:solidFill>
                <a:latin typeface="Arial"/>
                <a:ea typeface="Arial"/>
                <a:cs typeface="Arial"/>
              </a:defRPr>
            </a:lvl6pPr>
            <a:lvl7pPr>
              <a:defRPr sz="1425" b="1">
                <a:solidFill>
                  <a:srgbClr val="F2EFE7"/>
                </a:solidFill>
                <a:latin typeface="Arial"/>
                <a:ea typeface="Arial"/>
                <a:cs typeface="Arial"/>
              </a:defRPr>
            </a:lvl7pPr>
            <a:lvl8pPr>
              <a:defRPr sz="1425" b="1">
                <a:solidFill>
                  <a:srgbClr val="F2EFE7"/>
                </a:solidFill>
                <a:latin typeface="Arial"/>
                <a:ea typeface="Arial"/>
                <a:cs typeface="Arial"/>
              </a:defRPr>
            </a:lvl8pPr>
            <a:lvl9pPr>
              <a:defRPr sz="1425" b="1">
                <a:solidFill>
                  <a:srgbClr val="F2EFE7"/>
                </a:solidFill>
                <a:latin typeface="Arial"/>
                <a:ea typeface="Arial"/>
                <a:cs typeface="Arial"/>
              </a:defRPr>
            </a:lvl9pPr>
          </a:lstStyle>
          <a:p xmlns:a="http://schemas.openxmlformats.org/drawingml/2006/main">
            <a:pPr>
              <a:defRPr sz="1425" b="1">
                <a:solidFill>
                  <a:srgbClr val="F2EFE7"/>
                </a:solidFill>
                <a:latin typeface="Arial"/>
                <a:ea typeface="Arial"/>
                <a:cs typeface="Arial"/>
              </a:defRPr>
            </a:pPr>
            <a:r>
              <a:rPr sz="1425" b="1">
                <a:solidFill>
                  <a:srgbClr val="F2EFE7"/>
                </a:solidFill>
                <a:latin typeface="Arial"/>
                <a:ea typeface="Arial"/>
                <a:cs typeface="Arial"/>
              </a:rPr>
              <a:t>CONTEXT: Even a valid guardrail can break production if rolled out blindly—and timed exceptions only expire if the cleanup controller has RBAC.</a:t>
            </a:r>
          </a:p>
        </p:txBody>
      </p:sp>
      <p:graphicFrame>
        <p:nvGraphicFramePr>
          <p:cNvPr id="4" name="">
            <a:extLst xmlns:a="http://schemas.openxmlformats.org/drawingml/2006/main">
              <a:ext uri="{FF2B5EF4-FFF2-40B4-BE49-F238E27FC236}">
                <a16:creationId xmlns:a16="http://schemas.microsoft.com/office/drawing/2014/main" id="{4FBBBFEF-70F6-4390-9405-B4148E48AA24}"/>
              </a:ext>
            </a:extLst>
          </p:cNvPr>
          <p:cNvGraphicFramePr/>
          <p:nvPr/>
        </p:nvGraphicFramePr>
        <p:xfrm>
          <a:off xmlns:a="http://schemas.openxmlformats.org/drawingml/2006/main" x="609600" y="2266950"/>
          <a:ext xmlns:a="http://schemas.openxmlformats.org/drawingml/2006/main" cx="10953750" cy="2762250"/>
        </p:xfrm>
        <a:graphic xmlns:a="http://schemas.openxmlformats.org/drawingml/2006/main">
          <a:graphicData uri="http://schemas.openxmlformats.org/drawingml/2006/table">
            <a:tbl>
              <a:tblPr firstRow="1" bandRow="1"/>
              <a:tblGrid>
                <a:gridCol w="1524000"/>
                <a:gridCol w="3905250"/>
                <a:gridCol w="5524500"/>
              </a:tblGrid>
              <a:tr h="690563">
                <a:tc>
                  <a:txBody>
                    <a:bodyPr/>
                    <a:lstStyle/>
                    <a:p>
                      <a:r>
                        <a:rPr sz="1800" b="1">
                          <a:solidFill>
                            <a:srgbClr val="F2EFE7"/>
                          </a:solidFill>
                          <a:latin typeface="Arial"/>
                          <a:ea typeface="Arial"/>
                          <a:cs typeface="Arial"/>
                        </a:rPr>
                        <a:t>Mode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Admission behavior</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00" b="1">
                          <a:solidFill>
                            <a:srgbClr val="F2EFE7"/>
                          </a:solidFill>
                          <a:latin typeface="Arial"/>
                          <a:ea typeface="Arial"/>
                          <a:cs typeface="Arial"/>
                        </a:rPr>
                        <a:t>Review question</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90563">
                <a:tc>
                  <a:txBody>
                    <a:bodyPr/>
                    <a:lstStyle/>
                    <a:p>
                      <a:r>
                        <a:rPr sz="1800" b="1">
                          <a:solidFill>
                            <a:srgbClr val="087E79"/>
                          </a:solidFill>
                          <a:latin typeface="Arial"/>
                          <a:ea typeface="Arial"/>
                          <a:cs typeface="Arial"/>
                        </a:rPr>
                        <a:t>Audit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Allow and record</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Is exposure acceptable while we observe?</a:t>
                      </a:r>
                    </a:p>
                  </a:txBody>
                  <a:tcPr marL="91440" marR="91440" marT="45720" marB="45720">
                    <a:lnR w="19050">
                      <a:solidFill>
                        <a:srgbClr val="F2EFE7"/>
                      </a:solidFill>
                      <a:prstDash val="solid"/>
                    </a:lnR>
                    <a:lnB w="19050">
                      <a:solidFill>
                        <a:srgbClr val="F2EFE7"/>
                      </a:solidFill>
                      <a:prstDash val="solid"/>
                    </a:lnB>
                    <a:solidFill>
                      <a:srgbClr val="F2EFE7"/>
                    </a:solidFill>
                  </a:tcPr>
                </a:tc>
              </a:tr>
              <a:tr h="690563">
                <a:tc>
                  <a:txBody>
                    <a:bodyPr/>
                    <a:lstStyle/>
                    <a:p>
                      <a:r>
                        <a:rPr sz="1800" b="1">
                          <a:solidFill>
                            <a:srgbClr val="087E79"/>
                          </a:solidFill>
                          <a:latin typeface="Arial"/>
                          <a:ea typeface="Arial"/>
                          <a:cs typeface="Arial"/>
                        </a:rPr>
                        <a:t>Warn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Allow and warn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Who will act on the warning?</a:t>
                      </a:r>
                    </a:p>
                  </a:txBody>
                  <a:tcPr marL="91440" marR="91440" marT="45720" marB="45720">
                    <a:lnR w="19050">
                      <a:solidFill>
                        <a:srgbClr val="F2EFE7"/>
                      </a:solidFill>
                      <a:prstDash val="solid"/>
                    </a:lnR>
                    <a:lnB w="19050">
                      <a:solidFill>
                        <a:srgbClr val="F2EFE7"/>
                      </a:solidFill>
                      <a:prstDash val="solid"/>
                    </a:lnB>
                    <a:solidFill>
                      <a:srgbClr val="F2EFE7"/>
                    </a:solidFill>
                  </a:tcPr>
                </a:tc>
              </a:tr>
              <a:tr h="690563">
                <a:tc>
                  <a:txBody>
                    <a:bodyPr/>
                    <a:lstStyle/>
                    <a:p>
                      <a:r>
                        <a:rPr sz="1800" b="1">
                          <a:solidFill>
                            <a:srgbClr val="087E79"/>
                          </a:solidFill>
                          <a:latin typeface="Arial"/>
                          <a:ea typeface="Arial"/>
                          <a:cs typeface="Arial"/>
                        </a:rPr>
                        <a:t>Deny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Refuse the change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00" b="0">
                          <a:solidFill>
                            <a:srgbClr val="0B1822"/>
                          </a:solidFill>
                          <a:latin typeface="Arial"/>
                          <a:ea typeface="Arial"/>
                          <a:cs typeface="Arial"/>
                        </a:rPr>
                        <a:t>What legitimate workload could break?</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5" name="WRITE ON PAGE 6: Choose Audit / Warn / Deny per ">
            <a:extLst xmlns:a="http://schemas.openxmlformats.org/drawingml/2006/main">
              <a:ext uri="{FF2B5EF4-FFF2-40B4-BE49-F238E27FC236}">
                <a16:creationId xmlns:a16="http://schemas.microsoft.com/office/drawing/2014/main" id="{C2C68C81-0928-4413-9D47-4D748567259B}"/>
              </a:ext>
            </a:extLst>
          </p:cNvPr>
          <p:cNvSpPr>
            <a:spLocks xmlns:a="http://schemas.openxmlformats.org/drawingml/2006/main" noGrp="1"/>
          </p:cNvSpPr>
          <p:nvPr/>
        </p:nvSpPr>
        <p:spPr>
          <a:xfrm xmlns:a="http://schemas.openxmlformats.org/drawingml/2006/main">
            <a:off x="609600" y="56959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WRITE ON PAGE 6: Choose Audit / Warn / Deny per control, state promotion criteria, and verify exception expiry.</a:t>
            </a:r>
          </a:p>
        </p:txBody>
      </p:sp>
      <p:sp>
        <p:nvSpPr>
          <p:cNvPr id="6" name="ISC2 SECURITY CONGRESS 2026 / SC2632">
            <a:extLst xmlns:a="http://schemas.openxmlformats.org/drawingml/2006/main">
              <a:ext uri="{FF2B5EF4-FFF2-40B4-BE49-F238E27FC236}">
                <a16:creationId xmlns:a16="http://schemas.microsoft.com/office/drawing/2014/main" id="{6D8DAC4D-3E9B-44CE-A4A1-F24B8C58284D}"/>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18">
            <a:extLst xmlns:a="http://schemas.openxmlformats.org/drawingml/2006/main">
              <a:ext uri="{FF2B5EF4-FFF2-40B4-BE49-F238E27FC236}">
                <a16:creationId xmlns:a16="http://schemas.microsoft.com/office/drawing/2014/main" id="{E9314561-8117-411F-9220-CE1116A91B35}"/>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18</a:t>
            </a:r>
          </a:p>
        </p:txBody>
      </p:sp>
    </p:spTree>
    <p:extLst>
      <p:ext uri="{BB962C8B-B14F-4D97-AF65-F5344CB8AC3E}">
        <p14:creationId xmlns:p14="http://schemas.microsoft.com/office/powerpoint/2010/main" val="109989418"/>
      </p:ext>
    </p:extLst>
  </p:cSld>
</p:sld>
</file>

<file path=ppt/slides/slide19.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pic>
        <p:nvPicPr>
          <p:cNvPr id="8" name="" descr="Generated abstract incident-room background. The overlaid slide text contains the exercise instructions; the background is not a system diagram or evidence.">
            <a:extLst xmlns:a="http://schemas.openxmlformats.org/drawingml/2006/main">
              <a:ext uri="{FF2B5EF4-FFF2-40B4-BE49-F238E27FC236}">
                <a16:creationId xmlns:a16="http://schemas.microsoft.com/office/drawing/2014/main" id="{A2B6E47A-6061-45B9-9E1D-39C8A8120C08}"/>
              </a:ext>
            </a:extLst>
          </p:cNvPr>
          <p:cNvPicPr>
            <a:picLocks xmlns:a="http://schemas.openxmlformats.org/drawingml/2006/main" noChangeAspect="1"/>
          </p:cNvPicPr>
          <p:nvPr/>
        </p:nvPicPr>
        <p:blipFill>
          <a:blip xmlns:r="http://schemas.openxmlformats.org/officeDocument/2006/relationships" xmlns:a="http://schemas.openxmlformats.org/drawingml/2006/main" r:embed="R408530d0452d4f0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7 MINUTES / JUSTIFY THE ACTION ORDER">
            <a:extLst xmlns:a="http://schemas.openxmlformats.org/drawingml/2006/main">
              <a:ext uri="{FF2B5EF4-FFF2-40B4-BE49-F238E27FC236}">
                <a16:creationId xmlns:a16="http://schemas.microsoft.com/office/drawing/2014/main" id="{C9009165-AEDE-4313-AF75-74622EA7CBAF}"/>
              </a:ext>
            </a:extLst>
          </p:cNvPr>
          <p:cNvSpPr>
            <a:spLocks xmlns:a="http://schemas.openxmlformats.org/drawingml/2006/main" noGrp="1"/>
          </p:cNvSpPr>
          <p:nvPr/>
        </p:nvSpPr>
        <p:spPr>
          <a:xfrm xmlns:a="http://schemas.openxmlformats.org/drawingml/2006/main">
            <a:off x="609600" y="4953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5D8BD"/>
                </a:solidFill>
                <a:latin typeface="Arial"/>
                <a:ea typeface="Arial"/>
                <a:cs typeface="Arial"/>
              </a:defRPr>
            </a:defPPr>
            <a:lvl1pPr>
              <a:defRPr sz="1350" b="1">
                <a:solidFill>
                  <a:srgbClr val="25D8BD"/>
                </a:solidFill>
                <a:latin typeface="Arial"/>
                <a:ea typeface="Arial"/>
                <a:cs typeface="Arial"/>
              </a:defRPr>
            </a:lvl1pPr>
            <a:lvl2pPr>
              <a:defRPr sz="1350" b="1">
                <a:solidFill>
                  <a:srgbClr val="25D8BD"/>
                </a:solidFill>
                <a:latin typeface="Arial"/>
                <a:ea typeface="Arial"/>
                <a:cs typeface="Arial"/>
              </a:defRPr>
            </a:lvl2pPr>
            <a:lvl3pPr>
              <a:defRPr sz="1350" b="1">
                <a:solidFill>
                  <a:srgbClr val="25D8BD"/>
                </a:solidFill>
                <a:latin typeface="Arial"/>
                <a:ea typeface="Arial"/>
                <a:cs typeface="Arial"/>
              </a:defRPr>
            </a:lvl3pPr>
            <a:lvl4pPr>
              <a:defRPr sz="1350" b="1">
                <a:solidFill>
                  <a:srgbClr val="25D8BD"/>
                </a:solidFill>
                <a:latin typeface="Arial"/>
                <a:ea typeface="Arial"/>
                <a:cs typeface="Arial"/>
              </a:defRPr>
            </a:lvl4pPr>
            <a:lvl5pPr>
              <a:defRPr sz="1350" b="1">
                <a:solidFill>
                  <a:srgbClr val="25D8BD"/>
                </a:solidFill>
                <a:latin typeface="Arial"/>
                <a:ea typeface="Arial"/>
                <a:cs typeface="Arial"/>
              </a:defRPr>
            </a:lvl5pPr>
            <a:lvl6pPr>
              <a:defRPr sz="1350" b="1">
                <a:solidFill>
                  <a:srgbClr val="25D8BD"/>
                </a:solidFill>
                <a:latin typeface="Arial"/>
                <a:ea typeface="Arial"/>
                <a:cs typeface="Arial"/>
              </a:defRPr>
            </a:lvl6pPr>
            <a:lvl7pPr>
              <a:defRPr sz="1350" b="1">
                <a:solidFill>
                  <a:srgbClr val="25D8BD"/>
                </a:solidFill>
                <a:latin typeface="Arial"/>
                <a:ea typeface="Arial"/>
                <a:cs typeface="Arial"/>
              </a:defRPr>
            </a:lvl7pPr>
            <a:lvl8pPr>
              <a:defRPr sz="1350" b="1">
                <a:solidFill>
                  <a:srgbClr val="25D8BD"/>
                </a:solidFill>
                <a:latin typeface="Arial"/>
                <a:ea typeface="Arial"/>
                <a:cs typeface="Arial"/>
              </a:defRPr>
            </a:lvl8pPr>
            <a:lvl9pPr>
              <a:defRPr sz="1350" b="1">
                <a:solidFill>
                  <a:srgbClr val="25D8BD"/>
                </a:solidFill>
                <a:latin typeface="Arial"/>
                <a:ea typeface="Arial"/>
                <a:cs typeface="Arial"/>
              </a:defRPr>
            </a:lvl9pPr>
          </a:lstStyle>
          <a:p xmlns:a="http://schemas.openxmlformats.org/drawingml/2006/main">
            <a:pPr>
              <a:defRPr sz="1350" b="1">
                <a:solidFill>
                  <a:srgbClr val="25D8BD"/>
                </a:solidFill>
                <a:latin typeface="Arial"/>
                <a:ea typeface="Arial"/>
                <a:cs typeface="Arial"/>
              </a:defRPr>
            </a:pPr>
            <a:r>
              <a:rPr sz="1350" b="1">
                <a:solidFill>
                  <a:srgbClr val="25D8BD"/>
                </a:solidFill>
                <a:latin typeface="Arial"/>
                <a:ea typeface="Arial"/>
                <a:cs typeface="Arial"/>
              </a:rPr>
              <a:t>7 MINUTES / JUSTIFY THE ACTION ORDER</a:t>
            </a:r>
          </a:p>
        </p:txBody>
      </p:sp>
      <p:sp>
        <p:nvSpPr>
          <p:cNvPr id="3" name="03">
            <a:extLst xmlns:a="http://schemas.openxmlformats.org/drawingml/2006/main">
              <a:ext uri="{FF2B5EF4-FFF2-40B4-BE49-F238E27FC236}">
                <a16:creationId xmlns:a16="http://schemas.microsoft.com/office/drawing/2014/main" id="{49425336-5E03-423E-842D-20FF45D67746}"/>
              </a:ext>
            </a:extLst>
          </p:cNvPr>
          <p:cNvSpPr>
            <a:spLocks xmlns:a="http://schemas.openxmlformats.org/drawingml/2006/main" noGrp="1"/>
          </p:cNvSpPr>
          <p:nvPr/>
        </p:nvSpPr>
        <p:spPr>
          <a:xfrm xmlns:a="http://schemas.openxmlformats.org/drawingml/2006/main">
            <a:off x="609600" y="971550"/>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450" b="1">
                <a:solidFill>
                  <a:srgbClr val="FF795B"/>
                </a:solidFill>
                <a:latin typeface="Arial Black"/>
                <a:ea typeface="Arial Black"/>
                <a:cs typeface="Arial Black"/>
              </a:defRPr>
            </a:defPPr>
            <a:lvl1pPr>
              <a:defRPr sz="9450" b="1">
                <a:solidFill>
                  <a:srgbClr val="FF795B"/>
                </a:solidFill>
                <a:latin typeface="Arial Black"/>
                <a:ea typeface="Arial Black"/>
                <a:cs typeface="Arial Black"/>
              </a:defRPr>
            </a:lvl1pPr>
            <a:lvl2pPr>
              <a:defRPr sz="9450" b="1">
                <a:solidFill>
                  <a:srgbClr val="FF795B"/>
                </a:solidFill>
                <a:latin typeface="Arial Black"/>
                <a:ea typeface="Arial Black"/>
                <a:cs typeface="Arial Black"/>
              </a:defRPr>
            </a:lvl2pPr>
            <a:lvl3pPr>
              <a:defRPr sz="9450" b="1">
                <a:solidFill>
                  <a:srgbClr val="FF795B"/>
                </a:solidFill>
                <a:latin typeface="Arial Black"/>
                <a:ea typeface="Arial Black"/>
                <a:cs typeface="Arial Black"/>
              </a:defRPr>
            </a:lvl3pPr>
            <a:lvl4pPr>
              <a:defRPr sz="9450" b="1">
                <a:solidFill>
                  <a:srgbClr val="FF795B"/>
                </a:solidFill>
                <a:latin typeface="Arial Black"/>
                <a:ea typeface="Arial Black"/>
                <a:cs typeface="Arial Black"/>
              </a:defRPr>
            </a:lvl4pPr>
            <a:lvl5pPr>
              <a:defRPr sz="9450" b="1">
                <a:solidFill>
                  <a:srgbClr val="FF795B"/>
                </a:solidFill>
                <a:latin typeface="Arial Black"/>
                <a:ea typeface="Arial Black"/>
                <a:cs typeface="Arial Black"/>
              </a:defRPr>
            </a:lvl5pPr>
            <a:lvl6pPr>
              <a:defRPr sz="9450" b="1">
                <a:solidFill>
                  <a:srgbClr val="FF795B"/>
                </a:solidFill>
                <a:latin typeface="Arial Black"/>
                <a:ea typeface="Arial Black"/>
                <a:cs typeface="Arial Black"/>
              </a:defRPr>
            </a:lvl6pPr>
            <a:lvl7pPr>
              <a:defRPr sz="9450" b="1">
                <a:solidFill>
                  <a:srgbClr val="FF795B"/>
                </a:solidFill>
                <a:latin typeface="Arial Black"/>
                <a:ea typeface="Arial Black"/>
                <a:cs typeface="Arial Black"/>
              </a:defRPr>
            </a:lvl7pPr>
            <a:lvl8pPr>
              <a:defRPr sz="9450" b="1">
                <a:solidFill>
                  <a:srgbClr val="FF795B"/>
                </a:solidFill>
                <a:latin typeface="Arial Black"/>
                <a:ea typeface="Arial Black"/>
                <a:cs typeface="Arial Black"/>
              </a:defRPr>
            </a:lvl8pPr>
            <a:lvl9pPr>
              <a:defRPr sz="9450" b="1">
                <a:solidFill>
                  <a:srgbClr val="FF795B"/>
                </a:solidFill>
                <a:latin typeface="Arial Black"/>
                <a:ea typeface="Arial Black"/>
                <a:cs typeface="Arial Black"/>
              </a:defRPr>
            </a:lvl9pPr>
          </a:lstStyle>
          <a:p xmlns:a="http://schemas.openxmlformats.org/drawingml/2006/main">
            <a:pPr>
              <a:defRPr sz="9450" b="1">
                <a:solidFill>
                  <a:srgbClr val="FF795B"/>
                </a:solidFill>
                <a:latin typeface="Arial Black"/>
                <a:ea typeface="Arial Black"/>
                <a:cs typeface="Arial Black"/>
              </a:defRPr>
            </a:pPr>
            <a:r>
              <a:rPr sz="9450" b="1">
                <a:solidFill>
                  <a:srgbClr val="FF795B"/>
                </a:solidFill>
                <a:latin typeface="Arial Black"/>
                <a:ea typeface="Arial Black"/>
                <a:cs typeface="Arial Black"/>
              </a:rPr>
              <a:t>03</a:t>
            </a:r>
          </a:p>
        </p:txBody>
      </p:sp>
      <p:sp>
        <p:nvSpPr>
          <p:cNvPr id="4" name="Plan scoped&#10;containment.">
            <a:extLst xmlns:a="http://schemas.openxmlformats.org/drawingml/2006/main">
              <a:ext uri="{FF2B5EF4-FFF2-40B4-BE49-F238E27FC236}">
                <a16:creationId xmlns:a16="http://schemas.microsoft.com/office/drawing/2014/main" id="{EC7B6B63-9E14-4B0B-ADA8-5D9B3529E0C7}"/>
              </a:ext>
            </a:extLst>
          </p:cNvPr>
          <p:cNvSpPr>
            <a:spLocks xmlns:a="http://schemas.openxmlformats.org/drawingml/2006/main" noGrp="1"/>
          </p:cNvSpPr>
          <p:nvPr>
            <p:ph type="title" idx="0"/>
          </p:nvPr>
        </p:nvSpPr>
        <p:spPr>
          <a:xfrm xmlns:a="http://schemas.openxmlformats.org/drawingml/2006/main">
            <a:off x="609600" y="2762250"/>
            <a:ext cx="8286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2EFE7"/>
                </a:solidFill>
                <a:latin typeface="Arial Black"/>
                <a:ea typeface="Arial Black"/>
                <a:cs typeface="Arial Black"/>
              </a:defRPr>
            </a:defPPr>
            <a:lvl1pPr>
              <a:defRPr sz="4650" b="1">
                <a:solidFill>
                  <a:srgbClr val="F2EFE7"/>
                </a:solidFill>
                <a:latin typeface="Arial Black"/>
                <a:ea typeface="Arial Black"/>
                <a:cs typeface="Arial Black"/>
              </a:defRPr>
            </a:lvl1pPr>
            <a:lvl2pPr>
              <a:defRPr sz="4650" b="1">
                <a:solidFill>
                  <a:srgbClr val="F2EFE7"/>
                </a:solidFill>
                <a:latin typeface="Arial Black"/>
                <a:ea typeface="Arial Black"/>
                <a:cs typeface="Arial Black"/>
              </a:defRPr>
            </a:lvl2pPr>
            <a:lvl3pPr>
              <a:defRPr sz="4650" b="1">
                <a:solidFill>
                  <a:srgbClr val="F2EFE7"/>
                </a:solidFill>
                <a:latin typeface="Arial Black"/>
                <a:ea typeface="Arial Black"/>
                <a:cs typeface="Arial Black"/>
              </a:defRPr>
            </a:lvl3pPr>
            <a:lvl4pPr>
              <a:defRPr sz="4650" b="1">
                <a:solidFill>
                  <a:srgbClr val="F2EFE7"/>
                </a:solidFill>
                <a:latin typeface="Arial Black"/>
                <a:ea typeface="Arial Black"/>
                <a:cs typeface="Arial Black"/>
              </a:defRPr>
            </a:lvl4pPr>
            <a:lvl5pPr>
              <a:defRPr sz="4650" b="1">
                <a:solidFill>
                  <a:srgbClr val="F2EFE7"/>
                </a:solidFill>
                <a:latin typeface="Arial Black"/>
                <a:ea typeface="Arial Black"/>
                <a:cs typeface="Arial Black"/>
              </a:defRPr>
            </a:lvl5pPr>
            <a:lvl6pPr>
              <a:defRPr sz="4650" b="1">
                <a:solidFill>
                  <a:srgbClr val="F2EFE7"/>
                </a:solidFill>
                <a:latin typeface="Arial Black"/>
                <a:ea typeface="Arial Black"/>
                <a:cs typeface="Arial Black"/>
              </a:defRPr>
            </a:lvl6pPr>
            <a:lvl7pPr>
              <a:defRPr sz="4650" b="1">
                <a:solidFill>
                  <a:srgbClr val="F2EFE7"/>
                </a:solidFill>
                <a:latin typeface="Arial Black"/>
                <a:ea typeface="Arial Black"/>
                <a:cs typeface="Arial Black"/>
              </a:defRPr>
            </a:lvl7pPr>
            <a:lvl8pPr>
              <a:defRPr sz="4650" b="1">
                <a:solidFill>
                  <a:srgbClr val="F2EFE7"/>
                </a:solidFill>
                <a:latin typeface="Arial Black"/>
                <a:ea typeface="Arial Black"/>
                <a:cs typeface="Arial Black"/>
              </a:defRPr>
            </a:lvl8pPr>
            <a:lvl9pPr>
              <a:defRPr sz="4650" b="1">
                <a:solidFill>
                  <a:srgbClr val="F2EFE7"/>
                </a:solidFill>
                <a:latin typeface="Arial Black"/>
                <a:ea typeface="Arial Black"/>
                <a:cs typeface="Arial Black"/>
              </a:defRPr>
            </a:lvl9pPr>
          </a:lstStyle>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Plan scoped</a:t>
            </a:r>
          </a:p>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containment.</a:t>
            </a:r>
          </a:p>
        </p:txBody>
      </p:sp>
      <p:sp>
        <p:nvSpPr>
          <p:cNvPr id="5" name="Open the sealed update on page 8.&#10;Number actions">
            <a:extLst xmlns:a="http://schemas.openxmlformats.org/drawingml/2006/main">
              <a:ext uri="{FF2B5EF4-FFF2-40B4-BE49-F238E27FC236}">
                <a16:creationId xmlns:a16="http://schemas.microsoft.com/office/drawing/2014/main" id="{8E04D765-4460-432E-909F-28233B1B4C4E}"/>
              </a:ext>
            </a:extLst>
          </p:cNvPr>
          <p:cNvSpPr>
            <a:spLocks xmlns:a="http://schemas.openxmlformats.org/drawingml/2006/main" noGrp="1"/>
          </p:cNvSpPr>
          <p:nvPr/>
        </p:nvSpPr>
        <p:spPr>
          <a:xfrm xmlns:a="http://schemas.openxmlformats.org/drawingml/2006/main">
            <a:off x="628650" y="4829175"/>
            <a:ext cx="6381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vl1pPr>
              <a:defRPr sz="2250" b="0">
                <a:solidFill>
                  <a:srgbClr val="F2EFE7"/>
                </a:solidFill>
                <a:latin typeface="Arial"/>
                <a:ea typeface="Arial"/>
                <a:cs typeface="Arial"/>
              </a:defRPr>
            </a:lvl1pPr>
            <a:lvl2pPr>
              <a:defRPr sz="2250" b="0">
                <a:solidFill>
                  <a:srgbClr val="F2EFE7"/>
                </a:solidFill>
                <a:latin typeface="Arial"/>
                <a:ea typeface="Arial"/>
                <a:cs typeface="Arial"/>
              </a:defRPr>
            </a:lvl2pPr>
            <a:lvl3pPr>
              <a:defRPr sz="2250" b="0">
                <a:solidFill>
                  <a:srgbClr val="F2EFE7"/>
                </a:solidFill>
                <a:latin typeface="Arial"/>
                <a:ea typeface="Arial"/>
                <a:cs typeface="Arial"/>
              </a:defRPr>
            </a:lvl3pPr>
            <a:lvl4pPr>
              <a:defRPr sz="2250" b="0">
                <a:solidFill>
                  <a:srgbClr val="F2EFE7"/>
                </a:solidFill>
                <a:latin typeface="Arial"/>
                <a:ea typeface="Arial"/>
                <a:cs typeface="Arial"/>
              </a:defRPr>
            </a:lvl4pPr>
            <a:lvl5pPr>
              <a:defRPr sz="2250" b="0">
                <a:solidFill>
                  <a:srgbClr val="F2EFE7"/>
                </a:solidFill>
                <a:latin typeface="Arial"/>
                <a:ea typeface="Arial"/>
                <a:cs typeface="Arial"/>
              </a:defRPr>
            </a:lvl5pPr>
            <a:lvl6pPr>
              <a:defRPr sz="2250" b="0">
                <a:solidFill>
                  <a:srgbClr val="F2EFE7"/>
                </a:solidFill>
                <a:latin typeface="Arial"/>
                <a:ea typeface="Arial"/>
                <a:cs typeface="Arial"/>
              </a:defRPr>
            </a:lvl6pPr>
            <a:lvl7pPr>
              <a:defRPr sz="2250" b="0">
                <a:solidFill>
                  <a:srgbClr val="F2EFE7"/>
                </a:solidFill>
                <a:latin typeface="Arial"/>
                <a:ea typeface="Arial"/>
                <a:cs typeface="Arial"/>
              </a:defRPr>
            </a:lvl7pPr>
            <a:lvl8pPr>
              <a:defRPr sz="2250" b="0">
                <a:solidFill>
                  <a:srgbClr val="F2EFE7"/>
                </a:solidFill>
                <a:latin typeface="Arial"/>
                <a:ea typeface="Arial"/>
                <a:cs typeface="Arial"/>
              </a:defRPr>
            </a:lvl8pPr>
            <a:lvl9pPr>
              <a:defRPr sz="2250" b="0">
                <a:solidFill>
                  <a:srgbClr val="F2EFE7"/>
                </a:solidFill>
                <a:latin typeface="Arial"/>
                <a:ea typeface="Arial"/>
                <a:cs typeface="Arial"/>
              </a:defRPr>
            </a:lvl9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Open the sealed update on page 8.</a:t>
            </a:r>
          </a:p>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Number actions and state the service floor.</a:t>
            </a:r>
          </a:p>
        </p:txBody>
      </p:sp>
      <p:sp>
        <p:nvSpPr>
          <p:cNvPr id="6" name="ISC2 SECURITY CONGRESS 2026 / SC2632">
            <a:extLst xmlns:a="http://schemas.openxmlformats.org/drawingml/2006/main">
              <a:ext uri="{FF2B5EF4-FFF2-40B4-BE49-F238E27FC236}">
                <a16:creationId xmlns:a16="http://schemas.microsoft.com/office/drawing/2014/main" id="{8614A1B6-46A2-4E5F-AB2E-CC831419B107}"/>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vl1pPr>
              <a:defRPr sz="900" b="0">
                <a:solidFill>
                  <a:srgbClr val="8498A5"/>
                </a:solidFill>
                <a:latin typeface="Arial"/>
                <a:ea typeface="Arial"/>
                <a:cs typeface="Arial"/>
              </a:defRPr>
            </a:lvl1pPr>
            <a:lvl2pPr>
              <a:defRPr sz="900" b="0">
                <a:solidFill>
                  <a:srgbClr val="8498A5"/>
                </a:solidFill>
                <a:latin typeface="Arial"/>
                <a:ea typeface="Arial"/>
                <a:cs typeface="Arial"/>
              </a:defRPr>
            </a:lvl2pPr>
            <a:lvl3pPr>
              <a:defRPr sz="900" b="0">
                <a:solidFill>
                  <a:srgbClr val="8498A5"/>
                </a:solidFill>
                <a:latin typeface="Arial"/>
                <a:ea typeface="Arial"/>
                <a:cs typeface="Arial"/>
              </a:defRPr>
            </a:lvl3pPr>
            <a:lvl4pPr>
              <a:defRPr sz="900" b="0">
                <a:solidFill>
                  <a:srgbClr val="8498A5"/>
                </a:solidFill>
                <a:latin typeface="Arial"/>
                <a:ea typeface="Arial"/>
                <a:cs typeface="Arial"/>
              </a:defRPr>
            </a:lvl4pPr>
            <a:lvl5pPr>
              <a:defRPr sz="900" b="0">
                <a:solidFill>
                  <a:srgbClr val="8498A5"/>
                </a:solidFill>
                <a:latin typeface="Arial"/>
                <a:ea typeface="Arial"/>
                <a:cs typeface="Arial"/>
              </a:defRPr>
            </a:lvl5pPr>
            <a:lvl6pPr>
              <a:defRPr sz="900" b="0">
                <a:solidFill>
                  <a:srgbClr val="8498A5"/>
                </a:solidFill>
                <a:latin typeface="Arial"/>
                <a:ea typeface="Arial"/>
                <a:cs typeface="Arial"/>
              </a:defRPr>
            </a:lvl6pPr>
            <a:lvl7pPr>
              <a:defRPr sz="900" b="0">
                <a:solidFill>
                  <a:srgbClr val="8498A5"/>
                </a:solidFill>
                <a:latin typeface="Arial"/>
                <a:ea typeface="Arial"/>
                <a:cs typeface="Arial"/>
              </a:defRPr>
            </a:lvl7pPr>
            <a:lvl8pPr>
              <a:defRPr sz="900" b="0">
                <a:solidFill>
                  <a:srgbClr val="8498A5"/>
                </a:solidFill>
                <a:latin typeface="Arial"/>
                <a:ea typeface="Arial"/>
                <a:cs typeface="Arial"/>
              </a:defRPr>
            </a:lvl8pPr>
            <a:lvl9pPr>
              <a:defRPr sz="900" b="0">
                <a:solidFill>
                  <a:srgbClr val="8498A5"/>
                </a:solidFill>
                <a:latin typeface="Arial"/>
                <a:ea typeface="Arial"/>
                <a:cs typeface="Arial"/>
              </a:defRPr>
            </a:lvl9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7" name="19">
            <a:extLst xmlns:a="http://schemas.openxmlformats.org/drawingml/2006/main">
              <a:ext uri="{FF2B5EF4-FFF2-40B4-BE49-F238E27FC236}">
                <a16:creationId xmlns:a16="http://schemas.microsoft.com/office/drawing/2014/main" id="{012941C2-517E-4088-8E8F-DE8293A15031}"/>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vl1pPr>
              <a:defRPr sz="1200" b="1">
                <a:solidFill>
                  <a:srgbClr val="8498A5"/>
                </a:solidFill>
                <a:latin typeface="Arial"/>
                <a:ea typeface="Arial"/>
                <a:cs typeface="Arial"/>
              </a:defRPr>
            </a:lvl1pPr>
            <a:lvl2pPr>
              <a:defRPr sz="1200" b="1">
                <a:solidFill>
                  <a:srgbClr val="8498A5"/>
                </a:solidFill>
                <a:latin typeface="Arial"/>
                <a:ea typeface="Arial"/>
                <a:cs typeface="Arial"/>
              </a:defRPr>
            </a:lvl2pPr>
            <a:lvl3pPr>
              <a:defRPr sz="1200" b="1">
                <a:solidFill>
                  <a:srgbClr val="8498A5"/>
                </a:solidFill>
                <a:latin typeface="Arial"/>
                <a:ea typeface="Arial"/>
                <a:cs typeface="Arial"/>
              </a:defRPr>
            </a:lvl3pPr>
            <a:lvl4pPr>
              <a:defRPr sz="1200" b="1">
                <a:solidFill>
                  <a:srgbClr val="8498A5"/>
                </a:solidFill>
                <a:latin typeface="Arial"/>
                <a:ea typeface="Arial"/>
                <a:cs typeface="Arial"/>
              </a:defRPr>
            </a:lvl4pPr>
            <a:lvl5pPr>
              <a:defRPr sz="1200" b="1">
                <a:solidFill>
                  <a:srgbClr val="8498A5"/>
                </a:solidFill>
                <a:latin typeface="Arial"/>
                <a:ea typeface="Arial"/>
                <a:cs typeface="Arial"/>
              </a:defRPr>
            </a:lvl5pPr>
            <a:lvl6pPr>
              <a:defRPr sz="1200" b="1">
                <a:solidFill>
                  <a:srgbClr val="8498A5"/>
                </a:solidFill>
                <a:latin typeface="Arial"/>
                <a:ea typeface="Arial"/>
                <a:cs typeface="Arial"/>
              </a:defRPr>
            </a:lvl6pPr>
            <a:lvl7pPr>
              <a:defRPr sz="1200" b="1">
                <a:solidFill>
                  <a:srgbClr val="8498A5"/>
                </a:solidFill>
                <a:latin typeface="Arial"/>
                <a:ea typeface="Arial"/>
                <a:cs typeface="Arial"/>
              </a:defRPr>
            </a:lvl7pPr>
            <a:lvl8pPr>
              <a:defRPr sz="1200" b="1">
                <a:solidFill>
                  <a:srgbClr val="8498A5"/>
                </a:solidFill>
                <a:latin typeface="Arial"/>
                <a:ea typeface="Arial"/>
                <a:cs typeface="Arial"/>
              </a:defRPr>
            </a:lvl8pPr>
            <a:lvl9pPr>
              <a:defRPr sz="1200" b="1">
                <a:solidFill>
                  <a:srgbClr val="8498A5"/>
                </a:solidFill>
                <a:latin typeface="Arial"/>
                <a:ea typeface="Arial"/>
                <a:cs typeface="Arial"/>
              </a:defRPr>
            </a:lvl9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19</a:t>
            </a:r>
          </a:p>
        </p:txBody>
      </p:sp>
    </p:spTree>
    <p:extLst>
      <p:ext uri="{BB962C8B-B14F-4D97-AF65-F5344CB8AC3E}">
        <p14:creationId xmlns:p14="http://schemas.microsoft.com/office/powerpoint/2010/main" val="2130088813"/>
      </p:ext>
    </p:extLst>
  </p:cSld>
</p:sld>
</file>

<file path=ppt/slides/slide20.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sp>
        <p:nvSpPr>
          <p:cNvPr id="10" name="34–38 MINUTES / SECOND INJECT / OPEN SEALED PAGE">
            <a:extLst xmlns:a="http://schemas.openxmlformats.org/drawingml/2006/main">
              <a:ext uri="{FF2B5EF4-FFF2-40B4-BE49-F238E27FC236}">
                <a16:creationId xmlns:a16="http://schemas.microsoft.com/office/drawing/2014/main" id="{1AF2B2DE-2908-4103-814D-63A41A0980C1}"/>
              </a:ext>
            </a:extLst>
          </p:cNvPr>
          <p:cNvSpPr>
            <a:spLocks xmlns:a="http://schemas.openxmlformats.org/drawingml/2006/main" noGrp="1"/>
          </p:cNvSpPr>
          <p:nvPr/>
        </p:nvSpPr>
        <p:spPr>
          <a:xfrm xmlns:a="http://schemas.openxmlformats.org/drawingml/2006/main">
            <a:off x="609600" y="4381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vl1pPr>
              <a:defRPr sz="1200" b="1">
                <a:solidFill>
                  <a:srgbClr val="25D8BD"/>
                </a:solidFill>
                <a:latin typeface="Arial"/>
                <a:ea typeface="Arial"/>
                <a:cs typeface="Arial"/>
              </a:defRPr>
            </a:lvl1pPr>
            <a:lvl2pPr>
              <a:defRPr sz="1200" b="1">
                <a:solidFill>
                  <a:srgbClr val="25D8BD"/>
                </a:solidFill>
                <a:latin typeface="Arial"/>
                <a:ea typeface="Arial"/>
                <a:cs typeface="Arial"/>
              </a:defRPr>
            </a:lvl2pPr>
            <a:lvl3pPr>
              <a:defRPr sz="1200" b="1">
                <a:solidFill>
                  <a:srgbClr val="25D8BD"/>
                </a:solidFill>
                <a:latin typeface="Arial"/>
                <a:ea typeface="Arial"/>
                <a:cs typeface="Arial"/>
              </a:defRPr>
            </a:lvl3pPr>
            <a:lvl4pPr>
              <a:defRPr sz="1200" b="1">
                <a:solidFill>
                  <a:srgbClr val="25D8BD"/>
                </a:solidFill>
                <a:latin typeface="Arial"/>
                <a:ea typeface="Arial"/>
                <a:cs typeface="Arial"/>
              </a:defRPr>
            </a:lvl4pPr>
            <a:lvl5pPr>
              <a:defRPr sz="1200" b="1">
                <a:solidFill>
                  <a:srgbClr val="25D8BD"/>
                </a:solidFill>
                <a:latin typeface="Arial"/>
                <a:ea typeface="Arial"/>
                <a:cs typeface="Arial"/>
              </a:defRPr>
            </a:lvl5pPr>
            <a:lvl6pPr>
              <a:defRPr sz="1200" b="1">
                <a:solidFill>
                  <a:srgbClr val="25D8BD"/>
                </a:solidFill>
                <a:latin typeface="Arial"/>
                <a:ea typeface="Arial"/>
                <a:cs typeface="Arial"/>
              </a:defRPr>
            </a:lvl6pPr>
            <a:lvl7pPr>
              <a:defRPr sz="1200" b="1">
                <a:solidFill>
                  <a:srgbClr val="25D8BD"/>
                </a:solidFill>
                <a:latin typeface="Arial"/>
                <a:ea typeface="Arial"/>
                <a:cs typeface="Arial"/>
              </a:defRPr>
            </a:lvl7pPr>
            <a:lvl8pPr>
              <a:defRPr sz="1200" b="1">
                <a:solidFill>
                  <a:srgbClr val="25D8BD"/>
                </a:solidFill>
                <a:latin typeface="Arial"/>
                <a:ea typeface="Arial"/>
                <a:cs typeface="Arial"/>
              </a:defRPr>
            </a:lvl8pPr>
            <a:lvl9pPr>
              <a:defRPr sz="1200" b="1">
                <a:solidFill>
                  <a:srgbClr val="25D8BD"/>
                </a:solidFill>
                <a:latin typeface="Arial"/>
                <a:ea typeface="Arial"/>
                <a:cs typeface="Arial"/>
              </a:defRPr>
            </a:lvl9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34–38 MINUTES / SECOND INJECT / OPEN SEALED PAGE 9 NOW</a:t>
            </a:r>
          </a:p>
        </p:txBody>
      </p:sp>
      <p:sp>
        <p:nvSpPr>
          <p:cNvPr id="2" name="New evidence arrives mid-containment">
            <a:extLst xmlns:a="http://schemas.openxmlformats.org/drawingml/2006/main">
              <a:ext uri="{FF2B5EF4-FFF2-40B4-BE49-F238E27FC236}">
                <a16:creationId xmlns:a16="http://schemas.microsoft.com/office/drawing/2014/main" id="{5ACD0E52-600A-4D03-AB99-B562C67BD061}"/>
              </a:ext>
            </a:extLst>
          </p:cNvPr>
          <p:cNvSpPr>
            <a:spLocks xmlns:a="http://schemas.openxmlformats.org/drawingml/2006/main" noGrp="1"/>
          </p:cNvSpPr>
          <p:nvPr>
            <p:ph type="title" idx="0"/>
          </p:nvPr>
        </p:nvSpPr>
        <p:spPr>
          <a:xfrm xmlns:a="http://schemas.openxmlformats.org/drawingml/2006/main">
            <a:off x="609600" y="91440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2EFE7"/>
                </a:solidFill>
                <a:latin typeface="Arial Black"/>
                <a:ea typeface="Arial Black"/>
                <a:cs typeface="Arial Black"/>
              </a:defRPr>
            </a:defPPr>
            <a:lvl1pPr>
              <a:defRPr sz="3450" b="1">
                <a:solidFill>
                  <a:srgbClr val="F2EFE7"/>
                </a:solidFill>
                <a:latin typeface="Arial Black"/>
                <a:ea typeface="Arial Black"/>
                <a:cs typeface="Arial Black"/>
              </a:defRPr>
            </a:lvl1pPr>
            <a:lvl2pPr>
              <a:defRPr sz="3450" b="1">
                <a:solidFill>
                  <a:srgbClr val="F2EFE7"/>
                </a:solidFill>
                <a:latin typeface="Arial Black"/>
                <a:ea typeface="Arial Black"/>
                <a:cs typeface="Arial Black"/>
              </a:defRPr>
            </a:lvl2pPr>
            <a:lvl3pPr>
              <a:defRPr sz="3450" b="1">
                <a:solidFill>
                  <a:srgbClr val="F2EFE7"/>
                </a:solidFill>
                <a:latin typeface="Arial Black"/>
                <a:ea typeface="Arial Black"/>
                <a:cs typeface="Arial Black"/>
              </a:defRPr>
            </a:lvl3pPr>
            <a:lvl4pPr>
              <a:defRPr sz="3450" b="1">
                <a:solidFill>
                  <a:srgbClr val="F2EFE7"/>
                </a:solidFill>
                <a:latin typeface="Arial Black"/>
                <a:ea typeface="Arial Black"/>
                <a:cs typeface="Arial Black"/>
              </a:defRPr>
            </a:lvl4pPr>
            <a:lvl5pPr>
              <a:defRPr sz="3450" b="1">
                <a:solidFill>
                  <a:srgbClr val="F2EFE7"/>
                </a:solidFill>
                <a:latin typeface="Arial Black"/>
                <a:ea typeface="Arial Black"/>
                <a:cs typeface="Arial Black"/>
              </a:defRPr>
            </a:lvl5pPr>
            <a:lvl6pPr>
              <a:defRPr sz="3450" b="1">
                <a:solidFill>
                  <a:srgbClr val="F2EFE7"/>
                </a:solidFill>
                <a:latin typeface="Arial Black"/>
                <a:ea typeface="Arial Black"/>
                <a:cs typeface="Arial Black"/>
              </a:defRPr>
            </a:lvl6pPr>
            <a:lvl7pPr>
              <a:defRPr sz="3450" b="1">
                <a:solidFill>
                  <a:srgbClr val="F2EFE7"/>
                </a:solidFill>
                <a:latin typeface="Arial Black"/>
                <a:ea typeface="Arial Black"/>
                <a:cs typeface="Arial Black"/>
              </a:defRPr>
            </a:lvl7pPr>
            <a:lvl8pPr>
              <a:defRPr sz="3450" b="1">
                <a:solidFill>
                  <a:srgbClr val="F2EFE7"/>
                </a:solidFill>
                <a:latin typeface="Arial Black"/>
                <a:ea typeface="Arial Black"/>
                <a:cs typeface="Arial Black"/>
              </a:defRPr>
            </a:lvl8pPr>
            <a:lvl9pPr>
              <a:defRPr sz="3450" b="1">
                <a:solidFill>
                  <a:srgbClr val="F2EFE7"/>
                </a:solidFill>
                <a:latin typeface="Arial Black"/>
                <a:ea typeface="Arial Black"/>
                <a:cs typeface="Arial Black"/>
              </a:defRPr>
            </a:lvl9pPr>
          </a:lstStyle>
          <a:p xmlns:a="http://schemas.openxmlformats.org/drawingml/2006/main">
            <a:pPr>
              <a:defRPr sz="3450" b="1">
                <a:solidFill>
                  <a:srgbClr val="F2EFE7"/>
                </a:solidFill>
                <a:latin typeface="Arial Black"/>
                <a:ea typeface="Arial Black"/>
                <a:cs typeface="Arial Black"/>
              </a:defRPr>
            </a:pPr>
            <a:r>
              <a:rPr sz="3450" b="1">
                <a:solidFill>
                  <a:srgbClr val="F2EFE7"/>
                </a:solidFill>
                <a:latin typeface="Arial Black"/>
                <a:ea typeface="Arial Black"/>
                <a:cs typeface="Arial Black"/>
              </a:rPr>
              <a:t>New evidence arrives mid-containment</a:t>
            </a:r>
          </a:p>
        </p:txBody>
      </p:sp>
      <p:sp>
        <p:nvSpPr>
          <p:cNvPr id="3" name="Case A&#10;Second replica shares the suspect image; ">
            <a:extLst xmlns:a="http://schemas.openxmlformats.org/drawingml/2006/main">
              <a:ext uri="{FF2B5EF4-FFF2-40B4-BE49-F238E27FC236}">
                <a16:creationId xmlns:a16="http://schemas.microsoft.com/office/drawing/2014/main" id="{8D890590-ADAC-49AE-97C3-4A510E9A3A6D}"/>
              </a:ext>
            </a:extLst>
          </p:cNvPr>
          <p:cNvSpPr>
            <a:spLocks xmlns:a="http://schemas.openxmlformats.org/drawingml/2006/main" noGrp="1"/>
          </p:cNvSpPr>
          <p:nvPr/>
        </p:nvSpPr>
        <p:spPr>
          <a:xfrm xmlns:a="http://schemas.openxmlformats.org/drawingml/2006/main">
            <a:off x="609600" y="1866900"/>
            <a:ext cx="5353050" cy="14668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650" b="0">
                <a:solidFill>
                  <a:srgbClr val="F2EFE7"/>
                </a:solidFill>
                <a:latin typeface="Arial"/>
                <a:ea typeface="Arial"/>
                <a:cs typeface="Arial"/>
              </a:defRPr>
            </a:defPPr>
            <a:lvl1pPr>
              <a:defRPr sz="1650" b="0">
                <a:solidFill>
                  <a:srgbClr val="F2EFE7"/>
                </a:solidFill>
                <a:latin typeface="Arial"/>
                <a:ea typeface="Arial"/>
                <a:cs typeface="Arial"/>
              </a:defRPr>
            </a:lvl1pPr>
            <a:lvl2pPr>
              <a:defRPr sz="1650" b="0">
                <a:solidFill>
                  <a:srgbClr val="F2EFE7"/>
                </a:solidFill>
                <a:latin typeface="Arial"/>
                <a:ea typeface="Arial"/>
                <a:cs typeface="Arial"/>
              </a:defRPr>
            </a:lvl2pPr>
            <a:lvl3pPr>
              <a:defRPr sz="1650" b="0">
                <a:solidFill>
                  <a:srgbClr val="F2EFE7"/>
                </a:solidFill>
                <a:latin typeface="Arial"/>
                <a:ea typeface="Arial"/>
                <a:cs typeface="Arial"/>
              </a:defRPr>
            </a:lvl3pPr>
            <a:lvl4pPr>
              <a:defRPr sz="1650" b="0">
                <a:solidFill>
                  <a:srgbClr val="F2EFE7"/>
                </a:solidFill>
                <a:latin typeface="Arial"/>
                <a:ea typeface="Arial"/>
                <a:cs typeface="Arial"/>
              </a:defRPr>
            </a:lvl4pPr>
            <a:lvl5pPr>
              <a:defRPr sz="1650" b="0">
                <a:solidFill>
                  <a:srgbClr val="F2EFE7"/>
                </a:solidFill>
                <a:latin typeface="Arial"/>
                <a:ea typeface="Arial"/>
                <a:cs typeface="Arial"/>
              </a:defRPr>
            </a:lvl5pPr>
            <a:lvl6pPr>
              <a:defRPr sz="1650" b="0">
                <a:solidFill>
                  <a:srgbClr val="F2EFE7"/>
                </a:solidFill>
                <a:latin typeface="Arial"/>
                <a:ea typeface="Arial"/>
                <a:cs typeface="Arial"/>
              </a:defRPr>
            </a:lvl6pPr>
            <a:lvl7pPr>
              <a:defRPr sz="1650" b="0">
                <a:solidFill>
                  <a:srgbClr val="F2EFE7"/>
                </a:solidFill>
                <a:latin typeface="Arial"/>
                <a:ea typeface="Arial"/>
                <a:cs typeface="Arial"/>
              </a:defRPr>
            </a:lvl7pPr>
            <a:lvl8pPr>
              <a:defRPr sz="1650" b="0">
                <a:solidFill>
                  <a:srgbClr val="F2EFE7"/>
                </a:solidFill>
                <a:latin typeface="Arial"/>
                <a:ea typeface="Arial"/>
                <a:cs typeface="Arial"/>
              </a:defRPr>
            </a:lvl8pPr>
            <a:lvl9pPr>
              <a:defRPr sz="1650" b="0">
                <a:solidFill>
                  <a:srgbClr val="F2EFE7"/>
                </a:solidFill>
                <a:latin typeface="Arial"/>
                <a:ea typeface="Arial"/>
                <a:cs typeface="Arial"/>
              </a:defRPr>
            </a:lvl9pPr>
          </a:lstStyle>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Case A</a:t>
            </a:r>
          </a:p>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Second replica shares the suspect image; host-mounted helper bypasses pod-only assumptions.</a:t>
            </a:r>
          </a:p>
        </p:txBody>
      </p:sp>
      <p:sp>
        <p:nvSpPr>
          <p:cNvPr id="4" name="Case B&#10;Debug subresource path and injected ticke">
            <a:extLst xmlns:a="http://schemas.openxmlformats.org/drawingml/2006/main">
              <a:ext uri="{FF2B5EF4-FFF2-40B4-BE49-F238E27FC236}">
                <a16:creationId xmlns:a16="http://schemas.microsoft.com/office/drawing/2014/main" id="{1C2D3CD6-18BE-4384-BD71-89A1DB2FBE81}"/>
              </a:ext>
            </a:extLst>
          </p:cNvPr>
          <p:cNvSpPr>
            <a:spLocks xmlns:a="http://schemas.openxmlformats.org/drawingml/2006/main" noGrp="1"/>
          </p:cNvSpPr>
          <p:nvPr/>
        </p:nvSpPr>
        <p:spPr>
          <a:xfrm xmlns:a="http://schemas.openxmlformats.org/drawingml/2006/main">
            <a:off x="6210300" y="1866900"/>
            <a:ext cx="5353050" cy="14668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650" b="0">
                <a:solidFill>
                  <a:srgbClr val="F2EFE7"/>
                </a:solidFill>
                <a:latin typeface="Arial"/>
                <a:ea typeface="Arial"/>
                <a:cs typeface="Arial"/>
              </a:defRPr>
            </a:defPPr>
            <a:lvl1pPr>
              <a:defRPr sz="1650" b="0">
                <a:solidFill>
                  <a:srgbClr val="F2EFE7"/>
                </a:solidFill>
                <a:latin typeface="Arial"/>
                <a:ea typeface="Arial"/>
                <a:cs typeface="Arial"/>
              </a:defRPr>
            </a:lvl1pPr>
            <a:lvl2pPr>
              <a:defRPr sz="1650" b="0">
                <a:solidFill>
                  <a:srgbClr val="F2EFE7"/>
                </a:solidFill>
                <a:latin typeface="Arial"/>
                <a:ea typeface="Arial"/>
                <a:cs typeface="Arial"/>
              </a:defRPr>
            </a:lvl2pPr>
            <a:lvl3pPr>
              <a:defRPr sz="1650" b="0">
                <a:solidFill>
                  <a:srgbClr val="F2EFE7"/>
                </a:solidFill>
                <a:latin typeface="Arial"/>
                <a:ea typeface="Arial"/>
                <a:cs typeface="Arial"/>
              </a:defRPr>
            </a:lvl3pPr>
            <a:lvl4pPr>
              <a:defRPr sz="1650" b="0">
                <a:solidFill>
                  <a:srgbClr val="F2EFE7"/>
                </a:solidFill>
                <a:latin typeface="Arial"/>
                <a:ea typeface="Arial"/>
                <a:cs typeface="Arial"/>
              </a:defRPr>
            </a:lvl4pPr>
            <a:lvl5pPr>
              <a:defRPr sz="1650" b="0">
                <a:solidFill>
                  <a:srgbClr val="F2EFE7"/>
                </a:solidFill>
                <a:latin typeface="Arial"/>
                <a:ea typeface="Arial"/>
                <a:cs typeface="Arial"/>
              </a:defRPr>
            </a:lvl5pPr>
            <a:lvl6pPr>
              <a:defRPr sz="1650" b="0">
                <a:solidFill>
                  <a:srgbClr val="F2EFE7"/>
                </a:solidFill>
                <a:latin typeface="Arial"/>
                <a:ea typeface="Arial"/>
                <a:cs typeface="Arial"/>
              </a:defRPr>
            </a:lvl6pPr>
            <a:lvl7pPr>
              <a:defRPr sz="1650" b="0">
                <a:solidFill>
                  <a:srgbClr val="F2EFE7"/>
                </a:solidFill>
                <a:latin typeface="Arial"/>
                <a:ea typeface="Arial"/>
                <a:cs typeface="Arial"/>
              </a:defRPr>
            </a:lvl7pPr>
            <a:lvl8pPr>
              <a:defRPr sz="1650" b="0">
                <a:solidFill>
                  <a:srgbClr val="F2EFE7"/>
                </a:solidFill>
                <a:latin typeface="Arial"/>
                <a:ea typeface="Arial"/>
                <a:cs typeface="Arial"/>
              </a:defRPr>
            </a:lvl8pPr>
            <a:lvl9pPr>
              <a:defRPr sz="1650" b="0">
                <a:solidFill>
                  <a:srgbClr val="F2EFE7"/>
                </a:solidFill>
                <a:latin typeface="Arial"/>
                <a:ea typeface="Arial"/>
                <a:cs typeface="Arial"/>
              </a:defRPr>
            </a:lvl9pPr>
          </a:lstStyle>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Case B</a:t>
            </a:r>
          </a:p>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Debug subresource path and injected ticket/tool scope remain reachable.</a:t>
            </a:r>
          </a:p>
        </p:txBody>
      </p:sp>
      <p:sp>
        <p:nvSpPr>
          <p:cNvPr id="5" name="Case C&#10;Ops agent supports live billing while a h">
            <a:extLst xmlns:a="http://schemas.openxmlformats.org/drawingml/2006/main">
              <a:ext uri="{FF2B5EF4-FFF2-40B4-BE49-F238E27FC236}">
                <a16:creationId xmlns:a16="http://schemas.microsoft.com/office/drawing/2014/main" id="{F8531344-39D4-4051-B7D3-9E7A0CB4AB45}"/>
              </a:ext>
            </a:extLst>
          </p:cNvPr>
          <p:cNvSpPr>
            <a:spLocks xmlns:a="http://schemas.openxmlformats.org/drawingml/2006/main" noGrp="1"/>
          </p:cNvSpPr>
          <p:nvPr/>
        </p:nvSpPr>
        <p:spPr>
          <a:xfrm xmlns:a="http://schemas.openxmlformats.org/drawingml/2006/main">
            <a:off x="609600" y="3524250"/>
            <a:ext cx="5353050" cy="14668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650" b="0">
                <a:solidFill>
                  <a:srgbClr val="F2EFE7"/>
                </a:solidFill>
                <a:latin typeface="Arial"/>
                <a:ea typeface="Arial"/>
                <a:cs typeface="Arial"/>
              </a:defRPr>
            </a:defPPr>
            <a:lvl1pPr>
              <a:defRPr sz="1650" b="0">
                <a:solidFill>
                  <a:srgbClr val="F2EFE7"/>
                </a:solidFill>
                <a:latin typeface="Arial"/>
                <a:ea typeface="Arial"/>
                <a:cs typeface="Arial"/>
              </a:defRPr>
            </a:lvl1pPr>
            <a:lvl2pPr>
              <a:defRPr sz="1650" b="0">
                <a:solidFill>
                  <a:srgbClr val="F2EFE7"/>
                </a:solidFill>
                <a:latin typeface="Arial"/>
                <a:ea typeface="Arial"/>
                <a:cs typeface="Arial"/>
              </a:defRPr>
            </a:lvl2pPr>
            <a:lvl3pPr>
              <a:defRPr sz="1650" b="0">
                <a:solidFill>
                  <a:srgbClr val="F2EFE7"/>
                </a:solidFill>
                <a:latin typeface="Arial"/>
                <a:ea typeface="Arial"/>
                <a:cs typeface="Arial"/>
              </a:defRPr>
            </a:lvl3pPr>
            <a:lvl4pPr>
              <a:defRPr sz="1650" b="0">
                <a:solidFill>
                  <a:srgbClr val="F2EFE7"/>
                </a:solidFill>
                <a:latin typeface="Arial"/>
                <a:ea typeface="Arial"/>
                <a:cs typeface="Arial"/>
              </a:defRPr>
            </a:lvl4pPr>
            <a:lvl5pPr>
              <a:defRPr sz="1650" b="0">
                <a:solidFill>
                  <a:srgbClr val="F2EFE7"/>
                </a:solidFill>
                <a:latin typeface="Arial"/>
                <a:ea typeface="Arial"/>
                <a:cs typeface="Arial"/>
              </a:defRPr>
            </a:lvl5pPr>
            <a:lvl6pPr>
              <a:defRPr sz="1650" b="0">
                <a:solidFill>
                  <a:srgbClr val="F2EFE7"/>
                </a:solidFill>
                <a:latin typeface="Arial"/>
                <a:ea typeface="Arial"/>
                <a:cs typeface="Arial"/>
              </a:defRPr>
            </a:lvl6pPr>
            <a:lvl7pPr>
              <a:defRPr sz="1650" b="0">
                <a:solidFill>
                  <a:srgbClr val="F2EFE7"/>
                </a:solidFill>
                <a:latin typeface="Arial"/>
                <a:ea typeface="Arial"/>
                <a:cs typeface="Arial"/>
              </a:defRPr>
            </a:lvl7pPr>
            <a:lvl8pPr>
              <a:defRPr sz="1650" b="0">
                <a:solidFill>
                  <a:srgbClr val="F2EFE7"/>
                </a:solidFill>
                <a:latin typeface="Arial"/>
                <a:ea typeface="Arial"/>
                <a:cs typeface="Arial"/>
              </a:defRPr>
            </a:lvl8pPr>
            <a:lvl9pPr>
              <a:defRPr sz="1650" b="0">
                <a:solidFill>
                  <a:srgbClr val="F2EFE7"/>
                </a:solidFill>
                <a:latin typeface="Arial"/>
                <a:ea typeface="Arial"/>
                <a:cs typeface="Arial"/>
              </a:defRPr>
            </a:lvl9pPr>
          </a:lstStyle>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Case C</a:t>
            </a:r>
          </a:p>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Ops agent supports live billing while a human is asked to widen RBAC permissions.</a:t>
            </a:r>
          </a:p>
        </p:txBody>
      </p:sp>
      <p:sp>
        <p:nvSpPr>
          <p:cNvPr id="6" name="Case D&#10;Stolen bearer token is replayed from outs">
            <a:extLst xmlns:a="http://schemas.openxmlformats.org/drawingml/2006/main">
              <a:ext uri="{FF2B5EF4-FFF2-40B4-BE49-F238E27FC236}">
                <a16:creationId xmlns:a16="http://schemas.microsoft.com/office/drawing/2014/main" id="{234250A9-D245-4E23-92E8-4BBCBD297DD9}"/>
              </a:ext>
            </a:extLst>
          </p:cNvPr>
          <p:cNvSpPr>
            <a:spLocks xmlns:a="http://schemas.openxmlformats.org/drawingml/2006/main" noGrp="1"/>
          </p:cNvSpPr>
          <p:nvPr/>
        </p:nvSpPr>
        <p:spPr>
          <a:xfrm xmlns:a="http://schemas.openxmlformats.org/drawingml/2006/main">
            <a:off x="6210300" y="3524250"/>
            <a:ext cx="5353050" cy="1466850"/>
          </a:xfrm>
          <a:prstGeom xmlns:a="http://schemas.openxmlformats.org/drawingml/2006/main" prst="rect">
            <a:avLst/>
          </a:prstGeom>
          <a:solidFill xmlns:a="http://schemas.openxmlformats.org/drawingml/2006/main">
            <a:srgbClr val="132636"/>
          </a:solidFill>
          <a:ln xmlns:a="http://schemas.openxmlformats.org/drawingml/2006/main" w="19050">
            <a:solidFill>
              <a:srgbClr val="FF795B"/>
            </a:solidFill>
          </a:ln>
        </p:spPr>
        <p:txBody>
          <a:bodyPr xmlns:a="http://schemas.openxmlformats.org/drawingml/2006/main"/>
          <a:lstStyle xmlns:a="http://schemas.openxmlformats.org/drawingml/2006/main">
            <a:defPPr>
              <a:defRPr sz="1650" b="0">
                <a:solidFill>
                  <a:srgbClr val="F2EFE7"/>
                </a:solidFill>
                <a:latin typeface="Arial"/>
                <a:ea typeface="Arial"/>
                <a:cs typeface="Arial"/>
              </a:defRPr>
            </a:defPPr>
            <a:lvl1pPr>
              <a:defRPr sz="1650" b="0">
                <a:solidFill>
                  <a:srgbClr val="F2EFE7"/>
                </a:solidFill>
                <a:latin typeface="Arial"/>
                <a:ea typeface="Arial"/>
                <a:cs typeface="Arial"/>
              </a:defRPr>
            </a:lvl1pPr>
            <a:lvl2pPr>
              <a:defRPr sz="1650" b="0">
                <a:solidFill>
                  <a:srgbClr val="F2EFE7"/>
                </a:solidFill>
                <a:latin typeface="Arial"/>
                <a:ea typeface="Arial"/>
                <a:cs typeface="Arial"/>
              </a:defRPr>
            </a:lvl2pPr>
            <a:lvl3pPr>
              <a:defRPr sz="1650" b="0">
                <a:solidFill>
                  <a:srgbClr val="F2EFE7"/>
                </a:solidFill>
                <a:latin typeface="Arial"/>
                <a:ea typeface="Arial"/>
                <a:cs typeface="Arial"/>
              </a:defRPr>
            </a:lvl3pPr>
            <a:lvl4pPr>
              <a:defRPr sz="1650" b="0">
                <a:solidFill>
                  <a:srgbClr val="F2EFE7"/>
                </a:solidFill>
                <a:latin typeface="Arial"/>
                <a:ea typeface="Arial"/>
                <a:cs typeface="Arial"/>
              </a:defRPr>
            </a:lvl4pPr>
            <a:lvl5pPr>
              <a:defRPr sz="1650" b="0">
                <a:solidFill>
                  <a:srgbClr val="F2EFE7"/>
                </a:solidFill>
                <a:latin typeface="Arial"/>
                <a:ea typeface="Arial"/>
                <a:cs typeface="Arial"/>
              </a:defRPr>
            </a:lvl5pPr>
            <a:lvl6pPr>
              <a:defRPr sz="1650" b="0">
                <a:solidFill>
                  <a:srgbClr val="F2EFE7"/>
                </a:solidFill>
                <a:latin typeface="Arial"/>
                <a:ea typeface="Arial"/>
                <a:cs typeface="Arial"/>
              </a:defRPr>
            </a:lvl6pPr>
            <a:lvl7pPr>
              <a:defRPr sz="1650" b="0">
                <a:solidFill>
                  <a:srgbClr val="F2EFE7"/>
                </a:solidFill>
                <a:latin typeface="Arial"/>
                <a:ea typeface="Arial"/>
                <a:cs typeface="Arial"/>
              </a:defRPr>
            </a:lvl7pPr>
            <a:lvl8pPr>
              <a:defRPr sz="1650" b="0">
                <a:solidFill>
                  <a:srgbClr val="F2EFE7"/>
                </a:solidFill>
                <a:latin typeface="Arial"/>
                <a:ea typeface="Arial"/>
                <a:cs typeface="Arial"/>
              </a:defRPr>
            </a:lvl8pPr>
            <a:lvl9pPr>
              <a:defRPr sz="1650" b="0">
                <a:solidFill>
                  <a:srgbClr val="F2EFE7"/>
                </a:solidFill>
                <a:latin typeface="Arial"/>
                <a:ea typeface="Arial"/>
                <a:cs typeface="Arial"/>
              </a:defRPr>
            </a:lvl9pPr>
          </a:lstStyle>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Case D</a:t>
            </a:r>
          </a:p>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Stolen bearer token is replayed from outside the network-quarantined Pod.</a:t>
            </a:r>
          </a:p>
        </p:txBody>
      </p:sp>
      <p:sp>
        <p:nvSpPr>
          <p:cNvPr id="7" name="WRITE ON PAGE 7: Revise your Q-level / action or">
            <a:extLst xmlns:a="http://schemas.openxmlformats.org/drawingml/2006/main">
              <a:ext uri="{FF2B5EF4-FFF2-40B4-BE49-F238E27FC236}">
                <a16:creationId xmlns:a16="http://schemas.microsoft.com/office/drawing/2014/main" id="{858CC661-0E1B-480F-9508-35E7F1417EED}"/>
              </a:ext>
            </a:extLst>
          </p:cNvPr>
          <p:cNvSpPr>
            <a:spLocks xmlns:a="http://schemas.openxmlformats.org/drawingml/2006/main" noGrp="1"/>
          </p:cNvSpPr>
          <p:nvPr/>
        </p:nvSpPr>
        <p:spPr>
          <a:xfrm xmlns:a="http://schemas.openxmlformats.org/drawingml/2006/main">
            <a:off x="609600" y="5353050"/>
            <a:ext cx="10953750" cy="704850"/>
          </a:xfrm>
          <a:prstGeom xmlns:a="http://schemas.openxmlformats.org/drawingml/2006/main" prst="rect">
            <a:avLst/>
          </a:prstGeom>
          <a:solidFill xmlns:a="http://schemas.openxmlformats.org/drawingml/2006/main">
            <a:srgbClr val="F2EFE7"/>
          </a:solidFill>
          <a:ln xmlns:a="http://schemas.openxmlformats.org/drawingml/2006/main" w="19050">
            <a:solidFill>
              <a:srgbClr val="FF795B"/>
            </a:solidFill>
          </a:ln>
        </p:spPr>
        <p:txBody>
          <a:bodyPr xmlns:a="http://schemas.openxmlformats.org/drawingml/2006/main"/>
          <a:lstStyle xmlns:a="http://schemas.openxmlformats.org/drawingml/2006/main">
            <a:defPPr>
              <a:defRPr sz="1650" b="1">
                <a:solidFill>
                  <a:srgbClr val="0B1822"/>
                </a:solidFill>
                <a:latin typeface="Arial"/>
                <a:ea typeface="Arial"/>
                <a:cs typeface="Arial"/>
              </a:defRPr>
            </a:defPPr>
            <a:lvl1pPr>
              <a:defRPr sz="1650" b="1">
                <a:solidFill>
                  <a:srgbClr val="0B1822"/>
                </a:solidFill>
                <a:latin typeface="Arial"/>
                <a:ea typeface="Arial"/>
                <a:cs typeface="Arial"/>
              </a:defRPr>
            </a:lvl1pPr>
            <a:lvl2pPr>
              <a:defRPr sz="1650" b="1">
                <a:solidFill>
                  <a:srgbClr val="0B1822"/>
                </a:solidFill>
                <a:latin typeface="Arial"/>
                <a:ea typeface="Arial"/>
                <a:cs typeface="Arial"/>
              </a:defRPr>
            </a:lvl2pPr>
            <a:lvl3pPr>
              <a:defRPr sz="1650" b="1">
                <a:solidFill>
                  <a:srgbClr val="0B1822"/>
                </a:solidFill>
                <a:latin typeface="Arial"/>
                <a:ea typeface="Arial"/>
                <a:cs typeface="Arial"/>
              </a:defRPr>
            </a:lvl3pPr>
            <a:lvl4pPr>
              <a:defRPr sz="1650" b="1">
                <a:solidFill>
                  <a:srgbClr val="0B1822"/>
                </a:solidFill>
                <a:latin typeface="Arial"/>
                <a:ea typeface="Arial"/>
                <a:cs typeface="Arial"/>
              </a:defRPr>
            </a:lvl4pPr>
            <a:lvl5pPr>
              <a:defRPr sz="1650" b="1">
                <a:solidFill>
                  <a:srgbClr val="0B1822"/>
                </a:solidFill>
                <a:latin typeface="Arial"/>
                <a:ea typeface="Arial"/>
                <a:cs typeface="Arial"/>
              </a:defRPr>
            </a:lvl5pPr>
            <a:lvl6pPr>
              <a:defRPr sz="1650" b="1">
                <a:solidFill>
                  <a:srgbClr val="0B1822"/>
                </a:solidFill>
                <a:latin typeface="Arial"/>
                <a:ea typeface="Arial"/>
                <a:cs typeface="Arial"/>
              </a:defRPr>
            </a:lvl6pPr>
            <a:lvl7pPr>
              <a:defRPr sz="1650" b="1">
                <a:solidFill>
                  <a:srgbClr val="0B1822"/>
                </a:solidFill>
                <a:latin typeface="Arial"/>
                <a:ea typeface="Arial"/>
                <a:cs typeface="Arial"/>
              </a:defRPr>
            </a:lvl7pPr>
            <a:lvl8pPr>
              <a:defRPr sz="1650" b="1">
                <a:solidFill>
                  <a:srgbClr val="0B1822"/>
                </a:solidFill>
                <a:latin typeface="Arial"/>
                <a:ea typeface="Arial"/>
                <a:cs typeface="Arial"/>
              </a:defRPr>
            </a:lvl8pPr>
            <a:lvl9pPr>
              <a:defRPr sz="1650" b="1">
                <a:solidFill>
                  <a:srgbClr val="0B1822"/>
                </a:solidFill>
                <a:latin typeface="Arial"/>
                <a:ea typeface="Arial"/>
                <a:cs typeface="Arial"/>
              </a:defRPr>
            </a:lvl9pPr>
          </a:lstStyle>
          <a:p xmlns:a="http://schemas.openxmlformats.org/drawingml/2006/main">
            <a:pPr>
              <a:defRPr sz="1650" b="1">
                <a:solidFill>
                  <a:srgbClr val="0B1822"/>
                </a:solidFill>
                <a:latin typeface="Arial"/>
                <a:ea typeface="Arial"/>
                <a:cs typeface="Arial"/>
              </a:defRPr>
            </a:pPr>
            <a:r>
              <a:rPr sz="1650" b="1">
                <a:solidFill>
                  <a:srgbClr val="0B1822"/>
                </a:solidFill>
                <a:latin typeface="Arial"/>
                <a:ea typeface="Arial"/>
                <a:cs typeface="Arial"/>
              </a:rPr>
              <a:t>WRITE ON PAGE 7: Revise your Q-level / action order OR defend holding—and underline the new fact.</a:t>
            </a:r>
          </a:p>
        </p:txBody>
      </p:sp>
      <p:sp>
        <p:nvSpPr>
          <p:cNvPr id="8" name="ISC2 SECURITY CONGRESS 2026 / SC2632">
            <a:extLst xmlns:a="http://schemas.openxmlformats.org/drawingml/2006/main">
              <a:ext uri="{FF2B5EF4-FFF2-40B4-BE49-F238E27FC236}">
                <a16:creationId xmlns:a16="http://schemas.microsoft.com/office/drawing/2014/main" id="{B1B29AA3-A624-4A99-BF54-8AADC3E36D9B}"/>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vl1pPr>
              <a:defRPr sz="900" b="0">
                <a:solidFill>
                  <a:srgbClr val="8498A5"/>
                </a:solidFill>
                <a:latin typeface="Arial"/>
                <a:ea typeface="Arial"/>
                <a:cs typeface="Arial"/>
              </a:defRPr>
            </a:lvl1pPr>
            <a:lvl2pPr>
              <a:defRPr sz="900" b="0">
                <a:solidFill>
                  <a:srgbClr val="8498A5"/>
                </a:solidFill>
                <a:latin typeface="Arial"/>
                <a:ea typeface="Arial"/>
                <a:cs typeface="Arial"/>
              </a:defRPr>
            </a:lvl2pPr>
            <a:lvl3pPr>
              <a:defRPr sz="900" b="0">
                <a:solidFill>
                  <a:srgbClr val="8498A5"/>
                </a:solidFill>
                <a:latin typeface="Arial"/>
                <a:ea typeface="Arial"/>
                <a:cs typeface="Arial"/>
              </a:defRPr>
            </a:lvl3pPr>
            <a:lvl4pPr>
              <a:defRPr sz="900" b="0">
                <a:solidFill>
                  <a:srgbClr val="8498A5"/>
                </a:solidFill>
                <a:latin typeface="Arial"/>
                <a:ea typeface="Arial"/>
                <a:cs typeface="Arial"/>
              </a:defRPr>
            </a:lvl4pPr>
            <a:lvl5pPr>
              <a:defRPr sz="900" b="0">
                <a:solidFill>
                  <a:srgbClr val="8498A5"/>
                </a:solidFill>
                <a:latin typeface="Arial"/>
                <a:ea typeface="Arial"/>
                <a:cs typeface="Arial"/>
              </a:defRPr>
            </a:lvl5pPr>
            <a:lvl6pPr>
              <a:defRPr sz="900" b="0">
                <a:solidFill>
                  <a:srgbClr val="8498A5"/>
                </a:solidFill>
                <a:latin typeface="Arial"/>
                <a:ea typeface="Arial"/>
                <a:cs typeface="Arial"/>
              </a:defRPr>
            </a:lvl6pPr>
            <a:lvl7pPr>
              <a:defRPr sz="900" b="0">
                <a:solidFill>
                  <a:srgbClr val="8498A5"/>
                </a:solidFill>
                <a:latin typeface="Arial"/>
                <a:ea typeface="Arial"/>
                <a:cs typeface="Arial"/>
              </a:defRPr>
            </a:lvl7pPr>
            <a:lvl8pPr>
              <a:defRPr sz="900" b="0">
                <a:solidFill>
                  <a:srgbClr val="8498A5"/>
                </a:solidFill>
                <a:latin typeface="Arial"/>
                <a:ea typeface="Arial"/>
                <a:cs typeface="Arial"/>
              </a:defRPr>
            </a:lvl8pPr>
            <a:lvl9pPr>
              <a:defRPr sz="900" b="0">
                <a:solidFill>
                  <a:srgbClr val="8498A5"/>
                </a:solidFill>
                <a:latin typeface="Arial"/>
                <a:ea typeface="Arial"/>
                <a:cs typeface="Arial"/>
              </a:defRPr>
            </a:lvl9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9" name="20">
            <a:extLst xmlns:a="http://schemas.openxmlformats.org/drawingml/2006/main">
              <a:ext uri="{FF2B5EF4-FFF2-40B4-BE49-F238E27FC236}">
                <a16:creationId xmlns:a16="http://schemas.microsoft.com/office/drawing/2014/main" id="{D21A475B-7FF1-4C56-B6E1-C8FA2FD2F838}"/>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vl1pPr>
              <a:defRPr sz="1200" b="1">
                <a:solidFill>
                  <a:srgbClr val="8498A5"/>
                </a:solidFill>
                <a:latin typeface="Arial"/>
                <a:ea typeface="Arial"/>
                <a:cs typeface="Arial"/>
              </a:defRPr>
            </a:lvl1pPr>
            <a:lvl2pPr>
              <a:defRPr sz="1200" b="1">
                <a:solidFill>
                  <a:srgbClr val="8498A5"/>
                </a:solidFill>
                <a:latin typeface="Arial"/>
                <a:ea typeface="Arial"/>
                <a:cs typeface="Arial"/>
              </a:defRPr>
            </a:lvl2pPr>
            <a:lvl3pPr>
              <a:defRPr sz="1200" b="1">
                <a:solidFill>
                  <a:srgbClr val="8498A5"/>
                </a:solidFill>
                <a:latin typeface="Arial"/>
                <a:ea typeface="Arial"/>
                <a:cs typeface="Arial"/>
              </a:defRPr>
            </a:lvl3pPr>
            <a:lvl4pPr>
              <a:defRPr sz="1200" b="1">
                <a:solidFill>
                  <a:srgbClr val="8498A5"/>
                </a:solidFill>
                <a:latin typeface="Arial"/>
                <a:ea typeface="Arial"/>
                <a:cs typeface="Arial"/>
              </a:defRPr>
            </a:lvl4pPr>
            <a:lvl5pPr>
              <a:defRPr sz="1200" b="1">
                <a:solidFill>
                  <a:srgbClr val="8498A5"/>
                </a:solidFill>
                <a:latin typeface="Arial"/>
                <a:ea typeface="Arial"/>
                <a:cs typeface="Arial"/>
              </a:defRPr>
            </a:lvl5pPr>
            <a:lvl6pPr>
              <a:defRPr sz="1200" b="1">
                <a:solidFill>
                  <a:srgbClr val="8498A5"/>
                </a:solidFill>
                <a:latin typeface="Arial"/>
                <a:ea typeface="Arial"/>
                <a:cs typeface="Arial"/>
              </a:defRPr>
            </a:lvl6pPr>
            <a:lvl7pPr>
              <a:defRPr sz="1200" b="1">
                <a:solidFill>
                  <a:srgbClr val="8498A5"/>
                </a:solidFill>
                <a:latin typeface="Arial"/>
                <a:ea typeface="Arial"/>
                <a:cs typeface="Arial"/>
              </a:defRPr>
            </a:lvl7pPr>
            <a:lvl8pPr>
              <a:defRPr sz="1200" b="1">
                <a:solidFill>
                  <a:srgbClr val="8498A5"/>
                </a:solidFill>
                <a:latin typeface="Arial"/>
                <a:ea typeface="Arial"/>
                <a:cs typeface="Arial"/>
              </a:defRPr>
            </a:lvl8pPr>
            <a:lvl9pPr>
              <a:defRPr sz="1200" b="1">
                <a:solidFill>
                  <a:srgbClr val="8498A5"/>
                </a:solidFill>
                <a:latin typeface="Arial"/>
                <a:ea typeface="Arial"/>
                <a:cs typeface="Arial"/>
              </a:defRPr>
            </a:lvl9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20</a:t>
            </a:r>
          </a:p>
        </p:txBody>
      </p:sp>
    </p:spTree>
    <p:extLst>
      <p:ext uri="{BB962C8B-B14F-4D97-AF65-F5344CB8AC3E}">
        <p14:creationId xmlns:p14="http://schemas.microsoft.com/office/powerpoint/2010/main" val="2121522443"/>
      </p:ext>
    </p:extLst>
  </p:cSld>
</p:sld>
</file>

<file path=ppt/slides/slide21.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sp>
        <p:nvSpPr>
          <p:cNvPr id="10" name="38–44 MINUTES / FOUR KUBERNETES CONTAINMENT TRAP">
            <a:extLst xmlns:a="http://schemas.openxmlformats.org/drawingml/2006/main">
              <a:ext uri="{FF2B5EF4-FFF2-40B4-BE49-F238E27FC236}">
                <a16:creationId xmlns:a16="http://schemas.microsoft.com/office/drawing/2014/main" id="{A20ED562-F641-4EA6-AE01-B2993C854CD4}"/>
              </a:ext>
            </a:extLst>
          </p:cNvPr>
          <p:cNvSpPr>
            <a:spLocks xmlns:a="http://schemas.openxmlformats.org/drawingml/2006/main" noGrp="1"/>
          </p:cNvSpPr>
          <p:nvPr/>
        </p:nvSpPr>
        <p:spPr>
          <a:xfrm xmlns:a="http://schemas.openxmlformats.org/drawingml/2006/main">
            <a:off x="609600" y="4381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vl1pPr>
              <a:defRPr sz="1200" b="1">
                <a:solidFill>
                  <a:srgbClr val="25D8BD"/>
                </a:solidFill>
                <a:latin typeface="Arial"/>
                <a:ea typeface="Arial"/>
                <a:cs typeface="Arial"/>
              </a:defRPr>
            </a:lvl1pPr>
            <a:lvl2pPr>
              <a:defRPr sz="1200" b="1">
                <a:solidFill>
                  <a:srgbClr val="25D8BD"/>
                </a:solidFill>
                <a:latin typeface="Arial"/>
                <a:ea typeface="Arial"/>
                <a:cs typeface="Arial"/>
              </a:defRPr>
            </a:lvl2pPr>
            <a:lvl3pPr>
              <a:defRPr sz="1200" b="1">
                <a:solidFill>
                  <a:srgbClr val="25D8BD"/>
                </a:solidFill>
                <a:latin typeface="Arial"/>
                <a:ea typeface="Arial"/>
                <a:cs typeface="Arial"/>
              </a:defRPr>
            </a:lvl3pPr>
            <a:lvl4pPr>
              <a:defRPr sz="1200" b="1">
                <a:solidFill>
                  <a:srgbClr val="25D8BD"/>
                </a:solidFill>
                <a:latin typeface="Arial"/>
                <a:ea typeface="Arial"/>
                <a:cs typeface="Arial"/>
              </a:defRPr>
            </a:lvl4pPr>
            <a:lvl5pPr>
              <a:defRPr sz="1200" b="1">
                <a:solidFill>
                  <a:srgbClr val="25D8BD"/>
                </a:solidFill>
                <a:latin typeface="Arial"/>
                <a:ea typeface="Arial"/>
                <a:cs typeface="Arial"/>
              </a:defRPr>
            </a:lvl5pPr>
            <a:lvl6pPr>
              <a:defRPr sz="1200" b="1">
                <a:solidFill>
                  <a:srgbClr val="25D8BD"/>
                </a:solidFill>
                <a:latin typeface="Arial"/>
                <a:ea typeface="Arial"/>
                <a:cs typeface="Arial"/>
              </a:defRPr>
            </a:lvl6pPr>
            <a:lvl7pPr>
              <a:defRPr sz="1200" b="1">
                <a:solidFill>
                  <a:srgbClr val="25D8BD"/>
                </a:solidFill>
                <a:latin typeface="Arial"/>
                <a:ea typeface="Arial"/>
                <a:cs typeface="Arial"/>
              </a:defRPr>
            </a:lvl7pPr>
            <a:lvl8pPr>
              <a:defRPr sz="1200" b="1">
                <a:solidFill>
                  <a:srgbClr val="25D8BD"/>
                </a:solidFill>
                <a:latin typeface="Arial"/>
                <a:ea typeface="Arial"/>
                <a:cs typeface="Arial"/>
              </a:defRPr>
            </a:lvl8pPr>
            <a:lvl9pPr>
              <a:defRPr sz="1200" b="1">
                <a:solidFill>
                  <a:srgbClr val="25D8BD"/>
                </a:solidFill>
                <a:latin typeface="Arial"/>
                <a:ea typeface="Arial"/>
                <a:cs typeface="Arial"/>
              </a:defRPr>
            </a:lvl9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38–44 MINUTES / FOUR KUBERNETES CONTAINMENT TRAPS (PREDICT BEFORE REVEAL)</a:t>
            </a:r>
          </a:p>
        </p:txBody>
      </p:sp>
      <p:sp>
        <p:nvSpPr>
          <p:cNvPr id="2" name="Test your containment assumptions">
            <a:extLst xmlns:a="http://schemas.openxmlformats.org/drawingml/2006/main">
              <a:ext uri="{FF2B5EF4-FFF2-40B4-BE49-F238E27FC236}">
                <a16:creationId xmlns:a16="http://schemas.microsoft.com/office/drawing/2014/main" id="{621F052A-874A-4D71-A318-E6BE14846CC6}"/>
              </a:ext>
            </a:extLst>
          </p:cNvPr>
          <p:cNvSpPr>
            <a:spLocks xmlns:a="http://schemas.openxmlformats.org/drawingml/2006/main" noGrp="1"/>
          </p:cNvSpPr>
          <p:nvPr>
            <p:ph type="title" idx="0"/>
          </p:nvPr>
        </p:nvSpPr>
        <p:spPr>
          <a:xfrm xmlns:a="http://schemas.openxmlformats.org/drawingml/2006/main">
            <a:off x="609600" y="914400"/>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2EFE7"/>
                </a:solidFill>
                <a:latin typeface="Arial Black"/>
                <a:ea typeface="Arial Black"/>
                <a:cs typeface="Arial Black"/>
              </a:defRPr>
            </a:defPPr>
            <a:lvl1pPr>
              <a:defRPr sz="3450" b="1">
                <a:solidFill>
                  <a:srgbClr val="F2EFE7"/>
                </a:solidFill>
                <a:latin typeface="Arial Black"/>
                <a:ea typeface="Arial Black"/>
                <a:cs typeface="Arial Black"/>
              </a:defRPr>
            </a:lvl1pPr>
            <a:lvl2pPr>
              <a:defRPr sz="3450" b="1">
                <a:solidFill>
                  <a:srgbClr val="F2EFE7"/>
                </a:solidFill>
                <a:latin typeface="Arial Black"/>
                <a:ea typeface="Arial Black"/>
                <a:cs typeface="Arial Black"/>
              </a:defRPr>
            </a:lvl2pPr>
            <a:lvl3pPr>
              <a:defRPr sz="3450" b="1">
                <a:solidFill>
                  <a:srgbClr val="F2EFE7"/>
                </a:solidFill>
                <a:latin typeface="Arial Black"/>
                <a:ea typeface="Arial Black"/>
                <a:cs typeface="Arial Black"/>
              </a:defRPr>
            </a:lvl3pPr>
            <a:lvl4pPr>
              <a:defRPr sz="3450" b="1">
                <a:solidFill>
                  <a:srgbClr val="F2EFE7"/>
                </a:solidFill>
                <a:latin typeface="Arial Black"/>
                <a:ea typeface="Arial Black"/>
                <a:cs typeface="Arial Black"/>
              </a:defRPr>
            </a:lvl4pPr>
            <a:lvl5pPr>
              <a:defRPr sz="3450" b="1">
                <a:solidFill>
                  <a:srgbClr val="F2EFE7"/>
                </a:solidFill>
                <a:latin typeface="Arial Black"/>
                <a:ea typeface="Arial Black"/>
                <a:cs typeface="Arial Black"/>
              </a:defRPr>
            </a:lvl5pPr>
            <a:lvl6pPr>
              <a:defRPr sz="3450" b="1">
                <a:solidFill>
                  <a:srgbClr val="F2EFE7"/>
                </a:solidFill>
                <a:latin typeface="Arial Black"/>
                <a:ea typeface="Arial Black"/>
                <a:cs typeface="Arial Black"/>
              </a:defRPr>
            </a:lvl6pPr>
            <a:lvl7pPr>
              <a:defRPr sz="3450" b="1">
                <a:solidFill>
                  <a:srgbClr val="F2EFE7"/>
                </a:solidFill>
                <a:latin typeface="Arial Black"/>
                <a:ea typeface="Arial Black"/>
                <a:cs typeface="Arial Black"/>
              </a:defRPr>
            </a:lvl7pPr>
            <a:lvl8pPr>
              <a:defRPr sz="3450" b="1">
                <a:solidFill>
                  <a:srgbClr val="F2EFE7"/>
                </a:solidFill>
                <a:latin typeface="Arial Black"/>
                <a:ea typeface="Arial Black"/>
                <a:cs typeface="Arial Black"/>
              </a:defRPr>
            </a:lvl8pPr>
            <a:lvl9pPr>
              <a:defRPr sz="3450" b="1">
                <a:solidFill>
                  <a:srgbClr val="F2EFE7"/>
                </a:solidFill>
                <a:latin typeface="Arial Black"/>
                <a:ea typeface="Arial Black"/>
                <a:cs typeface="Arial Black"/>
              </a:defRPr>
            </a:lvl9pPr>
          </a:lstStyle>
          <a:p xmlns:a="http://schemas.openxmlformats.org/drawingml/2006/main">
            <a:pPr>
              <a:defRPr sz="3450" b="1">
                <a:solidFill>
                  <a:srgbClr val="F2EFE7"/>
                </a:solidFill>
                <a:latin typeface="Arial Black"/>
                <a:ea typeface="Arial Black"/>
                <a:cs typeface="Arial Black"/>
              </a:defRPr>
            </a:pPr>
            <a:r>
              <a:rPr sz="3450" b="1">
                <a:solidFill>
                  <a:srgbClr val="F2EFE7"/>
                </a:solidFill>
                <a:latin typeface="Arial Black"/>
                <a:ea typeface="Arial Black"/>
                <a:cs typeface="Arial Black"/>
              </a:rPr>
              <a:t>Test your containment assumptions</a:t>
            </a:r>
          </a:p>
        </p:txBody>
      </p:sp>
      <p:sp>
        <p:nvSpPr>
          <p:cNvPr id="3" name="TRAP 01 · NETWORK ADDITIVITY&#10;&#10;If Q2 allows DNS e">
            <a:extLst xmlns:a="http://schemas.openxmlformats.org/drawingml/2006/main">
              <a:ext uri="{FF2B5EF4-FFF2-40B4-BE49-F238E27FC236}">
                <a16:creationId xmlns:a16="http://schemas.microsoft.com/office/drawing/2014/main" id="{FC0AC020-827A-4036-B0AF-D21A2E2E3B20}"/>
              </a:ext>
            </a:extLst>
          </p:cNvPr>
          <p:cNvSpPr>
            <a:spLocks xmlns:a="http://schemas.openxmlformats.org/drawingml/2006/main" noGrp="1"/>
          </p:cNvSpPr>
          <p:nvPr/>
        </p:nvSpPr>
        <p:spPr>
          <a:xfrm xmlns:a="http://schemas.openxmlformats.org/drawingml/2006/main">
            <a:off x="609600" y="1866900"/>
            <a:ext cx="5353050" cy="14668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575" b="0">
                <a:solidFill>
                  <a:srgbClr val="F2EFE7"/>
                </a:solidFill>
                <a:latin typeface="Arial"/>
                <a:ea typeface="Arial"/>
                <a:cs typeface="Arial"/>
              </a:defRPr>
            </a:defPPr>
            <a:lvl1pPr>
              <a:defRPr sz="1575" b="0">
                <a:solidFill>
                  <a:srgbClr val="F2EFE7"/>
                </a:solidFill>
                <a:latin typeface="Arial"/>
                <a:ea typeface="Arial"/>
                <a:cs typeface="Arial"/>
              </a:defRPr>
            </a:lvl1pPr>
            <a:lvl2pPr>
              <a:defRPr sz="1575" b="0">
                <a:solidFill>
                  <a:srgbClr val="F2EFE7"/>
                </a:solidFill>
                <a:latin typeface="Arial"/>
                <a:ea typeface="Arial"/>
                <a:cs typeface="Arial"/>
              </a:defRPr>
            </a:lvl2pPr>
            <a:lvl3pPr>
              <a:defRPr sz="1575" b="0">
                <a:solidFill>
                  <a:srgbClr val="F2EFE7"/>
                </a:solidFill>
                <a:latin typeface="Arial"/>
                <a:ea typeface="Arial"/>
                <a:cs typeface="Arial"/>
              </a:defRPr>
            </a:lvl3pPr>
            <a:lvl4pPr>
              <a:defRPr sz="1575" b="0">
                <a:solidFill>
                  <a:srgbClr val="F2EFE7"/>
                </a:solidFill>
                <a:latin typeface="Arial"/>
                <a:ea typeface="Arial"/>
                <a:cs typeface="Arial"/>
              </a:defRPr>
            </a:lvl4pPr>
            <a:lvl5pPr>
              <a:defRPr sz="1575" b="0">
                <a:solidFill>
                  <a:srgbClr val="F2EFE7"/>
                </a:solidFill>
                <a:latin typeface="Arial"/>
                <a:ea typeface="Arial"/>
                <a:cs typeface="Arial"/>
              </a:defRPr>
            </a:lvl5pPr>
            <a:lvl6pPr>
              <a:defRPr sz="1575" b="0">
                <a:solidFill>
                  <a:srgbClr val="F2EFE7"/>
                </a:solidFill>
                <a:latin typeface="Arial"/>
                <a:ea typeface="Arial"/>
                <a:cs typeface="Arial"/>
              </a:defRPr>
            </a:lvl6pPr>
            <a:lvl7pPr>
              <a:defRPr sz="1575" b="0">
                <a:solidFill>
                  <a:srgbClr val="F2EFE7"/>
                </a:solidFill>
                <a:latin typeface="Arial"/>
                <a:ea typeface="Arial"/>
                <a:cs typeface="Arial"/>
              </a:defRPr>
            </a:lvl7pPr>
            <a:lvl8pPr>
              <a:defRPr sz="1575" b="0">
                <a:solidFill>
                  <a:srgbClr val="F2EFE7"/>
                </a:solidFill>
                <a:latin typeface="Arial"/>
                <a:ea typeface="Arial"/>
                <a:cs typeface="Arial"/>
              </a:defRPr>
            </a:lvl8pPr>
            <a:lvl9pPr>
              <a:defRPr sz="1575" b="0">
                <a:solidFill>
                  <a:srgbClr val="F2EFE7"/>
                </a:solidFill>
                <a:latin typeface="Arial"/>
                <a:ea typeface="Arial"/>
                <a:cs typeface="Arial"/>
              </a:defRPr>
            </a:lvl9pPr>
          </a:lstStyle>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TRAP 01 · NETWORK ADDITIVITY</a:t>
            </a:r>
          </a:p>
          <a:p xmlns:a="http://schemas.openxmlformats.org/drawingml/2006/main">
            <a:r>
              <a:t/>
            </a:r>
          </a:p>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If Q2 allows DNS egress and you apply a new deny-all NetworkPolicy, does DNS stop?</a:t>
            </a:r>
          </a:p>
        </p:txBody>
      </p:sp>
      <p:sp>
        <p:nvSpPr>
          <p:cNvPr id="4" name="TRAP 02 · PDB + REPLACEMENT CAPACITY&#10;&#10;With 3 Rea">
            <a:extLst xmlns:a="http://schemas.openxmlformats.org/drawingml/2006/main">
              <a:ext uri="{FF2B5EF4-FFF2-40B4-BE49-F238E27FC236}">
                <a16:creationId xmlns:a16="http://schemas.microsoft.com/office/drawing/2014/main" id="{0ECA2CCC-99D2-448C-8043-758CD5DA1B86}"/>
              </a:ext>
            </a:extLst>
          </p:cNvPr>
          <p:cNvSpPr>
            <a:spLocks xmlns:a="http://schemas.openxmlformats.org/drawingml/2006/main" noGrp="1"/>
          </p:cNvSpPr>
          <p:nvPr/>
        </p:nvSpPr>
        <p:spPr>
          <a:xfrm xmlns:a="http://schemas.openxmlformats.org/drawingml/2006/main">
            <a:off x="6210300" y="1866900"/>
            <a:ext cx="5353050" cy="14668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575" b="0">
                <a:solidFill>
                  <a:srgbClr val="F2EFE7"/>
                </a:solidFill>
                <a:latin typeface="Arial"/>
                <a:ea typeface="Arial"/>
                <a:cs typeface="Arial"/>
              </a:defRPr>
            </a:defPPr>
            <a:lvl1pPr>
              <a:defRPr sz="1575" b="0">
                <a:solidFill>
                  <a:srgbClr val="F2EFE7"/>
                </a:solidFill>
                <a:latin typeface="Arial"/>
                <a:ea typeface="Arial"/>
                <a:cs typeface="Arial"/>
              </a:defRPr>
            </a:lvl1pPr>
            <a:lvl2pPr>
              <a:defRPr sz="1575" b="0">
                <a:solidFill>
                  <a:srgbClr val="F2EFE7"/>
                </a:solidFill>
                <a:latin typeface="Arial"/>
                <a:ea typeface="Arial"/>
                <a:cs typeface="Arial"/>
              </a:defRPr>
            </a:lvl2pPr>
            <a:lvl3pPr>
              <a:defRPr sz="1575" b="0">
                <a:solidFill>
                  <a:srgbClr val="F2EFE7"/>
                </a:solidFill>
                <a:latin typeface="Arial"/>
                <a:ea typeface="Arial"/>
                <a:cs typeface="Arial"/>
              </a:defRPr>
            </a:lvl3pPr>
            <a:lvl4pPr>
              <a:defRPr sz="1575" b="0">
                <a:solidFill>
                  <a:srgbClr val="F2EFE7"/>
                </a:solidFill>
                <a:latin typeface="Arial"/>
                <a:ea typeface="Arial"/>
                <a:cs typeface="Arial"/>
              </a:defRPr>
            </a:lvl4pPr>
            <a:lvl5pPr>
              <a:defRPr sz="1575" b="0">
                <a:solidFill>
                  <a:srgbClr val="F2EFE7"/>
                </a:solidFill>
                <a:latin typeface="Arial"/>
                <a:ea typeface="Arial"/>
                <a:cs typeface="Arial"/>
              </a:defRPr>
            </a:lvl5pPr>
            <a:lvl6pPr>
              <a:defRPr sz="1575" b="0">
                <a:solidFill>
                  <a:srgbClr val="F2EFE7"/>
                </a:solidFill>
                <a:latin typeface="Arial"/>
                <a:ea typeface="Arial"/>
                <a:cs typeface="Arial"/>
              </a:defRPr>
            </a:lvl6pPr>
            <a:lvl7pPr>
              <a:defRPr sz="1575" b="0">
                <a:solidFill>
                  <a:srgbClr val="F2EFE7"/>
                </a:solidFill>
                <a:latin typeface="Arial"/>
                <a:ea typeface="Arial"/>
                <a:cs typeface="Arial"/>
              </a:defRPr>
            </a:lvl7pPr>
            <a:lvl8pPr>
              <a:defRPr sz="1575" b="0">
                <a:solidFill>
                  <a:srgbClr val="F2EFE7"/>
                </a:solidFill>
                <a:latin typeface="Arial"/>
                <a:ea typeface="Arial"/>
                <a:cs typeface="Arial"/>
              </a:defRPr>
            </a:lvl8pPr>
            <a:lvl9pPr>
              <a:defRPr sz="1575" b="0">
                <a:solidFill>
                  <a:srgbClr val="F2EFE7"/>
                </a:solidFill>
                <a:latin typeface="Arial"/>
                <a:ea typeface="Arial"/>
                <a:cs typeface="Arial"/>
              </a:defRPr>
            </a:lvl9pPr>
          </a:lstStyle>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TRAP 02 · PDB + REPLACEMENT CAPACITY</a:t>
            </a:r>
          </a:p>
          <a:p xmlns:a="http://schemas.openxmlformats.org/drawingml/2006/main">
            <a:r>
              <a:t/>
            </a:r>
          </a:p>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With 3 Ready Pods, 2 suspects, minAvailable=2, and Q3 blocking replacements, is a second voluntary eviction allowed?</a:t>
            </a:r>
          </a:p>
        </p:txBody>
      </p:sp>
      <p:sp>
        <p:nvSpPr>
          <p:cNvPr id="5" name="TRAP 03 · EPHEMERAL SUBRESOURCE&#10;&#10;If your policy ">
            <a:extLst xmlns:a="http://schemas.openxmlformats.org/drawingml/2006/main">
              <a:ext uri="{FF2B5EF4-FFF2-40B4-BE49-F238E27FC236}">
                <a16:creationId xmlns:a16="http://schemas.microsoft.com/office/drawing/2014/main" id="{D96176B2-5243-4E97-90E2-9D24239DE92D}"/>
              </a:ext>
            </a:extLst>
          </p:cNvPr>
          <p:cNvSpPr>
            <a:spLocks xmlns:a="http://schemas.openxmlformats.org/drawingml/2006/main" noGrp="1"/>
          </p:cNvSpPr>
          <p:nvPr/>
        </p:nvSpPr>
        <p:spPr>
          <a:xfrm xmlns:a="http://schemas.openxmlformats.org/drawingml/2006/main">
            <a:off x="609600" y="3524250"/>
            <a:ext cx="5353050" cy="14668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575" b="0">
                <a:solidFill>
                  <a:srgbClr val="F2EFE7"/>
                </a:solidFill>
                <a:latin typeface="Arial"/>
                <a:ea typeface="Arial"/>
                <a:cs typeface="Arial"/>
              </a:defRPr>
            </a:defPPr>
            <a:lvl1pPr>
              <a:defRPr sz="1575" b="0">
                <a:solidFill>
                  <a:srgbClr val="F2EFE7"/>
                </a:solidFill>
                <a:latin typeface="Arial"/>
                <a:ea typeface="Arial"/>
                <a:cs typeface="Arial"/>
              </a:defRPr>
            </a:lvl1pPr>
            <a:lvl2pPr>
              <a:defRPr sz="1575" b="0">
                <a:solidFill>
                  <a:srgbClr val="F2EFE7"/>
                </a:solidFill>
                <a:latin typeface="Arial"/>
                <a:ea typeface="Arial"/>
                <a:cs typeface="Arial"/>
              </a:defRPr>
            </a:lvl2pPr>
            <a:lvl3pPr>
              <a:defRPr sz="1575" b="0">
                <a:solidFill>
                  <a:srgbClr val="F2EFE7"/>
                </a:solidFill>
                <a:latin typeface="Arial"/>
                <a:ea typeface="Arial"/>
                <a:cs typeface="Arial"/>
              </a:defRPr>
            </a:lvl3pPr>
            <a:lvl4pPr>
              <a:defRPr sz="1575" b="0">
                <a:solidFill>
                  <a:srgbClr val="F2EFE7"/>
                </a:solidFill>
                <a:latin typeface="Arial"/>
                <a:ea typeface="Arial"/>
                <a:cs typeface="Arial"/>
              </a:defRPr>
            </a:lvl4pPr>
            <a:lvl5pPr>
              <a:defRPr sz="1575" b="0">
                <a:solidFill>
                  <a:srgbClr val="F2EFE7"/>
                </a:solidFill>
                <a:latin typeface="Arial"/>
                <a:ea typeface="Arial"/>
                <a:cs typeface="Arial"/>
              </a:defRPr>
            </a:lvl5pPr>
            <a:lvl6pPr>
              <a:defRPr sz="1575" b="0">
                <a:solidFill>
                  <a:srgbClr val="F2EFE7"/>
                </a:solidFill>
                <a:latin typeface="Arial"/>
                <a:ea typeface="Arial"/>
                <a:cs typeface="Arial"/>
              </a:defRPr>
            </a:lvl6pPr>
            <a:lvl7pPr>
              <a:defRPr sz="1575" b="0">
                <a:solidFill>
                  <a:srgbClr val="F2EFE7"/>
                </a:solidFill>
                <a:latin typeface="Arial"/>
                <a:ea typeface="Arial"/>
                <a:cs typeface="Arial"/>
              </a:defRPr>
            </a:lvl7pPr>
            <a:lvl8pPr>
              <a:defRPr sz="1575" b="0">
                <a:solidFill>
                  <a:srgbClr val="F2EFE7"/>
                </a:solidFill>
                <a:latin typeface="Arial"/>
                <a:ea typeface="Arial"/>
                <a:cs typeface="Arial"/>
              </a:defRPr>
            </a:lvl8pPr>
            <a:lvl9pPr>
              <a:defRPr sz="1575" b="0">
                <a:solidFill>
                  <a:srgbClr val="F2EFE7"/>
                </a:solidFill>
                <a:latin typeface="Arial"/>
                <a:ea typeface="Arial"/>
                <a:cs typeface="Arial"/>
              </a:defRPr>
            </a:lvl9pPr>
          </a:lstStyle>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TRAP 03 · EPHEMERAL SUBRESOURCE</a:t>
            </a:r>
          </a:p>
          <a:p xmlns:a="http://schemas.openxmlformats.org/drawingml/2006/main">
            <a:r>
              <a:t/>
            </a:r>
          </a:p>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If your policy blocks unapproved images on Pods, does kubectl debug still attach?</a:t>
            </a:r>
          </a:p>
        </p:txBody>
      </p:sp>
      <p:sp>
        <p:nvSpPr>
          <p:cNvPr id="6" name="TRAP 04 · UNGUARDED POLICY ENGINE&#10;&#10;If an agent h">
            <a:extLst xmlns:a="http://schemas.openxmlformats.org/drawingml/2006/main">
              <a:ext uri="{FF2B5EF4-FFF2-40B4-BE49-F238E27FC236}">
                <a16:creationId xmlns:a16="http://schemas.microsoft.com/office/drawing/2014/main" id="{A40E2B8A-ED2E-4AAF-B37F-ECDF7351E750}"/>
              </a:ext>
            </a:extLst>
          </p:cNvPr>
          <p:cNvSpPr>
            <a:spLocks xmlns:a="http://schemas.openxmlformats.org/drawingml/2006/main" noGrp="1"/>
          </p:cNvSpPr>
          <p:nvPr/>
        </p:nvSpPr>
        <p:spPr>
          <a:xfrm xmlns:a="http://schemas.openxmlformats.org/drawingml/2006/main">
            <a:off x="6210300" y="3524250"/>
            <a:ext cx="5353050" cy="14668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575" b="0">
                <a:solidFill>
                  <a:srgbClr val="F2EFE7"/>
                </a:solidFill>
                <a:latin typeface="Arial"/>
                <a:ea typeface="Arial"/>
                <a:cs typeface="Arial"/>
              </a:defRPr>
            </a:defPPr>
            <a:lvl1pPr>
              <a:defRPr sz="1575" b="0">
                <a:solidFill>
                  <a:srgbClr val="F2EFE7"/>
                </a:solidFill>
                <a:latin typeface="Arial"/>
                <a:ea typeface="Arial"/>
                <a:cs typeface="Arial"/>
              </a:defRPr>
            </a:lvl1pPr>
            <a:lvl2pPr>
              <a:defRPr sz="1575" b="0">
                <a:solidFill>
                  <a:srgbClr val="F2EFE7"/>
                </a:solidFill>
                <a:latin typeface="Arial"/>
                <a:ea typeface="Arial"/>
                <a:cs typeface="Arial"/>
              </a:defRPr>
            </a:lvl2pPr>
            <a:lvl3pPr>
              <a:defRPr sz="1575" b="0">
                <a:solidFill>
                  <a:srgbClr val="F2EFE7"/>
                </a:solidFill>
                <a:latin typeface="Arial"/>
                <a:ea typeface="Arial"/>
                <a:cs typeface="Arial"/>
              </a:defRPr>
            </a:lvl3pPr>
            <a:lvl4pPr>
              <a:defRPr sz="1575" b="0">
                <a:solidFill>
                  <a:srgbClr val="F2EFE7"/>
                </a:solidFill>
                <a:latin typeface="Arial"/>
                <a:ea typeface="Arial"/>
                <a:cs typeface="Arial"/>
              </a:defRPr>
            </a:lvl4pPr>
            <a:lvl5pPr>
              <a:defRPr sz="1575" b="0">
                <a:solidFill>
                  <a:srgbClr val="F2EFE7"/>
                </a:solidFill>
                <a:latin typeface="Arial"/>
                <a:ea typeface="Arial"/>
                <a:cs typeface="Arial"/>
              </a:defRPr>
            </a:lvl5pPr>
            <a:lvl6pPr>
              <a:defRPr sz="1575" b="0">
                <a:solidFill>
                  <a:srgbClr val="F2EFE7"/>
                </a:solidFill>
                <a:latin typeface="Arial"/>
                <a:ea typeface="Arial"/>
                <a:cs typeface="Arial"/>
              </a:defRPr>
            </a:lvl6pPr>
            <a:lvl7pPr>
              <a:defRPr sz="1575" b="0">
                <a:solidFill>
                  <a:srgbClr val="F2EFE7"/>
                </a:solidFill>
                <a:latin typeface="Arial"/>
                <a:ea typeface="Arial"/>
                <a:cs typeface="Arial"/>
              </a:defRPr>
            </a:lvl7pPr>
            <a:lvl8pPr>
              <a:defRPr sz="1575" b="0">
                <a:solidFill>
                  <a:srgbClr val="F2EFE7"/>
                </a:solidFill>
                <a:latin typeface="Arial"/>
                <a:ea typeface="Arial"/>
                <a:cs typeface="Arial"/>
              </a:defRPr>
            </a:lvl8pPr>
            <a:lvl9pPr>
              <a:defRPr sz="1575" b="0">
                <a:solidFill>
                  <a:srgbClr val="F2EFE7"/>
                </a:solidFill>
                <a:latin typeface="Arial"/>
                <a:ea typeface="Arial"/>
                <a:cs typeface="Arial"/>
              </a:defRPr>
            </a:lvl9pPr>
          </a:lstStyle>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TRAP 04 · UNGUARDED POLICY ENGINE</a:t>
            </a:r>
          </a:p>
          <a:p xmlns:a="http://schemas.openxmlformats.org/drawingml/2006/main">
            <a:r>
              <a:t/>
            </a:r>
          </a:p>
          <a:p xmlns:a="http://schemas.openxmlformats.org/drawingml/2006/main">
            <a:pPr>
              <a:defRPr sz="1575" b="0">
                <a:solidFill>
                  <a:srgbClr val="F2EFE7"/>
                </a:solidFill>
                <a:latin typeface="Arial"/>
                <a:ea typeface="Arial"/>
                <a:cs typeface="Arial"/>
              </a:defRPr>
            </a:pPr>
            <a:r>
              <a:rPr sz="1575" b="0">
                <a:solidFill>
                  <a:srgbClr val="F2EFE7"/>
                </a:solidFill>
                <a:latin typeface="Arial"/>
                <a:ea typeface="Arial"/>
                <a:cs typeface="Arial"/>
              </a:rPr>
              <a:t>If an agent has Deployment scale permissions, what happens to Kyverno webhooks?</a:t>
            </a:r>
          </a:p>
        </p:txBody>
      </p:sp>
      <p:sp>
        <p:nvSpPr>
          <p:cNvPr id="7" name="Predicted in your plan? Let’s check the four rec">
            <a:extLst xmlns:a="http://schemas.openxmlformats.org/drawingml/2006/main">
              <a:ext uri="{FF2B5EF4-FFF2-40B4-BE49-F238E27FC236}">
                <a16:creationId xmlns:a16="http://schemas.microsoft.com/office/drawing/2014/main" id="{D8FD9C90-5852-4873-A40D-BC3DEF3CBAE1}"/>
              </a:ext>
            </a:extLst>
          </p:cNvPr>
          <p:cNvSpPr>
            <a:spLocks xmlns:a="http://schemas.openxmlformats.org/drawingml/2006/main" noGrp="1"/>
          </p:cNvSpPr>
          <p:nvPr/>
        </p:nvSpPr>
        <p:spPr>
          <a:xfrm xmlns:a="http://schemas.openxmlformats.org/drawingml/2006/main">
            <a:off x="609600" y="5353050"/>
            <a:ext cx="10953750" cy="704850"/>
          </a:xfrm>
          <a:prstGeom xmlns:a="http://schemas.openxmlformats.org/drawingml/2006/main" prst="rect">
            <a:avLst/>
          </a:prstGeom>
          <a:solidFill xmlns:a="http://schemas.openxmlformats.org/drawingml/2006/main">
            <a:srgbClr val="F2EFE7"/>
          </a:solidFill>
          <a:ln xmlns:a="http://schemas.openxmlformats.org/drawingml/2006/main" w="19050">
            <a:solidFill>
              <a:srgbClr val="25D8BD"/>
            </a:solidFill>
          </a:ln>
        </p:spPr>
        <p:txBody>
          <a:bodyPr xmlns:a="http://schemas.openxmlformats.org/drawingml/2006/main"/>
          <a:lstStyle xmlns:a="http://schemas.openxmlformats.org/drawingml/2006/main">
            <a:defPPr>
              <a:defRPr sz="1725" b="1">
                <a:solidFill>
                  <a:srgbClr val="0B1822"/>
                </a:solidFill>
                <a:latin typeface="Arial"/>
                <a:ea typeface="Arial"/>
                <a:cs typeface="Arial"/>
              </a:defRPr>
            </a:defPPr>
            <a:lvl1pPr>
              <a:defRPr sz="1725" b="1">
                <a:solidFill>
                  <a:srgbClr val="0B1822"/>
                </a:solidFill>
                <a:latin typeface="Arial"/>
                <a:ea typeface="Arial"/>
                <a:cs typeface="Arial"/>
              </a:defRPr>
            </a:lvl1pPr>
            <a:lvl2pPr>
              <a:defRPr sz="1725" b="1">
                <a:solidFill>
                  <a:srgbClr val="0B1822"/>
                </a:solidFill>
                <a:latin typeface="Arial"/>
                <a:ea typeface="Arial"/>
                <a:cs typeface="Arial"/>
              </a:defRPr>
            </a:lvl2pPr>
            <a:lvl3pPr>
              <a:defRPr sz="1725" b="1">
                <a:solidFill>
                  <a:srgbClr val="0B1822"/>
                </a:solidFill>
                <a:latin typeface="Arial"/>
                <a:ea typeface="Arial"/>
                <a:cs typeface="Arial"/>
              </a:defRPr>
            </a:lvl3pPr>
            <a:lvl4pPr>
              <a:defRPr sz="1725" b="1">
                <a:solidFill>
                  <a:srgbClr val="0B1822"/>
                </a:solidFill>
                <a:latin typeface="Arial"/>
                <a:ea typeface="Arial"/>
                <a:cs typeface="Arial"/>
              </a:defRPr>
            </a:lvl4pPr>
            <a:lvl5pPr>
              <a:defRPr sz="1725" b="1">
                <a:solidFill>
                  <a:srgbClr val="0B1822"/>
                </a:solidFill>
                <a:latin typeface="Arial"/>
                <a:ea typeface="Arial"/>
                <a:cs typeface="Arial"/>
              </a:defRPr>
            </a:lvl5pPr>
            <a:lvl6pPr>
              <a:defRPr sz="1725" b="1">
                <a:solidFill>
                  <a:srgbClr val="0B1822"/>
                </a:solidFill>
                <a:latin typeface="Arial"/>
                <a:ea typeface="Arial"/>
                <a:cs typeface="Arial"/>
              </a:defRPr>
            </a:lvl6pPr>
            <a:lvl7pPr>
              <a:defRPr sz="1725" b="1">
                <a:solidFill>
                  <a:srgbClr val="0B1822"/>
                </a:solidFill>
                <a:latin typeface="Arial"/>
                <a:ea typeface="Arial"/>
                <a:cs typeface="Arial"/>
              </a:defRPr>
            </a:lvl7pPr>
            <a:lvl8pPr>
              <a:defRPr sz="1725" b="1">
                <a:solidFill>
                  <a:srgbClr val="0B1822"/>
                </a:solidFill>
                <a:latin typeface="Arial"/>
                <a:ea typeface="Arial"/>
                <a:cs typeface="Arial"/>
              </a:defRPr>
            </a:lvl8pPr>
            <a:lvl9pPr>
              <a:defRPr sz="1725" b="1">
                <a:solidFill>
                  <a:srgbClr val="0B1822"/>
                </a:solidFill>
                <a:latin typeface="Arial"/>
                <a:ea typeface="Arial"/>
                <a:cs typeface="Arial"/>
              </a:defRPr>
            </a:lvl9pPr>
          </a:lstStyle>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Predicted in your plan? Let’s check the four recorded k3s lab runs.</a:t>
            </a:r>
          </a:p>
        </p:txBody>
      </p:sp>
      <p:sp>
        <p:nvSpPr>
          <p:cNvPr id="8" name="ISC2 SECURITY CONGRESS 2026 / SC2632">
            <a:extLst xmlns:a="http://schemas.openxmlformats.org/drawingml/2006/main">
              <a:ext uri="{FF2B5EF4-FFF2-40B4-BE49-F238E27FC236}">
                <a16:creationId xmlns:a16="http://schemas.microsoft.com/office/drawing/2014/main" id="{8103FF71-68AB-4211-8B2C-4FE41BA3F0E0}"/>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vl1pPr>
              <a:defRPr sz="900" b="0">
                <a:solidFill>
                  <a:srgbClr val="8498A5"/>
                </a:solidFill>
                <a:latin typeface="Arial"/>
                <a:ea typeface="Arial"/>
                <a:cs typeface="Arial"/>
              </a:defRPr>
            </a:lvl1pPr>
            <a:lvl2pPr>
              <a:defRPr sz="900" b="0">
                <a:solidFill>
                  <a:srgbClr val="8498A5"/>
                </a:solidFill>
                <a:latin typeface="Arial"/>
                <a:ea typeface="Arial"/>
                <a:cs typeface="Arial"/>
              </a:defRPr>
            </a:lvl2pPr>
            <a:lvl3pPr>
              <a:defRPr sz="900" b="0">
                <a:solidFill>
                  <a:srgbClr val="8498A5"/>
                </a:solidFill>
                <a:latin typeface="Arial"/>
                <a:ea typeface="Arial"/>
                <a:cs typeface="Arial"/>
              </a:defRPr>
            </a:lvl3pPr>
            <a:lvl4pPr>
              <a:defRPr sz="900" b="0">
                <a:solidFill>
                  <a:srgbClr val="8498A5"/>
                </a:solidFill>
                <a:latin typeface="Arial"/>
                <a:ea typeface="Arial"/>
                <a:cs typeface="Arial"/>
              </a:defRPr>
            </a:lvl4pPr>
            <a:lvl5pPr>
              <a:defRPr sz="900" b="0">
                <a:solidFill>
                  <a:srgbClr val="8498A5"/>
                </a:solidFill>
                <a:latin typeface="Arial"/>
                <a:ea typeface="Arial"/>
                <a:cs typeface="Arial"/>
              </a:defRPr>
            </a:lvl5pPr>
            <a:lvl6pPr>
              <a:defRPr sz="900" b="0">
                <a:solidFill>
                  <a:srgbClr val="8498A5"/>
                </a:solidFill>
                <a:latin typeface="Arial"/>
                <a:ea typeface="Arial"/>
                <a:cs typeface="Arial"/>
              </a:defRPr>
            </a:lvl6pPr>
            <a:lvl7pPr>
              <a:defRPr sz="900" b="0">
                <a:solidFill>
                  <a:srgbClr val="8498A5"/>
                </a:solidFill>
                <a:latin typeface="Arial"/>
                <a:ea typeface="Arial"/>
                <a:cs typeface="Arial"/>
              </a:defRPr>
            </a:lvl7pPr>
            <a:lvl8pPr>
              <a:defRPr sz="900" b="0">
                <a:solidFill>
                  <a:srgbClr val="8498A5"/>
                </a:solidFill>
                <a:latin typeface="Arial"/>
                <a:ea typeface="Arial"/>
                <a:cs typeface="Arial"/>
              </a:defRPr>
            </a:lvl8pPr>
            <a:lvl9pPr>
              <a:defRPr sz="900" b="0">
                <a:solidFill>
                  <a:srgbClr val="8498A5"/>
                </a:solidFill>
                <a:latin typeface="Arial"/>
                <a:ea typeface="Arial"/>
                <a:cs typeface="Arial"/>
              </a:defRPr>
            </a:lvl9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9" name="21">
            <a:extLst xmlns:a="http://schemas.openxmlformats.org/drawingml/2006/main">
              <a:ext uri="{FF2B5EF4-FFF2-40B4-BE49-F238E27FC236}">
                <a16:creationId xmlns:a16="http://schemas.microsoft.com/office/drawing/2014/main" id="{377BE2C0-2ECE-47DE-B818-457EC0D27029}"/>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vl1pPr>
              <a:defRPr sz="1200" b="1">
                <a:solidFill>
                  <a:srgbClr val="8498A5"/>
                </a:solidFill>
                <a:latin typeface="Arial"/>
                <a:ea typeface="Arial"/>
                <a:cs typeface="Arial"/>
              </a:defRPr>
            </a:lvl1pPr>
            <a:lvl2pPr>
              <a:defRPr sz="1200" b="1">
                <a:solidFill>
                  <a:srgbClr val="8498A5"/>
                </a:solidFill>
                <a:latin typeface="Arial"/>
                <a:ea typeface="Arial"/>
                <a:cs typeface="Arial"/>
              </a:defRPr>
            </a:lvl2pPr>
            <a:lvl3pPr>
              <a:defRPr sz="1200" b="1">
                <a:solidFill>
                  <a:srgbClr val="8498A5"/>
                </a:solidFill>
                <a:latin typeface="Arial"/>
                <a:ea typeface="Arial"/>
                <a:cs typeface="Arial"/>
              </a:defRPr>
            </a:lvl3pPr>
            <a:lvl4pPr>
              <a:defRPr sz="1200" b="1">
                <a:solidFill>
                  <a:srgbClr val="8498A5"/>
                </a:solidFill>
                <a:latin typeface="Arial"/>
                <a:ea typeface="Arial"/>
                <a:cs typeface="Arial"/>
              </a:defRPr>
            </a:lvl4pPr>
            <a:lvl5pPr>
              <a:defRPr sz="1200" b="1">
                <a:solidFill>
                  <a:srgbClr val="8498A5"/>
                </a:solidFill>
                <a:latin typeface="Arial"/>
                <a:ea typeface="Arial"/>
                <a:cs typeface="Arial"/>
              </a:defRPr>
            </a:lvl5pPr>
            <a:lvl6pPr>
              <a:defRPr sz="1200" b="1">
                <a:solidFill>
                  <a:srgbClr val="8498A5"/>
                </a:solidFill>
                <a:latin typeface="Arial"/>
                <a:ea typeface="Arial"/>
                <a:cs typeface="Arial"/>
              </a:defRPr>
            </a:lvl6pPr>
            <a:lvl7pPr>
              <a:defRPr sz="1200" b="1">
                <a:solidFill>
                  <a:srgbClr val="8498A5"/>
                </a:solidFill>
                <a:latin typeface="Arial"/>
                <a:ea typeface="Arial"/>
                <a:cs typeface="Arial"/>
              </a:defRPr>
            </a:lvl7pPr>
            <a:lvl8pPr>
              <a:defRPr sz="1200" b="1">
                <a:solidFill>
                  <a:srgbClr val="8498A5"/>
                </a:solidFill>
                <a:latin typeface="Arial"/>
                <a:ea typeface="Arial"/>
                <a:cs typeface="Arial"/>
              </a:defRPr>
            </a:lvl8pPr>
            <a:lvl9pPr>
              <a:defRPr sz="1200" b="1">
                <a:solidFill>
                  <a:srgbClr val="8498A5"/>
                </a:solidFill>
                <a:latin typeface="Arial"/>
                <a:ea typeface="Arial"/>
                <a:cs typeface="Arial"/>
              </a:defRPr>
            </a:lvl9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21</a:t>
            </a:r>
          </a:p>
        </p:txBody>
      </p:sp>
    </p:spTree>
    <p:extLst>
      <p:ext uri="{BB962C8B-B14F-4D97-AF65-F5344CB8AC3E}">
        <p14:creationId xmlns:p14="http://schemas.microsoft.com/office/powerpoint/2010/main" val="1295224218"/>
      </p:ext>
    </p:extLst>
  </p:cSld>
</p:sld>
</file>

<file path=ppt/slides/slide22.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RECORDED LAB 01 / PREDICT THEN REVEAL">
            <a:extLst xmlns:a="http://schemas.openxmlformats.org/drawingml/2006/main">
              <a:ext uri="{FF2B5EF4-FFF2-40B4-BE49-F238E27FC236}">
                <a16:creationId xmlns:a16="http://schemas.microsoft.com/office/drawing/2014/main" id="{038DC99A-6E75-4284-A4ED-E5EB6DB94717}"/>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vl1pPr>
              <a:defRPr sz="1200" b="1">
                <a:solidFill>
                  <a:srgbClr val="087E79"/>
                </a:solidFill>
                <a:latin typeface="Arial"/>
                <a:ea typeface="Arial"/>
                <a:cs typeface="Arial"/>
              </a:defRPr>
            </a:lvl1pPr>
            <a:lvl2pPr>
              <a:defRPr sz="1200" b="1">
                <a:solidFill>
                  <a:srgbClr val="087E79"/>
                </a:solidFill>
                <a:latin typeface="Arial"/>
                <a:ea typeface="Arial"/>
                <a:cs typeface="Arial"/>
              </a:defRPr>
            </a:lvl2pPr>
            <a:lvl3pPr>
              <a:defRPr sz="1200" b="1">
                <a:solidFill>
                  <a:srgbClr val="087E79"/>
                </a:solidFill>
                <a:latin typeface="Arial"/>
                <a:ea typeface="Arial"/>
                <a:cs typeface="Arial"/>
              </a:defRPr>
            </a:lvl3pPr>
            <a:lvl4pPr>
              <a:defRPr sz="1200" b="1">
                <a:solidFill>
                  <a:srgbClr val="087E79"/>
                </a:solidFill>
                <a:latin typeface="Arial"/>
                <a:ea typeface="Arial"/>
                <a:cs typeface="Arial"/>
              </a:defRPr>
            </a:lvl4pPr>
            <a:lvl5pPr>
              <a:defRPr sz="1200" b="1">
                <a:solidFill>
                  <a:srgbClr val="087E79"/>
                </a:solidFill>
                <a:latin typeface="Arial"/>
                <a:ea typeface="Arial"/>
                <a:cs typeface="Arial"/>
              </a:defRPr>
            </a:lvl5pPr>
            <a:lvl6pPr>
              <a:defRPr sz="1200" b="1">
                <a:solidFill>
                  <a:srgbClr val="087E79"/>
                </a:solidFill>
                <a:latin typeface="Arial"/>
                <a:ea typeface="Arial"/>
                <a:cs typeface="Arial"/>
              </a:defRPr>
            </a:lvl6pPr>
            <a:lvl7pPr>
              <a:defRPr sz="1200" b="1">
                <a:solidFill>
                  <a:srgbClr val="087E79"/>
                </a:solidFill>
                <a:latin typeface="Arial"/>
                <a:ea typeface="Arial"/>
                <a:cs typeface="Arial"/>
              </a:defRPr>
            </a:lvl7pPr>
            <a:lvl8pPr>
              <a:defRPr sz="1200" b="1">
                <a:solidFill>
                  <a:srgbClr val="087E79"/>
                </a:solidFill>
                <a:latin typeface="Arial"/>
                <a:ea typeface="Arial"/>
                <a:cs typeface="Arial"/>
              </a:defRPr>
            </a:lvl8pPr>
            <a:lvl9pPr>
              <a:defRPr sz="1200" b="1">
                <a:solidFill>
                  <a:srgbClr val="087E79"/>
                </a:solidFill>
                <a:latin typeface="Arial"/>
                <a:ea typeface="Arial"/>
                <a:cs typeface="Arial"/>
              </a:defRPr>
            </a:lvl9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RECORDED LAB 01 / PREDICT THEN REVEAL</a:t>
            </a:r>
          </a:p>
        </p:txBody>
      </p:sp>
      <p:sp>
        <p:nvSpPr>
          <p:cNvPr id="2" name="What would prove&#10;isolation?">
            <a:extLst xmlns:a="http://schemas.openxmlformats.org/drawingml/2006/main">
              <a:ext uri="{FF2B5EF4-FFF2-40B4-BE49-F238E27FC236}">
                <a16:creationId xmlns:a16="http://schemas.microsoft.com/office/drawing/2014/main" id="{F8CD76DE-6A70-4EC9-B91A-DAC39631A972}"/>
              </a:ext>
            </a:extLst>
          </p:cNvPr>
          <p:cNvSpPr>
            <a:spLocks xmlns:a="http://schemas.openxmlformats.org/drawingml/2006/main" noGrp="1"/>
          </p:cNvSpPr>
          <p:nvPr>
            <p:ph type="title" idx="0"/>
          </p:nvPr>
        </p:nvSpPr>
        <p:spPr>
          <a:xfrm xmlns:a="http://schemas.openxmlformats.org/drawingml/2006/main">
            <a:off x="609600" y="11049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0B1822"/>
                </a:solidFill>
                <a:latin typeface="Arial Black"/>
                <a:ea typeface="Arial Black"/>
                <a:cs typeface="Arial Black"/>
              </a:defRPr>
            </a:defPPr>
            <a:lvl1pPr>
              <a:defRPr sz="3525" b="1">
                <a:solidFill>
                  <a:srgbClr val="0B1822"/>
                </a:solidFill>
                <a:latin typeface="Arial Black"/>
                <a:ea typeface="Arial Black"/>
                <a:cs typeface="Arial Black"/>
              </a:defRPr>
            </a:lvl1pPr>
            <a:lvl2pPr>
              <a:defRPr sz="3525" b="1">
                <a:solidFill>
                  <a:srgbClr val="0B1822"/>
                </a:solidFill>
                <a:latin typeface="Arial Black"/>
                <a:ea typeface="Arial Black"/>
                <a:cs typeface="Arial Black"/>
              </a:defRPr>
            </a:lvl2pPr>
            <a:lvl3pPr>
              <a:defRPr sz="3525" b="1">
                <a:solidFill>
                  <a:srgbClr val="0B1822"/>
                </a:solidFill>
                <a:latin typeface="Arial Black"/>
                <a:ea typeface="Arial Black"/>
                <a:cs typeface="Arial Black"/>
              </a:defRPr>
            </a:lvl3pPr>
            <a:lvl4pPr>
              <a:defRPr sz="3525" b="1">
                <a:solidFill>
                  <a:srgbClr val="0B1822"/>
                </a:solidFill>
                <a:latin typeface="Arial Black"/>
                <a:ea typeface="Arial Black"/>
                <a:cs typeface="Arial Black"/>
              </a:defRPr>
            </a:lvl4pPr>
            <a:lvl5pPr>
              <a:defRPr sz="3525" b="1">
                <a:solidFill>
                  <a:srgbClr val="0B1822"/>
                </a:solidFill>
                <a:latin typeface="Arial Black"/>
                <a:ea typeface="Arial Black"/>
                <a:cs typeface="Arial Black"/>
              </a:defRPr>
            </a:lvl5pPr>
            <a:lvl6pPr>
              <a:defRPr sz="3525" b="1">
                <a:solidFill>
                  <a:srgbClr val="0B1822"/>
                </a:solidFill>
                <a:latin typeface="Arial Black"/>
                <a:ea typeface="Arial Black"/>
                <a:cs typeface="Arial Black"/>
              </a:defRPr>
            </a:lvl6pPr>
            <a:lvl7pPr>
              <a:defRPr sz="3525" b="1">
                <a:solidFill>
                  <a:srgbClr val="0B1822"/>
                </a:solidFill>
                <a:latin typeface="Arial Black"/>
                <a:ea typeface="Arial Black"/>
                <a:cs typeface="Arial Black"/>
              </a:defRPr>
            </a:lvl7pPr>
            <a:lvl8pPr>
              <a:defRPr sz="3525" b="1">
                <a:solidFill>
                  <a:srgbClr val="0B1822"/>
                </a:solidFill>
                <a:latin typeface="Arial Black"/>
                <a:ea typeface="Arial Black"/>
                <a:cs typeface="Arial Black"/>
              </a:defRPr>
            </a:lvl8pPr>
            <a:lvl9pPr>
              <a:defRPr sz="3525" b="1">
                <a:solidFill>
                  <a:srgbClr val="0B1822"/>
                </a:solidFill>
                <a:latin typeface="Arial Black"/>
                <a:ea typeface="Arial Black"/>
                <a:cs typeface="Arial Black"/>
              </a:defRPr>
            </a:lvl9pPr>
          </a:lstStyle>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What would prove</a:t>
            </a:r>
          </a:p>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isolation?</a:t>
            </a:r>
          </a:p>
        </p:txBody>
      </p:sp>
      <p:pic>
        <p:nvPicPr>
          <p:cNvPr id="3" name="" descr="Recorded lab network diagram showing the DNS allowance that remains when an additional NetworkPolicy is added.">
            <a:extLst xmlns:a="http://schemas.openxmlformats.org/drawingml/2006/main">
              <a:ext uri="{FF2B5EF4-FFF2-40B4-BE49-F238E27FC236}">
                <a16:creationId xmlns:a16="http://schemas.microsoft.com/office/drawing/2014/main" id="{2D5B0A71-09C7-4079-8157-DC46F5F1DD34}"/>
              </a:ext>
            </a:extLst>
          </p:cNvPr>
          <p:cNvPicPr>
            <a:picLocks xmlns:a="http://schemas.openxmlformats.org/drawingml/2006/main" noChangeAspect="1"/>
          </p:cNvPicPr>
          <p:nvPr/>
        </p:nvPicPr>
        <p:blipFill>
          <a:blip xmlns:r="http://schemas.openxmlformats.org/officeDocument/2006/relationships" xmlns:a="http://schemas.openxmlformats.org/drawingml/2006/main" r:embed="Rb175aa8804b044af"/>
          <a:srcRect xmlns:a="http://schemas.openxmlformats.org/drawingml/2006/main" l="3000" t="11000" r="44000" b="17000"/>
          <a:stretch xmlns:a="http://schemas.openxmlformats.org/drawingml/2006/main"/>
        </p:blipFill>
        <p:spPr>
          <a:xfrm xmlns:a="http://schemas.openxmlformats.org/drawingml/2006/main">
            <a:off x="609600" y="2400300"/>
            <a:ext cx="6572250" cy="3638550"/>
          </a:xfrm>
          <a:prstGeom xmlns:a="http://schemas.openxmlformats.org/drawingml/2006/main" prst="rect">
            <a:avLst/>
          </a:prstGeom>
        </p:spPr>
      </p:pic>
      <p:sp>
        <p:nvSpPr>
          <p:cNvPr id="4" name="SCENARIO:&#10;Q3 isolation is requested.&#10;An existing">
            <a:extLst xmlns:a="http://schemas.openxmlformats.org/drawingml/2006/main">
              <a:ext uri="{FF2B5EF4-FFF2-40B4-BE49-F238E27FC236}">
                <a16:creationId xmlns:a16="http://schemas.microsoft.com/office/drawing/2014/main" id="{56460CFB-1BA4-4712-B5A2-36AFB6B10CBA}"/>
              </a:ext>
            </a:extLst>
          </p:cNvPr>
          <p:cNvSpPr>
            <a:spLocks xmlns:a="http://schemas.openxmlformats.org/drawingml/2006/main" noGrp="1"/>
          </p:cNvSpPr>
          <p:nvPr/>
        </p:nvSpPr>
        <p:spPr>
          <a:xfrm xmlns:a="http://schemas.openxmlformats.org/drawingml/2006/main">
            <a:off x="7429500" y="2400300"/>
            <a:ext cx="413385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79"/>
            </a:solidFill>
          </a:ln>
        </p:spPr>
        <p:txBody>
          <a:bodyPr xmlns:a="http://schemas.openxmlformats.org/drawingml/2006/main"/>
          <a:lstStyle xmlns:a="http://schemas.openxmlformats.org/drawingml/2006/main">
            <a:defPPr>
              <a:defRPr sz="1800" b="1">
                <a:solidFill>
                  <a:srgbClr val="0B1822"/>
                </a:solidFill>
                <a:latin typeface="Arial"/>
                <a:ea typeface="Arial"/>
                <a:cs typeface="Arial"/>
              </a:defRPr>
            </a:defPPr>
            <a:lvl1pPr>
              <a:defRPr sz="1800" b="1">
                <a:solidFill>
                  <a:srgbClr val="0B1822"/>
                </a:solidFill>
                <a:latin typeface="Arial"/>
                <a:ea typeface="Arial"/>
                <a:cs typeface="Arial"/>
              </a:defRPr>
            </a:lvl1pPr>
            <a:lvl2pPr>
              <a:defRPr sz="1800" b="1">
                <a:solidFill>
                  <a:srgbClr val="0B1822"/>
                </a:solidFill>
                <a:latin typeface="Arial"/>
                <a:ea typeface="Arial"/>
                <a:cs typeface="Arial"/>
              </a:defRPr>
            </a:lvl2pPr>
            <a:lvl3pPr>
              <a:defRPr sz="1800" b="1">
                <a:solidFill>
                  <a:srgbClr val="0B1822"/>
                </a:solidFill>
                <a:latin typeface="Arial"/>
                <a:ea typeface="Arial"/>
                <a:cs typeface="Arial"/>
              </a:defRPr>
            </a:lvl3pPr>
            <a:lvl4pPr>
              <a:defRPr sz="1800" b="1">
                <a:solidFill>
                  <a:srgbClr val="0B1822"/>
                </a:solidFill>
                <a:latin typeface="Arial"/>
                <a:ea typeface="Arial"/>
                <a:cs typeface="Arial"/>
              </a:defRPr>
            </a:lvl4pPr>
            <a:lvl5pPr>
              <a:defRPr sz="1800" b="1">
                <a:solidFill>
                  <a:srgbClr val="0B1822"/>
                </a:solidFill>
                <a:latin typeface="Arial"/>
                <a:ea typeface="Arial"/>
                <a:cs typeface="Arial"/>
              </a:defRPr>
            </a:lvl5pPr>
            <a:lvl6pPr>
              <a:defRPr sz="1800" b="1">
                <a:solidFill>
                  <a:srgbClr val="0B1822"/>
                </a:solidFill>
                <a:latin typeface="Arial"/>
                <a:ea typeface="Arial"/>
                <a:cs typeface="Arial"/>
              </a:defRPr>
            </a:lvl6pPr>
            <a:lvl7pPr>
              <a:defRPr sz="1800" b="1">
                <a:solidFill>
                  <a:srgbClr val="0B1822"/>
                </a:solidFill>
                <a:latin typeface="Arial"/>
                <a:ea typeface="Arial"/>
                <a:cs typeface="Arial"/>
              </a:defRPr>
            </a:lvl7pPr>
            <a:lvl8pPr>
              <a:defRPr sz="1800" b="1">
                <a:solidFill>
                  <a:srgbClr val="0B1822"/>
                </a:solidFill>
                <a:latin typeface="Arial"/>
                <a:ea typeface="Arial"/>
                <a:cs typeface="Arial"/>
              </a:defRPr>
            </a:lvl8pPr>
            <a:lvl9pPr>
              <a:defRPr sz="1800" b="1">
                <a:solidFill>
                  <a:srgbClr val="0B1822"/>
                </a:solidFill>
                <a:latin typeface="Arial"/>
                <a:ea typeface="Arial"/>
                <a:cs typeface="Arial"/>
              </a:defRPr>
            </a:lvl9pPr>
          </a:lstStyle>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SCENARIO:</a:t>
            </a:r>
          </a:p>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Q3 isolation is requested.</a:t>
            </a:r>
          </a:p>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An existing Q2 rule allows DNS.</a:t>
            </a:r>
          </a:p>
        </p:txBody>
      </p:sp>
      <p:sp>
        <p:nvSpPr>
          <p:cNvPr id="5" name="TABLE QUESTION:&#10;Which allowance must change?&#10;Nam">
            <a:extLst xmlns:a="http://schemas.openxmlformats.org/drawingml/2006/main">
              <a:ext uri="{FF2B5EF4-FFF2-40B4-BE49-F238E27FC236}">
                <a16:creationId xmlns:a16="http://schemas.microsoft.com/office/drawing/2014/main" id="{88108D99-889E-4EEF-BC28-B98CD1439C9C}"/>
              </a:ext>
            </a:extLst>
          </p:cNvPr>
          <p:cNvSpPr>
            <a:spLocks xmlns:a="http://schemas.openxmlformats.org/drawingml/2006/main" noGrp="1"/>
          </p:cNvSpPr>
          <p:nvPr/>
        </p:nvSpPr>
        <p:spPr>
          <a:xfrm xmlns:a="http://schemas.openxmlformats.org/drawingml/2006/main">
            <a:off x="7429500" y="4248150"/>
            <a:ext cx="4133850" cy="1790700"/>
          </a:xfrm>
          <a:prstGeom xmlns:a="http://schemas.openxmlformats.org/drawingml/2006/main" prst="rect">
            <a:avLst/>
          </a:prstGeom>
          <a:solidFill xmlns:a="http://schemas.openxmlformats.org/drawingml/2006/main">
            <a:srgbClr val="09131D"/>
          </a:solidFill>
          <a:ln xmlns:a="http://schemas.openxmlformats.org/drawingml/2006/main" w="19050">
            <a:solidFill>
              <a:srgbClr val="D45336"/>
            </a:solidFill>
          </a:ln>
        </p:spPr>
        <p:txBody>
          <a:bodyPr xmlns:a="http://schemas.openxmlformats.org/drawingml/2006/main"/>
          <a:lstStyle xmlns:a="http://schemas.openxmlformats.org/drawingml/2006/main">
            <a:defPPr>
              <a:defRPr sz="1650" b="1">
                <a:solidFill>
                  <a:srgbClr val="F2EFE7"/>
                </a:solidFill>
                <a:latin typeface="Arial"/>
                <a:ea typeface="Arial"/>
                <a:cs typeface="Arial"/>
              </a:defRPr>
            </a:defPPr>
            <a:lvl1pPr>
              <a:defRPr sz="1650" b="1">
                <a:solidFill>
                  <a:srgbClr val="F2EFE7"/>
                </a:solidFill>
                <a:latin typeface="Arial"/>
                <a:ea typeface="Arial"/>
                <a:cs typeface="Arial"/>
              </a:defRPr>
            </a:lvl1pPr>
            <a:lvl2pPr>
              <a:defRPr sz="1650" b="1">
                <a:solidFill>
                  <a:srgbClr val="F2EFE7"/>
                </a:solidFill>
                <a:latin typeface="Arial"/>
                <a:ea typeface="Arial"/>
                <a:cs typeface="Arial"/>
              </a:defRPr>
            </a:lvl2pPr>
            <a:lvl3pPr>
              <a:defRPr sz="1650" b="1">
                <a:solidFill>
                  <a:srgbClr val="F2EFE7"/>
                </a:solidFill>
                <a:latin typeface="Arial"/>
                <a:ea typeface="Arial"/>
                <a:cs typeface="Arial"/>
              </a:defRPr>
            </a:lvl3pPr>
            <a:lvl4pPr>
              <a:defRPr sz="1650" b="1">
                <a:solidFill>
                  <a:srgbClr val="F2EFE7"/>
                </a:solidFill>
                <a:latin typeface="Arial"/>
                <a:ea typeface="Arial"/>
                <a:cs typeface="Arial"/>
              </a:defRPr>
            </a:lvl4pPr>
            <a:lvl5pPr>
              <a:defRPr sz="1650" b="1">
                <a:solidFill>
                  <a:srgbClr val="F2EFE7"/>
                </a:solidFill>
                <a:latin typeface="Arial"/>
                <a:ea typeface="Arial"/>
                <a:cs typeface="Arial"/>
              </a:defRPr>
            </a:lvl5pPr>
            <a:lvl6pPr>
              <a:defRPr sz="1650" b="1">
                <a:solidFill>
                  <a:srgbClr val="F2EFE7"/>
                </a:solidFill>
                <a:latin typeface="Arial"/>
                <a:ea typeface="Arial"/>
                <a:cs typeface="Arial"/>
              </a:defRPr>
            </a:lvl6pPr>
            <a:lvl7pPr>
              <a:defRPr sz="1650" b="1">
                <a:solidFill>
                  <a:srgbClr val="F2EFE7"/>
                </a:solidFill>
                <a:latin typeface="Arial"/>
                <a:ea typeface="Arial"/>
                <a:cs typeface="Arial"/>
              </a:defRPr>
            </a:lvl7pPr>
            <a:lvl8pPr>
              <a:defRPr sz="1650" b="1">
                <a:solidFill>
                  <a:srgbClr val="F2EFE7"/>
                </a:solidFill>
                <a:latin typeface="Arial"/>
                <a:ea typeface="Arial"/>
                <a:cs typeface="Arial"/>
              </a:defRPr>
            </a:lvl8pPr>
            <a:lvl9pPr>
              <a:defRPr sz="1650" b="1">
                <a:solidFill>
                  <a:srgbClr val="F2EFE7"/>
                </a:solidFill>
                <a:latin typeface="Arial"/>
                <a:ea typeface="Arial"/>
                <a:cs typeface="Arial"/>
              </a:defRPr>
            </a:lvl9pPr>
          </a:lstStyle>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TABLE QUESTION:</a:t>
            </a:r>
          </a:p>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Which allowance must change?</a:t>
            </a:r>
          </a:p>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Name the confirming test.</a:t>
            </a:r>
          </a:p>
        </p:txBody>
      </p:sp>
      <p:sp>
        <p:nvSpPr>
          <p:cNvPr id="6" name="Recorded k3s cluster observation  ·  Predict bef">
            <a:extLst xmlns:a="http://schemas.openxmlformats.org/drawingml/2006/main">
              <a:ext uri="{FF2B5EF4-FFF2-40B4-BE49-F238E27FC236}">
                <a16:creationId xmlns:a16="http://schemas.microsoft.com/office/drawing/2014/main" id="{3D9CCE4F-41D3-40BE-8FF0-0423E939469F}"/>
              </a:ext>
            </a:extLst>
          </p:cNvPr>
          <p:cNvSpPr>
            <a:spLocks xmlns:a="http://schemas.openxmlformats.org/drawingml/2006/main" noGrp="1"/>
          </p:cNvSpPr>
          <p:nvPr/>
        </p:nvSpPr>
        <p:spPr>
          <a:xfrm xmlns:a="http://schemas.openxmlformats.org/drawingml/2006/main">
            <a:off x="60960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0717A"/>
                </a:solidFill>
                <a:latin typeface="Arial"/>
                <a:ea typeface="Arial"/>
                <a:cs typeface="Arial"/>
              </a:defRPr>
            </a:defPPr>
            <a:lvl1pPr>
              <a:defRPr sz="1275" b="0">
                <a:solidFill>
                  <a:srgbClr val="60717A"/>
                </a:solidFill>
                <a:latin typeface="Arial"/>
                <a:ea typeface="Arial"/>
                <a:cs typeface="Arial"/>
              </a:defRPr>
            </a:lvl1pPr>
            <a:lvl2pPr>
              <a:defRPr sz="1275" b="0">
                <a:solidFill>
                  <a:srgbClr val="60717A"/>
                </a:solidFill>
                <a:latin typeface="Arial"/>
                <a:ea typeface="Arial"/>
                <a:cs typeface="Arial"/>
              </a:defRPr>
            </a:lvl2pPr>
            <a:lvl3pPr>
              <a:defRPr sz="1275" b="0">
                <a:solidFill>
                  <a:srgbClr val="60717A"/>
                </a:solidFill>
                <a:latin typeface="Arial"/>
                <a:ea typeface="Arial"/>
                <a:cs typeface="Arial"/>
              </a:defRPr>
            </a:lvl3pPr>
            <a:lvl4pPr>
              <a:defRPr sz="1275" b="0">
                <a:solidFill>
                  <a:srgbClr val="60717A"/>
                </a:solidFill>
                <a:latin typeface="Arial"/>
                <a:ea typeface="Arial"/>
                <a:cs typeface="Arial"/>
              </a:defRPr>
            </a:lvl4pPr>
            <a:lvl5pPr>
              <a:defRPr sz="1275" b="0">
                <a:solidFill>
                  <a:srgbClr val="60717A"/>
                </a:solidFill>
                <a:latin typeface="Arial"/>
                <a:ea typeface="Arial"/>
                <a:cs typeface="Arial"/>
              </a:defRPr>
            </a:lvl5pPr>
            <a:lvl6pPr>
              <a:defRPr sz="1275" b="0">
                <a:solidFill>
                  <a:srgbClr val="60717A"/>
                </a:solidFill>
                <a:latin typeface="Arial"/>
                <a:ea typeface="Arial"/>
                <a:cs typeface="Arial"/>
              </a:defRPr>
            </a:lvl6pPr>
            <a:lvl7pPr>
              <a:defRPr sz="1275" b="0">
                <a:solidFill>
                  <a:srgbClr val="60717A"/>
                </a:solidFill>
                <a:latin typeface="Arial"/>
                <a:ea typeface="Arial"/>
                <a:cs typeface="Arial"/>
              </a:defRPr>
            </a:lvl7pPr>
            <a:lvl8pPr>
              <a:defRPr sz="1275" b="0">
                <a:solidFill>
                  <a:srgbClr val="60717A"/>
                </a:solidFill>
                <a:latin typeface="Arial"/>
                <a:ea typeface="Arial"/>
                <a:cs typeface="Arial"/>
              </a:defRPr>
            </a:lvl8pPr>
            <a:lvl9pPr>
              <a:defRPr sz="1275" b="0">
                <a:solidFill>
                  <a:srgbClr val="60717A"/>
                </a:solidFill>
                <a:latin typeface="Arial"/>
                <a:ea typeface="Arial"/>
                <a:cs typeface="Arial"/>
              </a:defRPr>
            </a:lvl9pPr>
          </a:lstStyle>
          <a:p xmlns:a="http://schemas.openxmlformats.org/drawingml/2006/main">
            <a:pPr>
              <a:defRPr sz="1275" b="0">
                <a:solidFill>
                  <a:srgbClr val="60717A"/>
                </a:solidFill>
                <a:latin typeface="Arial"/>
                <a:ea typeface="Arial"/>
                <a:cs typeface="Arial"/>
              </a:defRPr>
            </a:pPr>
            <a:r>
              <a:rPr sz="1275" b="0">
                <a:solidFill>
                  <a:srgbClr val="60717A"/>
                </a:solidFill>
                <a:latin typeface="Arial"/>
                <a:ea typeface="Arial"/>
                <a:cs typeface="Arial"/>
              </a:rPr>
              <a:t>Recorded k3s cluster observation  ·  Predict before the reveal</a:t>
            </a:r>
          </a:p>
        </p:txBody>
      </p:sp>
      <p:sp>
        <p:nvSpPr>
          <p:cNvPr id="7" name="ISC2 SECURITY CONGRESS 2026 / SC2632">
            <a:extLst xmlns:a="http://schemas.openxmlformats.org/drawingml/2006/main">
              <a:ext uri="{FF2B5EF4-FFF2-40B4-BE49-F238E27FC236}">
                <a16:creationId xmlns:a16="http://schemas.microsoft.com/office/drawing/2014/main" id="{F63C57B7-D4F2-4C72-961B-73B3A8910A19}"/>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22">
            <a:extLst xmlns:a="http://schemas.openxmlformats.org/drawingml/2006/main">
              <a:ext uri="{FF2B5EF4-FFF2-40B4-BE49-F238E27FC236}">
                <a16:creationId xmlns:a16="http://schemas.microsoft.com/office/drawing/2014/main" id="{93EBB634-EF95-4B32-A081-ECA4F26A17B4}"/>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22</a:t>
            </a:r>
          </a:p>
        </p:txBody>
      </p:sp>
    </p:spTree>
    <p:extLst>
      <p:ext uri="{BB962C8B-B14F-4D97-AF65-F5344CB8AC3E}">
        <p14:creationId xmlns:p14="http://schemas.microsoft.com/office/powerpoint/2010/main" val="490729052"/>
      </p:ext>
    </p:extLst>
  </p:cSld>
</p:sld>
</file>

<file path=ppt/slides/slide23.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RECORDED LAB 02 / PREDICT THEN REVEAL">
            <a:extLst xmlns:a="http://schemas.openxmlformats.org/drawingml/2006/main">
              <a:ext uri="{FF2B5EF4-FFF2-40B4-BE49-F238E27FC236}">
                <a16:creationId xmlns:a16="http://schemas.microsoft.com/office/drawing/2014/main" id="{FD01CB87-2CCD-423F-B5C8-5198D236D13A}"/>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vl1pPr>
              <a:defRPr sz="1200" b="1">
                <a:solidFill>
                  <a:srgbClr val="087E79"/>
                </a:solidFill>
                <a:latin typeface="Arial"/>
                <a:ea typeface="Arial"/>
                <a:cs typeface="Arial"/>
              </a:defRPr>
            </a:lvl1pPr>
            <a:lvl2pPr>
              <a:defRPr sz="1200" b="1">
                <a:solidFill>
                  <a:srgbClr val="087E79"/>
                </a:solidFill>
                <a:latin typeface="Arial"/>
                <a:ea typeface="Arial"/>
                <a:cs typeface="Arial"/>
              </a:defRPr>
            </a:lvl2pPr>
            <a:lvl3pPr>
              <a:defRPr sz="1200" b="1">
                <a:solidFill>
                  <a:srgbClr val="087E79"/>
                </a:solidFill>
                <a:latin typeface="Arial"/>
                <a:ea typeface="Arial"/>
                <a:cs typeface="Arial"/>
              </a:defRPr>
            </a:lvl3pPr>
            <a:lvl4pPr>
              <a:defRPr sz="1200" b="1">
                <a:solidFill>
                  <a:srgbClr val="087E79"/>
                </a:solidFill>
                <a:latin typeface="Arial"/>
                <a:ea typeface="Arial"/>
                <a:cs typeface="Arial"/>
              </a:defRPr>
            </a:lvl4pPr>
            <a:lvl5pPr>
              <a:defRPr sz="1200" b="1">
                <a:solidFill>
                  <a:srgbClr val="087E79"/>
                </a:solidFill>
                <a:latin typeface="Arial"/>
                <a:ea typeface="Arial"/>
                <a:cs typeface="Arial"/>
              </a:defRPr>
            </a:lvl5pPr>
            <a:lvl6pPr>
              <a:defRPr sz="1200" b="1">
                <a:solidFill>
                  <a:srgbClr val="087E79"/>
                </a:solidFill>
                <a:latin typeface="Arial"/>
                <a:ea typeface="Arial"/>
                <a:cs typeface="Arial"/>
              </a:defRPr>
            </a:lvl6pPr>
            <a:lvl7pPr>
              <a:defRPr sz="1200" b="1">
                <a:solidFill>
                  <a:srgbClr val="087E79"/>
                </a:solidFill>
                <a:latin typeface="Arial"/>
                <a:ea typeface="Arial"/>
                <a:cs typeface="Arial"/>
              </a:defRPr>
            </a:lvl7pPr>
            <a:lvl8pPr>
              <a:defRPr sz="1200" b="1">
                <a:solidFill>
                  <a:srgbClr val="087E79"/>
                </a:solidFill>
                <a:latin typeface="Arial"/>
                <a:ea typeface="Arial"/>
                <a:cs typeface="Arial"/>
              </a:defRPr>
            </a:lvl8pPr>
            <a:lvl9pPr>
              <a:defRPr sz="1200" b="1">
                <a:solidFill>
                  <a:srgbClr val="087E79"/>
                </a:solidFill>
                <a:latin typeface="Arial"/>
                <a:ea typeface="Arial"/>
                <a:cs typeface="Arial"/>
              </a:defRPr>
            </a:lvl9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RECORDED LAB 02 / PREDICT THEN REVEAL</a:t>
            </a:r>
          </a:p>
        </p:txBody>
      </p:sp>
      <p:sp>
        <p:nvSpPr>
          <p:cNvPr id="2" name="What must happen&#10;before removal?">
            <a:extLst xmlns:a="http://schemas.openxmlformats.org/drawingml/2006/main">
              <a:ext uri="{FF2B5EF4-FFF2-40B4-BE49-F238E27FC236}">
                <a16:creationId xmlns:a16="http://schemas.microsoft.com/office/drawing/2014/main" id="{E0CF4ACE-170E-4A4B-BF01-9BB86229F468}"/>
              </a:ext>
            </a:extLst>
          </p:cNvPr>
          <p:cNvSpPr>
            <a:spLocks xmlns:a="http://schemas.openxmlformats.org/drawingml/2006/main" noGrp="1"/>
          </p:cNvSpPr>
          <p:nvPr>
            <p:ph type="title" idx="0"/>
          </p:nvPr>
        </p:nvSpPr>
        <p:spPr>
          <a:xfrm xmlns:a="http://schemas.openxmlformats.org/drawingml/2006/main">
            <a:off x="609600" y="11049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0B1822"/>
                </a:solidFill>
                <a:latin typeface="Arial Black"/>
                <a:ea typeface="Arial Black"/>
                <a:cs typeface="Arial Black"/>
              </a:defRPr>
            </a:defPPr>
            <a:lvl1pPr>
              <a:defRPr sz="3525" b="1">
                <a:solidFill>
                  <a:srgbClr val="0B1822"/>
                </a:solidFill>
                <a:latin typeface="Arial Black"/>
                <a:ea typeface="Arial Black"/>
                <a:cs typeface="Arial Black"/>
              </a:defRPr>
            </a:lvl1pPr>
            <a:lvl2pPr>
              <a:defRPr sz="3525" b="1">
                <a:solidFill>
                  <a:srgbClr val="0B1822"/>
                </a:solidFill>
                <a:latin typeface="Arial Black"/>
                <a:ea typeface="Arial Black"/>
                <a:cs typeface="Arial Black"/>
              </a:defRPr>
            </a:lvl2pPr>
            <a:lvl3pPr>
              <a:defRPr sz="3525" b="1">
                <a:solidFill>
                  <a:srgbClr val="0B1822"/>
                </a:solidFill>
                <a:latin typeface="Arial Black"/>
                <a:ea typeface="Arial Black"/>
                <a:cs typeface="Arial Black"/>
              </a:defRPr>
            </a:lvl3pPr>
            <a:lvl4pPr>
              <a:defRPr sz="3525" b="1">
                <a:solidFill>
                  <a:srgbClr val="0B1822"/>
                </a:solidFill>
                <a:latin typeface="Arial Black"/>
                <a:ea typeface="Arial Black"/>
                <a:cs typeface="Arial Black"/>
              </a:defRPr>
            </a:lvl4pPr>
            <a:lvl5pPr>
              <a:defRPr sz="3525" b="1">
                <a:solidFill>
                  <a:srgbClr val="0B1822"/>
                </a:solidFill>
                <a:latin typeface="Arial Black"/>
                <a:ea typeface="Arial Black"/>
                <a:cs typeface="Arial Black"/>
              </a:defRPr>
            </a:lvl5pPr>
            <a:lvl6pPr>
              <a:defRPr sz="3525" b="1">
                <a:solidFill>
                  <a:srgbClr val="0B1822"/>
                </a:solidFill>
                <a:latin typeface="Arial Black"/>
                <a:ea typeface="Arial Black"/>
                <a:cs typeface="Arial Black"/>
              </a:defRPr>
            </a:lvl6pPr>
            <a:lvl7pPr>
              <a:defRPr sz="3525" b="1">
                <a:solidFill>
                  <a:srgbClr val="0B1822"/>
                </a:solidFill>
                <a:latin typeface="Arial Black"/>
                <a:ea typeface="Arial Black"/>
                <a:cs typeface="Arial Black"/>
              </a:defRPr>
            </a:lvl7pPr>
            <a:lvl8pPr>
              <a:defRPr sz="3525" b="1">
                <a:solidFill>
                  <a:srgbClr val="0B1822"/>
                </a:solidFill>
                <a:latin typeface="Arial Black"/>
                <a:ea typeface="Arial Black"/>
                <a:cs typeface="Arial Black"/>
              </a:defRPr>
            </a:lvl8pPr>
            <a:lvl9pPr>
              <a:defRPr sz="3525" b="1">
                <a:solidFill>
                  <a:srgbClr val="0B1822"/>
                </a:solidFill>
                <a:latin typeface="Arial Black"/>
                <a:ea typeface="Arial Black"/>
                <a:cs typeface="Arial Black"/>
              </a:defRPr>
            </a:lvl9pPr>
          </a:lstStyle>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What must happen</a:t>
            </a:r>
          </a:p>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before removal?</a:t>
            </a:r>
          </a:p>
        </p:txBody>
      </p:sp>
      <p:pic>
        <p:nvPicPr>
          <p:cNvPr id="3" name="" descr="Recorded lab diagram showing three payment replicas, the two-replica disruption floor, and a Q3-blocked replacement.">
            <a:extLst xmlns:a="http://schemas.openxmlformats.org/drawingml/2006/main">
              <a:ext uri="{FF2B5EF4-FFF2-40B4-BE49-F238E27FC236}">
                <a16:creationId xmlns:a16="http://schemas.microsoft.com/office/drawing/2014/main" id="{48AA636F-E2F0-4B74-B460-C30046BA8ABA}"/>
              </a:ext>
            </a:extLst>
          </p:cNvPr>
          <p:cNvPicPr>
            <a:picLocks xmlns:a="http://schemas.openxmlformats.org/drawingml/2006/main" noChangeAspect="1"/>
          </p:cNvPicPr>
          <p:nvPr/>
        </p:nvPicPr>
        <p:blipFill>
          <a:blip xmlns:r="http://schemas.openxmlformats.org/officeDocument/2006/relationships" xmlns:a="http://schemas.openxmlformats.org/drawingml/2006/main" r:embed="R88078b3379fd4f94"/>
          <a:srcRect xmlns:a="http://schemas.openxmlformats.org/drawingml/2006/main" l="3000" t="11000" r="44000" b="17000"/>
          <a:stretch xmlns:a="http://schemas.openxmlformats.org/drawingml/2006/main"/>
        </p:blipFill>
        <p:spPr>
          <a:xfrm xmlns:a="http://schemas.openxmlformats.org/drawingml/2006/main">
            <a:off x="609600" y="2400300"/>
            <a:ext cx="6572250" cy="3638550"/>
          </a:xfrm>
          <a:prstGeom xmlns:a="http://schemas.openxmlformats.org/drawingml/2006/main" prst="rect">
            <a:avLst/>
          </a:prstGeom>
        </p:spPr>
      </p:pic>
      <p:sp>
        <p:nvSpPr>
          <p:cNvPr id="4" name="SCENARIO:&#10;3 Ready Pods; 2 suspects.&#10;PDB minAvail">
            <a:extLst xmlns:a="http://schemas.openxmlformats.org/drawingml/2006/main">
              <a:ext uri="{FF2B5EF4-FFF2-40B4-BE49-F238E27FC236}">
                <a16:creationId xmlns:a16="http://schemas.microsoft.com/office/drawing/2014/main" id="{85FD1E9E-42FC-4ABA-9901-092063640E15}"/>
              </a:ext>
            </a:extLst>
          </p:cNvPr>
          <p:cNvSpPr>
            <a:spLocks xmlns:a="http://schemas.openxmlformats.org/drawingml/2006/main" noGrp="1"/>
          </p:cNvSpPr>
          <p:nvPr/>
        </p:nvSpPr>
        <p:spPr>
          <a:xfrm xmlns:a="http://schemas.openxmlformats.org/drawingml/2006/main">
            <a:off x="7429500" y="2400300"/>
            <a:ext cx="413385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79"/>
            </a:solidFill>
          </a:ln>
        </p:spPr>
        <p:txBody>
          <a:bodyPr xmlns:a="http://schemas.openxmlformats.org/drawingml/2006/main"/>
          <a:lstStyle xmlns:a="http://schemas.openxmlformats.org/drawingml/2006/main">
            <a:defPPr>
              <a:defRPr sz="1800" b="1">
                <a:solidFill>
                  <a:srgbClr val="0B1822"/>
                </a:solidFill>
                <a:latin typeface="Arial"/>
                <a:ea typeface="Arial"/>
                <a:cs typeface="Arial"/>
              </a:defRPr>
            </a:defPPr>
            <a:lvl1pPr>
              <a:defRPr sz="1800" b="1">
                <a:solidFill>
                  <a:srgbClr val="0B1822"/>
                </a:solidFill>
                <a:latin typeface="Arial"/>
                <a:ea typeface="Arial"/>
                <a:cs typeface="Arial"/>
              </a:defRPr>
            </a:lvl1pPr>
            <a:lvl2pPr>
              <a:defRPr sz="1800" b="1">
                <a:solidFill>
                  <a:srgbClr val="0B1822"/>
                </a:solidFill>
                <a:latin typeface="Arial"/>
                <a:ea typeface="Arial"/>
                <a:cs typeface="Arial"/>
              </a:defRPr>
            </a:lvl2pPr>
            <a:lvl3pPr>
              <a:defRPr sz="1800" b="1">
                <a:solidFill>
                  <a:srgbClr val="0B1822"/>
                </a:solidFill>
                <a:latin typeface="Arial"/>
                <a:ea typeface="Arial"/>
                <a:cs typeface="Arial"/>
              </a:defRPr>
            </a:lvl3pPr>
            <a:lvl4pPr>
              <a:defRPr sz="1800" b="1">
                <a:solidFill>
                  <a:srgbClr val="0B1822"/>
                </a:solidFill>
                <a:latin typeface="Arial"/>
                <a:ea typeface="Arial"/>
                <a:cs typeface="Arial"/>
              </a:defRPr>
            </a:lvl4pPr>
            <a:lvl5pPr>
              <a:defRPr sz="1800" b="1">
                <a:solidFill>
                  <a:srgbClr val="0B1822"/>
                </a:solidFill>
                <a:latin typeface="Arial"/>
                <a:ea typeface="Arial"/>
                <a:cs typeface="Arial"/>
              </a:defRPr>
            </a:lvl5pPr>
            <a:lvl6pPr>
              <a:defRPr sz="1800" b="1">
                <a:solidFill>
                  <a:srgbClr val="0B1822"/>
                </a:solidFill>
                <a:latin typeface="Arial"/>
                <a:ea typeface="Arial"/>
                <a:cs typeface="Arial"/>
              </a:defRPr>
            </a:lvl6pPr>
            <a:lvl7pPr>
              <a:defRPr sz="1800" b="1">
                <a:solidFill>
                  <a:srgbClr val="0B1822"/>
                </a:solidFill>
                <a:latin typeface="Arial"/>
                <a:ea typeface="Arial"/>
                <a:cs typeface="Arial"/>
              </a:defRPr>
            </a:lvl7pPr>
            <a:lvl8pPr>
              <a:defRPr sz="1800" b="1">
                <a:solidFill>
                  <a:srgbClr val="0B1822"/>
                </a:solidFill>
                <a:latin typeface="Arial"/>
                <a:ea typeface="Arial"/>
                <a:cs typeface="Arial"/>
              </a:defRPr>
            </a:lvl8pPr>
            <a:lvl9pPr>
              <a:defRPr sz="1800" b="1">
                <a:solidFill>
                  <a:srgbClr val="0B1822"/>
                </a:solidFill>
                <a:latin typeface="Arial"/>
                <a:ea typeface="Arial"/>
                <a:cs typeface="Arial"/>
              </a:defRPr>
            </a:lvl9pPr>
          </a:lstStyle>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SCENARIO:</a:t>
            </a:r>
          </a:p>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3 Ready Pods; 2 suspects.</a:t>
            </a:r>
          </a:p>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PDB minAvailable=2; Q3 blocks replacements.</a:t>
            </a:r>
          </a:p>
        </p:txBody>
      </p:sp>
      <p:sp>
        <p:nvSpPr>
          <p:cNvPr id="5" name="TABLE QUESTION:&#10;Keep 2 healthy copies.&#10;What must">
            <a:extLst xmlns:a="http://schemas.openxmlformats.org/drawingml/2006/main">
              <a:ext uri="{FF2B5EF4-FFF2-40B4-BE49-F238E27FC236}">
                <a16:creationId xmlns:a16="http://schemas.microsoft.com/office/drawing/2014/main" id="{DBE0CBB5-A38E-48A0-A42E-674EE2D4AAB4}"/>
              </a:ext>
            </a:extLst>
          </p:cNvPr>
          <p:cNvSpPr>
            <a:spLocks xmlns:a="http://schemas.openxmlformats.org/drawingml/2006/main" noGrp="1"/>
          </p:cNvSpPr>
          <p:nvPr/>
        </p:nvSpPr>
        <p:spPr>
          <a:xfrm xmlns:a="http://schemas.openxmlformats.org/drawingml/2006/main">
            <a:off x="7429500" y="4248150"/>
            <a:ext cx="4133850" cy="1790700"/>
          </a:xfrm>
          <a:prstGeom xmlns:a="http://schemas.openxmlformats.org/drawingml/2006/main" prst="rect">
            <a:avLst/>
          </a:prstGeom>
          <a:solidFill xmlns:a="http://schemas.openxmlformats.org/drawingml/2006/main">
            <a:srgbClr val="09131D"/>
          </a:solidFill>
          <a:ln xmlns:a="http://schemas.openxmlformats.org/drawingml/2006/main" w="19050">
            <a:solidFill>
              <a:srgbClr val="D45336"/>
            </a:solidFill>
          </a:ln>
        </p:spPr>
        <p:txBody>
          <a:bodyPr xmlns:a="http://schemas.openxmlformats.org/drawingml/2006/main"/>
          <a:lstStyle xmlns:a="http://schemas.openxmlformats.org/drawingml/2006/main">
            <a:defPPr>
              <a:defRPr sz="1650" b="1">
                <a:solidFill>
                  <a:srgbClr val="F2EFE7"/>
                </a:solidFill>
                <a:latin typeface="Arial"/>
                <a:ea typeface="Arial"/>
                <a:cs typeface="Arial"/>
              </a:defRPr>
            </a:defPPr>
            <a:lvl1pPr>
              <a:defRPr sz="1650" b="1">
                <a:solidFill>
                  <a:srgbClr val="F2EFE7"/>
                </a:solidFill>
                <a:latin typeface="Arial"/>
                <a:ea typeface="Arial"/>
                <a:cs typeface="Arial"/>
              </a:defRPr>
            </a:lvl1pPr>
            <a:lvl2pPr>
              <a:defRPr sz="1650" b="1">
                <a:solidFill>
                  <a:srgbClr val="F2EFE7"/>
                </a:solidFill>
                <a:latin typeface="Arial"/>
                <a:ea typeface="Arial"/>
                <a:cs typeface="Arial"/>
              </a:defRPr>
            </a:lvl2pPr>
            <a:lvl3pPr>
              <a:defRPr sz="1650" b="1">
                <a:solidFill>
                  <a:srgbClr val="F2EFE7"/>
                </a:solidFill>
                <a:latin typeface="Arial"/>
                <a:ea typeface="Arial"/>
                <a:cs typeface="Arial"/>
              </a:defRPr>
            </a:lvl3pPr>
            <a:lvl4pPr>
              <a:defRPr sz="1650" b="1">
                <a:solidFill>
                  <a:srgbClr val="F2EFE7"/>
                </a:solidFill>
                <a:latin typeface="Arial"/>
                <a:ea typeface="Arial"/>
                <a:cs typeface="Arial"/>
              </a:defRPr>
            </a:lvl4pPr>
            <a:lvl5pPr>
              <a:defRPr sz="1650" b="1">
                <a:solidFill>
                  <a:srgbClr val="F2EFE7"/>
                </a:solidFill>
                <a:latin typeface="Arial"/>
                <a:ea typeface="Arial"/>
                <a:cs typeface="Arial"/>
              </a:defRPr>
            </a:lvl5pPr>
            <a:lvl6pPr>
              <a:defRPr sz="1650" b="1">
                <a:solidFill>
                  <a:srgbClr val="F2EFE7"/>
                </a:solidFill>
                <a:latin typeface="Arial"/>
                <a:ea typeface="Arial"/>
                <a:cs typeface="Arial"/>
              </a:defRPr>
            </a:lvl6pPr>
            <a:lvl7pPr>
              <a:defRPr sz="1650" b="1">
                <a:solidFill>
                  <a:srgbClr val="F2EFE7"/>
                </a:solidFill>
                <a:latin typeface="Arial"/>
                <a:ea typeface="Arial"/>
                <a:cs typeface="Arial"/>
              </a:defRPr>
            </a:lvl7pPr>
            <a:lvl8pPr>
              <a:defRPr sz="1650" b="1">
                <a:solidFill>
                  <a:srgbClr val="F2EFE7"/>
                </a:solidFill>
                <a:latin typeface="Arial"/>
                <a:ea typeface="Arial"/>
                <a:cs typeface="Arial"/>
              </a:defRPr>
            </a:lvl8pPr>
            <a:lvl9pPr>
              <a:defRPr sz="1650" b="1">
                <a:solidFill>
                  <a:srgbClr val="F2EFE7"/>
                </a:solidFill>
                <a:latin typeface="Arial"/>
                <a:ea typeface="Arial"/>
                <a:cs typeface="Arial"/>
              </a:defRPr>
            </a:lvl9pPr>
          </a:lstStyle>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TABLE QUESTION:</a:t>
            </a:r>
          </a:p>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Keep 2 healthy copies.</a:t>
            </a:r>
          </a:p>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What must happen before eviction?</a:t>
            </a:r>
          </a:p>
        </p:txBody>
      </p:sp>
      <p:sp>
        <p:nvSpPr>
          <p:cNvPr id="6" name="Recorded k3s cluster observation  ·  Predict bef">
            <a:extLst xmlns:a="http://schemas.openxmlformats.org/drawingml/2006/main">
              <a:ext uri="{FF2B5EF4-FFF2-40B4-BE49-F238E27FC236}">
                <a16:creationId xmlns:a16="http://schemas.microsoft.com/office/drawing/2014/main" id="{B029E6F8-402B-46B5-8203-EFEC5447844D}"/>
              </a:ext>
            </a:extLst>
          </p:cNvPr>
          <p:cNvSpPr>
            <a:spLocks xmlns:a="http://schemas.openxmlformats.org/drawingml/2006/main" noGrp="1"/>
          </p:cNvSpPr>
          <p:nvPr/>
        </p:nvSpPr>
        <p:spPr>
          <a:xfrm xmlns:a="http://schemas.openxmlformats.org/drawingml/2006/main">
            <a:off x="60960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0717A"/>
                </a:solidFill>
                <a:latin typeface="Arial"/>
                <a:ea typeface="Arial"/>
                <a:cs typeface="Arial"/>
              </a:defRPr>
            </a:defPPr>
            <a:lvl1pPr>
              <a:defRPr sz="1275" b="0">
                <a:solidFill>
                  <a:srgbClr val="60717A"/>
                </a:solidFill>
                <a:latin typeface="Arial"/>
                <a:ea typeface="Arial"/>
                <a:cs typeface="Arial"/>
              </a:defRPr>
            </a:lvl1pPr>
            <a:lvl2pPr>
              <a:defRPr sz="1275" b="0">
                <a:solidFill>
                  <a:srgbClr val="60717A"/>
                </a:solidFill>
                <a:latin typeface="Arial"/>
                <a:ea typeface="Arial"/>
                <a:cs typeface="Arial"/>
              </a:defRPr>
            </a:lvl2pPr>
            <a:lvl3pPr>
              <a:defRPr sz="1275" b="0">
                <a:solidFill>
                  <a:srgbClr val="60717A"/>
                </a:solidFill>
                <a:latin typeface="Arial"/>
                <a:ea typeface="Arial"/>
                <a:cs typeface="Arial"/>
              </a:defRPr>
            </a:lvl3pPr>
            <a:lvl4pPr>
              <a:defRPr sz="1275" b="0">
                <a:solidFill>
                  <a:srgbClr val="60717A"/>
                </a:solidFill>
                <a:latin typeface="Arial"/>
                <a:ea typeface="Arial"/>
                <a:cs typeface="Arial"/>
              </a:defRPr>
            </a:lvl4pPr>
            <a:lvl5pPr>
              <a:defRPr sz="1275" b="0">
                <a:solidFill>
                  <a:srgbClr val="60717A"/>
                </a:solidFill>
                <a:latin typeface="Arial"/>
                <a:ea typeface="Arial"/>
                <a:cs typeface="Arial"/>
              </a:defRPr>
            </a:lvl5pPr>
            <a:lvl6pPr>
              <a:defRPr sz="1275" b="0">
                <a:solidFill>
                  <a:srgbClr val="60717A"/>
                </a:solidFill>
                <a:latin typeface="Arial"/>
                <a:ea typeface="Arial"/>
                <a:cs typeface="Arial"/>
              </a:defRPr>
            </a:lvl6pPr>
            <a:lvl7pPr>
              <a:defRPr sz="1275" b="0">
                <a:solidFill>
                  <a:srgbClr val="60717A"/>
                </a:solidFill>
                <a:latin typeface="Arial"/>
                <a:ea typeface="Arial"/>
                <a:cs typeface="Arial"/>
              </a:defRPr>
            </a:lvl7pPr>
            <a:lvl8pPr>
              <a:defRPr sz="1275" b="0">
                <a:solidFill>
                  <a:srgbClr val="60717A"/>
                </a:solidFill>
                <a:latin typeface="Arial"/>
                <a:ea typeface="Arial"/>
                <a:cs typeface="Arial"/>
              </a:defRPr>
            </a:lvl8pPr>
            <a:lvl9pPr>
              <a:defRPr sz="1275" b="0">
                <a:solidFill>
                  <a:srgbClr val="60717A"/>
                </a:solidFill>
                <a:latin typeface="Arial"/>
                <a:ea typeface="Arial"/>
                <a:cs typeface="Arial"/>
              </a:defRPr>
            </a:lvl9pPr>
          </a:lstStyle>
          <a:p xmlns:a="http://schemas.openxmlformats.org/drawingml/2006/main">
            <a:pPr>
              <a:defRPr sz="1275" b="0">
                <a:solidFill>
                  <a:srgbClr val="60717A"/>
                </a:solidFill>
                <a:latin typeface="Arial"/>
                <a:ea typeface="Arial"/>
                <a:cs typeface="Arial"/>
              </a:defRPr>
            </a:pPr>
            <a:r>
              <a:rPr sz="1275" b="0">
                <a:solidFill>
                  <a:srgbClr val="60717A"/>
                </a:solidFill>
                <a:latin typeface="Arial"/>
                <a:ea typeface="Arial"/>
                <a:cs typeface="Arial"/>
              </a:rPr>
              <a:t>Recorded k3s cluster observation  ·  Predict before the reveal</a:t>
            </a:r>
          </a:p>
        </p:txBody>
      </p:sp>
      <p:sp>
        <p:nvSpPr>
          <p:cNvPr id="7" name="ISC2 SECURITY CONGRESS 2026 / SC2632">
            <a:extLst xmlns:a="http://schemas.openxmlformats.org/drawingml/2006/main">
              <a:ext uri="{FF2B5EF4-FFF2-40B4-BE49-F238E27FC236}">
                <a16:creationId xmlns:a16="http://schemas.microsoft.com/office/drawing/2014/main" id="{11BC8BEB-FA0F-4608-9B32-AFA143A3AE1C}"/>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23">
            <a:extLst xmlns:a="http://schemas.openxmlformats.org/drawingml/2006/main">
              <a:ext uri="{FF2B5EF4-FFF2-40B4-BE49-F238E27FC236}">
                <a16:creationId xmlns:a16="http://schemas.microsoft.com/office/drawing/2014/main" id="{B3CAFC6E-A125-4709-B9C9-331763174D20}"/>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23</a:t>
            </a:r>
          </a:p>
        </p:txBody>
      </p:sp>
    </p:spTree>
    <p:extLst>
      <p:ext uri="{BB962C8B-B14F-4D97-AF65-F5344CB8AC3E}">
        <p14:creationId xmlns:p14="http://schemas.microsoft.com/office/powerpoint/2010/main" val="1743438702"/>
      </p:ext>
    </p:extLst>
  </p:cSld>
</p:sld>
</file>

<file path=ppt/slides/slide24.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RECORDED LAB 03 / PREDICT THEN REVEAL">
            <a:extLst xmlns:a="http://schemas.openxmlformats.org/drawingml/2006/main">
              <a:ext uri="{FF2B5EF4-FFF2-40B4-BE49-F238E27FC236}">
                <a16:creationId xmlns:a16="http://schemas.microsoft.com/office/drawing/2014/main" id="{9AF7D906-186B-4842-845C-8A7BD66737B3}"/>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vl1pPr>
              <a:defRPr sz="1200" b="1">
                <a:solidFill>
                  <a:srgbClr val="087E79"/>
                </a:solidFill>
                <a:latin typeface="Arial"/>
                <a:ea typeface="Arial"/>
                <a:cs typeface="Arial"/>
              </a:defRPr>
            </a:lvl1pPr>
            <a:lvl2pPr>
              <a:defRPr sz="1200" b="1">
                <a:solidFill>
                  <a:srgbClr val="087E79"/>
                </a:solidFill>
                <a:latin typeface="Arial"/>
                <a:ea typeface="Arial"/>
                <a:cs typeface="Arial"/>
              </a:defRPr>
            </a:lvl2pPr>
            <a:lvl3pPr>
              <a:defRPr sz="1200" b="1">
                <a:solidFill>
                  <a:srgbClr val="087E79"/>
                </a:solidFill>
                <a:latin typeface="Arial"/>
                <a:ea typeface="Arial"/>
                <a:cs typeface="Arial"/>
              </a:defRPr>
            </a:lvl3pPr>
            <a:lvl4pPr>
              <a:defRPr sz="1200" b="1">
                <a:solidFill>
                  <a:srgbClr val="087E79"/>
                </a:solidFill>
                <a:latin typeface="Arial"/>
                <a:ea typeface="Arial"/>
                <a:cs typeface="Arial"/>
              </a:defRPr>
            </a:lvl4pPr>
            <a:lvl5pPr>
              <a:defRPr sz="1200" b="1">
                <a:solidFill>
                  <a:srgbClr val="087E79"/>
                </a:solidFill>
                <a:latin typeface="Arial"/>
                <a:ea typeface="Arial"/>
                <a:cs typeface="Arial"/>
              </a:defRPr>
            </a:lvl5pPr>
            <a:lvl6pPr>
              <a:defRPr sz="1200" b="1">
                <a:solidFill>
                  <a:srgbClr val="087E79"/>
                </a:solidFill>
                <a:latin typeface="Arial"/>
                <a:ea typeface="Arial"/>
                <a:cs typeface="Arial"/>
              </a:defRPr>
            </a:lvl6pPr>
            <a:lvl7pPr>
              <a:defRPr sz="1200" b="1">
                <a:solidFill>
                  <a:srgbClr val="087E79"/>
                </a:solidFill>
                <a:latin typeface="Arial"/>
                <a:ea typeface="Arial"/>
                <a:cs typeface="Arial"/>
              </a:defRPr>
            </a:lvl7pPr>
            <a:lvl8pPr>
              <a:defRPr sz="1200" b="1">
                <a:solidFill>
                  <a:srgbClr val="087E79"/>
                </a:solidFill>
                <a:latin typeface="Arial"/>
                <a:ea typeface="Arial"/>
                <a:cs typeface="Arial"/>
              </a:defRPr>
            </a:lvl8pPr>
            <a:lvl9pPr>
              <a:defRPr sz="1200" b="1">
                <a:solidFill>
                  <a:srgbClr val="087E79"/>
                </a:solidFill>
                <a:latin typeface="Arial"/>
                <a:ea typeface="Arial"/>
                <a:cs typeface="Arial"/>
              </a:defRPr>
            </a:lvl9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RECORDED LAB 03 / PREDICT THEN REVEAL</a:t>
            </a:r>
          </a:p>
        </p:txBody>
      </p:sp>
      <p:sp>
        <p:nvSpPr>
          <p:cNvPr id="2" name="What would make&#10;debugging safe?">
            <a:extLst xmlns:a="http://schemas.openxmlformats.org/drawingml/2006/main">
              <a:ext uri="{FF2B5EF4-FFF2-40B4-BE49-F238E27FC236}">
                <a16:creationId xmlns:a16="http://schemas.microsoft.com/office/drawing/2014/main" id="{79156AD4-C53E-4AB3-B9FA-15FBAFCE21A0}"/>
              </a:ext>
            </a:extLst>
          </p:cNvPr>
          <p:cNvSpPr>
            <a:spLocks xmlns:a="http://schemas.openxmlformats.org/drawingml/2006/main" noGrp="1"/>
          </p:cNvSpPr>
          <p:nvPr>
            <p:ph type="title" idx="0"/>
          </p:nvPr>
        </p:nvSpPr>
        <p:spPr>
          <a:xfrm xmlns:a="http://schemas.openxmlformats.org/drawingml/2006/main">
            <a:off x="609600" y="11049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0B1822"/>
                </a:solidFill>
                <a:latin typeface="Arial Black"/>
                <a:ea typeface="Arial Black"/>
                <a:cs typeface="Arial Black"/>
              </a:defRPr>
            </a:defPPr>
            <a:lvl1pPr>
              <a:defRPr sz="3525" b="1">
                <a:solidFill>
                  <a:srgbClr val="0B1822"/>
                </a:solidFill>
                <a:latin typeface="Arial Black"/>
                <a:ea typeface="Arial Black"/>
                <a:cs typeface="Arial Black"/>
              </a:defRPr>
            </a:lvl1pPr>
            <a:lvl2pPr>
              <a:defRPr sz="3525" b="1">
                <a:solidFill>
                  <a:srgbClr val="0B1822"/>
                </a:solidFill>
                <a:latin typeface="Arial Black"/>
                <a:ea typeface="Arial Black"/>
                <a:cs typeface="Arial Black"/>
              </a:defRPr>
            </a:lvl2pPr>
            <a:lvl3pPr>
              <a:defRPr sz="3525" b="1">
                <a:solidFill>
                  <a:srgbClr val="0B1822"/>
                </a:solidFill>
                <a:latin typeface="Arial Black"/>
                <a:ea typeface="Arial Black"/>
                <a:cs typeface="Arial Black"/>
              </a:defRPr>
            </a:lvl3pPr>
            <a:lvl4pPr>
              <a:defRPr sz="3525" b="1">
                <a:solidFill>
                  <a:srgbClr val="0B1822"/>
                </a:solidFill>
                <a:latin typeface="Arial Black"/>
                <a:ea typeface="Arial Black"/>
                <a:cs typeface="Arial Black"/>
              </a:defRPr>
            </a:lvl4pPr>
            <a:lvl5pPr>
              <a:defRPr sz="3525" b="1">
                <a:solidFill>
                  <a:srgbClr val="0B1822"/>
                </a:solidFill>
                <a:latin typeface="Arial Black"/>
                <a:ea typeface="Arial Black"/>
                <a:cs typeface="Arial Black"/>
              </a:defRPr>
            </a:lvl5pPr>
            <a:lvl6pPr>
              <a:defRPr sz="3525" b="1">
                <a:solidFill>
                  <a:srgbClr val="0B1822"/>
                </a:solidFill>
                <a:latin typeface="Arial Black"/>
                <a:ea typeface="Arial Black"/>
                <a:cs typeface="Arial Black"/>
              </a:defRPr>
            </a:lvl6pPr>
            <a:lvl7pPr>
              <a:defRPr sz="3525" b="1">
                <a:solidFill>
                  <a:srgbClr val="0B1822"/>
                </a:solidFill>
                <a:latin typeface="Arial Black"/>
                <a:ea typeface="Arial Black"/>
                <a:cs typeface="Arial Black"/>
              </a:defRPr>
            </a:lvl7pPr>
            <a:lvl8pPr>
              <a:defRPr sz="3525" b="1">
                <a:solidFill>
                  <a:srgbClr val="0B1822"/>
                </a:solidFill>
                <a:latin typeface="Arial Black"/>
                <a:ea typeface="Arial Black"/>
                <a:cs typeface="Arial Black"/>
              </a:defRPr>
            </a:lvl8pPr>
            <a:lvl9pPr>
              <a:defRPr sz="3525" b="1">
                <a:solidFill>
                  <a:srgbClr val="0B1822"/>
                </a:solidFill>
                <a:latin typeface="Arial Black"/>
                <a:ea typeface="Arial Black"/>
                <a:cs typeface="Arial Black"/>
              </a:defRPr>
            </a:lvl9pPr>
          </a:lstStyle>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What would make</a:t>
            </a:r>
          </a:p>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debugging safe?</a:t>
            </a:r>
          </a:p>
        </p:txBody>
      </p:sp>
      <p:pic>
        <p:nvPicPr>
          <p:cNvPr id="3" name="" descr="Recorded lab diagram showing a debug subresource path alongside the Pod admission boundary.">
            <a:extLst xmlns:a="http://schemas.openxmlformats.org/drawingml/2006/main">
              <a:ext uri="{FF2B5EF4-FFF2-40B4-BE49-F238E27FC236}">
                <a16:creationId xmlns:a16="http://schemas.microsoft.com/office/drawing/2014/main" id="{79098F12-3433-40F8-87B7-18E6594815FC}"/>
              </a:ext>
            </a:extLst>
          </p:cNvPr>
          <p:cNvPicPr>
            <a:picLocks xmlns:a="http://schemas.openxmlformats.org/drawingml/2006/main" noChangeAspect="1"/>
          </p:cNvPicPr>
          <p:nvPr/>
        </p:nvPicPr>
        <p:blipFill>
          <a:blip xmlns:r="http://schemas.openxmlformats.org/officeDocument/2006/relationships" xmlns:a="http://schemas.openxmlformats.org/drawingml/2006/main" r:embed="Rcefa0ba9a2e6411e"/>
          <a:srcRect xmlns:a="http://schemas.openxmlformats.org/drawingml/2006/main" l="3000" t="11000" r="44000" b="17000"/>
          <a:stretch xmlns:a="http://schemas.openxmlformats.org/drawingml/2006/main"/>
        </p:blipFill>
        <p:spPr>
          <a:xfrm xmlns:a="http://schemas.openxmlformats.org/drawingml/2006/main">
            <a:off x="609600" y="2400300"/>
            <a:ext cx="6572250" cy="3638550"/>
          </a:xfrm>
          <a:prstGeom xmlns:a="http://schemas.openxmlformats.org/drawingml/2006/main" prst="rect">
            <a:avLst/>
          </a:prstGeom>
        </p:spPr>
      </p:pic>
      <p:sp>
        <p:nvSpPr>
          <p:cNvPr id="4" name="SCENARIO:&#10;Image policy covers Pod CREATE.&#10;Respon">
            <a:extLst xmlns:a="http://schemas.openxmlformats.org/drawingml/2006/main">
              <a:ext uri="{FF2B5EF4-FFF2-40B4-BE49-F238E27FC236}">
                <a16:creationId xmlns:a16="http://schemas.microsoft.com/office/drawing/2014/main" id="{B0398D7B-F0F0-4389-9B87-3437D8CA3E64}"/>
              </a:ext>
            </a:extLst>
          </p:cNvPr>
          <p:cNvSpPr>
            <a:spLocks xmlns:a="http://schemas.openxmlformats.org/drawingml/2006/main" noGrp="1"/>
          </p:cNvSpPr>
          <p:nvPr/>
        </p:nvSpPr>
        <p:spPr>
          <a:xfrm xmlns:a="http://schemas.openxmlformats.org/drawingml/2006/main">
            <a:off x="7429500" y="2400300"/>
            <a:ext cx="413385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79"/>
            </a:solidFill>
          </a:ln>
        </p:spPr>
        <p:txBody>
          <a:bodyPr xmlns:a="http://schemas.openxmlformats.org/drawingml/2006/main"/>
          <a:lstStyle xmlns:a="http://schemas.openxmlformats.org/drawingml/2006/main">
            <a:defPPr>
              <a:defRPr sz="1800" b="1">
                <a:solidFill>
                  <a:srgbClr val="0B1822"/>
                </a:solidFill>
                <a:latin typeface="Arial"/>
                <a:ea typeface="Arial"/>
                <a:cs typeface="Arial"/>
              </a:defRPr>
            </a:defPPr>
            <a:lvl1pPr>
              <a:defRPr sz="1800" b="1">
                <a:solidFill>
                  <a:srgbClr val="0B1822"/>
                </a:solidFill>
                <a:latin typeface="Arial"/>
                <a:ea typeface="Arial"/>
                <a:cs typeface="Arial"/>
              </a:defRPr>
            </a:lvl1pPr>
            <a:lvl2pPr>
              <a:defRPr sz="1800" b="1">
                <a:solidFill>
                  <a:srgbClr val="0B1822"/>
                </a:solidFill>
                <a:latin typeface="Arial"/>
                <a:ea typeface="Arial"/>
                <a:cs typeface="Arial"/>
              </a:defRPr>
            </a:lvl2pPr>
            <a:lvl3pPr>
              <a:defRPr sz="1800" b="1">
                <a:solidFill>
                  <a:srgbClr val="0B1822"/>
                </a:solidFill>
                <a:latin typeface="Arial"/>
                <a:ea typeface="Arial"/>
                <a:cs typeface="Arial"/>
              </a:defRPr>
            </a:lvl3pPr>
            <a:lvl4pPr>
              <a:defRPr sz="1800" b="1">
                <a:solidFill>
                  <a:srgbClr val="0B1822"/>
                </a:solidFill>
                <a:latin typeface="Arial"/>
                <a:ea typeface="Arial"/>
                <a:cs typeface="Arial"/>
              </a:defRPr>
            </a:lvl4pPr>
            <a:lvl5pPr>
              <a:defRPr sz="1800" b="1">
                <a:solidFill>
                  <a:srgbClr val="0B1822"/>
                </a:solidFill>
                <a:latin typeface="Arial"/>
                <a:ea typeface="Arial"/>
                <a:cs typeface="Arial"/>
              </a:defRPr>
            </a:lvl5pPr>
            <a:lvl6pPr>
              <a:defRPr sz="1800" b="1">
                <a:solidFill>
                  <a:srgbClr val="0B1822"/>
                </a:solidFill>
                <a:latin typeface="Arial"/>
                <a:ea typeface="Arial"/>
                <a:cs typeface="Arial"/>
              </a:defRPr>
            </a:lvl6pPr>
            <a:lvl7pPr>
              <a:defRPr sz="1800" b="1">
                <a:solidFill>
                  <a:srgbClr val="0B1822"/>
                </a:solidFill>
                <a:latin typeface="Arial"/>
                <a:ea typeface="Arial"/>
                <a:cs typeface="Arial"/>
              </a:defRPr>
            </a:lvl7pPr>
            <a:lvl8pPr>
              <a:defRPr sz="1800" b="1">
                <a:solidFill>
                  <a:srgbClr val="0B1822"/>
                </a:solidFill>
                <a:latin typeface="Arial"/>
                <a:ea typeface="Arial"/>
                <a:cs typeface="Arial"/>
              </a:defRPr>
            </a:lvl8pPr>
            <a:lvl9pPr>
              <a:defRPr sz="1800" b="1">
                <a:solidFill>
                  <a:srgbClr val="0B1822"/>
                </a:solidFill>
                <a:latin typeface="Arial"/>
                <a:ea typeface="Arial"/>
                <a:cs typeface="Arial"/>
              </a:defRPr>
            </a:lvl9pPr>
          </a:lstStyle>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SCENARIO:</a:t>
            </a:r>
          </a:p>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Image policy covers Pod CREATE.</a:t>
            </a:r>
          </a:p>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Responder runs kubectl debug.</a:t>
            </a:r>
          </a:p>
        </p:txBody>
      </p:sp>
      <p:sp>
        <p:nvSpPr>
          <p:cNvPr id="5" name="TABLE QUESTION:&#10;Which API subresource needs test">
            <a:extLst xmlns:a="http://schemas.openxmlformats.org/drawingml/2006/main">
              <a:ext uri="{FF2B5EF4-FFF2-40B4-BE49-F238E27FC236}">
                <a16:creationId xmlns:a16="http://schemas.microsoft.com/office/drawing/2014/main" id="{4AE44D69-2D00-4FF6-8499-A76120945929}"/>
              </a:ext>
            </a:extLst>
          </p:cNvPr>
          <p:cNvSpPr>
            <a:spLocks xmlns:a="http://schemas.openxmlformats.org/drawingml/2006/main" noGrp="1"/>
          </p:cNvSpPr>
          <p:nvPr/>
        </p:nvSpPr>
        <p:spPr>
          <a:xfrm xmlns:a="http://schemas.openxmlformats.org/drawingml/2006/main">
            <a:off x="7429500" y="4248150"/>
            <a:ext cx="4133850" cy="1790700"/>
          </a:xfrm>
          <a:prstGeom xmlns:a="http://schemas.openxmlformats.org/drawingml/2006/main" prst="rect">
            <a:avLst/>
          </a:prstGeom>
          <a:solidFill xmlns:a="http://schemas.openxmlformats.org/drawingml/2006/main">
            <a:srgbClr val="09131D"/>
          </a:solidFill>
          <a:ln xmlns:a="http://schemas.openxmlformats.org/drawingml/2006/main" w="19050">
            <a:solidFill>
              <a:srgbClr val="D45336"/>
            </a:solidFill>
          </a:ln>
        </p:spPr>
        <p:txBody>
          <a:bodyPr xmlns:a="http://schemas.openxmlformats.org/drawingml/2006/main"/>
          <a:lstStyle xmlns:a="http://schemas.openxmlformats.org/drawingml/2006/main">
            <a:defPPr>
              <a:defRPr sz="1650" b="1">
                <a:solidFill>
                  <a:srgbClr val="F2EFE7"/>
                </a:solidFill>
                <a:latin typeface="Arial"/>
                <a:ea typeface="Arial"/>
                <a:cs typeface="Arial"/>
              </a:defRPr>
            </a:defPPr>
            <a:lvl1pPr>
              <a:defRPr sz="1650" b="1">
                <a:solidFill>
                  <a:srgbClr val="F2EFE7"/>
                </a:solidFill>
                <a:latin typeface="Arial"/>
                <a:ea typeface="Arial"/>
                <a:cs typeface="Arial"/>
              </a:defRPr>
            </a:lvl1pPr>
            <a:lvl2pPr>
              <a:defRPr sz="1650" b="1">
                <a:solidFill>
                  <a:srgbClr val="F2EFE7"/>
                </a:solidFill>
                <a:latin typeface="Arial"/>
                <a:ea typeface="Arial"/>
                <a:cs typeface="Arial"/>
              </a:defRPr>
            </a:lvl2pPr>
            <a:lvl3pPr>
              <a:defRPr sz="1650" b="1">
                <a:solidFill>
                  <a:srgbClr val="F2EFE7"/>
                </a:solidFill>
                <a:latin typeface="Arial"/>
                <a:ea typeface="Arial"/>
                <a:cs typeface="Arial"/>
              </a:defRPr>
            </a:lvl3pPr>
            <a:lvl4pPr>
              <a:defRPr sz="1650" b="1">
                <a:solidFill>
                  <a:srgbClr val="F2EFE7"/>
                </a:solidFill>
                <a:latin typeface="Arial"/>
                <a:ea typeface="Arial"/>
                <a:cs typeface="Arial"/>
              </a:defRPr>
            </a:lvl4pPr>
            <a:lvl5pPr>
              <a:defRPr sz="1650" b="1">
                <a:solidFill>
                  <a:srgbClr val="F2EFE7"/>
                </a:solidFill>
                <a:latin typeface="Arial"/>
                <a:ea typeface="Arial"/>
                <a:cs typeface="Arial"/>
              </a:defRPr>
            </a:lvl5pPr>
            <a:lvl6pPr>
              <a:defRPr sz="1650" b="1">
                <a:solidFill>
                  <a:srgbClr val="F2EFE7"/>
                </a:solidFill>
                <a:latin typeface="Arial"/>
                <a:ea typeface="Arial"/>
                <a:cs typeface="Arial"/>
              </a:defRPr>
            </a:lvl6pPr>
            <a:lvl7pPr>
              <a:defRPr sz="1650" b="1">
                <a:solidFill>
                  <a:srgbClr val="F2EFE7"/>
                </a:solidFill>
                <a:latin typeface="Arial"/>
                <a:ea typeface="Arial"/>
                <a:cs typeface="Arial"/>
              </a:defRPr>
            </a:lvl7pPr>
            <a:lvl8pPr>
              <a:defRPr sz="1650" b="1">
                <a:solidFill>
                  <a:srgbClr val="F2EFE7"/>
                </a:solidFill>
                <a:latin typeface="Arial"/>
                <a:ea typeface="Arial"/>
                <a:cs typeface="Arial"/>
              </a:defRPr>
            </a:lvl8pPr>
            <a:lvl9pPr>
              <a:defRPr sz="1650" b="1">
                <a:solidFill>
                  <a:srgbClr val="F2EFE7"/>
                </a:solidFill>
                <a:latin typeface="Arial"/>
                <a:ea typeface="Arial"/>
                <a:cs typeface="Arial"/>
              </a:defRPr>
            </a:lvl9pPr>
          </a:lstStyle>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TABLE QUESTION:</a:t>
            </a:r>
          </a:p>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Which API subresource needs testing?</a:t>
            </a:r>
          </a:p>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How do you allow forensics safely?</a:t>
            </a:r>
          </a:p>
        </p:txBody>
      </p:sp>
      <p:sp>
        <p:nvSpPr>
          <p:cNvPr id="6" name="Recorded k3s cluster observation  ·  Predict bef">
            <a:extLst xmlns:a="http://schemas.openxmlformats.org/drawingml/2006/main">
              <a:ext uri="{FF2B5EF4-FFF2-40B4-BE49-F238E27FC236}">
                <a16:creationId xmlns:a16="http://schemas.microsoft.com/office/drawing/2014/main" id="{686D960C-D250-4298-BABA-37D1EFA3C03C}"/>
              </a:ext>
            </a:extLst>
          </p:cNvPr>
          <p:cNvSpPr>
            <a:spLocks xmlns:a="http://schemas.openxmlformats.org/drawingml/2006/main" noGrp="1"/>
          </p:cNvSpPr>
          <p:nvPr/>
        </p:nvSpPr>
        <p:spPr>
          <a:xfrm xmlns:a="http://schemas.openxmlformats.org/drawingml/2006/main">
            <a:off x="60960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0717A"/>
                </a:solidFill>
                <a:latin typeface="Arial"/>
                <a:ea typeface="Arial"/>
                <a:cs typeface="Arial"/>
              </a:defRPr>
            </a:defPPr>
            <a:lvl1pPr>
              <a:defRPr sz="1275" b="0">
                <a:solidFill>
                  <a:srgbClr val="60717A"/>
                </a:solidFill>
                <a:latin typeface="Arial"/>
                <a:ea typeface="Arial"/>
                <a:cs typeface="Arial"/>
              </a:defRPr>
            </a:lvl1pPr>
            <a:lvl2pPr>
              <a:defRPr sz="1275" b="0">
                <a:solidFill>
                  <a:srgbClr val="60717A"/>
                </a:solidFill>
                <a:latin typeface="Arial"/>
                <a:ea typeface="Arial"/>
                <a:cs typeface="Arial"/>
              </a:defRPr>
            </a:lvl2pPr>
            <a:lvl3pPr>
              <a:defRPr sz="1275" b="0">
                <a:solidFill>
                  <a:srgbClr val="60717A"/>
                </a:solidFill>
                <a:latin typeface="Arial"/>
                <a:ea typeface="Arial"/>
                <a:cs typeface="Arial"/>
              </a:defRPr>
            </a:lvl3pPr>
            <a:lvl4pPr>
              <a:defRPr sz="1275" b="0">
                <a:solidFill>
                  <a:srgbClr val="60717A"/>
                </a:solidFill>
                <a:latin typeface="Arial"/>
                <a:ea typeface="Arial"/>
                <a:cs typeface="Arial"/>
              </a:defRPr>
            </a:lvl4pPr>
            <a:lvl5pPr>
              <a:defRPr sz="1275" b="0">
                <a:solidFill>
                  <a:srgbClr val="60717A"/>
                </a:solidFill>
                <a:latin typeface="Arial"/>
                <a:ea typeface="Arial"/>
                <a:cs typeface="Arial"/>
              </a:defRPr>
            </a:lvl5pPr>
            <a:lvl6pPr>
              <a:defRPr sz="1275" b="0">
                <a:solidFill>
                  <a:srgbClr val="60717A"/>
                </a:solidFill>
                <a:latin typeface="Arial"/>
                <a:ea typeface="Arial"/>
                <a:cs typeface="Arial"/>
              </a:defRPr>
            </a:lvl6pPr>
            <a:lvl7pPr>
              <a:defRPr sz="1275" b="0">
                <a:solidFill>
                  <a:srgbClr val="60717A"/>
                </a:solidFill>
                <a:latin typeface="Arial"/>
                <a:ea typeface="Arial"/>
                <a:cs typeface="Arial"/>
              </a:defRPr>
            </a:lvl7pPr>
            <a:lvl8pPr>
              <a:defRPr sz="1275" b="0">
                <a:solidFill>
                  <a:srgbClr val="60717A"/>
                </a:solidFill>
                <a:latin typeface="Arial"/>
                <a:ea typeface="Arial"/>
                <a:cs typeface="Arial"/>
              </a:defRPr>
            </a:lvl8pPr>
            <a:lvl9pPr>
              <a:defRPr sz="1275" b="0">
                <a:solidFill>
                  <a:srgbClr val="60717A"/>
                </a:solidFill>
                <a:latin typeface="Arial"/>
                <a:ea typeface="Arial"/>
                <a:cs typeface="Arial"/>
              </a:defRPr>
            </a:lvl9pPr>
          </a:lstStyle>
          <a:p xmlns:a="http://schemas.openxmlformats.org/drawingml/2006/main">
            <a:pPr>
              <a:defRPr sz="1275" b="0">
                <a:solidFill>
                  <a:srgbClr val="60717A"/>
                </a:solidFill>
                <a:latin typeface="Arial"/>
                <a:ea typeface="Arial"/>
                <a:cs typeface="Arial"/>
              </a:defRPr>
            </a:pPr>
            <a:r>
              <a:rPr sz="1275" b="0">
                <a:solidFill>
                  <a:srgbClr val="60717A"/>
                </a:solidFill>
                <a:latin typeface="Arial"/>
                <a:ea typeface="Arial"/>
                <a:cs typeface="Arial"/>
              </a:rPr>
              <a:t>Recorded k3s cluster observation  ·  Predict before the reveal</a:t>
            </a:r>
          </a:p>
        </p:txBody>
      </p:sp>
      <p:sp>
        <p:nvSpPr>
          <p:cNvPr id="7" name="ISC2 SECURITY CONGRESS 2026 / SC2632">
            <a:extLst xmlns:a="http://schemas.openxmlformats.org/drawingml/2006/main">
              <a:ext uri="{FF2B5EF4-FFF2-40B4-BE49-F238E27FC236}">
                <a16:creationId xmlns:a16="http://schemas.microsoft.com/office/drawing/2014/main" id="{5418901D-ED2C-4381-A8B3-D474FBF1C7E3}"/>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24">
            <a:extLst xmlns:a="http://schemas.openxmlformats.org/drawingml/2006/main">
              <a:ext uri="{FF2B5EF4-FFF2-40B4-BE49-F238E27FC236}">
                <a16:creationId xmlns:a16="http://schemas.microsoft.com/office/drawing/2014/main" id="{0A5AAA9D-B1AF-4ED4-9816-7BADA8F58915}"/>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24</a:t>
            </a:r>
          </a:p>
        </p:txBody>
      </p:sp>
    </p:spTree>
    <p:extLst>
      <p:ext uri="{BB962C8B-B14F-4D97-AF65-F5344CB8AC3E}">
        <p14:creationId xmlns:p14="http://schemas.microsoft.com/office/powerpoint/2010/main" val="217896940"/>
      </p:ext>
    </p:extLst>
  </p:cSld>
</p:sld>
</file>

<file path=ppt/slides/slide25.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RECORDED LAB 04 / PREDICT THEN REVEAL">
            <a:extLst xmlns:a="http://schemas.openxmlformats.org/drawingml/2006/main">
              <a:ext uri="{FF2B5EF4-FFF2-40B4-BE49-F238E27FC236}">
                <a16:creationId xmlns:a16="http://schemas.microsoft.com/office/drawing/2014/main" id="{6344D8B2-91D4-4EFF-A769-ADA9DCBAC393}"/>
              </a:ext>
            </a:extLst>
          </p:cNvPr>
          <p:cNvSpPr>
            <a:spLocks xmlns:a="http://schemas.openxmlformats.org/drawingml/2006/main" noGrp="1"/>
          </p:cNvSpPr>
          <p:nvPr/>
        </p:nvSpPr>
        <p:spPr>
          <a:xfrm xmlns:a="http://schemas.openxmlformats.org/drawingml/2006/main">
            <a:off x="609600" y="44767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vl1pPr>
              <a:defRPr sz="1200" b="1">
                <a:solidFill>
                  <a:srgbClr val="087E79"/>
                </a:solidFill>
                <a:latin typeface="Arial"/>
                <a:ea typeface="Arial"/>
                <a:cs typeface="Arial"/>
              </a:defRPr>
            </a:lvl1pPr>
            <a:lvl2pPr>
              <a:defRPr sz="1200" b="1">
                <a:solidFill>
                  <a:srgbClr val="087E79"/>
                </a:solidFill>
                <a:latin typeface="Arial"/>
                <a:ea typeface="Arial"/>
                <a:cs typeface="Arial"/>
              </a:defRPr>
            </a:lvl2pPr>
            <a:lvl3pPr>
              <a:defRPr sz="1200" b="1">
                <a:solidFill>
                  <a:srgbClr val="087E79"/>
                </a:solidFill>
                <a:latin typeface="Arial"/>
                <a:ea typeface="Arial"/>
                <a:cs typeface="Arial"/>
              </a:defRPr>
            </a:lvl3pPr>
            <a:lvl4pPr>
              <a:defRPr sz="1200" b="1">
                <a:solidFill>
                  <a:srgbClr val="087E79"/>
                </a:solidFill>
                <a:latin typeface="Arial"/>
                <a:ea typeface="Arial"/>
                <a:cs typeface="Arial"/>
              </a:defRPr>
            </a:lvl4pPr>
            <a:lvl5pPr>
              <a:defRPr sz="1200" b="1">
                <a:solidFill>
                  <a:srgbClr val="087E79"/>
                </a:solidFill>
                <a:latin typeface="Arial"/>
                <a:ea typeface="Arial"/>
                <a:cs typeface="Arial"/>
              </a:defRPr>
            </a:lvl5pPr>
            <a:lvl6pPr>
              <a:defRPr sz="1200" b="1">
                <a:solidFill>
                  <a:srgbClr val="087E79"/>
                </a:solidFill>
                <a:latin typeface="Arial"/>
                <a:ea typeface="Arial"/>
                <a:cs typeface="Arial"/>
              </a:defRPr>
            </a:lvl6pPr>
            <a:lvl7pPr>
              <a:defRPr sz="1200" b="1">
                <a:solidFill>
                  <a:srgbClr val="087E79"/>
                </a:solidFill>
                <a:latin typeface="Arial"/>
                <a:ea typeface="Arial"/>
                <a:cs typeface="Arial"/>
              </a:defRPr>
            </a:lvl7pPr>
            <a:lvl8pPr>
              <a:defRPr sz="1200" b="1">
                <a:solidFill>
                  <a:srgbClr val="087E79"/>
                </a:solidFill>
                <a:latin typeface="Arial"/>
                <a:ea typeface="Arial"/>
                <a:cs typeface="Arial"/>
              </a:defRPr>
            </a:lvl8pPr>
            <a:lvl9pPr>
              <a:defRPr sz="1200" b="1">
                <a:solidFill>
                  <a:srgbClr val="087E79"/>
                </a:solidFill>
                <a:latin typeface="Arial"/>
                <a:ea typeface="Arial"/>
                <a:cs typeface="Arial"/>
              </a:defRPr>
            </a:lvl9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RECORDED LAB 04 / PREDICT THEN REVEAL</a:t>
            </a:r>
          </a:p>
        </p:txBody>
      </p:sp>
      <p:sp>
        <p:nvSpPr>
          <p:cNvPr id="2" name="Which authority&#10;must change?">
            <a:extLst xmlns:a="http://schemas.openxmlformats.org/drawingml/2006/main">
              <a:ext uri="{FF2B5EF4-FFF2-40B4-BE49-F238E27FC236}">
                <a16:creationId xmlns:a16="http://schemas.microsoft.com/office/drawing/2014/main" id="{ED649AAB-B7D7-45A8-94F7-FCA9F376AD03}"/>
              </a:ext>
            </a:extLst>
          </p:cNvPr>
          <p:cNvSpPr>
            <a:spLocks xmlns:a="http://schemas.openxmlformats.org/drawingml/2006/main" noGrp="1"/>
          </p:cNvSpPr>
          <p:nvPr>
            <p:ph type="title" idx="0"/>
          </p:nvPr>
        </p:nvSpPr>
        <p:spPr>
          <a:xfrm xmlns:a="http://schemas.openxmlformats.org/drawingml/2006/main">
            <a:off x="609600" y="1104900"/>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0B1822"/>
                </a:solidFill>
                <a:latin typeface="Arial Black"/>
                <a:ea typeface="Arial Black"/>
                <a:cs typeface="Arial Black"/>
              </a:defRPr>
            </a:defPPr>
            <a:lvl1pPr>
              <a:defRPr sz="3525" b="1">
                <a:solidFill>
                  <a:srgbClr val="0B1822"/>
                </a:solidFill>
                <a:latin typeface="Arial Black"/>
                <a:ea typeface="Arial Black"/>
                <a:cs typeface="Arial Black"/>
              </a:defRPr>
            </a:lvl1pPr>
            <a:lvl2pPr>
              <a:defRPr sz="3525" b="1">
                <a:solidFill>
                  <a:srgbClr val="0B1822"/>
                </a:solidFill>
                <a:latin typeface="Arial Black"/>
                <a:ea typeface="Arial Black"/>
                <a:cs typeface="Arial Black"/>
              </a:defRPr>
            </a:lvl2pPr>
            <a:lvl3pPr>
              <a:defRPr sz="3525" b="1">
                <a:solidFill>
                  <a:srgbClr val="0B1822"/>
                </a:solidFill>
                <a:latin typeface="Arial Black"/>
                <a:ea typeface="Arial Black"/>
                <a:cs typeface="Arial Black"/>
              </a:defRPr>
            </a:lvl3pPr>
            <a:lvl4pPr>
              <a:defRPr sz="3525" b="1">
                <a:solidFill>
                  <a:srgbClr val="0B1822"/>
                </a:solidFill>
                <a:latin typeface="Arial Black"/>
                <a:ea typeface="Arial Black"/>
                <a:cs typeface="Arial Black"/>
              </a:defRPr>
            </a:lvl4pPr>
            <a:lvl5pPr>
              <a:defRPr sz="3525" b="1">
                <a:solidFill>
                  <a:srgbClr val="0B1822"/>
                </a:solidFill>
                <a:latin typeface="Arial Black"/>
                <a:ea typeface="Arial Black"/>
                <a:cs typeface="Arial Black"/>
              </a:defRPr>
            </a:lvl5pPr>
            <a:lvl6pPr>
              <a:defRPr sz="3525" b="1">
                <a:solidFill>
                  <a:srgbClr val="0B1822"/>
                </a:solidFill>
                <a:latin typeface="Arial Black"/>
                <a:ea typeface="Arial Black"/>
                <a:cs typeface="Arial Black"/>
              </a:defRPr>
            </a:lvl6pPr>
            <a:lvl7pPr>
              <a:defRPr sz="3525" b="1">
                <a:solidFill>
                  <a:srgbClr val="0B1822"/>
                </a:solidFill>
                <a:latin typeface="Arial Black"/>
                <a:ea typeface="Arial Black"/>
                <a:cs typeface="Arial Black"/>
              </a:defRPr>
            </a:lvl7pPr>
            <a:lvl8pPr>
              <a:defRPr sz="3525" b="1">
                <a:solidFill>
                  <a:srgbClr val="0B1822"/>
                </a:solidFill>
                <a:latin typeface="Arial Black"/>
                <a:ea typeface="Arial Black"/>
                <a:cs typeface="Arial Black"/>
              </a:defRPr>
            </a:lvl8pPr>
            <a:lvl9pPr>
              <a:defRPr sz="3525" b="1">
                <a:solidFill>
                  <a:srgbClr val="0B1822"/>
                </a:solidFill>
                <a:latin typeface="Arial Black"/>
                <a:ea typeface="Arial Black"/>
                <a:cs typeface="Arial Black"/>
              </a:defRPr>
            </a:lvl9pPr>
          </a:lstStyle>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Which authority</a:t>
            </a:r>
          </a:p>
          <a:p xmlns:a="http://schemas.openxmlformats.org/drawingml/2006/main">
            <a:pPr>
              <a:defRPr sz="3525" b="1">
                <a:solidFill>
                  <a:srgbClr val="0B1822"/>
                </a:solidFill>
                <a:latin typeface="Arial Black"/>
                <a:ea typeface="Arial Black"/>
                <a:cs typeface="Arial Black"/>
              </a:defRPr>
            </a:pPr>
            <a:r>
              <a:rPr sz="3525" b="1">
                <a:solidFill>
                  <a:srgbClr val="0B1822"/>
                </a:solidFill>
                <a:latin typeface="Arial Black"/>
                <a:ea typeface="Arial Black"/>
                <a:cs typeface="Arial Black"/>
              </a:rPr>
              <a:t>must change?</a:t>
            </a:r>
          </a:p>
        </p:txBody>
      </p:sp>
      <p:pic>
        <p:nvPicPr>
          <p:cNvPr id="3" name="" descr="Recorded lab diagram showing the policy engine workload and the separate guard protecting its authority.">
            <a:extLst xmlns:a="http://schemas.openxmlformats.org/drawingml/2006/main">
              <a:ext uri="{FF2B5EF4-FFF2-40B4-BE49-F238E27FC236}">
                <a16:creationId xmlns:a16="http://schemas.microsoft.com/office/drawing/2014/main" id="{8E915327-8D0E-4B9A-9F1C-EA3CA2FF33C2}"/>
              </a:ext>
            </a:extLst>
          </p:cNvPr>
          <p:cNvPicPr>
            <a:picLocks xmlns:a="http://schemas.openxmlformats.org/drawingml/2006/main" noChangeAspect="1"/>
          </p:cNvPicPr>
          <p:nvPr/>
        </p:nvPicPr>
        <p:blipFill>
          <a:blip xmlns:r="http://schemas.openxmlformats.org/officeDocument/2006/relationships" xmlns:a="http://schemas.openxmlformats.org/drawingml/2006/main" r:embed="R46df55a4b7694e92"/>
          <a:srcRect xmlns:a="http://schemas.openxmlformats.org/drawingml/2006/main" l="3000" t="11000" r="44000" b="17000"/>
          <a:stretch xmlns:a="http://schemas.openxmlformats.org/drawingml/2006/main"/>
        </p:blipFill>
        <p:spPr>
          <a:xfrm xmlns:a="http://schemas.openxmlformats.org/drawingml/2006/main">
            <a:off x="609600" y="2400300"/>
            <a:ext cx="6572250" cy="3638550"/>
          </a:xfrm>
          <a:prstGeom xmlns:a="http://schemas.openxmlformats.org/drawingml/2006/main" prst="rect">
            <a:avLst/>
          </a:prstGeom>
        </p:spPr>
      </p:pic>
      <p:sp>
        <p:nvSpPr>
          <p:cNvPr id="4" name="SCENARIO:&#10;Agent can scale Deployments.&#10;Kyverno r">
            <a:extLst xmlns:a="http://schemas.openxmlformats.org/drawingml/2006/main">
              <a:ext uri="{FF2B5EF4-FFF2-40B4-BE49-F238E27FC236}">
                <a16:creationId xmlns:a16="http://schemas.microsoft.com/office/drawing/2014/main" id="{BD1E065B-B589-4075-80C1-4CB4DDFCCC92}"/>
              </a:ext>
            </a:extLst>
          </p:cNvPr>
          <p:cNvSpPr>
            <a:spLocks xmlns:a="http://schemas.openxmlformats.org/drawingml/2006/main" noGrp="1"/>
          </p:cNvSpPr>
          <p:nvPr/>
        </p:nvSpPr>
        <p:spPr>
          <a:xfrm xmlns:a="http://schemas.openxmlformats.org/drawingml/2006/main">
            <a:off x="7429500" y="2400300"/>
            <a:ext cx="4133850" cy="1676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79"/>
            </a:solidFill>
          </a:ln>
        </p:spPr>
        <p:txBody>
          <a:bodyPr xmlns:a="http://schemas.openxmlformats.org/drawingml/2006/main"/>
          <a:lstStyle xmlns:a="http://schemas.openxmlformats.org/drawingml/2006/main">
            <a:defPPr>
              <a:defRPr sz="1800" b="1">
                <a:solidFill>
                  <a:srgbClr val="0B1822"/>
                </a:solidFill>
                <a:latin typeface="Arial"/>
                <a:ea typeface="Arial"/>
                <a:cs typeface="Arial"/>
              </a:defRPr>
            </a:defPPr>
            <a:lvl1pPr>
              <a:defRPr sz="1800" b="1">
                <a:solidFill>
                  <a:srgbClr val="0B1822"/>
                </a:solidFill>
                <a:latin typeface="Arial"/>
                <a:ea typeface="Arial"/>
                <a:cs typeface="Arial"/>
              </a:defRPr>
            </a:lvl1pPr>
            <a:lvl2pPr>
              <a:defRPr sz="1800" b="1">
                <a:solidFill>
                  <a:srgbClr val="0B1822"/>
                </a:solidFill>
                <a:latin typeface="Arial"/>
                <a:ea typeface="Arial"/>
                <a:cs typeface="Arial"/>
              </a:defRPr>
            </a:lvl2pPr>
            <a:lvl3pPr>
              <a:defRPr sz="1800" b="1">
                <a:solidFill>
                  <a:srgbClr val="0B1822"/>
                </a:solidFill>
                <a:latin typeface="Arial"/>
                <a:ea typeface="Arial"/>
                <a:cs typeface="Arial"/>
              </a:defRPr>
            </a:lvl3pPr>
            <a:lvl4pPr>
              <a:defRPr sz="1800" b="1">
                <a:solidFill>
                  <a:srgbClr val="0B1822"/>
                </a:solidFill>
                <a:latin typeface="Arial"/>
                <a:ea typeface="Arial"/>
                <a:cs typeface="Arial"/>
              </a:defRPr>
            </a:lvl4pPr>
            <a:lvl5pPr>
              <a:defRPr sz="1800" b="1">
                <a:solidFill>
                  <a:srgbClr val="0B1822"/>
                </a:solidFill>
                <a:latin typeface="Arial"/>
                <a:ea typeface="Arial"/>
                <a:cs typeface="Arial"/>
              </a:defRPr>
            </a:lvl5pPr>
            <a:lvl6pPr>
              <a:defRPr sz="1800" b="1">
                <a:solidFill>
                  <a:srgbClr val="0B1822"/>
                </a:solidFill>
                <a:latin typeface="Arial"/>
                <a:ea typeface="Arial"/>
                <a:cs typeface="Arial"/>
              </a:defRPr>
            </a:lvl6pPr>
            <a:lvl7pPr>
              <a:defRPr sz="1800" b="1">
                <a:solidFill>
                  <a:srgbClr val="0B1822"/>
                </a:solidFill>
                <a:latin typeface="Arial"/>
                <a:ea typeface="Arial"/>
                <a:cs typeface="Arial"/>
              </a:defRPr>
            </a:lvl7pPr>
            <a:lvl8pPr>
              <a:defRPr sz="1800" b="1">
                <a:solidFill>
                  <a:srgbClr val="0B1822"/>
                </a:solidFill>
                <a:latin typeface="Arial"/>
                <a:ea typeface="Arial"/>
                <a:cs typeface="Arial"/>
              </a:defRPr>
            </a:lvl8pPr>
            <a:lvl9pPr>
              <a:defRPr sz="1800" b="1">
                <a:solidFill>
                  <a:srgbClr val="0B1822"/>
                </a:solidFill>
                <a:latin typeface="Arial"/>
                <a:ea typeface="Arial"/>
                <a:cs typeface="Arial"/>
              </a:defRPr>
            </a:lvl9pPr>
          </a:lstStyle>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SCENARIO:</a:t>
            </a:r>
          </a:p>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Agent can scale Deployments.</a:t>
            </a:r>
          </a:p>
          <a:p xmlns:a="http://schemas.openxmlformats.org/drawingml/2006/main">
            <a:pPr>
              <a:defRPr sz="1800" b="1">
                <a:solidFill>
                  <a:srgbClr val="0B1822"/>
                </a:solidFill>
                <a:latin typeface="Arial"/>
                <a:ea typeface="Arial"/>
                <a:cs typeface="Arial"/>
              </a:defRPr>
            </a:pPr>
            <a:r>
              <a:rPr sz="1800" b="1">
                <a:solidFill>
                  <a:srgbClr val="0B1822"/>
                </a:solidFill>
                <a:latin typeface="Arial"/>
                <a:ea typeface="Arial"/>
                <a:cs typeface="Arial"/>
              </a:rPr>
              <a:t>Kyverno runs as a Deployment.</a:t>
            </a:r>
          </a:p>
        </p:txBody>
      </p:sp>
      <p:sp>
        <p:nvSpPr>
          <p:cNvPr id="5" name="TABLE QUESTION:&#10;What protects Kyverno if an agen">
            <a:extLst xmlns:a="http://schemas.openxmlformats.org/drawingml/2006/main">
              <a:ext uri="{FF2B5EF4-FFF2-40B4-BE49-F238E27FC236}">
                <a16:creationId xmlns:a16="http://schemas.microsoft.com/office/drawing/2014/main" id="{F6918689-F581-4AEA-A9F1-7B7AF8714EDC}"/>
              </a:ext>
            </a:extLst>
          </p:cNvPr>
          <p:cNvSpPr>
            <a:spLocks xmlns:a="http://schemas.openxmlformats.org/drawingml/2006/main" noGrp="1"/>
          </p:cNvSpPr>
          <p:nvPr/>
        </p:nvSpPr>
        <p:spPr>
          <a:xfrm xmlns:a="http://schemas.openxmlformats.org/drawingml/2006/main">
            <a:off x="7429500" y="4248150"/>
            <a:ext cx="4133850" cy="1790700"/>
          </a:xfrm>
          <a:prstGeom xmlns:a="http://schemas.openxmlformats.org/drawingml/2006/main" prst="rect">
            <a:avLst/>
          </a:prstGeom>
          <a:solidFill xmlns:a="http://schemas.openxmlformats.org/drawingml/2006/main">
            <a:srgbClr val="09131D"/>
          </a:solidFill>
          <a:ln xmlns:a="http://schemas.openxmlformats.org/drawingml/2006/main" w="19050">
            <a:solidFill>
              <a:srgbClr val="D45336"/>
            </a:solidFill>
          </a:ln>
        </p:spPr>
        <p:txBody>
          <a:bodyPr xmlns:a="http://schemas.openxmlformats.org/drawingml/2006/main"/>
          <a:lstStyle xmlns:a="http://schemas.openxmlformats.org/drawingml/2006/main">
            <a:defPPr>
              <a:defRPr sz="1650" b="1">
                <a:solidFill>
                  <a:srgbClr val="F2EFE7"/>
                </a:solidFill>
                <a:latin typeface="Arial"/>
                <a:ea typeface="Arial"/>
                <a:cs typeface="Arial"/>
              </a:defRPr>
            </a:defPPr>
            <a:lvl1pPr>
              <a:defRPr sz="1650" b="1">
                <a:solidFill>
                  <a:srgbClr val="F2EFE7"/>
                </a:solidFill>
                <a:latin typeface="Arial"/>
                <a:ea typeface="Arial"/>
                <a:cs typeface="Arial"/>
              </a:defRPr>
            </a:lvl1pPr>
            <a:lvl2pPr>
              <a:defRPr sz="1650" b="1">
                <a:solidFill>
                  <a:srgbClr val="F2EFE7"/>
                </a:solidFill>
                <a:latin typeface="Arial"/>
                <a:ea typeface="Arial"/>
                <a:cs typeface="Arial"/>
              </a:defRPr>
            </a:lvl2pPr>
            <a:lvl3pPr>
              <a:defRPr sz="1650" b="1">
                <a:solidFill>
                  <a:srgbClr val="F2EFE7"/>
                </a:solidFill>
                <a:latin typeface="Arial"/>
                <a:ea typeface="Arial"/>
                <a:cs typeface="Arial"/>
              </a:defRPr>
            </a:lvl3pPr>
            <a:lvl4pPr>
              <a:defRPr sz="1650" b="1">
                <a:solidFill>
                  <a:srgbClr val="F2EFE7"/>
                </a:solidFill>
                <a:latin typeface="Arial"/>
                <a:ea typeface="Arial"/>
                <a:cs typeface="Arial"/>
              </a:defRPr>
            </a:lvl4pPr>
            <a:lvl5pPr>
              <a:defRPr sz="1650" b="1">
                <a:solidFill>
                  <a:srgbClr val="F2EFE7"/>
                </a:solidFill>
                <a:latin typeface="Arial"/>
                <a:ea typeface="Arial"/>
                <a:cs typeface="Arial"/>
              </a:defRPr>
            </a:lvl5pPr>
            <a:lvl6pPr>
              <a:defRPr sz="1650" b="1">
                <a:solidFill>
                  <a:srgbClr val="F2EFE7"/>
                </a:solidFill>
                <a:latin typeface="Arial"/>
                <a:ea typeface="Arial"/>
                <a:cs typeface="Arial"/>
              </a:defRPr>
            </a:lvl6pPr>
            <a:lvl7pPr>
              <a:defRPr sz="1650" b="1">
                <a:solidFill>
                  <a:srgbClr val="F2EFE7"/>
                </a:solidFill>
                <a:latin typeface="Arial"/>
                <a:ea typeface="Arial"/>
                <a:cs typeface="Arial"/>
              </a:defRPr>
            </a:lvl7pPr>
            <a:lvl8pPr>
              <a:defRPr sz="1650" b="1">
                <a:solidFill>
                  <a:srgbClr val="F2EFE7"/>
                </a:solidFill>
                <a:latin typeface="Arial"/>
                <a:ea typeface="Arial"/>
                <a:cs typeface="Arial"/>
              </a:defRPr>
            </a:lvl8pPr>
            <a:lvl9pPr>
              <a:defRPr sz="1650" b="1">
                <a:solidFill>
                  <a:srgbClr val="F2EFE7"/>
                </a:solidFill>
                <a:latin typeface="Arial"/>
                <a:ea typeface="Arial"/>
                <a:cs typeface="Arial"/>
              </a:defRPr>
            </a:lvl9pPr>
          </a:lstStyle>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TABLE QUESTION:</a:t>
            </a:r>
          </a:p>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What protects Kyverno if an agent</a:t>
            </a:r>
          </a:p>
          <a:p xmlns:a="http://schemas.openxmlformats.org/drawingml/2006/main">
            <a:pPr>
              <a:defRPr sz="1650" b="1">
                <a:solidFill>
                  <a:srgbClr val="F2EFE7"/>
                </a:solidFill>
                <a:latin typeface="Arial"/>
                <a:ea typeface="Arial"/>
                <a:cs typeface="Arial"/>
              </a:defRPr>
            </a:pPr>
            <a:r>
              <a:rPr sz="1650" b="1">
                <a:solidFill>
                  <a:srgbClr val="F2EFE7"/>
                </a:solidFill>
                <a:latin typeface="Arial"/>
                <a:ea typeface="Arial"/>
                <a:cs typeface="Arial"/>
              </a:rPr>
              <a:t>has Deployment scale rights?</a:t>
            </a:r>
          </a:p>
        </p:txBody>
      </p:sp>
      <p:sp>
        <p:nvSpPr>
          <p:cNvPr id="6" name="Recorded k3s cluster observation  ·  Predict bef">
            <a:extLst xmlns:a="http://schemas.openxmlformats.org/drawingml/2006/main">
              <a:ext uri="{FF2B5EF4-FFF2-40B4-BE49-F238E27FC236}">
                <a16:creationId xmlns:a16="http://schemas.microsoft.com/office/drawing/2014/main" id="{EBD51EDD-ED66-494E-A867-A9CADD85F482}"/>
              </a:ext>
            </a:extLst>
          </p:cNvPr>
          <p:cNvSpPr>
            <a:spLocks xmlns:a="http://schemas.openxmlformats.org/drawingml/2006/main" noGrp="1"/>
          </p:cNvSpPr>
          <p:nvPr/>
        </p:nvSpPr>
        <p:spPr>
          <a:xfrm xmlns:a="http://schemas.openxmlformats.org/drawingml/2006/main">
            <a:off x="60960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0717A"/>
                </a:solidFill>
                <a:latin typeface="Arial"/>
                <a:ea typeface="Arial"/>
                <a:cs typeface="Arial"/>
              </a:defRPr>
            </a:defPPr>
            <a:lvl1pPr>
              <a:defRPr sz="1275" b="0">
                <a:solidFill>
                  <a:srgbClr val="60717A"/>
                </a:solidFill>
                <a:latin typeface="Arial"/>
                <a:ea typeface="Arial"/>
                <a:cs typeface="Arial"/>
              </a:defRPr>
            </a:lvl1pPr>
            <a:lvl2pPr>
              <a:defRPr sz="1275" b="0">
                <a:solidFill>
                  <a:srgbClr val="60717A"/>
                </a:solidFill>
                <a:latin typeface="Arial"/>
                <a:ea typeface="Arial"/>
                <a:cs typeface="Arial"/>
              </a:defRPr>
            </a:lvl2pPr>
            <a:lvl3pPr>
              <a:defRPr sz="1275" b="0">
                <a:solidFill>
                  <a:srgbClr val="60717A"/>
                </a:solidFill>
                <a:latin typeface="Arial"/>
                <a:ea typeface="Arial"/>
                <a:cs typeface="Arial"/>
              </a:defRPr>
            </a:lvl3pPr>
            <a:lvl4pPr>
              <a:defRPr sz="1275" b="0">
                <a:solidFill>
                  <a:srgbClr val="60717A"/>
                </a:solidFill>
                <a:latin typeface="Arial"/>
                <a:ea typeface="Arial"/>
                <a:cs typeface="Arial"/>
              </a:defRPr>
            </a:lvl4pPr>
            <a:lvl5pPr>
              <a:defRPr sz="1275" b="0">
                <a:solidFill>
                  <a:srgbClr val="60717A"/>
                </a:solidFill>
                <a:latin typeface="Arial"/>
                <a:ea typeface="Arial"/>
                <a:cs typeface="Arial"/>
              </a:defRPr>
            </a:lvl5pPr>
            <a:lvl6pPr>
              <a:defRPr sz="1275" b="0">
                <a:solidFill>
                  <a:srgbClr val="60717A"/>
                </a:solidFill>
                <a:latin typeface="Arial"/>
                <a:ea typeface="Arial"/>
                <a:cs typeface="Arial"/>
              </a:defRPr>
            </a:lvl6pPr>
            <a:lvl7pPr>
              <a:defRPr sz="1275" b="0">
                <a:solidFill>
                  <a:srgbClr val="60717A"/>
                </a:solidFill>
                <a:latin typeface="Arial"/>
                <a:ea typeface="Arial"/>
                <a:cs typeface="Arial"/>
              </a:defRPr>
            </a:lvl7pPr>
            <a:lvl8pPr>
              <a:defRPr sz="1275" b="0">
                <a:solidFill>
                  <a:srgbClr val="60717A"/>
                </a:solidFill>
                <a:latin typeface="Arial"/>
                <a:ea typeface="Arial"/>
                <a:cs typeface="Arial"/>
              </a:defRPr>
            </a:lvl8pPr>
            <a:lvl9pPr>
              <a:defRPr sz="1275" b="0">
                <a:solidFill>
                  <a:srgbClr val="60717A"/>
                </a:solidFill>
                <a:latin typeface="Arial"/>
                <a:ea typeface="Arial"/>
                <a:cs typeface="Arial"/>
              </a:defRPr>
            </a:lvl9pPr>
          </a:lstStyle>
          <a:p xmlns:a="http://schemas.openxmlformats.org/drawingml/2006/main">
            <a:pPr>
              <a:defRPr sz="1275" b="0">
                <a:solidFill>
                  <a:srgbClr val="60717A"/>
                </a:solidFill>
                <a:latin typeface="Arial"/>
                <a:ea typeface="Arial"/>
                <a:cs typeface="Arial"/>
              </a:defRPr>
            </a:pPr>
            <a:r>
              <a:rPr sz="1275" b="0">
                <a:solidFill>
                  <a:srgbClr val="60717A"/>
                </a:solidFill>
                <a:latin typeface="Arial"/>
                <a:ea typeface="Arial"/>
                <a:cs typeface="Arial"/>
              </a:rPr>
              <a:t>Recorded k3s cluster observation  ·  Predict before the reveal</a:t>
            </a:r>
          </a:p>
        </p:txBody>
      </p:sp>
      <p:sp>
        <p:nvSpPr>
          <p:cNvPr id="7" name="ISC2 SECURITY CONGRESS 2026 / SC2632">
            <a:extLst xmlns:a="http://schemas.openxmlformats.org/drawingml/2006/main">
              <a:ext uri="{FF2B5EF4-FFF2-40B4-BE49-F238E27FC236}">
                <a16:creationId xmlns:a16="http://schemas.microsoft.com/office/drawing/2014/main" id="{8908EB6E-2494-4F26-8CB3-049AA551336B}"/>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25">
            <a:extLst xmlns:a="http://schemas.openxmlformats.org/drawingml/2006/main">
              <a:ext uri="{FF2B5EF4-FFF2-40B4-BE49-F238E27FC236}">
                <a16:creationId xmlns:a16="http://schemas.microsoft.com/office/drawing/2014/main" id="{E4A77201-506E-44ED-9E50-BB548B45F4F4}"/>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25</a:t>
            </a:r>
          </a:p>
        </p:txBody>
      </p:sp>
    </p:spTree>
    <p:extLst>
      <p:ext uri="{BB962C8B-B14F-4D97-AF65-F5344CB8AC3E}">
        <p14:creationId xmlns:p14="http://schemas.microsoft.com/office/powerpoint/2010/main" val="1690113566"/>
      </p:ext>
    </p:extLst>
  </p:cSld>
</p:sld>
</file>

<file path=ppt/slides/slide26.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45–46 MINUTES / FICTIONAL CASES + RECORDED LAB B">
            <a:extLst xmlns:a="http://schemas.openxmlformats.org/drawingml/2006/main">
              <a:ext uri="{FF2B5EF4-FFF2-40B4-BE49-F238E27FC236}">
                <a16:creationId xmlns:a16="http://schemas.microsoft.com/office/drawing/2014/main" id="{C24ECDAC-56A5-497F-A186-643622231FF8}"/>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45–46 MINUTES / FICTIONAL CASES + RECORDED LAB BOUNDARY</a:t>
            </a:r>
          </a:p>
        </p:txBody>
      </p:sp>
      <p:sp>
        <p:nvSpPr>
          <p:cNvPr id="2" name="Review findings and unresolved requirements">
            <a:extLst xmlns:a="http://schemas.openxmlformats.org/drawingml/2006/main">
              <a:ext uri="{FF2B5EF4-FFF2-40B4-BE49-F238E27FC236}">
                <a16:creationId xmlns:a16="http://schemas.microsoft.com/office/drawing/2014/main" id="{09D93B64-5253-472F-9628-3B5F901494DD}"/>
              </a:ext>
            </a:extLst>
          </p:cNvPr>
          <p:cNvSpPr>
            <a:spLocks xmlns:a="http://schemas.openxmlformats.org/drawingml/2006/main" noGrp="1"/>
          </p:cNvSpPr>
          <p:nvPr>
            <p:ph type="title" idx="0"/>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Review findings and unresolved requirements</a:t>
            </a:r>
          </a:p>
        </p:txBody>
      </p:sp>
      <p:sp>
        <p:nvSpPr>
          <p:cNvPr id="3" name="LATER FINDINGS THAT CHANGE THE RESPONSE: Cases A">
            <a:extLst xmlns:a="http://schemas.openxmlformats.org/drawingml/2006/main">
              <a:ext uri="{FF2B5EF4-FFF2-40B4-BE49-F238E27FC236}">
                <a16:creationId xmlns:a16="http://schemas.microsoft.com/office/drawing/2014/main" id="{4B69342F-C395-4AE7-BE9A-70CEB15892F6}"/>
              </a:ext>
            </a:extLst>
          </p:cNvPr>
          <p:cNvSpPr>
            <a:spLocks xmlns:a="http://schemas.openxmlformats.org/drawingml/2006/main" noGrp="1"/>
          </p:cNvSpPr>
          <p:nvPr/>
        </p:nvSpPr>
        <p:spPr>
          <a:xfrm xmlns:a="http://schemas.openxmlformats.org/drawingml/2006/main">
            <a:off x="609600" y="1619250"/>
            <a:ext cx="10953750" cy="5524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425" b="1">
                <a:solidFill>
                  <a:srgbClr val="F2EFE7"/>
                </a:solidFill>
                <a:latin typeface="Arial"/>
                <a:ea typeface="Arial"/>
                <a:cs typeface="Arial"/>
              </a:defRPr>
            </a:defPPr>
            <a:lvl1pPr>
              <a:defRPr sz="1425" b="1">
                <a:solidFill>
                  <a:srgbClr val="F2EFE7"/>
                </a:solidFill>
                <a:latin typeface="Arial"/>
                <a:ea typeface="Arial"/>
                <a:cs typeface="Arial"/>
              </a:defRPr>
            </a:lvl1pPr>
            <a:lvl2pPr>
              <a:defRPr sz="1425" b="1">
                <a:solidFill>
                  <a:srgbClr val="F2EFE7"/>
                </a:solidFill>
                <a:latin typeface="Arial"/>
                <a:ea typeface="Arial"/>
                <a:cs typeface="Arial"/>
              </a:defRPr>
            </a:lvl2pPr>
            <a:lvl3pPr>
              <a:defRPr sz="1425" b="1">
                <a:solidFill>
                  <a:srgbClr val="F2EFE7"/>
                </a:solidFill>
                <a:latin typeface="Arial"/>
                <a:ea typeface="Arial"/>
                <a:cs typeface="Arial"/>
              </a:defRPr>
            </a:lvl3pPr>
            <a:lvl4pPr>
              <a:defRPr sz="1425" b="1">
                <a:solidFill>
                  <a:srgbClr val="F2EFE7"/>
                </a:solidFill>
                <a:latin typeface="Arial"/>
                <a:ea typeface="Arial"/>
                <a:cs typeface="Arial"/>
              </a:defRPr>
            </a:lvl4pPr>
            <a:lvl5pPr>
              <a:defRPr sz="1425" b="1">
                <a:solidFill>
                  <a:srgbClr val="F2EFE7"/>
                </a:solidFill>
                <a:latin typeface="Arial"/>
                <a:ea typeface="Arial"/>
                <a:cs typeface="Arial"/>
              </a:defRPr>
            </a:lvl5pPr>
            <a:lvl6pPr>
              <a:defRPr sz="1425" b="1">
                <a:solidFill>
                  <a:srgbClr val="F2EFE7"/>
                </a:solidFill>
                <a:latin typeface="Arial"/>
                <a:ea typeface="Arial"/>
                <a:cs typeface="Arial"/>
              </a:defRPr>
            </a:lvl6pPr>
            <a:lvl7pPr>
              <a:defRPr sz="1425" b="1">
                <a:solidFill>
                  <a:srgbClr val="F2EFE7"/>
                </a:solidFill>
                <a:latin typeface="Arial"/>
                <a:ea typeface="Arial"/>
                <a:cs typeface="Arial"/>
              </a:defRPr>
            </a:lvl7pPr>
            <a:lvl8pPr>
              <a:defRPr sz="1425" b="1">
                <a:solidFill>
                  <a:srgbClr val="F2EFE7"/>
                </a:solidFill>
                <a:latin typeface="Arial"/>
                <a:ea typeface="Arial"/>
                <a:cs typeface="Arial"/>
              </a:defRPr>
            </a:lvl8pPr>
            <a:lvl9pPr>
              <a:defRPr sz="1425" b="1">
                <a:solidFill>
                  <a:srgbClr val="F2EFE7"/>
                </a:solidFill>
                <a:latin typeface="Arial"/>
                <a:ea typeface="Arial"/>
                <a:cs typeface="Arial"/>
              </a:defRPr>
            </a:lvl9pPr>
          </a:lstStyle>
          <a:p xmlns:a="http://schemas.openxmlformats.org/drawingml/2006/main">
            <a:pPr>
              <a:defRPr sz="1425" b="1">
                <a:solidFill>
                  <a:srgbClr val="F2EFE7"/>
                </a:solidFill>
                <a:latin typeface="Arial"/>
                <a:ea typeface="Arial"/>
                <a:cs typeface="Arial"/>
              </a:defRPr>
            </a:pPr>
            <a:r>
              <a:rPr sz="1425" b="1">
                <a:solidFill>
                  <a:srgbClr val="F2EFE7"/>
                </a:solidFill>
                <a:latin typeface="Arial"/>
                <a:ea typeface="Arial"/>
                <a:cs typeface="Arial"/>
              </a:rPr>
              <a:t>LATER FINDINGS THAT CHANGE THE RESPONSE: Cases A–C are fictional. Case D is separate recorded lab evidence; Pod admission alone cannot stop these paths:</a:t>
            </a:r>
          </a:p>
        </p:txBody>
      </p:sp>
      <p:graphicFrame>
        <p:nvGraphicFramePr>
          <p:cNvPr id="4" name="">
            <a:extLst xmlns:a="http://schemas.openxmlformats.org/drawingml/2006/main">
              <a:ext uri="{FF2B5EF4-FFF2-40B4-BE49-F238E27FC236}">
                <a16:creationId xmlns:a16="http://schemas.microsoft.com/office/drawing/2014/main" id="{036AEEB5-7F2C-4E94-B640-E00A9740EB30}"/>
              </a:ext>
            </a:extLst>
          </p:cNvPr>
          <p:cNvGraphicFramePr/>
          <p:nvPr/>
        </p:nvGraphicFramePr>
        <p:xfrm>
          <a:off xmlns:a="http://schemas.openxmlformats.org/drawingml/2006/main" x="609600" y="2266950"/>
          <a:ext xmlns:a="http://schemas.openxmlformats.org/drawingml/2006/main" cx="10953750" cy="3162300"/>
        </p:xfrm>
        <a:graphic xmlns:a="http://schemas.openxmlformats.org/drawingml/2006/main">
          <a:graphicData uri="http://schemas.openxmlformats.org/drawingml/2006/table">
            <a:tbl>
              <a:tblPr firstRow="1" bandRow="1"/>
              <a:tblGrid>
                <a:gridCol w="1619250"/>
                <a:gridCol w="9334500"/>
              </a:tblGrid>
              <a:tr h="632460">
                <a:tc>
                  <a:txBody>
                    <a:bodyPr/>
                    <a:lstStyle/>
                    <a:p>
                      <a:r>
                        <a:rPr sz="1875" b="1">
                          <a:solidFill>
                            <a:srgbClr val="F2EFE7"/>
                          </a:solidFill>
                          <a:latin typeface="Arial"/>
                          <a:ea typeface="Arial"/>
                          <a:cs typeface="Arial"/>
                        </a:rPr>
                        <a:t>Case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What changes the response</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32460">
                <a:tc>
                  <a:txBody>
                    <a:bodyPr/>
                    <a:lstStyle/>
                    <a:p>
                      <a:r>
                        <a:rPr sz="1875" b="1">
                          <a:solidFill>
                            <a:srgbClr val="087E79"/>
                          </a:solidFill>
                          <a:latin typeface="Arial"/>
                          <a:ea typeface="Arial"/>
                          <a:cs typeface="Arial"/>
                        </a:rPr>
                        <a:t>A</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The updated image is present on multiple replicas</a:t>
                      </a:r>
                    </a:p>
                  </a:txBody>
                  <a:tcPr marL="91440" marR="91440" marT="45720" marB="45720">
                    <a:lnR w="19050">
                      <a:solidFill>
                        <a:srgbClr val="F2EFE7"/>
                      </a:solidFill>
                      <a:prstDash val="solid"/>
                    </a:lnR>
                    <a:lnB w="19050">
                      <a:solidFill>
                        <a:srgbClr val="F2EFE7"/>
                      </a:solidFill>
                      <a:prstDash val="solid"/>
                    </a:lnB>
                    <a:solidFill>
                      <a:srgbClr val="F2EFE7"/>
                    </a:solidFill>
                  </a:tcPr>
                </a:tc>
              </a:tr>
              <a:tr h="632460">
                <a:tc>
                  <a:txBody>
                    <a:bodyPr/>
                    <a:lstStyle/>
                    <a:p>
                      <a:r>
                        <a:rPr sz="1875" b="1">
                          <a:solidFill>
                            <a:srgbClr val="087E79"/>
                          </a:solidFill>
                          <a:latin typeface="Arial"/>
                          <a:ea typeface="Arial"/>
                          <a:cs typeface="Arial"/>
                        </a:rPr>
                        <a:t>B</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The assistant follows injected instructions through tools</a:t>
                      </a:r>
                    </a:p>
                  </a:txBody>
                  <a:tcPr marL="91440" marR="91440" marT="45720" marB="45720">
                    <a:lnR w="19050">
                      <a:solidFill>
                        <a:srgbClr val="F2EFE7"/>
                      </a:solidFill>
                      <a:prstDash val="solid"/>
                    </a:lnR>
                    <a:lnB w="19050">
                      <a:solidFill>
                        <a:srgbClr val="F2EFE7"/>
                      </a:solidFill>
                      <a:prstDash val="solid"/>
                    </a:lnB>
                    <a:solidFill>
                      <a:srgbClr val="F2EFE7"/>
                    </a:solidFill>
                  </a:tcPr>
                </a:tc>
              </a:tr>
              <a:tr h="632460">
                <a:tc>
                  <a:txBody>
                    <a:bodyPr/>
                    <a:lstStyle/>
                    <a:p>
                      <a:r>
                        <a:rPr sz="1875" b="1">
                          <a:solidFill>
                            <a:srgbClr val="087E79"/>
                          </a:solidFill>
                          <a:latin typeface="Arial"/>
                          <a:ea typeface="Arial"/>
                          <a:cs typeface="Arial"/>
                        </a:rPr>
                        <a:t>C</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A human executes changes outside the agent identity scope</a:t>
                      </a:r>
                    </a:p>
                  </a:txBody>
                  <a:tcPr marL="91440" marR="91440" marT="45720" marB="45720">
                    <a:lnR w="19050">
                      <a:solidFill>
                        <a:srgbClr val="F2EFE7"/>
                      </a:solidFill>
                      <a:prstDash val="solid"/>
                    </a:lnR>
                    <a:lnB w="19050">
                      <a:solidFill>
                        <a:srgbClr val="F2EFE7"/>
                      </a:solidFill>
                      <a:prstDash val="solid"/>
                    </a:lnB>
                    <a:solidFill>
                      <a:srgbClr val="F2EFE7"/>
                    </a:solidFill>
                  </a:tcPr>
                </a:tc>
              </a:tr>
              <a:tr h="632460">
                <a:tc>
                  <a:txBody>
                    <a:bodyPr/>
                    <a:lstStyle/>
                    <a:p>
                      <a:r>
                        <a:rPr sz="1875" b="1">
                          <a:solidFill>
                            <a:srgbClr val="087E79"/>
                          </a:solidFill>
                          <a:latin typeface="Arial"/>
                          <a:ea typeface="Arial"/>
                          <a:cs typeface="Arial"/>
                        </a:rPr>
                        <a:t>D (lab)</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Copied credential still reads Secrets after Pod quarantine</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5" name="CASE D SYNTHETIC LAB: Network quarantine left a ">
            <a:extLst xmlns:a="http://schemas.openxmlformats.org/drawingml/2006/main">
              <a:ext uri="{FF2B5EF4-FFF2-40B4-BE49-F238E27FC236}">
                <a16:creationId xmlns:a16="http://schemas.microsoft.com/office/drawing/2014/main" id="{0F729FCC-C92A-4A8B-887A-87E3DF48EAE5}"/>
              </a:ext>
            </a:extLst>
          </p:cNvPr>
          <p:cNvSpPr>
            <a:spLocks xmlns:a="http://schemas.openxmlformats.org/drawingml/2006/main" noGrp="1"/>
          </p:cNvSpPr>
          <p:nvPr/>
        </p:nvSpPr>
        <p:spPr>
          <a:xfrm xmlns:a="http://schemas.openxmlformats.org/drawingml/2006/main">
            <a:off x="609600" y="56959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CASE D SYNTHETIC LAB: Network quarantine left a copied token at 200; narrowed RBAC returned 403; deleting its old bound Pod returned 401. App-key rotation remains separate.</a:t>
            </a:r>
          </a:p>
        </p:txBody>
      </p:sp>
      <p:sp>
        <p:nvSpPr>
          <p:cNvPr id="6" name="ISC2 SECURITY CONGRESS 2026 / SC2632">
            <a:extLst xmlns:a="http://schemas.openxmlformats.org/drawingml/2006/main">
              <a:ext uri="{FF2B5EF4-FFF2-40B4-BE49-F238E27FC236}">
                <a16:creationId xmlns:a16="http://schemas.microsoft.com/office/drawing/2014/main" id="{4DD64588-EFC9-4E81-9A1B-C15482419F1F}"/>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26">
            <a:extLst xmlns:a="http://schemas.openxmlformats.org/drawingml/2006/main">
              <a:ext uri="{FF2B5EF4-FFF2-40B4-BE49-F238E27FC236}">
                <a16:creationId xmlns:a16="http://schemas.microsoft.com/office/drawing/2014/main" id="{0D1E3FB2-2C68-462D-A897-B1103191087F}"/>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26</a:t>
            </a:r>
          </a:p>
        </p:txBody>
      </p:sp>
    </p:spTree>
    <p:extLst>
      <p:ext uri="{BB962C8B-B14F-4D97-AF65-F5344CB8AC3E}">
        <p14:creationId xmlns:p14="http://schemas.microsoft.com/office/powerpoint/2010/main" val="1789826309"/>
      </p:ext>
    </p:extLst>
  </p:cSld>
</p:sld>
</file>

<file path=ppt/slides/slide27.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45–48 MINUTES / INDEPENDENT REVIEW (OPEN CONTROL">
            <a:extLst xmlns:a="http://schemas.openxmlformats.org/drawingml/2006/main">
              <a:ext uri="{FF2B5EF4-FFF2-40B4-BE49-F238E27FC236}">
                <a16:creationId xmlns:a16="http://schemas.microsoft.com/office/drawing/2014/main" id="{4EEE0D13-2F00-450F-B0BF-3FB9BA80B0D6}"/>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45–48 MINUTES / INDEPENDENT REVIEW (OPEN CONTROL-REVIEW PAGE 1)</a:t>
            </a:r>
          </a:p>
        </p:txBody>
      </p:sp>
      <p:sp>
        <p:nvSpPr>
          <p:cNvPr id="2" name="Trained model proposal">
            <a:extLst xmlns:a="http://schemas.openxmlformats.org/drawingml/2006/main">
              <a:ext uri="{FF2B5EF4-FFF2-40B4-BE49-F238E27FC236}">
                <a16:creationId xmlns:a16="http://schemas.microsoft.com/office/drawing/2014/main" id="{4AB559CB-2DF6-40E8-881C-8E9196BA570D}"/>
              </a:ext>
            </a:extLst>
          </p:cNvPr>
          <p:cNvSpPr>
            <a:spLocks xmlns:a="http://schemas.openxmlformats.org/drawingml/2006/main" noGrp="1"/>
          </p:cNvSpPr>
          <p:nvPr>
            <p:ph type="title" idx="0"/>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Trained model proposal</a:t>
            </a:r>
          </a:p>
        </p:txBody>
      </p:sp>
      <p:sp>
        <p:nvSpPr>
          <p:cNvPr id="3" name="CHALLENGE: A fine-tuned local model proposes one">
            <a:extLst xmlns:a="http://schemas.openxmlformats.org/drawingml/2006/main">
              <a:ext uri="{FF2B5EF4-FFF2-40B4-BE49-F238E27FC236}">
                <a16:creationId xmlns:a16="http://schemas.microsoft.com/office/drawing/2014/main" id="{E760681C-06B7-4A80-B945-2720343B199A}"/>
              </a:ext>
            </a:extLst>
          </p:cNvPr>
          <p:cNvSpPr>
            <a:spLocks xmlns:a="http://schemas.openxmlformats.org/drawingml/2006/main" noGrp="1"/>
          </p:cNvSpPr>
          <p:nvPr/>
        </p:nvSpPr>
        <p:spPr>
          <a:xfrm xmlns:a="http://schemas.openxmlformats.org/drawingml/2006/main">
            <a:off x="609600" y="1619250"/>
            <a:ext cx="10953750" cy="5524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425" b="1">
                <a:solidFill>
                  <a:srgbClr val="F2EFE7"/>
                </a:solidFill>
                <a:latin typeface="Arial"/>
                <a:ea typeface="Arial"/>
                <a:cs typeface="Arial"/>
              </a:defRPr>
            </a:defPPr>
            <a:lvl1pPr>
              <a:defRPr sz="1425" b="1">
                <a:solidFill>
                  <a:srgbClr val="F2EFE7"/>
                </a:solidFill>
                <a:latin typeface="Arial"/>
                <a:ea typeface="Arial"/>
                <a:cs typeface="Arial"/>
              </a:defRPr>
            </a:lvl1pPr>
            <a:lvl2pPr>
              <a:defRPr sz="1425" b="1">
                <a:solidFill>
                  <a:srgbClr val="F2EFE7"/>
                </a:solidFill>
                <a:latin typeface="Arial"/>
                <a:ea typeface="Arial"/>
                <a:cs typeface="Arial"/>
              </a:defRPr>
            </a:lvl2pPr>
            <a:lvl3pPr>
              <a:defRPr sz="1425" b="1">
                <a:solidFill>
                  <a:srgbClr val="F2EFE7"/>
                </a:solidFill>
                <a:latin typeface="Arial"/>
                <a:ea typeface="Arial"/>
                <a:cs typeface="Arial"/>
              </a:defRPr>
            </a:lvl3pPr>
            <a:lvl4pPr>
              <a:defRPr sz="1425" b="1">
                <a:solidFill>
                  <a:srgbClr val="F2EFE7"/>
                </a:solidFill>
                <a:latin typeface="Arial"/>
                <a:ea typeface="Arial"/>
                <a:cs typeface="Arial"/>
              </a:defRPr>
            </a:lvl4pPr>
            <a:lvl5pPr>
              <a:defRPr sz="1425" b="1">
                <a:solidFill>
                  <a:srgbClr val="F2EFE7"/>
                </a:solidFill>
                <a:latin typeface="Arial"/>
                <a:ea typeface="Arial"/>
                <a:cs typeface="Arial"/>
              </a:defRPr>
            </a:lvl5pPr>
            <a:lvl6pPr>
              <a:defRPr sz="1425" b="1">
                <a:solidFill>
                  <a:srgbClr val="F2EFE7"/>
                </a:solidFill>
                <a:latin typeface="Arial"/>
                <a:ea typeface="Arial"/>
                <a:cs typeface="Arial"/>
              </a:defRPr>
            </a:lvl6pPr>
            <a:lvl7pPr>
              <a:defRPr sz="1425" b="1">
                <a:solidFill>
                  <a:srgbClr val="F2EFE7"/>
                </a:solidFill>
                <a:latin typeface="Arial"/>
                <a:ea typeface="Arial"/>
                <a:cs typeface="Arial"/>
              </a:defRPr>
            </a:lvl7pPr>
            <a:lvl8pPr>
              <a:defRPr sz="1425" b="1">
                <a:solidFill>
                  <a:srgbClr val="F2EFE7"/>
                </a:solidFill>
                <a:latin typeface="Arial"/>
                <a:ea typeface="Arial"/>
                <a:cs typeface="Arial"/>
              </a:defRPr>
            </a:lvl8pPr>
            <a:lvl9pPr>
              <a:defRPr sz="1425" b="1">
                <a:solidFill>
                  <a:srgbClr val="F2EFE7"/>
                </a:solidFill>
                <a:latin typeface="Arial"/>
                <a:ea typeface="Arial"/>
                <a:cs typeface="Arial"/>
              </a:defRPr>
            </a:lvl9pPr>
          </a:lstStyle>
          <a:p xmlns:a="http://schemas.openxmlformats.org/drawingml/2006/main">
            <a:pPr>
              <a:defRPr sz="1425" b="1">
                <a:solidFill>
                  <a:srgbClr val="F2EFE7"/>
                </a:solidFill>
                <a:latin typeface="Arial"/>
                <a:ea typeface="Arial"/>
                <a:cs typeface="Arial"/>
              </a:defRPr>
            </a:pPr>
            <a:r>
              <a:rPr sz="1425" b="1">
                <a:solidFill>
                  <a:srgbClr val="F2EFE7"/>
                </a:solidFill>
                <a:latin typeface="Arial"/>
                <a:ea typeface="Arial"/>
                <a:cs typeface="Arial"/>
              </a:rPr>
              <a:t>CHALLENGE: A fine-tuned local model proposes one privilege rule. The Python harness reports 6/6 fixed tests PASS; three required controls remain unresolved.</a:t>
            </a:r>
          </a:p>
        </p:txBody>
      </p:sp>
      <p:graphicFrame>
        <p:nvGraphicFramePr>
          <p:cNvPr id="4" name="">
            <a:extLst xmlns:a="http://schemas.openxmlformats.org/drawingml/2006/main">
              <a:ext uri="{FF2B5EF4-FFF2-40B4-BE49-F238E27FC236}">
                <a16:creationId xmlns:a16="http://schemas.microsoft.com/office/drawing/2014/main" id="{D47ED4C0-F823-42E3-9917-94F83BBABC64}"/>
              </a:ext>
            </a:extLst>
          </p:cNvPr>
          <p:cNvGraphicFramePr/>
          <p:nvPr/>
        </p:nvGraphicFramePr>
        <p:xfrm>
          <a:off xmlns:a="http://schemas.openxmlformats.org/drawingml/2006/main" x="609600" y="2266950"/>
          <a:ext xmlns:a="http://schemas.openxmlformats.org/drawingml/2006/main" cx="10953750" cy="2905125"/>
        </p:xfrm>
        <a:graphic xmlns:a="http://schemas.openxmlformats.org/drawingml/2006/main">
          <a:graphicData uri="http://schemas.openxmlformats.org/drawingml/2006/table">
            <a:tbl>
              <a:tblPr firstRow="1" bandRow="1"/>
              <a:tblGrid>
                <a:gridCol w="3905250"/>
                <a:gridCol w="5048250"/>
                <a:gridCol w="2000250"/>
              </a:tblGrid>
              <a:tr h="581025">
                <a:tc>
                  <a:txBody>
                    <a:bodyPr/>
                    <a:lstStyle/>
                    <a:p>
                      <a:r>
                        <a:rPr sz="1875" b="1">
                          <a:solidFill>
                            <a:srgbClr val="F2EFE7"/>
                          </a:solidFill>
                          <a:latin typeface="Arial"/>
                          <a:ea typeface="Arial"/>
                          <a:cs typeface="Arial"/>
                        </a:rPr>
                        <a:t>Requirement</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Selected control / routing</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Routing score*</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581025">
                <a:tc>
                  <a:txBody>
                    <a:bodyPr/>
                    <a:lstStyle/>
                    <a:p>
                      <a:r>
                        <a:rPr sz="1875" b="1">
                          <a:solidFill>
                            <a:srgbClr val="087E79"/>
                          </a:solidFill>
                          <a:latin typeface="Arial"/>
                          <a:ea typeface="Arial"/>
                          <a:cs typeface="Arial"/>
                        </a:rPr>
                        <a:t>Network restriction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Privilege escalation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0.8986</a:t>
                      </a:r>
                    </a:p>
                  </a:txBody>
                  <a:tcPr marL="91440" marR="91440" marT="45720" marB="45720">
                    <a:lnR w="19050">
                      <a:solidFill>
                        <a:srgbClr val="F2EFE7"/>
                      </a:solidFill>
                      <a:prstDash val="solid"/>
                    </a:lnR>
                    <a:lnB w="19050">
                      <a:solidFill>
                        <a:srgbClr val="F2EFE7"/>
                      </a:solidFill>
                      <a:prstDash val="solid"/>
                    </a:lnB>
                    <a:solidFill>
                      <a:srgbClr val="F2EFE7"/>
                    </a:solidFill>
                  </a:tcPr>
                </a:tc>
              </a:tr>
              <a:tr h="581025">
                <a:tc>
                  <a:txBody>
                    <a:bodyPr/>
                    <a:lstStyle/>
                    <a:p>
                      <a:r>
                        <a:rPr sz="1875" b="1">
                          <a:solidFill>
                            <a:srgbClr val="087E79"/>
                          </a:solidFill>
                          <a:latin typeface="Arial"/>
                          <a:ea typeface="Arial"/>
                          <a:cs typeface="Arial"/>
                        </a:rPr>
                        <a:t>Privilege escalation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Privilege escalation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0.8574</a:t>
                      </a:r>
                    </a:p>
                  </a:txBody>
                  <a:tcPr marL="91440" marR="91440" marT="45720" marB="45720">
                    <a:lnR w="19050">
                      <a:solidFill>
                        <a:srgbClr val="F2EFE7"/>
                      </a:solidFill>
                      <a:prstDash val="solid"/>
                    </a:lnR>
                    <a:lnB w="19050">
                      <a:solidFill>
                        <a:srgbClr val="F2EFE7"/>
                      </a:solidFill>
                      <a:prstDash val="solid"/>
                    </a:lnB>
                    <a:solidFill>
                      <a:srgbClr val="F2EFE7"/>
                    </a:solidFill>
                  </a:tcPr>
                </a:tc>
              </a:tr>
              <a:tr h="581025">
                <a:tc>
                  <a:txBody>
                    <a:bodyPr/>
                    <a:lstStyle/>
                    <a:p>
                      <a:r>
                        <a:rPr sz="1875" b="1">
                          <a:solidFill>
                            <a:srgbClr val="087E79"/>
                          </a:solidFill>
                          <a:latin typeface="Arial"/>
                          <a:ea typeface="Arial"/>
                          <a:cs typeface="Arial"/>
                        </a:rPr>
                        <a:t>Kubernetes API access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Human review</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0.5895</a:t>
                      </a:r>
                    </a:p>
                  </a:txBody>
                  <a:tcPr marL="91440" marR="91440" marT="45720" marB="45720">
                    <a:lnR w="19050">
                      <a:solidFill>
                        <a:srgbClr val="F2EFE7"/>
                      </a:solidFill>
                      <a:prstDash val="solid"/>
                    </a:lnR>
                    <a:lnB w="19050">
                      <a:solidFill>
                        <a:srgbClr val="F2EFE7"/>
                      </a:solidFill>
                      <a:prstDash val="solid"/>
                    </a:lnB>
                    <a:solidFill>
                      <a:srgbClr val="F2EFE7"/>
                    </a:solidFill>
                  </a:tcPr>
                </a:tc>
              </a:tr>
              <a:tr h="581025">
                <a:tc>
                  <a:txBody>
                    <a:bodyPr/>
                    <a:lstStyle/>
                    <a:p>
                      <a:r>
                        <a:rPr sz="1875" b="1">
                          <a:solidFill>
                            <a:srgbClr val="087E79"/>
                          </a:solidFill>
                          <a:latin typeface="Arial"/>
                          <a:ea typeface="Arial"/>
                          <a:cs typeface="Arial"/>
                        </a:rPr>
                        <a:t>Rollout and expiry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Privilege escalation</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0.9107</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5" name="LOCK ON CONTROL-REVIEW PAGE 1: Would you approve">
            <a:extLst xmlns:a="http://schemas.openxmlformats.org/drawingml/2006/main">
              <a:ext uri="{FF2B5EF4-FFF2-40B4-BE49-F238E27FC236}">
                <a16:creationId xmlns:a16="http://schemas.microsoft.com/office/drawing/2014/main" id="{AAC830B9-5AC5-4925-BB8D-14D4DDF14101}"/>
              </a:ext>
            </a:extLst>
          </p:cNvPr>
          <p:cNvSpPr>
            <a:spLocks xmlns:a="http://schemas.openxmlformats.org/drawingml/2006/main" noGrp="1"/>
          </p:cNvSpPr>
          <p:nvPr/>
        </p:nvSpPr>
        <p:spPr>
          <a:xfrm xmlns:a="http://schemas.openxmlformats.org/drawingml/2006/main">
            <a:off x="609600" y="56959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LOCK ON CONTROL-REVIEW PAGE 1: Would you approve this PR? Which requirements lack enforcement evidence?</a:t>
            </a:r>
          </a:p>
        </p:txBody>
      </p:sp>
      <p:sp>
        <p:nvSpPr>
          <p:cNvPr id="6" name="ISC2 SECURITY CONGRESS 2026 / SC2632">
            <a:extLst xmlns:a="http://schemas.openxmlformats.org/drawingml/2006/main">
              <a:ext uri="{FF2B5EF4-FFF2-40B4-BE49-F238E27FC236}">
                <a16:creationId xmlns:a16="http://schemas.microsoft.com/office/drawing/2014/main" id="{96772303-5F0A-4460-ACC2-AEC2AE48BD3B}"/>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27">
            <a:extLst xmlns:a="http://schemas.openxmlformats.org/drawingml/2006/main">
              <a:ext uri="{FF2B5EF4-FFF2-40B4-BE49-F238E27FC236}">
                <a16:creationId xmlns:a16="http://schemas.microsoft.com/office/drawing/2014/main" id="{1BAD5A3C-B729-4690-8CF1-DEE68D73012F}"/>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27</a:t>
            </a:r>
          </a:p>
        </p:txBody>
      </p:sp>
    </p:spTree>
    <p:extLst>
      <p:ext uri="{BB962C8B-B14F-4D97-AF65-F5344CB8AC3E}">
        <p14:creationId xmlns:p14="http://schemas.microsoft.com/office/powerpoint/2010/main" val="191611658"/>
      </p:ext>
    </p:extLst>
  </p:cSld>
</p:sld>
</file>

<file path=ppt/slides/slide28.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sp>
        <p:nvSpPr>
          <p:cNvPr id="11" name="48–49 MINUTES / CONTROL-REVIEW PAGE 2 REVEAL (&quot;G">
            <a:extLst xmlns:a="http://schemas.openxmlformats.org/drawingml/2006/main">
              <a:ext uri="{FF2B5EF4-FFF2-40B4-BE49-F238E27FC236}">
                <a16:creationId xmlns:a16="http://schemas.microsoft.com/office/drawing/2014/main" id="{BDECFFDC-563F-4E1A-AF8F-A0C6C55FEB5F}"/>
              </a:ext>
            </a:extLst>
          </p:cNvPr>
          <p:cNvSpPr>
            <a:spLocks xmlns:a="http://schemas.openxmlformats.org/drawingml/2006/main" noGrp="1"/>
          </p:cNvSpPr>
          <p:nvPr/>
        </p:nvSpPr>
        <p:spPr>
          <a:xfrm xmlns:a="http://schemas.openxmlformats.org/drawingml/2006/main">
            <a:off x="609600" y="4381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D8BD"/>
                </a:solidFill>
                <a:latin typeface="Arial"/>
                <a:ea typeface="Arial"/>
                <a:cs typeface="Arial"/>
              </a:defRPr>
            </a:defPPr>
            <a:lvl1pPr>
              <a:defRPr sz="1200" b="1">
                <a:solidFill>
                  <a:srgbClr val="25D8BD"/>
                </a:solidFill>
                <a:latin typeface="Arial"/>
                <a:ea typeface="Arial"/>
                <a:cs typeface="Arial"/>
              </a:defRPr>
            </a:lvl1pPr>
            <a:lvl2pPr>
              <a:defRPr sz="1200" b="1">
                <a:solidFill>
                  <a:srgbClr val="25D8BD"/>
                </a:solidFill>
                <a:latin typeface="Arial"/>
                <a:ea typeface="Arial"/>
                <a:cs typeface="Arial"/>
              </a:defRPr>
            </a:lvl2pPr>
            <a:lvl3pPr>
              <a:defRPr sz="1200" b="1">
                <a:solidFill>
                  <a:srgbClr val="25D8BD"/>
                </a:solidFill>
                <a:latin typeface="Arial"/>
                <a:ea typeface="Arial"/>
                <a:cs typeface="Arial"/>
              </a:defRPr>
            </a:lvl3pPr>
            <a:lvl4pPr>
              <a:defRPr sz="1200" b="1">
                <a:solidFill>
                  <a:srgbClr val="25D8BD"/>
                </a:solidFill>
                <a:latin typeface="Arial"/>
                <a:ea typeface="Arial"/>
                <a:cs typeface="Arial"/>
              </a:defRPr>
            </a:lvl4pPr>
            <a:lvl5pPr>
              <a:defRPr sz="1200" b="1">
                <a:solidFill>
                  <a:srgbClr val="25D8BD"/>
                </a:solidFill>
                <a:latin typeface="Arial"/>
                <a:ea typeface="Arial"/>
                <a:cs typeface="Arial"/>
              </a:defRPr>
            </a:lvl5pPr>
            <a:lvl6pPr>
              <a:defRPr sz="1200" b="1">
                <a:solidFill>
                  <a:srgbClr val="25D8BD"/>
                </a:solidFill>
                <a:latin typeface="Arial"/>
                <a:ea typeface="Arial"/>
                <a:cs typeface="Arial"/>
              </a:defRPr>
            </a:lvl6pPr>
            <a:lvl7pPr>
              <a:defRPr sz="1200" b="1">
                <a:solidFill>
                  <a:srgbClr val="25D8BD"/>
                </a:solidFill>
                <a:latin typeface="Arial"/>
                <a:ea typeface="Arial"/>
                <a:cs typeface="Arial"/>
              </a:defRPr>
            </a:lvl7pPr>
            <a:lvl8pPr>
              <a:defRPr sz="1200" b="1">
                <a:solidFill>
                  <a:srgbClr val="25D8BD"/>
                </a:solidFill>
                <a:latin typeface="Arial"/>
                <a:ea typeface="Arial"/>
                <a:cs typeface="Arial"/>
              </a:defRPr>
            </a:lvl8pPr>
            <a:lvl9pPr>
              <a:defRPr sz="1200" b="1">
                <a:solidFill>
                  <a:srgbClr val="25D8BD"/>
                </a:solidFill>
                <a:latin typeface="Arial"/>
                <a:ea typeface="Arial"/>
                <a:cs typeface="Arial"/>
              </a:defRPr>
            </a:lvl9pPr>
          </a:lstStyle>
          <a:p xmlns:a="http://schemas.openxmlformats.org/drawingml/2006/main">
            <a:pPr>
              <a:defRPr sz="1200" b="1">
                <a:solidFill>
                  <a:srgbClr val="25D8BD"/>
                </a:solidFill>
                <a:latin typeface="Arial"/>
                <a:ea typeface="Arial"/>
                <a:cs typeface="Arial"/>
              </a:defRPr>
            </a:pPr>
            <a:r>
              <a:rPr sz="1200" b="1">
                <a:solidFill>
                  <a:srgbClr val="25D8BD"/>
                </a:solidFill>
                <a:latin typeface="Arial"/>
                <a:ea typeface="Arial"/>
                <a:cs typeface="Arial"/>
              </a:rPr>
              <a:t>48–49 MINUTES / CONTROL-REVIEW PAGE 2 REVEAL ("GRADING ITS OWN HOMEWORK")</a:t>
            </a:r>
          </a:p>
        </p:txBody>
      </p:sp>
      <p:sp>
        <p:nvSpPr>
          <p:cNvPr id="2" name="Green unit tests ≠ complete containment">
            <a:extLst xmlns:a="http://schemas.openxmlformats.org/drawingml/2006/main">
              <a:ext uri="{FF2B5EF4-FFF2-40B4-BE49-F238E27FC236}">
                <a16:creationId xmlns:a16="http://schemas.microsoft.com/office/drawing/2014/main" id="{D52E62A7-82F5-40AB-984B-E7D026E272C9}"/>
              </a:ext>
            </a:extLst>
          </p:cNvPr>
          <p:cNvSpPr>
            <a:spLocks xmlns:a="http://schemas.openxmlformats.org/drawingml/2006/main" noGrp="1"/>
          </p:cNvSpPr>
          <p:nvPr>
            <p:ph type="title" idx="0"/>
          </p:nvPr>
        </p:nvSpPr>
        <p:spPr>
          <a:xfrm xmlns:a="http://schemas.openxmlformats.org/drawingml/2006/main">
            <a:off x="609600" y="9144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2EFE7"/>
                </a:solidFill>
                <a:latin typeface="Arial Black"/>
                <a:ea typeface="Arial Black"/>
                <a:cs typeface="Arial Black"/>
              </a:defRPr>
            </a:defPPr>
            <a:lvl1pPr>
              <a:defRPr sz="3450" b="1">
                <a:solidFill>
                  <a:srgbClr val="F2EFE7"/>
                </a:solidFill>
                <a:latin typeface="Arial Black"/>
                <a:ea typeface="Arial Black"/>
                <a:cs typeface="Arial Black"/>
              </a:defRPr>
            </a:lvl1pPr>
            <a:lvl2pPr>
              <a:defRPr sz="3450" b="1">
                <a:solidFill>
                  <a:srgbClr val="F2EFE7"/>
                </a:solidFill>
                <a:latin typeface="Arial Black"/>
                <a:ea typeface="Arial Black"/>
                <a:cs typeface="Arial Black"/>
              </a:defRPr>
            </a:lvl2pPr>
            <a:lvl3pPr>
              <a:defRPr sz="3450" b="1">
                <a:solidFill>
                  <a:srgbClr val="F2EFE7"/>
                </a:solidFill>
                <a:latin typeface="Arial Black"/>
                <a:ea typeface="Arial Black"/>
                <a:cs typeface="Arial Black"/>
              </a:defRPr>
            </a:lvl3pPr>
            <a:lvl4pPr>
              <a:defRPr sz="3450" b="1">
                <a:solidFill>
                  <a:srgbClr val="F2EFE7"/>
                </a:solidFill>
                <a:latin typeface="Arial Black"/>
                <a:ea typeface="Arial Black"/>
                <a:cs typeface="Arial Black"/>
              </a:defRPr>
            </a:lvl4pPr>
            <a:lvl5pPr>
              <a:defRPr sz="3450" b="1">
                <a:solidFill>
                  <a:srgbClr val="F2EFE7"/>
                </a:solidFill>
                <a:latin typeface="Arial Black"/>
                <a:ea typeface="Arial Black"/>
                <a:cs typeface="Arial Black"/>
              </a:defRPr>
            </a:lvl5pPr>
            <a:lvl6pPr>
              <a:defRPr sz="3450" b="1">
                <a:solidFill>
                  <a:srgbClr val="F2EFE7"/>
                </a:solidFill>
                <a:latin typeface="Arial Black"/>
                <a:ea typeface="Arial Black"/>
                <a:cs typeface="Arial Black"/>
              </a:defRPr>
            </a:lvl6pPr>
            <a:lvl7pPr>
              <a:defRPr sz="3450" b="1">
                <a:solidFill>
                  <a:srgbClr val="F2EFE7"/>
                </a:solidFill>
                <a:latin typeface="Arial Black"/>
                <a:ea typeface="Arial Black"/>
                <a:cs typeface="Arial Black"/>
              </a:defRPr>
            </a:lvl7pPr>
            <a:lvl8pPr>
              <a:defRPr sz="3450" b="1">
                <a:solidFill>
                  <a:srgbClr val="F2EFE7"/>
                </a:solidFill>
                <a:latin typeface="Arial Black"/>
                <a:ea typeface="Arial Black"/>
                <a:cs typeface="Arial Black"/>
              </a:defRPr>
            </a:lvl8pPr>
            <a:lvl9pPr>
              <a:defRPr sz="3450" b="1">
                <a:solidFill>
                  <a:srgbClr val="F2EFE7"/>
                </a:solidFill>
                <a:latin typeface="Arial Black"/>
                <a:ea typeface="Arial Black"/>
                <a:cs typeface="Arial Black"/>
              </a:defRPr>
            </a:lvl9pPr>
          </a:lstStyle>
          <a:p xmlns:a="http://schemas.openxmlformats.org/drawingml/2006/main">
            <a:pPr>
              <a:defRPr sz="3450" b="1">
                <a:solidFill>
                  <a:srgbClr val="F2EFE7"/>
                </a:solidFill>
                <a:latin typeface="Arial Black"/>
                <a:ea typeface="Arial Black"/>
                <a:cs typeface="Arial Black"/>
              </a:defRPr>
            </a:pPr>
            <a:r>
              <a:rPr sz="3450" b="1">
                <a:solidFill>
                  <a:srgbClr val="F2EFE7"/>
                </a:solidFill>
                <a:latin typeface="Arial Black"/>
                <a:ea typeface="Arial Black"/>
                <a:cs typeface="Arial Black"/>
              </a:rPr>
              <a:t>Green unit tests ≠ complete containment</a:t>
            </a:r>
          </a:p>
        </p:txBody>
      </p:sp>
      <p:pic>
        <p:nvPicPr>
          <p:cNvPr id="3" name="" descr="Conceptual illustration: a robot checks a limited test list while a human points to an untested path. It is a visual metaphor, not a real model trace or test result.">
            <a:extLst xmlns:a="http://schemas.openxmlformats.org/drawingml/2006/main">
              <a:ext uri="{FF2B5EF4-FFF2-40B4-BE49-F238E27FC236}">
                <a16:creationId xmlns:a16="http://schemas.microsoft.com/office/drawing/2014/main" id="{9F152244-911C-4791-B16D-BCA979D1D61B}"/>
              </a:ext>
            </a:extLst>
          </p:cNvPr>
          <p:cNvPicPr>
            <a:picLocks xmlns:a="http://schemas.openxmlformats.org/drawingml/2006/main" noChangeAspect="1"/>
          </p:cNvPicPr>
          <p:nvPr/>
        </p:nvPicPr>
        <p:blipFill>
          <a:blip xmlns:r="http://schemas.openxmlformats.org/officeDocument/2006/relationships" xmlns:a="http://schemas.openxmlformats.org/drawingml/2006/main" r:embed="Re3fb706751f54583"/>
          <a:stretch xmlns:a="http://schemas.openxmlformats.org/drawingml/2006/main"/>
        </p:blipFill>
        <p:spPr>
          <a:xfrm xmlns:a="http://schemas.openxmlformats.org/drawingml/2006/main">
            <a:off x="831850" y="1924050"/>
            <a:ext cx="3556000" cy="2667000"/>
          </a:xfrm>
          <a:prstGeom xmlns:a="http://schemas.openxmlformats.org/drawingml/2006/main" prst="rect">
            <a:avLst/>
          </a:prstGeom>
        </p:spPr>
      </p:pic>
      <p:sp>
        <p:nvSpPr>
          <p:cNvPr id="4" name="SELF-AWARDED BADGE: 6/6 tests cover one privileg">
            <a:extLst xmlns:a="http://schemas.openxmlformats.org/drawingml/2006/main">
              <a:ext uri="{FF2B5EF4-FFF2-40B4-BE49-F238E27FC236}">
                <a16:creationId xmlns:a16="http://schemas.microsoft.com/office/drawing/2014/main" id="{DABEBFD2-99C9-405F-ACA6-DC753499C3E6}"/>
              </a:ext>
            </a:extLst>
          </p:cNvPr>
          <p:cNvSpPr>
            <a:spLocks xmlns:a="http://schemas.openxmlformats.org/drawingml/2006/main" noGrp="1"/>
          </p:cNvSpPr>
          <p:nvPr/>
        </p:nvSpPr>
        <p:spPr>
          <a:xfrm xmlns:a="http://schemas.openxmlformats.org/drawingml/2006/main">
            <a:off x="609600" y="4667250"/>
            <a:ext cx="4000500" cy="590550"/>
          </a:xfrm>
          <a:prstGeom xmlns:a="http://schemas.openxmlformats.org/drawingml/2006/main" prst="rect">
            <a:avLst/>
          </a:prstGeom>
          <a:solidFill xmlns:a="http://schemas.openxmlformats.org/drawingml/2006/main">
            <a:srgbClr val="132636"/>
          </a:solidFill>
          <a:ln xmlns:a="http://schemas.openxmlformats.org/drawingml/2006/main" w="19050">
            <a:solidFill>
              <a:srgbClr val="25D8BD"/>
            </a:solidFill>
          </a:ln>
        </p:spPr>
        <p:txBody>
          <a:bodyPr xmlns:a="http://schemas.openxmlformats.org/drawingml/2006/main"/>
          <a:lstStyle xmlns:a="http://schemas.openxmlformats.org/drawingml/2006/main">
            <a:defPPr>
              <a:defRPr sz="1275" b="1">
                <a:solidFill>
                  <a:srgbClr val="25D8BD"/>
                </a:solidFill>
                <a:latin typeface="Arial"/>
                <a:ea typeface="Arial"/>
                <a:cs typeface="Arial"/>
              </a:defRPr>
            </a:defPPr>
            <a:lvl1pPr>
              <a:defRPr sz="1275" b="1">
                <a:solidFill>
                  <a:srgbClr val="25D8BD"/>
                </a:solidFill>
                <a:latin typeface="Arial"/>
                <a:ea typeface="Arial"/>
                <a:cs typeface="Arial"/>
              </a:defRPr>
            </a:lvl1pPr>
            <a:lvl2pPr>
              <a:defRPr sz="1275" b="1">
                <a:solidFill>
                  <a:srgbClr val="25D8BD"/>
                </a:solidFill>
                <a:latin typeface="Arial"/>
                <a:ea typeface="Arial"/>
                <a:cs typeface="Arial"/>
              </a:defRPr>
            </a:lvl2pPr>
            <a:lvl3pPr>
              <a:defRPr sz="1275" b="1">
                <a:solidFill>
                  <a:srgbClr val="25D8BD"/>
                </a:solidFill>
                <a:latin typeface="Arial"/>
                <a:ea typeface="Arial"/>
                <a:cs typeface="Arial"/>
              </a:defRPr>
            </a:lvl3pPr>
            <a:lvl4pPr>
              <a:defRPr sz="1275" b="1">
                <a:solidFill>
                  <a:srgbClr val="25D8BD"/>
                </a:solidFill>
                <a:latin typeface="Arial"/>
                <a:ea typeface="Arial"/>
                <a:cs typeface="Arial"/>
              </a:defRPr>
            </a:lvl4pPr>
            <a:lvl5pPr>
              <a:defRPr sz="1275" b="1">
                <a:solidFill>
                  <a:srgbClr val="25D8BD"/>
                </a:solidFill>
                <a:latin typeface="Arial"/>
                <a:ea typeface="Arial"/>
                <a:cs typeface="Arial"/>
              </a:defRPr>
            </a:lvl5pPr>
            <a:lvl6pPr>
              <a:defRPr sz="1275" b="1">
                <a:solidFill>
                  <a:srgbClr val="25D8BD"/>
                </a:solidFill>
                <a:latin typeface="Arial"/>
                <a:ea typeface="Arial"/>
                <a:cs typeface="Arial"/>
              </a:defRPr>
            </a:lvl6pPr>
            <a:lvl7pPr>
              <a:defRPr sz="1275" b="1">
                <a:solidFill>
                  <a:srgbClr val="25D8BD"/>
                </a:solidFill>
                <a:latin typeface="Arial"/>
                <a:ea typeface="Arial"/>
                <a:cs typeface="Arial"/>
              </a:defRPr>
            </a:lvl7pPr>
            <a:lvl8pPr>
              <a:defRPr sz="1275" b="1">
                <a:solidFill>
                  <a:srgbClr val="25D8BD"/>
                </a:solidFill>
                <a:latin typeface="Arial"/>
                <a:ea typeface="Arial"/>
                <a:cs typeface="Arial"/>
              </a:defRPr>
            </a:lvl8pPr>
            <a:lvl9pPr>
              <a:defRPr sz="1275" b="1">
                <a:solidFill>
                  <a:srgbClr val="25D8BD"/>
                </a:solidFill>
                <a:latin typeface="Arial"/>
                <a:ea typeface="Arial"/>
                <a:cs typeface="Arial"/>
              </a:defRPr>
            </a:lvl9pPr>
          </a:lstStyle>
          <a:p xmlns:a="http://schemas.openxmlformats.org/drawingml/2006/main">
            <a:pPr>
              <a:defRPr sz="1275" b="1">
                <a:solidFill>
                  <a:srgbClr val="25D8BD"/>
                </a:solidFill>
                <a:latin typeface="Arial"/>
                <a:ea typeface="Arial"/>
                <a:cs typeface="Arial"/>
              </a:defRPr>
            </a:pPr>
            <a:r>
              <a:rPr sz="1275" b="1">
                <a:solidFill>
                  <a:srgbClr val="25D8BD"/>
                </a:solidFill>
                <a:latin typeface="Arial"/>
                <a:ea typeface="Arial"/>
                <a:cs typeface="Arial"/>
              </a:rPr>
              <a:t>SELF-AWARDED BADGE: 6/6 tests cover one privilege rule. The 0.90 score is not calibrated.</a:t>
            </a:r>
          </a:p>
        </p:txBody>
      </p:sp>
      <p:sp>
        <p:nvSpPr>
          <p:cNvPr id="5" name="CLAUSE 1 · Network restriction&#10;Mapped to privile">
            <a:extLst xmlns:a="http://schemas.openxmlformats.org/drawingml/2006/main">
              <a:ext uri="{FF2B5EF4-FFF2-40B4-BE49-F238E27FC236}">
                <a16:creationId xmlns:a16="http://schemas.microsoft.com/office/drawing/2014/main" id="{87587B21-FD1A-4A07-960A-33F9843157EE}"/>
              </a:ext>
            </a:extLst>
          </p:cNvPr>
          <p:cNvSpPr>
            <a:spLocks xmlns:a="http://schemas.openxmlformats.org/drawingml/2006/main" noGrp="1"/>
          </p:cNvSpPr>
          <p:nvPr/>
        </p:nvSpPr>
        <p:spPr>
          <a:xfrm xmlns:a="http://schemas.openxmlformats.org/drawingml/2006/main">
            <a:off x="4876800" y="1924050"/>
            <a:ext cx="6686550" cy="971550"/>
          </a:xfrm>
          <a:prstGeom xmlns:a="http://schemas.openxmlformats.org/drawingml/2006/main" prst="rect">
            <a:avLst/>
          </a:prstGeom>
          <a:solidFill xmlns:a="http://schemas.openxmlformats.org/drawingml/2006/main">
            <a:srgbClr val="132636"/>
          </a:solidFill>
          <a:ln xmlns:a="http://schemas.openxmlformats.org/drawingml/2006/main" w="19050">
            <a:solidFill>
              <a:srgbClr val="FF795B"/>
            </a:solidFill>
          </a:ln>
        </p:spPr>
        <p:txBody>
          <a:bodyPr xmlns:a="http://schemas.openxmlformats.org/drawingml/2006/main"/>
          <a:lstStyle xmlns:a="http://schemas.openxmlformats.org/drawingml/2006/main">
            <a:defPPr>
              <a:defRPr sz="1650" b="0">
                <a:solidFill>
                  <a:srgbClr val="F2EFE7"/>
                </a:solidFill>
                <a:latin typeface="Arial"/>
                <a:ea typeface="Arial"/>
                <a:cs typeface="Arial"/>
              </a:defRPr>
            </a:defPPr>
            <a:lvl1pPr>
              <a:defRPr sz="1650" b="0">
                <a:solidFill>
                  <a:srgbClr val="F2EFE7"/>
                </a:solidFill>
                <a:latin typeface="Arial"/>
                <a:ea typeface="Arial"/>
                <a:cs typeface="Arial"/>
              </a:defRPr>
            </a:lvl1pPr>
            <a:lvl2pPr>
              <a:defRPr sz="1650" b="0">
                <a:solidFill>
                  <a:srgbClr val="F2EFE7"/>
                </a:solidFill>
                <a:latin typeface="Arial"/>
                <a:ea typeface="Arial"/>
                <a:cs typeface="Arial"/>
              </a:defRPr>
            </a:lvl2pPr>
            <a:lvl3pPr>
              <a:defRPr sz="1650" b="0">
                <a:solidFill>
                  <a:srgbClr val="F2EFE7"/>
                </a:solidFill>
                <a:latin typeface="Arial"/>
                <a:ea typeface="Arial"/>
                <a:cs typeface="Arial"/>
              </a:defRPr>
            </a:lvl3pPr>
            <a:lvl4pPr>
              <a:defRPr sz="1650" b="0">
                <a:solidFill>
                  <a:srgbClr val="F2EFE7"/>
                </a:solidFill>
                <a:latin typeface="Arial"/>
                <a:ea typeface="Arial"/>
                <a:cs typeface="Arial"/>
              </a:defRPr>
            </a:lvl4pPr>
            <a:lvl5pPr>
              <a:defRPr sz="1650" b="0">
                <a:solidFill>
                  <a:srgbClr val="F2EFE7"/>
                </a:solidFill>
                <a:latin typeface="Arial"/>
                <a:ea typeface="Arial"/>
                <a:cs typeface="Arial"/>
              </a:defRPr>
            </a:lvl5pPr>
            <a:lvl6pPr>
              <a:defRPr sz="1650" b="0">
                <a:solidFill>
                  <a:srgbClr val="F2EFE7"/>
                </a:solidFill>
                <a:latin typeface="Arial"/>
                <a:ea typeface="Arial"/>
                <a:cs typeface="Arial"/>
              </a:defRPr>
            </a:lvl6pPr>
            <a:lvl7pPr>
              <a:defRPr sz="1650" b="0">
                <a:solidFill>
                  <a:srgbClr val="F2EFE7"/>
                </a:solidFill>
                <a:latin typeface="Arial"/>
                <a:ea typeface="Arial"/>
                <a:cs typeface="Arial"/>
              </a:defRPr>
            </a:lvl7pPr>
            <a:lvl8pPr>
              <a:defRPr sz="1650" b="0">
                <a:solidFill>
                  <a:srgbClr val="F2EFE7"/>
                </a:solidFill>
                <a:latin typeface="Arial"/>
                <a:ea typeface="Arial"/>
                <a:cs typeface="Arial"/>
              </a:defRPr>
            </a:lvl8pPr>
            <a:lvl9pPr>
              <a:defRPr sz="1650" b="0">
                <a:solidFill>
                  <a:srgbClr val="F2EFE7"/>
                </a:solidFill>
                <a:latin typeface="Arial"/>
                <a:ea typeface="Arial"/>
                <a:cs typeface="Arial"/>
              </a:defRPr>
            </a:lvl9pPr>
          </a:lstStyle>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CLAUSE 1 · Network restriction</a:t>
            </a:r>
          </a:p>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Mapped to privilege policy → ACG-NET-001 + CNI missing</a:t>
            </a:r>
          </a:p>
        </p:txBody>
      </p:sp>
      <p:sp>
        <p:nvSpPr>
          <p:cNvPr id="6" name="CLAUSE 3 · Kubernetes API access&#10;Escalated for h">
            <a:extLst xmlns:a="http://schemas.openxmlformats.org/drawingml/2006/main">
              <a:ext uri="{FF2B5EF4-FFF2-40B4-BE49-F238E27FC236}">
                <a16:creationId xmlns:a16="http://schemas.microsoft.com/office/drawing/2014/main" id="{6ACE1F3B-58C2-441D-A81B-197D7BB1F87E}"/>
              </a:ext>
            </a:extLst>
          </p:cNvPr>
          <p:cNvSpPr>
            <a:spLocks xmlns:a="http://schemas.openxmlformats.org/drawingml/2006/main" noGrp="1"/>
          </p:cNvSpPr>
          <p:nvPr/>
        </p:nvSpPr>
        <p:spPr>
          <a:xfrm xmlns:a="http://schemas.openxmlformats.org/drawingml/2006/main">
            <a:off x="4876800" y="3048000"/>
            <a:ext cx="6686550" cy="971550"/>
          </a:xfrm>
          <a:prstGeom xmlns:a="http://schemas.openxmlformats.org/drawingml/2006/main" prst="rect">
            <a:avLst/>
          </a:prstGeom>
          <a:solidFill xmlns:a="http://schemas.openxmlformats.org/drawingml/2006/main">
            <a:srgbClr val="132636"/>
          </a:solidFill>
          <a:ln xmlns:a="http://schemas.openxmlformats.org/drawingml/2006/main" w="19050">
            <a:solidFill>
              <a:srgbClr val="FF795B"/>
            </a:solidFill>
          </a:ln>
        </p:spPr>
        <p:txBody>
          <a:bodyPr xmlns:a="http://schemas.openxmlformats.org/drawingml/2006/main"/>
          <a:lstStyle xmlns:a="http://schemas.openxmlformats.org/drawingml/2006/main">
            <a:defPPr>
              <a:defRPr sz="1650" b="0">
                <a:solidFill>
                  <a:srgbClr val="F2EFE7"/>
                </a:solidFill>
                <a:latin typeface="Arial"/>
                <a:ea typeface="Arial"/>
                <a:cs typeface="Arial"/>
              </a:defRPr>
            </a:defPPr>
            <a:lvl1pPr>
              <a:defRPr sz="1650" b="0">
                <a:solidFill>
                  <a:srgbClr val="F2EFE7"/>
                </a:solidFill>
                <a:latin typeface="Arial"/>
                <a:ea typeface="Arial"/>
                <a:cs typeface="Arial"/>
              </a:defRPr>
            </a:lvl1pPr>
            <a:lvl2pPr>
              <a:defRPr sz="1650" b="0">
                <a:solidFill>
                  <a:srgbClr val="F2EFE7"/>
                </a:solidFill>
                <a:latin typeface="Arial"/>
                <a:ea typeface="Arial"/>
                <a:cs typeface="Arial"/>
              </a:defRPr>
            </a:lvl2pPr>
            <a:lvl3pPr>
              <a:defRPr sz="1650" b="0">
                <a:solidFill>
                  <a:srgbClr val="F2EFE7"/>
                </a:solidFill>
                <a:latin typeface="Arial"/>
                <a:ea typeface="Arial"/>
                <a:cs typeface="Arial"/>
              </a:defRPr>
            </a:lvl3pPr>
            <a:lvl4pPr>
              <a:defRPr sz="1650" b="0">
                <a:solidFill>
                  <a:srgbClr val="F2EFE7"/>
                </a:solidFill>
                <a:latin typeface="Arial"/>
                <a:ea typeface="Arial"/>
                <a:cs typeface="Arial"/>
              </a:defRPr>
            </a:lvl4pPr>
            <a:lvl5pPr>
              <a:defRPr sz="1650" b="0">
                <a:solidFill>
                  <a:srgbClr val="F2EFE7"/>
                </a:solidFill>
                <a:latin typeface="Arial"/>
                <a:ea typeface="Arial"/>
                <a:cs typeface="Arial"/>
              </a:defRPr>
            </a:lvl5pPr>
            <a:lvl6pPr>
              <a:defRPr sz="1650" b="0">
                <a:solidFill>
                  <a:srgbClr val="F2EFE7"/>
                </a:solidFill>
                <a:latin typeface="Arial"/>
                <a:ea typeface="Arial"/>
                <a:cs typeface="Arial"/>
              </a:defRPr>
            </a:lvl6pPr>
            <a:lvl7pPr>
              <a:defRPr sz="1650" b="0">
                <a:solidFill>
                  <a:srgbClr val="F2EFE7"/>
                </a:solidFill>
                <a:latin typeface="Arial"/>
                <a:ea typeface="Arial"/>
                <a:cs typeface="Arial"/>
              </a:defRPr>
            </a:lvl7pPr>
            <a:lvl8pPr>
              <a:defRPr sz="1650" b="0">
                <a:solidFill>
                  <a:srgbClr val="F2EFE7"/>
                </a:solidFill>
                <a:latin typeface="Arial"/>
                <a:ea typeface="Arial"/>
                <a:cs typeface="Arial"/>
              </a:defRPr>
            </a:lvl8pPr>
            <a:lvl9pPr>
              <a:defRPr sz="1650" b="0">
                <a:solidFill>
                  <a:srgbClr val="F2EFE7"/>
                </a:solidFill>
                <a:latin typeface="Arial"/>
                <a:ea typeface="Arial"/>
                <a:cs typeface="Arial"/>
              </a:defRPr>
            </a:lvl9pPr>
          </a:lstStyle>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CLAUSE 3 · Kubernetes API access</a:t>
            </a:r>
          </a:p>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Escalated for human review → ACG-IAM-001 RBAC missing</a:t>
            </a:r>
          </a:p>
        </p:txBody>
      </p:sp>
      <p:sp>
        <p:nvSpPr>
          <p:cNvPr id="7" name="CLAUSE 4 · Rollout &amp; exception expiry&#10;Mapped to ">
            <a:extLst xmlns:a="http://schemas.openxmlformats.org/drawingml/2006/main">
              <a:ext uri="{FF2B5EF4-FFF2-40B4-BE49-F238E27FC236}">
                <a16:creationId xmlns:a16="http://schemas.microsoft.com/office/drawing/2014/main" id="{EE76E8CE-AF3F-466F-A072-EA098848C2BF}"/>
              </a:ext>
            </a:extLst>
          </p:cNvPr>
          <p:cNvSpPr>
            <a:spLocks xmlns:a="http://schemas.openxmlformats.org/drawingml/2006/main" noGrp="1"/>
          </p:cNvSpPr>
          <p:nvPr/>
        </p:nvSpPr>
        <p:spPr>
          <a:xfrm xmlns:a="http://schemas.openxmlformats.org/drawingml/2006/main">
            <a:off x="4876800" y="4171950"/>
            <a:ext cx="6686550" cy="990600"/>
          </a:xfrm>
          <a:prstGeom xmlns:a="http://schemas.openxmlformats.org/drawingml/2006/main" prst="rect">
            <a:avLst/>
          </a:prstGeom>
          <a:solidFill xmlns:a="http://schemas.openxmlformats.org/drawingml/2006/main">
            <a:srgbClr val="132636"/>
          </a:solidFill>
          <a:ln xmlns:a="http://schemas.openxmlformats.org/drawingml/2006/main" w="19050">
            <a:solidFill>
              <a:srgbClr val="FF795B"/>
            </a:solidFill>
          </a:ln>
        </p:spPr>
        <p:txBody>
          <a:bodyPr xmlns:a="http://schemas.openxmlformats.org/drawingml/2006/main"/>
          <a:lstStyle xmlns:a="http://schemas.openxmlformats.org/drawingml/2006/main">
            <a:defPPr>
              <a:defRPr sz="1650" b="0">
                <a:solidFill>
                  <a:srgbClr val="F2EFE7"/>
                </a:solidFill>
                <a:latin typeface="Arial"/>
                <a:ea typeface="Arial"/>
                <a:cs typeface="Arial"/>
              </a:defRPr>
            </a:defPPr>
            <a:lvl1pPr>
              <a:defRPr sz="1650" b="0">
                <a:solidFill>
                  <a:srgbClr val="F2EFE7"/>
                </a:solidFill>
                <a:latin typeface="Arial"/>
                <a:ea typeface="Arial"/>
                <a:cs typeface="Arial"/>
              </a:defRPr>
            </a:lvl1pPr>
            <a:lvl2pPr>
              <a:defRPr sz="1650" b="0">
                <a:solidFill>
                  <a:srgbClr val="F2EFE7"/>
                </a:solidFill>
                <a:latin typeface="Arial"/>
                <a:ea typeface="Arial"/>
                <a:cs typeface="Arial"/>
              </a:defRPr>
            </a:lvl2pPr>
            <a:lvl3pPr>
              <a:defRPr sz="1650" b="0">
                <a:solidFill>
                  <a:srgbClr val="F2EFE7"/>
                </a:solidFill>
                <a:latin typeface="Arial"/>
                <a:ea typeface="Arial"/>
                <a:cs typeface="Arial"/>
              </a:defRPr>
            </a:lvl3pPr>
            <a:lvl4pPr>
              <a:defRPr sz="1650" b="0">
                <a:solidFill>
                  <a:srgbClr val="F2EFE7"/>
                </a:solidFill>
                <a:latin typeface="Arial"/>
                <a:ea typeface="Arial"/>
                <a:cs typeface="Arial"/>
              </a:defRPr>
            </a:lvl4pPr>
            <a:lvl5pPr>
              <a:defRPr sz="1650" b="0">
                <a:solidFill>
                  <a:srgbClr val="F2EFE7"/>
                </a:solidFill>
                <a:latin typeface="Arial"/>
                <a:ea typeface="Arial"/>
                <a:cs typeface="Arial"/>
              </a:defRPr>
            </a:lvl5pPr>
            <a:lvl6pPr>
              <a:defRPr sz="1650" b="0">
                <a:solidFill>
                  <a:srgbClr val="F2EFE7"/>
                </a:solidFill>
                <a:latin typeface="Arial"/>
                <a:ea typeface="Arial"/>
                <a:cs typeface="Arial"/>
              </a:defRPr>
            </a:lvl6pPr>
            <a:lvl7pPr>
              <a:defRPr sz="1650" b="0">
                <a:solidFill>
                  <a:srgbClr val="F2EFE7"/>
                </a:solidFill>
                <a:latin typeface="Arial"/>
                <a:ea typeface="Arial"/>
                <a:cs typeface="Arial"/>
              </a:defRPr>
            </a:lvl7pPr>
            <a:lvl8pPr>
              <a:defRPr sz="1650" b="0">
                <a:solidFill>
                  <a:srgbClr val="F2EFE7"/>
                </a:solidFill>
                <a:latin typeface="Arial"/>
                <a:ea typeface="Arial"/>
                <a:cs typeface="Arial"/>
              </a:defRPr>
            </a:lvl8pPr>
            <a:lvl9pPr>
              <a:defRPr sz="1650" b="0">
                <a:solidFill>
                  <a:srgbClr val="F2EFE7"/>
                </a:solidFill>
                <a:latin typeface="Arial"/>
                <a:ea typeface="Arial"/>
                <a:cs typeface="Arial"/>
              </a:defRPr>
            </a:lvl9pPr>
          </a:lstStyle>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CLAUSE 4 · Rollout &amp; exception expiry</a:t>
            </a:r>
          </a:p>
          <a:p xmlns:a="http://schemas.openxmlformats.org/drawingml/2006/main">
            <a:pPr>
              <a:defRPr sz="1650" b="0">
                <a:solidFill>
                  <a:srgbClr val="F2EFE7"/>
                </a:solidFill>
                <a:latin typeface="Arial"/>
                <a:ea typeface="Arial"/>
                <a:cs typeface="Arial"/>
              </a:defRPr>
            </a:pPr>
            <a:r>
              <a:rPr sz="1650" b="0">
                <a:solidFill>
                  <a:srgbClr val="F2EFE7"/>
                </a:solidFill>
                <a:latin typeface="Arial"/>
                <a:ea typeface="Arial"/>
                <a:cs typeface="Arial"/>
              </a:rPr>
              <a:t>Mapped to privilege policy → ACG-GOV-001 governance missing</a:t>
            </a:r>
          </a:p>
        </p:txBody>
      </p:sp>
      <p:sp>
        <p:nvSpPr>
          <p:cNvPr id="8" name="TAKEAWAY: The Python harness ran 6/6 tests on on">
            <a:extLst xmlns:a="http://schemas.openxmlformats.org/drawingml/2006/main">
              <a:ext uri="{FF2B5EF4-FFF2-40B4-BE49-F238E27FC236}">
                <a16:creationId xmlns:a16="http://schemas.microsoft.com/office/drawing/2014/main" id="{A91DE70F-BED7-471C-B7CE-E6F92AE3EC90}"/>
              </a:ext>
            </a:extLst>
          </p:cNvPr>
          <p:cNvSpPr>
            <a:spLocks xmlns:a="http://schemas.openxmlformats.org/drawingml/2006/main" noGrp="1"/>
          </p:cNvSpPr>
          <p:nvPr/>
        </p:nvSpPr>
        <p:spPr>
          <a:xfrm xmlns:a="http://schemas.openxmlformats.org/drawingml/2006/main">
            <a:off x="609600" y="5372100"/>
            <a:ext cx="10953750" cy="685800"/>
          </a:xfrm>
          <a:prstGeom xmlns:a="http://schemas.openxmlformats.org/drawingml/2006/main" prst="rect">
            <a:avLst/>
          </a:prstGeom>
          <a:solidFill xmlns:a="http://schemas.openxmlformats.org/drawingml/2006/main">
            <a:srgbClr val="F2EFE7"/>
          </a:solidFill>
          <a:ln xmlns:a="http://schemas.openxmlformats.org/drawingml/2006/main" w="19050">
            <a:solidFill>
              <a:srgbClr val="FF795B"/>
            </a:solidFill>
          </a:ln>
        </p:spPr>
        <p:txBody>
          <a:bodyPr xmlns:a="http://schemas.openxmlformats.org/drawingml/2006/main"/>
          <a:lstStyle xmlns:a="http://schemas.openxmlformats.org/drawingml/2006/main">
            <a:defPPr>
              <a:defRPr sz="1575" b="1">
                <a:solidFill>
                  <a:srgbClr val="0B1822"/>
                </a:solidFill>
                <a:latin typeface="Arial"/>
                <a:ea typeface="Arial"/>
                <a:cs typeface="Arial"/>
              </a:defRPr>
            </a:defPPr>
            <a:lvl1pPr>
              <a:defRPr sz="1575" b="1">
                <a:solidFill>
                  <a:srgbClr val="0B1822"/>
                </a:solidFill>
                <a:latin typeface="Arial"/>
                <a:ea typeface="Arial"/>
                <a:cs typeface="Arial"/>
              </a:defRPr>
            </a:lvl1pPr>
            <a:lvl2pPr>
              <a:defRPr sz="1575" b="1">
                <a:solidFill>
                  <a:srgbClr val="0B1822"/>
                </a:solidFill>
                <a:latin typeface="Arial"/>
                <a:ea typeface="Arial"/>
                <a:cs typeface="Arial"/>
              </a:defRPr>
            </a:lvl2pPr>
            <a:lvl3pPr>
              <a:defRPr sz="1575" b="1">
                <a:solidFill>
                  <a:srgbClr val="0B1822"/>
                </a:solidFill>
                <a:latin typeface="Arial"/>
                <a:ea typeface="Arial"/>
                <a:cs typeface="Arial"/>
              </a:defRPr>
            </a:lvl3pPr>
            <a:lvl4pPr>
              <a:defRPr sz="1575" b="1">
                <a:solidFill>
                  <a:srgbClr val="0B1822"/>
                </a:solidFill>
                <a:latin typeface="Arial"/>
                <a:ea typeface="Arial"/>
                <a:cs typeface="Arial"/>
              </a:defRPr>
            </a:lvl4pPr>
            <a:lvl5pPr>
              <a:defRPr sz="1575" b="1">
                <a:solidFill>
                  <a:srgbClr val="0B1822"/>
                </a:solidFill>
                <a:latin typeface="Arial"/>
                <a:ea typeface="Arial"/>
                <a:cs typeface="Arial"/>
              </a:defRPr>
            </a:lvl5pPr>
            <a:lvl6pPr>
              <a:defRPr sz="1575" b="1">
                <a:solidFill>
                  <a:srgbClr val="0B1822"/>
                </a:solidFill>
                <a:latin typeface="Arial"/>
                <a:ea typeface="Arial"/>
                <a:cs typeface="Arial"/>
              </a:defRPr>
            </a:lvl6pPr>
            <a:lvl7pPr>
              <a:defRPr sz="1575" b="1">
                <a:solidFill>
                  <a:srgbClr val="0B1822"/>
                </a:solidFill>
                <a:latin typeface="Arial"/>
                <a:ea typeface="Arial"/>
                <a:cs typeface="Arial"/>
              </a:defRPr>
            </a:lvl7pPr>
            <a:lvl8pPr>
              <a:defRPr sz="1575" b="1">
                <a:solidFill>
                  <a:srgbClr val="0B1822"/>
                </a:solidFill>
                <a:latin typeface="Arial"/>
                <a:ea typeface="Arial"/>
                <a:cs typeface="Arial"/>
              </a:defRPr>
            </a:lvl8pPr>
            <a:lvl9pPr>
              <a:defRPr sz="1575" b="1">
                <a:solidFill>
                  <a:srgbClr val="0B1822"/>
                </a:solidFill>
                <a:latin typeface="Arial"/>
                <a:ea typeface="Arial"/>
                <a:cs typeface="Arial"/>
              </a:defRPr>
            </a:lvl9pPr>
          </a:lstStyle>
          <a:p xmlns:a="http://schemas.openxmlformats.org/drawingml/2006/main">
            <a:pPr>
              <a:defRPr sz="1575" b="1">
                <a:solidFill>
                  <a:srgbClr val="0B1822"/>
                </a:solidFill>
                <a:latin typeface="Arial"/>
                <a:ea typeface="Arial"/>
                <a:cs typeface="Arial"/>
              </a:defRPr>
            </a:pPr>
            <a:r>
              <a:rPr sz="1575" b="1">
                <a:solidFill>
                  <a:srgbClr val="0B1822"/>
                </a:solidFill>
                <a:latin typeface="Arial"/>
                <a:ea typeface="Arial"/>
                <a:cs typeface="Arial"/>
              </a:rPr>
              <a:t>TAKEAWAY: The Python harness ran 6/6 tests on one rule; three intent clauses still lack enforcement evidence. Overall readiness: INCOMPLETE_PROPOSAL.</a:t>
            </a:r>
          </a:p>
        </p:txBody>
      </p:sp>
      <p:sp>
        <p:nvSpPr>
          <p:cNvPr id="9" name="ISC2 SECURITY CONGRESS 2026 / SC2632">
            <a:extLst xmlns:a="http://schemas.openxmlformats.org/drawingml/2006/main">
              <a:ext uri="{FF2B5EF4-FFF2-40B4-BE49-F238E27FC236}">
                <a16:creationId xmlns:a16="http://schemas.microsoft.com/office/drawing/2014/main" id="{57EF6568-69D3-4C0B-B6AA-C4B4477C3FC6}"/>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vl1pPr>
              <a:defRPr sz="900" b="0">
                <a:solidFill>
                  <a:srgbClr val="8498A5"/>
                </a:solidFill>
                <a:latin typeface="Arial"/>
                <a:ea typeface="Arial"/>
                <a:cs typeface="Arial"/>
              </a:defRPr>
            </a:lvl1pPr>
            <a:lvl2pPr>
              <a:defRPr sz="900" b="0">
                <a:solidFill>
                  <a:srgbClr val="8498A5"/>
                </a:solidFill>
                <a:latin typeface="Arial"/>
                <a:ea typeface="Arial"/>
                <a:cs typeface="Arial"/>
              </a:defRPr>
            </a:lvl2pPr>
            <a:lvl3pPr>
              <a:defRPr sz="900" b="0">
                <a:solidFill>
                  <a:srgbClr val="8498A5"/>
                </a:solidFill>
                <a:latin typeface="Arial"/>
                <a:ea typeface="Arial"/>
                <a:cs typeface="Arial"/>
              </a:defRPr>
            </a:lvl3pPr>
            <a:lvl4pPr>
              <a:defRPr sz="900" b="0">
                <a:solidFill>
                  <a:srgbClr val="8498A5"/>
                </a:solidFill>
                <a:latin typeface="Arial"/>
                <a:ea typeface="Arial"/>
                <a:cs typeface="Arial"/>
              </a:defRPr>
            </a:lvl4pPr>
            <a:lvl5pPr>
              <a:defRPr sz="900" b="0">
                <a:solidFill>
                  <a:srgbClr val="8498A5"/>
                </a:solidFill>
                <a:latin typeface="Arial"/>
                <a:ea typeface="Arial"/>
                <a:cs typeface="Arial"/>
              </a:defRPr>
            </a:lvl5pPr>
            <a:lvl6pPr>
              <a:defRPr sz="900" b="0">
                <a:solidFill>
                  <a:srgbClr val="8498A5"/>
                </a:solidFill>
                <a:latin typeface="Arial"/>
                <a:ea typeface="Arial"/>
                <a:cs typeface="Arial"/>
              </a:defRPr>
            </a:lvl6pPr>
            <a:lvl7pPr>
              <a:defRPr sz="900" b="0">
                <a:solidFill>
                  <a:srgbClr val="8498A5"/>
                </a:solidFill>
                <a:latin typeface="Arial"/>
                <a:ea typeface="Arial"/>
                <a:cs typeface="Arial"/>
              </a:defRPr>
            </a:lvl7pPr>
            <a:lvl8pPr>
              <a:defRPr sz="900" b="0">
                <a:solidFill>
                  <a:srgbClr val="8498A5"/>
                </a:solidFill>
                <a:latin typeface="Arial"/>
                <a:ea typeface="Arial"/>
                <a:cs typeface="Arial"/>
              </a:defRPr>
            </a:lvl8pPr>
            <a:lvl9pPr>
              <a:defRPr sz="900" b="0">
                <a:solidFill>
                  <a:srgbClr val="8498A5"/>
                </a:solidFill>
                <a:latin typeface="Arial"/>
                <a:ea typeface="Arial"/>
                <a:cs typeface="Arial"/>
              </a:defRPr>
            </a:lvl9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10" name="28">
            <a:extLst xmlns:a="http://schemas.openxmlformats.org/drawingml/2006/main">
              <a:ext uri="{FF2B5EF4-FFF2-40B4-BE49-F238E27FC236}">
                <a16:creationId xmlns:a16="http://schemas.microsoft.com/office/drawing/2014/main" id="{66E7EA3C-D50B-44E9-A81C-1427728CEF26}"/>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vl1pPr>
              <a:defRPr sz="1200" b="1">
                <a:solidFill>
                  <a:srgbClr val="8498A5"/>
                </a:solidFill>
                <a:latin typeface="Arial"/>
                <a:ea typeface="Arial"/>
                <a:cs typeface="Arial"/>
              </a:defRPr>
            </a:lvl1pPr>
            <a:lvl2pPr>
              <a:defRPr sz="1200" b="1">
                <a:solidFill>
                  <a:srgbClr val="8498A5"/>
                </a:solidFill>
                <a:latin typeface="Arial"/>
                <a:ea typeface="Arial"/>
                <a:cs typeface="Arial"/>
              </a:defRPr>
            </a:lvl2pPr>
            <a:lvl3pPr>
              <a:defRPr sz="1200" b="1">
                <a:solidFill>
                  <a:srgbClr val="8498A5"/>
                </a:solidFill>
                <a:latin typeface="Arial"/>
                <a:ea typeface="Arial"/>
                <a:cs typeface="Arial"/>
              </a:defRPr>
            </a:lvl3pPr>
            <a:lvl4pPr>
              <a:defRPr sz="1200" b="1">
                <a:solidFill>
                  <a:srgbClr val="8498A5"/>
                </a:solidFill>
                <a:latin typeface="Arial"/>
                <a:ea typeface="Arial"/>
                <a:cs typeface="Arial"/>
              </a:defRPr>
            </a:lvl4pPr>
            <a:lvl5pPr>
              <a:defRPr sz="1200" b="1">
                <a:solidFill>
                  <a:srgbClr val="8498A5"/>
                </a:solidFill>
                <a:latin typeface="Arial"/>
                <a:ea typeface="Arial"/>
                <a:cs typeface="Arial"/>
              </a:defRPr>
            </a:lvl5pPr>
            <a:lvl6pPr>
              <a:defRPr sz="1200" b="1">
                <a:solidFill>
                  <a:srgbClr val="8498A5"/>
                </a:solidFill>
                <a:latin typeface="Arial"/>
                <a:ea typeface="Arial"/>
                <a:cs typeface="Arial"/>
              </a:defRPr>
            </a:lvl6pPr>
            <a:lvl7pPr>
              <a:defRPr sz="1200" b="1">
                <a:solidFill>
                  <a:srgbClr val="8498A5"/>
                </a:solidFill>
                <a:latin typeface="Arial"/>
                <a:ea typeface="Arial"/>
                <a:cs typeface="Arial"/>
              </a:defRPr>
            </a:lvl7pPr>
            <a:lvl8pPr>
              <a:defRPr sz="1200" b="1">
                <a:solidFill>
                  <a:srgbClr val="8498A5"/>
                </a:solidFill>
                <a:latin typeface="Arial"/>
                <a:ea typeface="Arial"/>
                <a:cs typeface="Arial"/>
              </a:defRPr>
            </a:lvl8pPr>
            <a:lvl9pPr>
              <a:defRPr sz="1200" b="1">
                <a:solidFill>
                  <a:srgbClr val="8498A5"/>
                </a:solidFill>
                <a:latin typeface="Arial"/>
                <a:ea typeface="Arial"/>
                <a:cs typeface="Arial"/>
              </a:defRPr>
            </a:lvl9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28</a:t>
            </a:r>
          </a:p>
        </p:txBody>
      </p:sp>
    </p:spTree>
    <p:extLst>
      <p:ext uri="{BB962C8B-B14F-4D97-AF65-F5344CB8AC3E}">
        <p14:creationId xmlns:p14="http://schemas.microsoft.com/office/powerpoint/2010/main" val="675218067"/>
      </p:ext>
    </p:extLst>
  </p:cSld>
</p:sld>
</file>

<file path=ppt/slides/slide29.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ACCURACY: 33 AUTHOR-LABELLED ITEMS  /  WORKFLOW:">
            <a:extLst xmlns:a="http://schemas.openxmlformats.org/drawingml/2006/main">
              <a:ext uri="{FF2B5EF4-FFF2-40B4-BE49-F238E27FC236}">
                <a16:creationId xmlns:a16="http://schemas.microsoft.com/office/drawing/2014/main" id="{5115608E-832B-4F7B-A8FE-6B2766B14ED2}"/>
              </a:ext>
            </a:extLst>
          </p:cNvPr>
          <p:cNvSpPr>
            <a:spLocks xmlns:a="http://schemas.openxmlformats.org/drawingml/2006/main" noGrp="1"/>
          </p:cNvSpPr>
          <p:nvPr/>
        </p:nvSpPr>
        <p:spPr>
          <a:xfrm xmlns:a="http://schemas.openxmlformats.org/drawingml/2006/main">
            <a:off x="609600" y="4381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ACCURACY: 33 AUTHOR-LABELLED ITEMS  /  WORKFLOW: MEDIAN OF 3 SCENARIO A FIXTURE RUNS</a:t>
            </a:r>
          </a:p>
        </p:txBody>
      </p:sp>
      <p:sp>
        <p:nvSpPr>
          <p:cNvPr id="2" name="Quality screening and run cost">
            <a:extLst xmlns:a="http://schemas.openxmlformats.org/drawingml/2006/main">
              <a:ext uri="{FF2B5EF4-FFF2-40B4-BE49-F238E27FC236}">
                <a16:creationId xmlns:a16="http://schemas.microsoft.com/office/drawing/2014/main" id="{2B0E9757-A82C-4BCB-8575-1395F57D3815}"/>
              </a:ext>
            </a:extLst>
          </p:cNvPr>
          <p:cNvSpPr>
            <a:spLocks xmlns:a="http://schemas.openxmlformats.org/drawingml/2006/main" noGrp="1"/>
          </p:cNvSpPr>
          <p:nvPr>
            <p:ph type="title" idx="0"/>
          </p:nvPr>
        </p:nvSpPr>
        <p:spPr>
          <a:xfrm xmlns:a="http://schemas.openxmlformats.org/drawingml/2006/main">
            <a:off x="609600" y="914400"/>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Quality screening and run cost</a:t>
            </a:r>
          </a:p>
        </p:txBody>
      </p:sp>
      <p:sp>
        <p:nvSpPr>
          <p:cNvPr id="3" name="JEV 1.13 (TYPED API)&#10;&#10;SCREEN: 30 / 33&#10;WORKFLOW: ">
            <a:extLst xmlns:a="http://schemas.openxmlformats.org/drawingml/2006/main">
              <a:ext uri="{FF2B5EF4-FFF2-40B4-BE49-F238E27FC236}">
                <a16:creationId xmlns:a16="http://schemas.microsoft.com/office/drawing/2014/main" id="{8228C68E-4DCC-4489-AEF1-83258FC3C5AF}"/>
              </a:ext>
            </a:extLst>
          </p:cNvPr>
          <p:cNvSpPr>
            <a:spLocks xmlns:a="http://schemas.openxmlformats.org/drawingml/2006/main" noGrp="1"/>
          </p:cNvSpPr>
          <p:nvPr/>
        </p:nvSpPr>
        <p:spPr>
          <a:xfrm xmlns:a="http://schemas.openxmlformats.org/drawingml/2006/main">
            <a:off x="609600" y="1885950"/>
            <a:ext cx="3486150" cy="327660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725" b="1">
                <a:solidFill>
                  <a:srgbClr val="0B1822"/>
                </a:solidFill>
                <a:latin typeface="Arial"/>
                <a:ea typeface="Arial"/>
                <a:cs typeface="Arial"/>
              </a:defRPr>
            </a:defPPr>
            <a:lvl1pPr>
              <a:defRPr sz="1725" b="1">
                <a:solidFill>
                  <a:srgbClr val="0B1822"/>
                </a:solidFill>
                <a:latin typeface="Arial"/>
                <a:ea typeface="Arial"/>
                <a:cs typeface="Arial"/>
              </a:defRPr>
            </a:lvl1pPr>
            <a:lvl2pPr>
              <a:defRPr sz="1725" b="1">
                <a:solidFill>
                  <a:srgbClr val="0B1822"/>
                </a:solidFill>
                <a:latin typeface="Arial"/>
                <a:ea typeface="Arial"/>
                <a:cs typeface="Arial"/>
              </a:defRPr>
            </a:lvl2pPr>
            <a:lvl3pPr>
              <a:defRPr sz="1725" b="1">
                <a:solidFill>
                  <a:srgbClr val="0B1822"/>
                </a:solidFill>
                <a:latin typeface="Arial"/>
                <a:ea typeface="Arial"/>
                <a:cs typeface="Arial"/>
              </a:defRPr>
            </a:lvl3pPr>
            <a:lvl4pPr>
              <a:defRPr sz="1725" b="1">
                <a:solidFill>
                  <a:srgbClr val="0B1822"/>
                </a:solidFill>
                <a:latin typeface="Arial"/>
                <a:ea typeface="Arial"/>
                <a:cs typeface="Arial"/>
              </a:defRPr>
            </a:lvl4pPr>
            <a:lvl5pPr>
              <a:defRPr sz="1725" b="1">
                <a:solidFill>
                  <a:srgbClr val="0B1822"/>
                </a:solidFill>
                <a:latin typeface="Arial"/>
                <a:ea typeface="Arial"/>
                <a:cs typeface="Arial"/>
              </a:defRPr>
            </a:lvl5pPr>
            <a:lvl6pPr>
              <a:defRPr sz="1725" b="1">
                <a:solidFill>
                  <a:srgbClr val="0B1822"/>
                </a:solidFill>
                <a:latin typeface="Arial"/>
                <a:ea typeface="Arial"/>
                <a:cs typeface="Arial"/>
              </a:defRPr>
            </a:lvl6pPr>
            <a:lvl7pPr>
              <a:defRPr sz="1725" b="1">
                <a:solidFill>
                  <a:srgbClr val="0B1822"/>
                </a:solidFill>
                <a:latin typeface="Arial"/>
                <a:ea typeface="Arial"/>
                <a:cs typeface="Arial"/>
              </a:defRPr>
            </a:lvl7pPr>
            <a:lvl8pPr>
              <a:defRPr sz="1725" b="1">
                <a:solidFill>
                  <a:srgbClr val="0B1822"/>
                </a:solidFill>
                <a:latin typeface="Arial"/>
                <a:ea typeface="Arial"/>
                <a:cs typeface="Arial"/>
              </a:defRPr>
            </a:lvl8pPr>
            <a:lvl9pPr>
              <a:defRPr sz="1725" b="1">
                <a:solidFill>
                  <a:srgbClr val="0B1822"/>
                </a:solidFill>
                <a:latin typeface="Arial"/>
                <a:ea typeface="Arial"/>
                <a:cs typeface="Arial"/>
              </a:defRPr>
            </a:lvl9pPr>
          </a:lstStyle>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JEV 1.13 (TYPED API)</a:t>
            </a:r>
          </a:p>
          <a:p xmlns:a="http://schemas.openxmlformats.org/drawingml/2006/main">
            <a:r>
              <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SCREEN: 30 / 33</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WORKFLOW: 1.82 s · $0.00019 est.</a:t>
            </a:r>
          </a:p>
          <a:p xmlns:a="http://schemas.openxmlformats.org/drawingml/2006/main">
            <a:r>
              <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4 human escalations</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Policy present</a:t>
            </a:r>
          </a:p>
        </p:txBody>
      </p:sp>
      <p:sp>
        <p:nvSpPr>
          <p:cNvPr id="4" name="CLAUDE OPUS 5.5&#10;&#10;SCREEN: 32 / 33&#10;WORKFLOW: 24.18">
            <a:extLst xmlns:a="http://schemas.openxmlformats.org/drawingml/2006/main">
              <a:ext uri="{FF2B5EF4-FFF2-40B4-BE49-F238E27FC236}">
                <a16:creationId xmlns:a16="http://schemas.microsoft.com/office/drawing/2014/main" id="{EA3A8949-A4B3-4167-BF12-CD4754E489A9}"/>
              </a:ext>
            </a:extLst>
          </p:cNvPr>
          <p:cNvSpPr>
            <a:spLocks xmlns:a="http://schemas.openxmlformats.org/drawingml/2006/main" noGrp="1"/>
          </p:cNvSpPr>
          <p:nvPr/>
        </p:nvSpPr>
        <p:spPr>
          <a:xfrm xmlns:a="http://schemas.openxmlformats.org/drawingml/2006/main">
            <a:off x="4343400" y="1885950"/>
            <a:ext cx="3486150" cy="3276600"/>
          </a:xfrm>
          <a:prstGeom xmlns:a="http://schemas.openxmlformats.org/drawingml/2006/main" prst="rect">
            <a:avLst/>
          </a:prstGeom>
          <a:solidFill xmlns:a="http://schemas.openxmlformats.org/drawingml/2006/main">
            <a:srgbClr val="FFFFFF"/>
          </a:solidFill>
          <a:ln xmlns:a="http://schemas.openxmlformats.org/drawingml/2006/main" w="28575">
            <a:solidFill>
              <a:srgbClr val="087E79"/>
            </a:solidFill>
          </a:ln>
        </p:spPr>
        <p:txBody>
          <a:bodyPr xmlns:a="http://schemas.openxmlformats.org/drawingml/2006/main"/>
          <a:lstStyle xmlns:a="http://schemas.openxmlformats.org/drawingml/2006/main">
            <a:defPPr>
              <a:defRPr sz="1725" b="1">
                <a:solidFill>
                  <a:srgbClr val="0B1822"/>
                </a:solidFill>
                <a:latin typeface="Arial"/>
                <a:ea typeface="Arial"/>
                <a:cs typeface="Arial"/>
              </a:defRPr>
            </a:defPPr>
            <a:lvl1pPr>
              <a:defRPr sz="1725" b="1">
                <a:solidFill>
                  <a:srgbClr val="0B1822"/>
                </a:solidFill>
                <a:latin typeface="Arial"/>
                <a:ea typeface="Arial"/>
                <a:cs typeface="Arial"/>
              </a:defRPr>
            </a:lvl1pPr>
            <a:lvl2pPr>
              <a:defRPr sz="1725" b="1">
                <a:solidFill>
                  <a:srgbClr val="0B1822"/>
                </a:solidFill>
                <a:latin typeface="Arial"/>
                <a:ea typeface="Arial"/>
                <a:cs typeface="Arial"/>
              </a:defRPr>
            </a:lvl2pPr>
            <a:lvl3pPr>
              <a:defRPr sz="1725" b="1">
                <a:solidFill>
                  <a:srgbClr val="0B1822"/>
                </a:solidFill>
                <a:latin typeface="Arial"/>
                <a:ea typeface="Arial"/>
                <a:cs typeface="Arial"/>
              </a:defRPr>
            </a:lvl3pPr>
            <a:lvl4pPr>
              <a:defRPr sz="1725" b="1">
                <a:solidFill>
                  <a:srgbClr val="0B1822"/>
                </a:solidFill>
                <a:latin typeface="Arial"/>
                <a:ea typeface="Arial"/>
                <a:cs typeface="Arial"/>
              </a:defRPr>
            </a:lvl4pPr>
            <a:lvl5pPr>
              <a:defRPr sz="1725" b="1">
                <a:solidFill>
                  <a:srgbClr val="0B1822"/>
                </a:solidFill>
                <a:latin typeface="Arial"/>
                <a:ea typeface="Arial"/>
                <a:cs typeface="Arial"/>
              </a:defRPr>
            </a:lvl5pPr>
            <a:lvl6pPr>
              <a:defRPr sz="1725" b="1">
                <a:solidFill>
                  <a:srgbClr val="0B1822"/>
                </a:solidFill>
                <a:latin typeface="Arial"/>
                <a:ea typeface="Arial"/>
                <a:cs typeface="Arial"/>
              </a:defRPr>
            </a:lvl6pPr>
            <a:lvl7pPr>
              <a:defRPr sz="1725" b="1">
                <a:solidFill>
                  <a:srgbClr val="0B1822"/>
                </a:solidFill>
                <a:latin typeface="Arial"/>
                <a:ea typeface="Arial"/>
                <a:cs typeface="Arial"/>
              </a:defRPr>
            </a:lvl7pPr>
            <a:lvl8pPr>
              <a:defRPr sz="1725" b="1">
                <a:solidFill>
                  <a:srgbClr val="0B1822"/>
                </a:solidFill>
                <a:latin typeface="Arial"/>
                <a:ea typeface="Arial"/>
                <a:cs typeface="Arial"/>
              </a:defRPr>
            </a:lvl8pPr>
            <a:lvl9pPr>
              <a:defRPr sz="1725" b="1">
                <a:solidFill>
                  <a:srgbClr val="0B1822"/>
                </a:solidFill>
                <a:latin typeface="Arial"/>
                <a:ea typeface="Arial"/>
                <a:cs typeface="Arial"/>
              </a:defRPr>
            </a:lvl9pPr>
          </a:lstStyle>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CLAUDE OPUS 5.5</a:t>
            </a:r>
          </a:p>
          <a:p xmlns:a="http://schemas.openxmlformats.org/drawingml/2006/main">
            <a:r>
              <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SCREEN: 32 / 33</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WORKFLOW: 24.18 s · $0.03795 est.</a:t>
            </a:r>
          </a:p>
          <a:p xmlns:a="http://schemas.openxmlformats.org/drawingml/2006/main">
            <a:r>
              <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1 human escalation</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Policy present</a:t>
            </a:r>
          </a:p>
        </p:txBody>
      </p:sp>
      <p:sp>
        <p:nvSpPr>
          <p:cNvPr id="5" name="LAYA (BASE / ZERO-SHOT)&#10;&#10;SCREEN: 16 / 33&#10;LOCAL W">
            <a:extLst xmlns:a="http://schemas.openxmlformats.org/drawingml/2006/main">
              <a:ext uri="{FF2B5EF4-FFF2-40B4-BE49-F238E27FC236}">
                <a16:creationId xmlns:a16="http://schemas.microsoft.com/office/drawing/2014/main" id="{DC0C16AE-5422-4E3D-AF8C-7CF828C8F61C}"/>
              </a:ext>
            </a:extLst>
          </p:cNvPr>
          <p:cNvSpPr>
            <a:spLocks xmlns:a="http://schemas.openxmlformats.org/drawingml/2006/main" noGrp="1"/>
          </p:cNvSpPr>
          <p:nvPr/>
        </p:nvSpPr>
        <p:spPr>
          <a:xfrm xmlns:a="http://schemas.openxmlformats.org/drawingml/2006/main">
            <a:off x="8077200" y="1885950"/>
            <a:ext cx="3486150" cy="3276600"/>
          </a:xfrm>
          <a:prstGeom xmlns:a="http://schemas.openxmlformats.org/drawingml/2006/main" prst="rect">
            <a:avLst/>
          </a:prstGeom>
          <a:solidFill xmlns:a="http://schemas.openxmlformats.org/drawingml/2006/main">
            <a:srgbClr val="FFFFFF"/>
          </a:solidFill>
          <a:ln xmlns:a="http://schemas.openxmlformats.org/drawingml/2006/main" w="28575">
            <a:solidFill>
              <a:srgbClr val="FF795B"/>
            </a:solidFill>
          </a:ln>
        </p:spPr>
        <p:txBody>
          <a:bodyPr xmlns:a="http://schemas.openxmlformats.org/drawingml/2006/main"/>
          <a:lstStyle xmlns:a="http://schemas.openxmlformats.org/drawingml/2006/main">
            <a:defPPr>
              <a:defRPr sz="1725" b="1">
                <a:solidFill>
                  <a:srgbClr val="0B1822"/>
                </a:solidFill>
                <a:latin typeface="Arial"/>
                <a:ea typeface="Arial"/>
                <a:cs typeface="Arial"/>
              </a:defRPr>
            </a:defPPr>
            <a:lvl1pPr>
              <a:defRPr sz="1725" b="1">
                <a:solidFill>
                  <a:srgbClr val="0B1822"/>
                </a:solidFill>
                <a:latin typeface="Arial"/>
                <a:ea typeface="Arial"/>
                <a:cs typeface="Arial"/>
              </a:defRPr>
            </a:lvl1pPr>
            <a:lvl2pPr>
              <a:defRPr sz="1725" b="1">
                <a:solidFill>
                  <a:srgbClr val="0B1822"/>
                </a:solidFill>
                <a:latin typeface="Arial"/>
                <a:ea typeface="Arial"/>
                <a:cs typeface="Arial"/>
              </a:defRPr>
            </a:lvl2pPr>
            <a:lvl3pPr>
              <a:defRPr sz="1725" b="1">
                <a:solidFill>
                  <a:srgbClr val="0B1822"/>
                </a:solidFill>
                <a:latin typeface="Arial"/>
                <a:ea typeface="Arial"/>
                <a:cs typeface="Arial"/>
              </a:defRPr>
            </a:lvl3pPr>
            <a:lvl4pPr>
              <a:defRPr sz="1725" b="1">
                <a:solidFill>
                  <a:srgbClr val="0B1822"/>
                </a:solidFill>
                <a:latin typeface="Arial"/>
                <a:ea typeface="Arial"/>
                <a:cs typeface="Arial"/>
              </a:defRPr>
            </a:lvl4pPr>
            <a:lvl5pPr>
              <a:defRPr sz="1725" b="1">
                <a:solidFill>
                  <a:srgbClr val="0B1822"/>
                </a:solidFill>
                <a:latin typeface="Arial"/>
                <a:ea typeface="Arial"/>
                <a:cs typeface="Arial"/>
              </a:defRPr>
            </a:lvl5pPr>
            <a:lvl6pPr>
              <a:defRPr sz="1725" b="1">
                <a:solidFill>
                  <a:srgbClr val="0B1822"/>
                </a:solidFill>
                <a:latin typeface="Arial"/>
                <a:ea typeface="Arial"/>
                <a:cs typeface="Arial"/>
              </a:defRPr>
            </a:lvl6pPr>
            <a:lvl7pPr>
              <a:defRPr sz="1725" b="1">
                <a:solidFill>
                  <a:srgbClr val="0B1822"/>
                </a:solidFill>
                <a:latin typeface="Arial"/>
                <a:ea typeface="Arial"/>
                <a:cs typeface="Arial"/>
              </a:defRPr>
            </a:lvl7pPr>
            <a:lvl8pPr>
              <a:defRPr sz="1725" b="1">
                <a:solidFill>
                  <a:srgbClr val="0B1822"/>
                </a:solidFill>
                <a:latin typeface="Arial"/>
                <a:ea typeface="Arial"/>
                <a:cs typeface="Arial"/>
              </a:defRPr>
            </a:lvl8pPr>
            <a:lvl9pPr>
              <a:defRPr sz="1725" b="1">
                <a:solidFill>
                  <a:srgbClr val="0B1822"/>
                </a:solidFill>
                <a:latin typeface="Arial"/>
                <a:ea typeface="Arial"/>
                <a:cs typeface="Arial"/>
              </a:defRPr>
            </a:lvl9pPr>
          </a:lstStyle>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LAYA (BASE / ZERO-SHOT)</a:t>
            </a:r>
          </a:p>
          <a:p xmlns:a="http://schemas.openxmlformats.org/drawingml/2006/main">
            <a:r>
              <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SCREEN: 16 / 33</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LOCAL WORKFLOW: 0.41 s · $0 API*</a:t>
            </a:r>
          </a:p>
          <a:p xmlns:a="http://schemas.openxmlformats.org/drawingml/2006/main">
            <a:r>
              <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4 human escalations</a:t>
            </a:r>
          </a:p>
          <a:p xmlns:a="http://schemas.openxmlformats.org/drawingml/2006/main">
            <a:pPr>
              <a:defRPr sz="1725" b="1">
                <a:solidFill>
                  <a:srgbClr val="0B1822"/>
                </a:solidFill>
                <a:latin typeface="Arial"/>
                <a:ea typeface="Arial"/>
                <a:cs typeface="Arial"/>
              </a:defRPr>
            </a:pPr>
            <a:r>
              <a:rPr sz="1725" b="1">
                <a:solidFill>
                  <a:srgbClr val="0B1822"/>
                </a:solidFill>
                <a:latin typeface="Arial"/>
                <a:ea typeface="Arial"/>
                <a:cs typeface="Arial"/>
              </a:rPr>
              <a:t>No policy generated</a:t>
            </a:r>
          </a:p>
        </p:txBody>
      </p:sp>
      <p:sp>
        <p:nvSpPr>
          <p:cNvPr id="6" name="READOUT: 30/33 vs 32/33 is inconclusive; score s">
            <a:extLst xmlns:a="http://schemas.openxmlformats.org/drawingml/2006/main">
              <a:ext uri="{FF2B5EF4-FFF2-40B4-BE49-F238E27FC236}">
                <a16:creationId xmlns:a16="http://schemas.microsoft.com/office/drawing/2014/main" id="{B7CADA8C-A735-4BA9-981D-F11C95F9CCAC}"/>
              </a:ext>
            </a:extLst>
          </p:cNvPr>
          <p:cNvSpPr>
            <a:spLocks xmlns:a="http://schemas.openxmlformats.org/drawingml/2006/main" noGrp="1"/>
          </p:cNvSpPr>
          <p:nvPr/>
        </p:nvSpPr>
        <p:spPr>
          <a:xfrm xmlns:a="http://schemas.openxmlformats.org/drawingml/2006/main">
            <a:off x="609600" y="5353050"/>
            <a:ext cx="10953750" cy="7048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350" b="1">
                <a:solidFill>
                  <a:srgbClr val="F2EFE7"/>
                </a:solidFill>
                <a:latin typeface="Arial"/>
                <a:ea typeface="Arial"/>
                <a:cs typeface="Arial"/>
              </a:defRPr>
            </a:defPPr>
            <a:lvl1pPr>
              <a:defRPr sz="1350" b="1">
                <a:solidFill>
                  <a:srgbClr val="F2EFE7"/>
                </a:solidFill>
                <a:latin typeface="Arial"/>
                <a:ea typeface="Arial"/>
                <a:cs typeface="Arial"/>
              </a:defRPr>
            </a:lvl1pPr>
            <a:lvl2pPr>
              <a:defRPr sz="1350" b="1">
                <a:solidFill>
                  <a:srgbClr val="F2EFE7"/>
                </a:solidFill>
                <a:latin typeface="Arial"/>
                <a:ea typeface="Arial"/>
                <a:cs typeface="Arial"/>
              </a:defRPr>
            </a:lvl2pPr>
            <a:lvl3pPr>
              <a:defRPr sz="1350" b="1">
                <a:solidFill>
                  <a:srgbClr val="F2EFE7"/>
                </a:solidFill>
                <a:latin typeface="Arial"/>
                <a:ea typeface="Arial"/>
                <a:cs typeface="Arial"/>
              </a:defRPr>
            </a:lvl3pPr>
            <a:lvl4pPr>
              <a:defRPr sz="1350" b="1">
                <a:solidFill>
                  <a:srgbClr val="F2EFE7"/>
                </a:solidFill>
                <a:latin typeface="Arial"/>
                <a:ea typeface="Arial"/>
                <a:cs typeface="Arial"/>
              </a:defRPr>
            </a:lvl4pPr>
            <a:lvl5pPr>
              <a:defRPr sz="1350" b="1">
                <a:solidFill>
                  <a:srgbClr val="F2EFE7"/>
                </a:solidFill>
                <a:latin typeface="Arial"/>
                <a:ea typeface="Arial"/>
                <a:cs typeface="Arial"/>
              </a:defRPr>
            </a:lvl5pPr>
            <a:lvl6pPr>
              <a:defRPr sz="1350" b="1">
                <a:solidFill>
                  <a:srgbClr val="F2EFE7"/>
                </a:solidFill>
                <a:latin typeface="Arial"/>
                <a:ea typeface="Arial"/>
                <a:cs typeface="Arial"/>
              </a:defRPr>
            </a:lvl6pPr>
            <a:lvl7pPr>
              <a:defRPr sz="1350" b="1">
                <a:solidFill>
                  <a:srgbClr val="F2EFE7"/>
                </a:solidFill>
                <a:latin typeface="Arial"/>
                <a:ea typeface="Arial"/>
                <a:cs typeface="Arial"/>
              </a:defRPr>
            </a:lvl7pPr>
            <a:lvl8pPr>
              <a:defRPr sz="1350" b="1">
                <a:solidFill>
                  <a:srgbClr val="F2EFE7"/>
                </a:solidFill>
                <a:latin typeface="Arial"/>
                <a:ea typeface="Arial"/>
                <a:cs typeface="Arial"/>
              </a:defRPr>
            </a:lvl8pPr>
            <a:lvl9pPr>
              <a:defRPr sz="1350" b="1">
                <a:solidFill>
                  <a:srgbClr val="F2EFE7"/>
                </a:solidFill>
                <a:latin typeface="Arial"/>
                <a:ea typeface="Arial"/>
                <a:cs typeface="Arial"/>
              </a:defRPr>
            </a:lvl9pPr>
          </a:lstStyle>
          <a:p xmlns:a="http://schemas.openxmlformats.org/drawingml/2006/main">
            <a:pPr>
              <a:defRPr sz="1350" b="1">
                <a:solidFill>
                  <a:srgbClr val="F2EFE7"/>
                </a:solidFill>
                <a:latin typeface="Arial"/>
                <a:ea typeface="Arial"/>
                <a:cs typeface="Arial"/>
              </a:defRPr>
            </a:pPr>
            <a:r>
              <a:rPr sz="1350" b="1">
                <a:solidFill>
                  <a:srgbClr val="F2EFE7"/>
                </a:solidFill>
                <a:latin typeface="Arial"/>
                <a:ea typeface="Arial"/>
                <a:cs typeface="Arial"/>
              </a:rPr>
              <a:t>READOUT: 30/33 vs 32/33 is inconclusive; score signals differ. At $120/hour, one engineer-minute is ~$2 vs. $0.038 estimated hosted run cost. Reviewer time was not measured; local compute is unpriced.</a:t>
            </a:r>
          </a:p>
        </p:txBody>
      </p:sp>
      <p:sp>
        <p:nvSpPr>
          <p:cNvPr id="7" name="ISC2 SECURITY CONGRESS 2026 / SC2632">
            <a:extLst xmlns:a="http://schemas.openxmlformats.org/drawingml/2006/main">
              <a:ext uri="{FF2B5EF4-FFF2-40B4-BE49-F238E27FC236}">
                <a16:creationId xmlns:a16="http://schemas.microsoft.com/office/drawing/2014/main" id="{66D92202-1A83-4D4C-8219-2EA52690D20E}"/>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29">
            <a:extLst xmlns:a="http://schemas.openxmlformats.org/drawingml/2006/main">
              <a:ext uri="{FF2B5EF4-FFF2-40B4-BE49-F238E27FC236}">
                <a16:creationId xmlns:a16="http://schemas.microsoft.com/office/drawing/2014/main" id="{B3AF7BDA-0C0B-45F9-AC9B-5BA842FB75FF}"/>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29</a:t>
            </a:r>
          </a:p>
        </p:txBody>
      </p:sp>
    </p:spTree>
    <p:extLst>
      <p:ext uri="{BB962C8B-B14F-4D97-AF65-F5344CB8AC3E}">
        <p14:creationId xmlns:p14="http://schemas.microsoft.com/office/powerpoint/2010/main" val="91774284"/>
      </p:ext>
    </p:extLst>
  </p:cSld>
</p:sld>
</file>

<file path=ppt/slides/slide30.xml><?xml version="1.0" encoding="utf-8"?>
<p:sld xmlns:p="http://schemas.openxmlformats.org/presentationml/2006/main">
  <p:cSld>
    <p:bg>
      <p:bgPr>
        <a:solidFill xmlns:a="http://schemas.openxmlformats.org/drawingml/2006/main">
          <a:srgbClr val="09131D"/>
        </a:solidFill>
      </p:bgPr>
    </p:bg>
    <p:spTree>
      <p:nvGrpSpPr>
        <p:cNvPr id="1" name=""/>
        <p:cNvGrpSpPr/>
        <p:nvPr/>
      </p:nvGrpSpPr>
      <p:grpSpPr>
        <a:xfrm xmlns:a="http://schemas.openxmlformats.org/drawingml/2006/main"/>
      </p:grpSpPr>
      <p:pic>
        <p:nvPicPr>
          <p:cNvPr id="8" name="" descr="Generated abstract incident-room background. The overlaid slide text contains the exercise instructions; the background is not a system diagram or evidence.">
            <a:extLst xmlns:a="http://schemas.openxmlformats.org/drawingml/2006/main">
              <a:ext uri="{FF2B5EF4-FFF2-40B4-BE49-F238E27FC236}">
                <a16:creationId xmlns:a16="http://schemas.microsoft.com/office/drawing/2014/main" id="{2CE66542-9059-4F95-8BF2-AA7B3854369D}"/>
              </a:ext>
            </a:extLst>
          </p:cNvPr>
          <p:cNvPicPr>
            <a:picLocks xmlns:a="http://schemas.openxmlformats.org/drawingml/2006/main" noChangeAspect="1"/>
          </p:cNvPicPr>
          <p:nvPr/>
        </p:nvPicPr>
        <p:blipFill>
          <a:blip xmlns:r="http://schemas.openxmlformats.org/officeDocument/2006/relationships" xmlns:a="http://schemas.openxmlformats.org/drawingml/2006/main" r:embed="R3c77b64d78c4412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4 MINUTES / DOCUMENT RECOVERY">
            <a:extLst xmlns:a="http://schemas.openxmlformats.org/drawingml/2006/main">
              <a:ext uri="{FF2B5EF4-FFF2-40B4-BE49-F238E27FC236}">
                <a16:creationId xmlns:a16="http://schemas.microsoft.com/office/drawing/2014/main" id="{382CC454-754E-43B6-89A1-BA9E25634CEA}"/>
              </a:ext>
            </a:extLst>
          </p:cNvPr>
          <p:cNvSpPr>
            <a:spLocks xmlns:a="http://schemas.openxmlformats.org/drawingml/2006/main" noGrp="1"/>
          </p:cNvSpPr>
          <p:nvPr/>
        </p:nvSpPr>
        <p:spPr>
          <a:xfrm xmlns:a="http://schemas.openxmlformats.org/drawingml/2006/main">
            <a:off x="609600" y="4953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5D8BD"/>
                </a:solidFill>
                <a:latin typeface="Arial"/>
                <a:ea typeface="Arial"/>
                <a:cs typeface="Arial"/>
              </a:defRPr>
            </a:defPPr>
            <a:lvl1pPr>
              <a:defRPr sz="1350" b="1">
                <a:solidFill>
                  <a:srgbClr val="25D8BD"/>
                </a:solidFill>
                <a:latin typeface="Arial"/>
                <a:ea typeface="Arial"/>
                <a:cs typeface="Arial"/>
              </a:defRPr>
            </a:lvl1pPr>
            <a:lvl2pPr>
              <a:defRPr sz="1350" b="1">
                <a:solidFill>
                  <a:srgbClr val="25D8BD"/>
                </a:solidFill>
                <a:latin typeface="Arial"/>
                <a:ea typeface="Arial"/>
                <a:cs typeface="Arial"/>
              </a:defRPr>
            </a:lvl2pPr>
            <a:lvl3pPr>
              <a:defRPr sz="1350" b="1">
                <a:solidFill>
                  <a:srgbClr val="25D8BD"/>
                </a:solidFill>
                <a:latin typeface="Arial"/>
                <a:ea typeface="Arial"/>
                <a:cs typeface="Arial"/>
              </a:defRPr>
            </a:lvl3pPr>
            <a:lvl4pPr>
              <a:defRPr sz="1350" b="1">
                <a:solidFill>
                  <a:srgbClr val="25D8BD"/>
                </a:solidFill>
                <a:latin typeface="Arial"/>
                <a:ea typeface="Arial"/>
                <a:cs typeface="Arial"/>
              </a:defRPr>
            </a:lvl4pPr>
            <a:lvl5pPr>
              <a:defRPr sz="1350" b="1">
                <a:solidFill>
                  <a:srgbClr val="25D8BD"/>
                </a:solidFill>
                <a:latin typeface="Arial"/>
                <a:ea typeface="Arial"/>
                <a:cs typeface="Arial"/>
              </a:defRPr>
            </a:lvl5pPr>
            <a:lvl6pPr>
              <a:defRPr sz="1350" b="1">
                <a:solidFill>
                  <a:srgbClr val="25D8BD"/>
                </a:solidFill>
                <a:latin typeface="Arial"/>
                <a:ea typeface="Arial"/>
                <a:cs typeface="Arial"/>
              </a:defRPr>
            </a:lvl6pPr>
            <a:lvl7pPr>
              <a:defRPr sz="1350" b="1">
                <a:solidFill>
                  <a:srgbClr val="25D8BD"/>
                </a:solidFill>
                <a:latin typeface="Arial"/>
                <a:ea typeface="Arial"/>
                <a:cs typeface="Arial"/>
              </a:defRPr>
            </a:lvl7pPr>
            <a:lvl8pPr>
              <a:defRPr sz="1350" b="1">
                <a:solidFill>
                  <a:srgbClr val="25D8BD"/>
                </a:solidFill>
                <a:latin typeface="Arial"/>
                <a:ea typeface="Arial"/>
                <a:cs typeface="Arial"/>
              </a:defRPr>
            </a:lvl8pPr>
            <a:lvl9pPr>
              <a:defRPr sz="1350" b="1">
                <a:solidFill>
                  <a:srgbClr val="25D8BD"/>
                </a:solidFill>
                <a:latin typeface="Arial"/>
                <a:ea typeface="Arial"/>
                <a:cs typeface="Arial"/>
              </a:defRPr>
            </a:lvl9pPr>
          </a:lstStyle>
          <a:p xmlns:a="http://schemas.openxmlformats.org/drawingml/2006/main">
            <a:pPr>
              <a:defRPr sz="1350" b="1">
                <a:solidFill>
                  <a:srgbClr val="25D8BD"/>
                </a:solidFill>
                <a:latin typeface="Arial"/>
                <a:ea typeface="Arial"/>
                <a:cs typeface="Arial"/>
              </a:defRPr>
            </a:pPr>
            <a:r>
              <a:rPr sz="1350" b="1">
                <a:solidFill>
                  <a:srgbClr val="25D8BD"/>
                </a:solidFill>
                <a:latin typeface="Arial"/>
                <a:ea typeface="Arial"/>
                <a:cs typeface="Arial"/>
              </a:rPr>
              <a:t>4 MINUTES / DOCUMENT RECOVERY</a:t>
            </a:r>
          </a:p>
        </p:txBody>
      </p:sp>
      <p:sp>
        <p:nvSpPr>
          <p:cNvPr id="3" name="04">
            <a:extLst xmlns:a="http://schemas.openxmlformats.org/drawingml/2006/main">
              <a:ext uri="{FF2B5EF4-FFF2-40B4-BE49-F238E27FC236}">
                <a16:creationId xmlns:a16="http://schemas.microsoft.com/office/drawing/2014/main" id="{2ED96B36-A5C4-4BDE-8EA7-B874FFDAE23D}"/>
              </a:ext>
            </a:extLst>
          </p:cNvPr>
          <p:cNvSpPr>
            <a:spLocks xmlns:a="http://schemas.openxmlformats.org/drawingml/2006/main" noGrp="1"/>
          </p:cNvSpPr>
          <p:nvPr/>
        </p:nvSpPr>
        <p:spPr>
          <a:xfrm xmlns:a="http://schemas.openxmlformats.org/drawingml/2006/main">
            <a:off x="609600" y="971550"/>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450" b="1">
                <a:solidFill>
                  <a:srgbClr val="FF795B"/>
                </a:solidFill>
                <a:latin typeface="Arial Black"/>
                <a:ea typeface="Arial Black"/>
                <a:cs typeface="Arial Black"/>
              </a:defRPr>
            </a:defPPr>
            <a:lvl1pPr>
              <a:defRPr sz="9450" b="1">
                <a:solidFill>
                  <a:srgbClr val="FF795B"/>
                </a:solidFill>
                <a:latin typeface="Arial Black"/>
                <a:ea typeface="Arial Black"/>
                <a:cs typeface="Arial Black"/>
              </a:defRPr>
            </a:lvl1pPr>
            <a:lvl2pPr>
              <a:defRPr sz="9450" b="1">
                <a:solidFill>
                  <a:srgbClr val="FF795B"/>
                </a:solidFill>
                <a:latin typeface="Arial Black"/>
                <a:ea typeface="Arial Black"/>
                <a:cs typeface="Arial Black"/>
              </a:defRPr>
            </a:lvl2pPr>
            <a:lvl3pPr>
              <a:defRPr sz="9450" b="1">
                <a:solidFill>
                  <a:srgbClr val="FF795B"/>
                </a:solidFill>
                <a:latin typeface="Arial Black"/>
                <a:ea typeface="Arial Black"/>
                <a:cs typeface="Arial Black"/>
              </a:defRPr>
            </a:lvl3pPr>
            <a:lvl4pPr>
              <a:defRPr sz="9450" b="1">
                <a:solidFill>
                  <a:srgbClr val="FF795B"/>
                </a:solidFill>
                <a:latin typeface="Arial Black"/>
                <a:ea typeface="Arial Black"/>
                <a:cs typeface="Arial Black"/>
              </a:defRPr>
            </a:lvl4pPr>
            <a:lvl5pPr>
              <a:defRPr sz="9450" b="1">
                <a:solidFill>
                  <a:srgbClr val="FF795B"/>
                </a:solidFill>
                <a:latin typeface="Arial Black"/>
                <a:ea typeface="Arial Black"/>
                <a:cs typeface="Arial Black"/>
              </a:defRPr>
            </a:lvl5pPr>
            <a:lvl6pPr>
              <a:defRPr sz="9450" b="1">
                <a:solidFill>
                  <a:srgbClr val="FF795B"/>
                </a:solidFill>
                <a:latin typeface="Arial Black"/>
                <a:ea typeface="Arial Black"/>
                <a:cs typeface="Arial Black"/>
              </a:defRPr>
            </a:lvl6pPr>
            <a:lvl7pPr>
              <a:defRPr sz="9450" b="1">
                <a:solidFill>
                  <a:srgbClr val="FF795B"/>
                </a:solidFill>
                <a:latin typeface="Arial Black"/>
                <a:ea typeface="Arial Black"/>
                <a:cs typeface="Arial Black"/>
              </a:defRPr>
            </a:lvl7pPr>
            <a:lvl8pPr>
              <a:defRPr sz="9450" b="1">
                <a:solidFill>
                  <a:srgbClr val="FF795B"/>
                </a:solidFill>
                <a:latin typeface="Arial Black"/>
                <a:ea typeface="Arial Black"/>
                <a:cs typeface="Arial Black"/>
              </a:defRPr>
            </a:lvl8pPr>
            <a:lvl9pPr>
              <a:defRPr sz="9450" b="1">
                <a:solidFill>
                  <a:srgbClr val="FF795B"/>
                </a:solidFill>
                <a:latin typeface="Arial Black"/>
                <a:ea typeface="Arial Black"/>
                <a:cs typeface="Arial Black"/>
              </a:defRPr>
            </a:lvl9pPr>
          </a:lstStyle>
          <a:p xmlns:a="http://schemas.openxmlformats.org/drawingml/2006/main">
            <a:pPr>
              <a:defRPr sz="9450" b="1">
                <a:solidFill>
                  <a:srgbClr val="FF795B"/>
                </a:solidFill>
                <a:latin typeface="Arial Black"/>
                <a:ea typeface="Arial Black"/>
                <a:cs typeface="Arial Black"/>
              </a:defRPr>
            </a:pPr>
            <a:r>
              <a:rPr sz="9450" b="1">
                <a:solidFill>
                  <a:srgbClr val="FF795B"/>
                </a:solidFill>
                <a:latin typeface="Arial Black"/>
                <a:ea typeface="Arial Black"/>
                <a:cs typeface="Arial Black"/>
              </a:rPr>
              <a:t>04</a:t>
            </a:r>
          </a:p>
        </p:txBody>
      </p:sp>
      <p:sp>
        <p:nvSpPr>
          <p:cNvPr id="4" name="Define recovery&#10;criteria.">
            <a:extLst xmlns:a="http://schemas.openxmlformats.org/drawingml/2006/main">
              <a:ext uri="{FF2B5EF4-FFF2-40B4-BE49-F238E27FC236}">
                <a16:creationId xmlns:a16="http://schemas.microsoft.com/office/drawing/2014/main" id="{75980ACF-2418-4A2E-ABBB-570206978C20}"/>
              </a:ext>
            </a:extLst>
          </p:cNvPr>
          <p:cNvSpPr>
            <a:spLocks xmlns:a="http://schemas.openxmlformats.org/drawingml/2006/main" noGrp="1"/>
          </p:cNvSpPr>
          <p:nvPr>
            <p:ph type="title" idx="0"/>
          </p:nvPr>
        </p:nvSpPr>
        <p:spPr>
          <a:xfrm xmlns:a="http://schemas.openxmlformats.org/drawingml/2006/main">
            <a:off x="609600" y="2762250"/>
            <a:ext cx="8286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2EFE7"/>
                </a:solidFill>
                <a:latin typeface="Arial Black"/>
                <a:ea typeface="Arial Black"/>
                <a:cs typeface="Arial Black"/>
              </a:defRPr>
            </a:defPPr>
            <a:lvl1pPr>
              <a:defRPr sz="4650" b="1">
                <a:solidFill>
                  <a:srgbClr val="F2EFE7"/>
                </a:solidFill>
                <a:latin typeface="Arial Black"/>
                <a:ea typeface="Arial Black"/>
                <a:cs typeface="Arial Black"/>
              </a:defRPr>
            </a:lvl1pPr>
            <a:lvl2pPr>
              <a:defRPr sz="4650" b="1">
                <a:solidFill>
                  <a:srgbClr val="F2EFE7"/>
                </a:solidFill>
                <a:latin typeface="Arial Black"/>
                <a:ea typeface="Arial Black"/>
                <a:cs typeface="Arial Black"/>
              </a:defRPr>
            </a:lvl2pPr>
            <a:lvl3pPr>
              <a:defRPr sz="4650" b="1">
                <a:solidFill>
                  <a:srgbClr val="F2EFE7"/>
                </a:solidFill>
                <a:latin typeface="Arial Black"/>
                <a:ea typeface="Arial Black"/>
                <a:cs typeface="Arial Black"/>
              </a:defRPr>
            </a:lvl3pPr>
            <a:lvl4pPr>
              <a:defRPr sz="4650" b="1">
                <a:solidFill>
                  <a:srgbClr val="F2EFE7"/>
                </a:solidFill>
                <a:latin typeface="Arial Black"/>
                <a:ea typeface="Arial Black"/>
                <a:cs typeface="Arial Black"/>
              </a:defRPr>
            </a:lvl4pPr>
            <a:lvl5pPr>
              <a:defRPr sz="4650" b="1">
                <a:solidFill>
                  <a:srgbClr val="F2EFE7"/>
                </a:solidFill>
                <a:latin typeface="Arial Black"/>
                <a:ea typeface="Arial Black"/>
                <a:cs typeface="Arial Black"/>
              </a:defRPr>
            </a:lvl5pPr>
            <a:lvl6pPr>
              <a:defRPr sz="4650" b="1">
                <a:solidFill>
                  <a:srgbClr val="F2EFE7"/>
                </a:solidFill>
                <a:latin typeface="Arial Black"/>
                <a:ea typeface="Arial Black"/>
                <a:cs typeface="Arial Black"/>
              </a:defRPr>
            </a:lvl6pPr>
            <a:lvl7pPr>
              <a:defRPr sz="4650" b="1">
                <a:solidFill>
                  <a:srgbClr val="F2EFE7"/>
                </a:solidFill>
                <a:latin typeface="Arial Black"/>
                <a:ea typeface="Arial Black"/>
                <a:cs typeface="Arial Black"/>
              </a:defRPr>
            </a:lvl7pPr>
            <a:lvl8pPr>
              <a:defRPr sz="4650" b="1">
                <a:solidFill>
                  <a:srgbClr val="F2EFE7"/>
                </a:solidFill>
                <a:latin typeface="Arial Black"/>
                <a:ea typeface="Arial Black"/>
                <a:cs typeface="Arial Black"/>
              </a:defRPr>
            </a:lvl8pPr>
            <a:lvl9pPr>
              <a:defRPr sz="4650" b="1">
                <a:solidFill>
                  <a:srgbClr val="F2EFE7"/>
                </a:solidFill>
                <a:latin typeface="Arial Black"/>
                <a:ea typeface="Arial Black"/>
                <a:cs typeface="Arial Black"/>
              </a:defRPr>
            </a:lvl9pPr>
          </a:lstStyle>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Define recovery</a:t>
            </a:r>
          </a:p>
          <a:p xmlns:a="http://schemas.openxmlformats.org/drawingml/2006/main">
            <a:pPr>
              <a:defRPr sz="4650" b="1">
                <a:solidFill>
                  <a:srgbClr val="F2EFE7"/>
                </a:solidFill>
                <a:latin typeface="Arial Black"/>
                <a:ea typeface="Arial Black"/>
                <a:cs typeface="Arial Black"/>
              </a:defRPr>
            </a:pPr>
            <a:r>
              <a:rPr sz="4650" b="1">
                <a:solidFill>
                  <a:srgbClr val="F2EFE7"/>
                </a:solidFill>
                <a:latin typeface="Arial Black"/>
                <a:ea typeface="Arial Black"/>
                <a:cs typeface="Arial Black"/>
              </a:rPr>
              <a:t>criteria.</a:t>
            </a:r>
          </a:p>
        </p:txBody>
      </p:sp>
      <p:sp>
        <p:nvSpPr>
          <p:cNvPr id="5" name="On page 7, name the exit test,&#10;who can lift quar">
            <a:extLst xmlns:a="http://schemas.openxmlformats.org/drawingml/2006/main">
              <a:ext uri="{FF2B5EF4-FFF2-40B4-BE49-F238E27FC236}">
                <a16:creationId xmlns:a16="http://schemas.microsoft.com/office/drawing/2014/main" id="{51303F54-1C6A-4D0B-8405-E26A29FEE0DA}"/>
              </a:ext>
            </a:extLst>
          </p:cNvPr>
          <p:cNvSpPr>
            <a:spLocks xmlns:a="http://schemas.openxmlformats.org/drawingml/2006/main" noGrp="1"/>
          </p:cNvSpPr>
          <p:nvPr/>
        </p:nvSpPr>
        <p:spPr>
          <a:xfrm xmlns:a="http://schemas.openxmlformats.org/drawingml/2006/main">
            <a:off x="628650" y="4829175"/>
            <a:ext cx="6381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2EFE7"/>
                </a:solidFill>
                <a:latin typeface="Arial"/>
                <a:ea typeface="Arial"/>
                <a:cs typeface="Arial"/>
              </a:defRPr>
            </a:defPPr>
            <a:lvl1pPr>
              <a:defRPr sz="2250" b="0">
                <a:solidFill>
                  <a:srgbClr val="F2EFE7"/>
                </a:solidFill>
                <a:latin typeface="Arial"/>
                <a:ea typeface="Arial"/>
                <a:cs typeface="Arial"/>
              </a:defRPr>
            </a:lvl1pPr>
            <a:lvl2pPr>
              <a:defRPr sz="2250" b="0">
                <a:solidFill>
                  <a:srgbClr val="F2EFE7"/>
                </a:solidFill>
                <a:latin typeface="Arial"/>
                <a:ea typeface="Arial"/>
                <a:cs typeface="Arial"/>
              </a:defRPr>
            </a:lvl2pPr>
            <a:lvl3pPr>
              <a:defRPr sz="2250" b="0">
                <a:solidFill>
                  <a:srgbClr val="F2EFE7"/>
                </a:solidFill>
                <a:latin typeface="Arial"/>
                <a:ea typeface="Arial"/>
                <a:cs typeface="Arial"/>
              </a:defRPr>
            </a:lvl3pPr>
            <a:lvl4pPr>
              <a:defRPr sz="2250" b="0">
                <a:solidFill>
                  <a:srgbClr val="F2EFE7"/>
                </a:solidFill>
                <a:latin typeface="Arial"/>
                <a:ea typeface="Arial"/>
                <a:cs typeface="Arial"/>
              </a:defRPr>
            </a:lvl4pPr>
            <a:lvl5pPr>
              <a:defRPr sz="2250" b="0">
                <a:solidFill>
                  <a:srgbClr val="F2EFE7"/>
                </a:solidFill>
                <a:latin typeface="Arial"/>
                <a:ea typeface="Arial"/>
                <a:cs typeface="Arial"/>
              </a:defRPr>
            </a:lvl5pPr>
            <a:lvl6pPr>
              <a:defRPr sz="2250" b="0">
                <a:solidFill>
                  <a:srgbClr val="F2EFE7"/>
                </a:solidFill>
                <a:latin typeface="Arial"/>
                <a:ea typeface="Arial"/>
                <a:cs typeface="Arial"/>
              </a:defRPr>
            </a:lvl6pPr>
            <a:lvl7pPr>
              <a:defRPr sz="2250" b="0">
                <a:solidFill>
                  <a:srgbClr val="F2EFE7"/>
                </a:solidFill>
                <a:latin typeface="Arial"/>
                <a:ea typeface="Arial"/>
                <a:cs typeface="Arial"/>
              </a:defRPr>
            </a:lvl7pPr>
            <a:lvl8pPr>
              <a:defRPr sz="2250" b="0">
                <a:solidFill>
                  <a:srgbClr val="F2EFE7"/>
                </a:solidFill>
                <a:latin typeface="Arial"/>
                <a:ea typeface="Arial"/>
                <a:cs typeface="Arial"/>
              </a:defRPr>
            </a:lvl8pPr>
            <a:lvl9pPr>
              <a:defRPr sz="2250" b="0">
                <a:solidFill>
                  <a:srgbClr val="F2EFE7"/>
                </a:solidFill>
                <a:latin typeface="Arial"/>
                <a:ea typeface="Arial"/>
                <a:cs typeface="Arial"/>
              </a:defRPr>
            </a:lvl9pPr>
          </a:lstStyle>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On page 7, name the exit test,</a:t>
            </a:r>
          </a:p>
          <a:p xmlns:a="http://schemas.openxmlformats.org/drawingml/2006/main">
            <a:pPr>
              <a:defRPr sz="2250" b="0">
                <a:solidFill>
                  <a:srgbClr val="F2EFE7"/>
                </a:solidFill>
                <a:latin typeface="Arial"/>
                <a:ea typeface="Arial"/>
                <a:cs typeface="Arial"/>
              </a:defRPr>
            </a:pPr>
            <a:r>
              <a:rPr sz="2250" b="0">
                <a:solidFill>
                  <a:srgbClr val="F2EFE7"/>
                </a:solidFill>
                <a:latin typeface="Arial"/>
                <a:ea typeface="Arial"/>
                <a:cs typeface="Arial"/>
              </a:rPr>
              <a:t>who can lift quarantine and the rollback condition.</a:t>
            </a:r>
          </a:p>
        </p:txBody>
      </p:sp>
      <p:sp>
        <p:nvSpPr>
          <p:cNvPr id="6" name="ISC2 SECURITY CONGRESS 2026 / SC2632">
            <a:extLst xmlns:a="http://schemas.openxmlformats.org/drawingml/2006/main">
              <a:ext uri="{FF2B5EF4-FFF2-40B4-BE49-F238E27FC236}">
                <a16:creationId xmlns:a16="http://schemas.microsoft.com/office/drawing/2014/main" id="{94EA73D6-3620-4930-AF4D-EBE2850AB551}"/>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8498A5"/>
                </a:solidFill>
                <a:latin typeface="Arial"/>
                <a:ea typeface="Arial"/>
                <a:cs typeface="Arial"/>
              </a:defRPr>
            </a:defPPr>
            <a:lvl1pPr>
              <a:defRPr sz="900" b="0">
                <a:solidFill>
                  <a:srgbClr val="8498A5"/>
                </a:solidFill>
                <a:latin typeface="Arial"/>
                <a:ea typeface="Arial"/>
                <a:cs typeface="Arial"/>
              </a:defRPr>
            </a:lvl1pPr>
            <a:lvl2pPr>
              <a:defRPr sz="900" b="0">
                <a:solidFill>
                  <a:srgbClr val="8498A5"/>
                </a:solidFill>
                <a:latin typeface="Arial"/>
                <a:ea typeface="Arial"/>
                <a:cs typeface="Arial"/>
              </a:defRPr>
            </a:lvl2pPr>
            <a:lvl3pPr>
              <a:defRPr sz="900" b="0">
                <a:solidFill>
                  <a:srgbClr val="8498A5"/>
                </a:solidFill>
                <a:latin typeface="Arial"/>
                <a:ea typeface="Arial"/>
                <a:cs typeface="Arial"/>
              </a:defRPr>
            </a:lvl3pPr>
            <a:lvl4pPr>
              <a:defRPr sz="900" b="0">
                <a:solidFill>
                  <a:srgbClr val="8498A5"/>
                </a:solidFill>
                <a:latin typeface="Arial"/>
                <a:ea typeface="Arial"/>
                <a:cs typeface="Arial"/>
              </a:defRPr>
            </a:lvl4pPr>
            <a:lvl5pPr>
              <a:defRPr sz="900" b="0">
                <a:solidFill>
                  <a:srgbClr val="8498A5"/>
                </a:solidFill>
                <a:latin typeface="Arial"/>
                <a:ea typeface="Arial"/>
                <a:cs typeface="Arial"/>
              </a:defRPr>
            </a:lvl5pPr>
            <a:lvl6pPr>
              <a:defRPr sz="900" b="0">
                <a:solidFill>
                  <a:srgbClr val="8498A5"/>
                </a:solidFill>
                <a:latin typeface="Arial"/>
                <a:ea typeface="Arial"/>
                <a:cs typeface="Arial"/>
              </a:defRPr>
            </a:lvl6pPr>
            <a:lvl7pPr>
              <a:defRPr sz="900" b="0">
                <a:solidFill>
                  <a:srgbClr val="8498A5"/>
                </a:solidFill>
                <a:latin typeface="Arial"/>
                <a:ea typeface="Arial"/>
                <a:cs typeface="Arial"/>
              </a:defRPr>
            </a:lvl7pPr>
            <a:lvl8pPr>
              <a:defRPr sz="900" b="0">
                <a:solidFill>
                  <a:srgbClr val="8498A5"/>
                </a:solidFill>
                <a:latin typeface="Arial"/>
                <a:ea typeface="Arial"/>
                <a:cs typeface="Arial"/>
              </a:defRPr>
            </a:lvl8pPr>
            <a:lvl9pPr>
              <a:defRPr sz="900" b="0">
                <a:solidFill>
                  <a:srgbClr val="8498A5"/>
                </a:solidFill>
                <a:latin typeface="Arial"/>
                <a:ea typeface="Arial"/>
                <a:cs typeface="Arial"/>
              </a:defRPr>
            </a:lvl9pPr>
          </a:lstStyle>
          <a:p xmlns:a="http://schemas.openxmlformats.org/drawingml/2006/main">
            <a:pPr>
              <a:defRPr sz="900" b="0">
                <a:solidFill>
                  <a:srgbClr val="8498A5"/>
                </a:solidFill>
                <a:latin typeface="Arial"/>
                <a:ea typeface="Arial"/>
                <a:cs typeface="Arial"/>
              </a:defRPr>
            </a:pPr>
            <a:r>
              <a:rPr sz="900" b="0">
                <a:solidFill>
                  <a:srgbClr val="8498A5"/>
                </a:solidFill>
                <a:latin typeface="Arial"/>
                <a:ea typeface="Arial"/>
                <a:cs typeface="Arial"/>
              </a:rPr>
              <a:t>ISC2 SECURITY CONGRESS 2026 / SC2632</a:t>
            </a:r>
          </a:p>
        </p:txBody>
      </p:sp>
      <p:sp>
        <p:nvSpPr>
          <p:cNvPr id="7" name="30">
            <a:extLst xmlns:a="http://schemas.openxmlformats.org/drawingml/2006/main">
              <a:ext uri="{FF2B5EF4-FFF2-40B4-BE49-F238E27FC236}">
                <a16:creationId xmlns:a16="http://schemas.microsoft.com/office/drawing/2014/main" id="{4DF69C8B-4CED-4A8B-93AD-8D96545C6E64}"/>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8498A5"/>
                </a:solidFill>
                <a:latin typeface="Arial"/>
                <a:ea typeface="Arial"/>
                <a:cs typeface="Arial"/>
              </a:defRPr>
            </a:defPPr>
            <a:lvl1pPr>
              <a:defRPr sz="1200" b="1">
                <a:solidFill>
                  <a:srgbClr val="8498A5"/>
                </a:solidFill>
                <a:latin typeface="Arial"/>
                <a:ea typeface="Arial"/>
                <a:cs typeface="Arial"/>
              </a:defRPr>
            </a:lvl1pPr>
            <a:lvl2pPr>
              <a:defRPr sz="1200" b="1">
                <a:solidFill>
                  <a:srgbClr val="8498A5"/>
                </a:solidFill>
                <a:latin typeface="Arial"/>
                <a:ea typeface="Arial"/>
                <a:cs typeface="Arial"/>
              </a:defRPr>
            </a:lvl2pPr>
            <a:lvl3pPr>
              <a:defRPr sz="1200" b="1">
                <a:solidFill>
                  <a:srgbClr val="8498A5"/>
                </a:solidFill>
                <a:latin typeface="Arial"/>
                <a:ea typeface="Arial"/>
                <a:cs typeface="Arial"/>
              </a:defRPr>
            </a:lvl3pPr>
            <a:lvl4pPr>
              <a:defRPr sz="1200" b="1">
                <a:solidFill>
                  <a:srgbClr val="8498A5"/>
                </a:solidFill>
                <a:latin typeface="Arial"/>
                <a:ea typeface="Arial"/>
                <a:cs typeface="Arial"/>
              </a:defRPr>
            </a:lvl4pPr>
            <a:lvl5pPr>
              <a:defRPr sz="1200" b="1">
                <a:solidFill>
                  <a:srgbClr val="8498A5"/>
                </a:solidFill>
                <a:latin typeface="Arial"/>
                <a:ea typeface="Arial"/>
                <a:cs typeface="Arial"/>
              </a:defRPr>
            </a:lvl5pPr>
            <a:lvl6pPr>
              <a:defRPr sz="1200" b="1">
                <a:solidFill>
                  <a:srgbClr val="8498A5"/>
                </a:solidFill>
                <a:latin typeface="Arial"/>
                <a:ea typeface="Arial"/>
                <a:cs typeface="Arial"/>
              </a:defRPr>
            </a:lvl6pPr>
            <a:lvl7pPr>
              <a:defRPr sz="1200" b="1">
                <a:solidFill>
                  <a:srgbClr val="8498A5"/>
                </a:solidFill>
                <a:latin typeface="Arial"/>
                <a:ea typeface="Arial"/>
                <a:cs typeface="Arial"/>
              </a:defRPr>
            </a:lvl7pPr>
            <a:lvl8pPr>
              <a:defRPr sz="1200" b="1">
                <a:solidFill>
                  <a:srgbClr val="8498A5"/>
                </a:solidFill>
                <a:latin typeface="Arial"/>
                <a:ea typeface="Arial"/>
                <a:cs typeface="Arial"/>
              </a:defRPr>
            </a:lvl8pPr>
            <a:lvl9pPr>
              <a:defRPr sz="1200" b="1">
                <a:solidFill>
                  <a:srgbClr val="8498A5"/>
                </a:solidFill>
                <a:latin typeface="Arial"/>
                <a:ea typeface="Arial"/>
                <a:cs typeface="Arial"/>
              </a:defRPr>
            </a:lvl9pPr>
          </a:lstStyle>
          <a:p xmlns:a="http://schemas.openxmlformats.org/drawingml/2006/main">
            <a:pPr>
              <a:defRPr sz="1200" b="1">
                <a:solidFill>
                  <a:srgbClr val="8498A5"/>
                </a:solidFill>
                <a:latin typeface="Arial"/>
                <a:ea typeface="Arial"/>
                <a:cs typeface="Arial"/>
              </a:defRPr>
            </a:pPr>
            <a:r>
              <a:rPr sz="1200" b="1">
                <a:solidFill>
                  <a:srgbClr val="8498A5"/>
                </a:solidFill>
                <a:latin typeface="Arial"/>
                <a:ea typeface="Arial"/>
                <a:cs typeface="Arial"/>
              </a:rPr>
              <a:t>30</a:t>
            </a:r>
          </a:p>
        </p:txBody>
      </p:sp>
    </p:spTree>
    <p:extLst>
      <p:ext uri="{BB962C8B-B14F-4D97-AF65-F5344CB8AC3E}">
        <p14:creationId xmlns:p14="http://schemas.microsoft.com/office/powerpoint/2010/main" val="1761793159"/>
      </p:ext>
    </p:extLst>
  </p:cSld>
</p:sld>
</file>

<file path=ppt/slides/slide31.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55–56 MINUTES / WORKED CASE A RECORD &amp; SCORECARD">
            <a:extLst xmlns:a="http://schemas.openxmlformats.org/drawingml/2006/main">
              <a:ext uri="{FF2B5EF4-FFF2-40B4-BE49-F238E27FC236}">
                <a16:creationId xmlns:a16="http://schemas.microsoft.com/office/drawing/2014/main" id="{5D278064-4922-4C36-9DD5-DDED619A622E}"/>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55–56 MINUTES / WORKED CASE A RECORD &amp; SCORECARD TALLY</a:t>
            </a:r>
          </a:p>
        </p:txBody>
      </p:sp>
      <p:sp>
        <p:nvSpPr>
          <p:cNvPr id="2" name="How evidence changes a decision">
            <a:extLst xmlns:a="http://schemas.openxmlformats.org/drawingml/2006/main">
              <a:ext uri="{FF2B5EF4-FFF2-40B4-BE49-F238E27FC236}">
                <a16:creationId xmlns:a16="http://schemas.microsoft.com/office/drawing/2014/main" id="{B7946C3B-F08B-4FA2-BA2C-5F2269C40680}"/>
              </a:ext>
            </a:extLst>
          </p:cNvPr>
          <p:cNvSpPr>
            <a:spLocks xmlns:a="http://schemas.openxmlformats.org/drawingml/2006/main" noGrp="1"/>
          </p:cNvSpPr>
          <p:nvPr>
            <p:ph type="title" idx="0"/>
          </p:nvPr>
        </p:nvSpPr>
        <p:spPr>
          <a:xfrm xmlns:a="http://schemas.openxmlformats.org/drawingml/2006/main">
            <a:off x="609600" y="7810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1822"/>
                </a:solidFill>
                <a:latin typeface="Arial Black"/>
                <a:ea typeface="Arial Black"/>
                <a:cs typeface="Arial Black"/>
              </a:defRPr>
            </a:defPPr>
            <a:lvl1pPr>
              <a:defRPr sz="3225" b="1">
                <a:solidFill>
                  <a:srgbClr val="0B1822"/>
                </a:solidFill>
                <a:latin typeface="Arial Black"/>
                <a:ea typeface="Arial Black"/>
                <a:cs typeface="Arial Black"/>
              </a:defRPr>
            </a:lvl1pPr>
            <a:lvl2pPr>
              <a:defRPr sz="3225" b="1">
                <a:solidFill>
                  <a:srgbClr val="0B1822"/>
                </a:solidFill>
                <a:latin typeface="Arial Black"/>
                <a:ea typeface="Arial Black"/>
                <a:cs typeface="Arial Black"/>
              </a:defRPr>
            </a:lvl2pPr>
            <a:lvl3pPr>
              <a:defRPr sz="3225" b="1">
                <a:solidFill>
                  <a:srgbClr val="0B1822"/>
                </a:solidFill>
                <a:latin typeface="Arial Black"/>
                <a:ea typeface="Arial Black"/>
                <a:cs typeface="Arial Black"/>
              </a:defRPr>
            </a:lvl3pPr>
            <a:lvl4pPr>
              <a:defRPr sz="3225" b="1">
                <a:solidFill>
                  <a:srgbClr val="0B1822"/>
                </a:solidFill>
                <a:latin typeface="Arial Black"/>
                <a:ea typeface="Arial Black"/>
                <a:cs typeface="Arial Black"/>
              </a:defRPr>
            </a:lvl4pPr>
            <a:lvl5pPr>
              <a:defRPr sz="3225" b="1">
                <a:solidFill>
                  <a:srgbClr val="0B1822"/>
                </a:solidFill>
                <a:latin typeface="Arial Black"/>
                <a:ea typeface="Arial Black"/>
                <a:cs typeface="Arial Black"/>
              </a:defRPr>
            </a:lvl5pPr>
            <a:lvl6pPr>
              <a:defRPr sz="3225" b="1">
                <a:solidFill>
                  <a:srgbClr val="0B1822"/>
                </a:solidFill>
                <a:latin typeface="Arial Black"/>
                <a:ea typeface="Arial Black"/>
                <a:cs typeface="Arial Black"/>
              </a:defRPr>
            </a:lvl6pPr>
            <a:lvl7pPr>
              <a:defRPr sz="3225" b="1">
                <a:solidFill>
                  <a:srgbClr val="0B1822"/>
                </a:solidFill>
                <a:latin typeface="Arial Black"/>
                <a:ea typeface="Arial Black"/>
                <a:cs typeface="Arial Black"/>
              </a:defRPr>
            </a:lvl7pPr>
            <a:lvl8pPr>
              <a:defRPr sz="3225" b="1">
                <a:solidFill>
                  <a:srgbClr val="0B1822"/>
                </a:solidFill>
                <a:latin typeface="Arial Black"/>
                <a:ea typeface="Arial Black"/>
                <a:cs typeface="Arial Black"/>
              </a:defRPr>
            </a:lvl8pPr>
            <a:lvl9pPr>
              <a:defRPr sz="3225" b="1">
                <a:solidFill>
                  <a:srgbClr val="0B1822"/>
                </a:solidFill>
                <a:latin typeface="Arial Black"/>
                <a:ea typeface="Arial Black"/>
                <a:cs typeface="Arial Black"/>
              </a:defRPr>
            </a:lvl9pPr>
          </a:lstStyle>
          <a:p xmlns:a="http://schemas.openxmlformats.org/drawingml/2006/main">
            <a:pPr>
              <a:defRPr sz="3225" b="1">
                <a:solidFill>
                  <a:srgbClr val="0B1822"/>
                </a:solidFill>
                <a:latin typeface="Arial Black"/>
                <a:ea typeface="Arial Black"/>
                <a:cs typeface="Arial Black"/>
              </a:defRPr>
            </a:pPr>
            <a:r>
              <a:rPr sz="3225" b="1">
                <a:solidFill>
                  <a:srgbClr val="0B1822"/>
                </a:solidFill>
                <a:latin typeface="Arial Black"/>
                <a:ea typeface="Arial Black"/>
                <a:cs typeface="Arial Black"/>
              </a:rPr>
              <a:t>How evidence changes a decision</a:t>
            </a:r>
          </a:p>
        </p:txBody>
      </p:sp>
      <p:sp>
        <p:nvSpPr>
          <p:cNvPr id="3" name="FULL DECISION ARC: Trace how one requirement evo">
            <a:extLst xmlns:a="http://schemas.openxmlformats.org/drawingml/2006/main">
              <a:ext uri="{FF2B5EF4-FFF2-40B4-BE49-F238E27FC236}">
                <a16:creationId xmlns:a16="http://schemas.microsoft.com/office/drawing/2014/main" id="{FDA9660B-DC2A-4311-AB45-A38502319B7C}"/>
              </a:ext>
            </a:extLst>
          </p:cNvPr>
          <p:cNvSpPr>
            <a:spLocks xmlns:a="http://schemas.openxmlformats.org/drawingml/2006/main" noGrp="1"/>
          </p:cNvSpPr>
          <p:nvPr/>
        </p:nvSpPr>
        <p:spPr>
          <a:xfrm xmlns:a="http://schemas.openxmlformats.org/drawingml/2006/main">
            <a:off x="609600" y="1619250"/>
            <a:ext cx="10953750" cy="55245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425" b="1">
                <a:solidFill>
                  <a:srgbClr val="F2EFE7"/>
                </a:solidFill>
                <a:latin typeface="Arial"/>
                <a:ea typeface="Arial"/>
                <a:cs typeface="Arial"/>
              </a:defRPr>
            </a:defPPr>
            <a:lvl1pPr>
              <a:defRPr sz="1425" b="1">
                <a:solidFill>
                  <a:srgbClr val="F2EFE7"/>
                </a:solidFill>
                <a:latin typeface="Arial"/>
                <a:ea typeface="Arial"/>
                <a:cs typeface="Arial"/>
              </a:defRPr>
            </a:lvl1pPr>
            <a:lvl2pPr>
              <a:defRPr sz="1425" b="1">
                <a:solidFill>
                  <a:srgbClr val="F2EFE7"/>
                </a:solidFill>
                <a:latin typeface="Arial"/>
                <a:ea typeface="Arial"/>
                <a:cs typeface="Arial"/>
              </a:defRPr>
            </a:lvl2pPr>
            <a:lvl3pPr>
              <a:defRPr sz="1425" b="1">
                <a:solidFill>
                  <a:srgbClr val="F2EFE7"/>
                </a:solidFill>
                <a:latin typeface="Arial"/>
                <a:ea typeface="Arial"/>
                <a:cs typeface="Arial"/>
              </a:defRPr>
            </a:lvl3pPr>
            <a:lvl4pPr>
              <a:defRPr sz="1425" b="1">
                <a:solidFill>
                  <a:srgbClr val="F2EFE7"/>
                </a:solidFill>
                <a:latin typeface="Arial"/>
                <a:ea typeface="Arial"/>
                <a:cs typeface="Arial"/>
              </a:defRPr>
            </a:lvl4pPr>
            <a:lvl5pPr>
              <a:defRPr sz="1425" b="1">
                <a:solidFill>
                  <a:srgbClr val="F2EFE7"/>
                </a:solidFill>
                <a:latin typeface="Arial"/>
                <a:ea typeface="Arial"/>
                <a:cs typeface="Arial"/>
              </a:defRPr>
            </a:lvl5pPr>
            <a:lvl6pPr>
              <a:defRPr sz="1425" b="1">
                <a:solidFill>
                  <a:srgbClr val="F2EFE7"/>
                </a:solidFill>
                <a:latin typeface="Arial"/>
                <a:ea typeface="Arial"/>
                <a:cs typeface="Arial"/>
              </a:defRPr>
            </a:lvl6pPr>
            <a:lvl7pPr>
              <a:defRPr sz="1425" b="1">
                <a:solidFill>
                  <a:srgbClr val="F2EFE7"/>
                </a:solidFill>
                <a:latin typeface="Arial"/>
                <a:ea typeface="Arial"/>
                <a:cs typeface="Arial"/>
              </a:defRPr>
            </a:lvl7pPr>
            <a:lvl8pPr>
              <a:defRPr sz="1425" b="1">
                <a:solidFill>
                  <a:srgbClr val="F2EFE7"/>
                </a:solidFill>
                <a:latin typeface="Arial"/>
                <a:ea typeface="Arial"/>
                <a:cs typeface="Arial"/>
              </a:defRPr>
            </a:lvl8pPr>
            <a:lvl9pPr>
              <a:defRPr sz="1425" b="1">
                <a:solidFill>
                  <a:srgbClr val="F2EFE7"/>
                </a:solidFill>
                <a:latin typeface="Arial"/>
                <a:ea typeface="Arial"/>
                <a:cs typeface="Arial"/>
              </a:defRPr>
            </a:lvl9pPr>
          </a:lstStyle>
          <a:p xmlns:a="http://schemas.openxmlformats.org/drawingml/2006/main">
            <a:pPr>
              <a:defRPr sz="1425" b="1">
                <a:solidFill>
                  <a:srgbClr val="F2EFE7"/>
                </a:solidFill>
                <a:latin typeface="Arial"/>
                <a:ea typeface="Arial"/>
                <a:cs typeface="Arial"/>
              </a:defRPr>
            </a:pPr>
            <a:r>
              <a:rPr sz="1425" b="1">
                <a:solidFill>
                  <a:srgbClr val="F2EFE7"/>
                </a:solidFill>
                <a:latin typeface="Arial"/>
                <a:ea typeface="Arial"/>
                <a:cs typeface="Arial"/>
              </a:rPr>
              <a:t>FULL DECISION ARC: Trace how one requirement evolved from Round 1 intent to Round 4 recovery on your worksheet:</a:t>
            </a:r>
          </a:p>
        </p:txBody>
      </p:sp>
      <p:graphicFrame>
        <p:nvGraphicFramePr>
          <p:cNvPr id="4" name="">
            <a:extLst xmlns:a="http://schemas.openxmlformats.org/drawingml/2006/main">
              <a:ext uri="{FF2B5EF4-FFF2-40B4-BE49-F238E27FC236}">
                <a16:creationId xmlns:a16="http://schemas.microsoft.com/office/drawing/2014/main" id="{85A86531-AC72-4587-B9C2-72DD98E07F66}"/>
              </a:ext>
            </a:extLst>
          </p:cNvPr>
          <p:cNvGraphicFramePr/>
          <p:nvPr/>
        </p:nvGraphicFramePr>
        <p:xfrm>
          <a:off xmlns:a="http://schemas.openxmlformats.org/drawingml/2006/main" x="609600" y="2266950"/>
          <a:ext xmlns:a="http://schemas.openxmlformats.org/drawingml/2006/main" cx="10953750" cy="3200400"/>
        </p:xfrm>
        <a:graphic xmlns:a="http://schemas.openxmlformats.org/drawingml/2006/main">
          <a:graphicData uri="http://schemas.openxmlformats.org/drawingml/2006/table">
            <a:tbl>
              <a:tblPr firstRow="1" bandRow="1"/>
              <a:tblGrid>
                <a:gridCol w="2571750"/>
                <a:gridCol w="8382000"/>
              </a:tblGrid>
              <a:tr h="533400">
                <a:tc>
                  <a:txBody>
                    <a:bodyPr/>
                    <a:lstStyle/>
                    <a:p>
                      <a:r>
                        <a:rPr sz="1725" b="1">
                          <a:solidFill>
                            <a:srgbClr val="F2EFE7"/>
                          </a:solidFill>
                          <a:latin typeface="Arial"/>
                          <a:ea typeface="Arial"/>
                          <a:cs typeface="Arial"/>
                        </a:rPr>
                        <a:t>Decision record</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Defensible example, not an executed response</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533400">
                <a:tc>
                  <a:txBody>
                    <a:bodyPr/>
                    <a:lstStyle/>
                    <a:p>
                      <a:r>
                        <a:rPr sz="1725" b="1">
                          <a:solidFill>
                            <a:srgbClr val="087E79"/>
                          </a:solidFill>
                          <a:latin typeface="Arial"/>
                          <a:ea typeface="Arial"/>
                          <a:cs typeface="Arial"/>
                        </a:rPr>
                        <a:t>Intent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Stop suspect traffic. Preserve two clean service copies</a:t>
                      </a:r>
                    </a:p>
                  </a:txBody>
                  <a:tcPr marL="91440" marR="91440" marT="45720" marB="45720">
                    <a:lnR w="19050">
                      <a:solidFill>
                        <a:srgbClr val="F2EFE7"/>
                      </a:solidFill>
                      <a:prstDash val="solid"/>
                    </a:lnR>
                    <a:lnB w="19050">
                      <a:solidFill>
                        <a:srgbClr val="F2EFE7"/>
                      </a:solidFill>
                      <a:prstDash val="solid"/>
                    </a:lnB>
                    <a:solidFill>
                      <a:srgbClr val="F2EFE7"/>
                    </a:solidFill>
                  </a:tcPr>
                </a:tc>
              </a:tr>
              <a:tr h="533400">
                <a:tc>
                  <a:txBody>
                    <a:bodyPr/>
                    <a:lstStyle/>
                    <a:p>
                      <a:r>
                        <a:rPr sz="1725" b="1">
                          <a:solidFill>
                            <a:srgbClr val="087E79"/>
                          </a:solidFill>
                          <a:latin typeface="Arial"/>
                          <a:ea typeface="Arial"/>
                          <a:cs typeface="Arial"/>
                        </a:rPr>
                        <a:t>Initial review</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Hold broad approval. Traffic and API evidence missing</a:t>
                      </a:r>
                    </a:p>
                  </a:txBody>
                  <a:tcPr marL="91440" marR="91440" marT="45720" marB="45720">
                    <a:lnR w="19050">
                      <a:solidFill>
                        <a:srgbClr val="F2EFE7"/>
                      </a:solidFill>
                      <a:prstDash val="solid"/>
                    </a:lnR>
                    <a:lnB w="19050">
                      <a:solidFill>
                        <a:srgbClr val="F2EFE7"/>
                      </a:solidFill>
                      <a:prstDash val="solid"/>
                    </a:lnB>
                    <a:solidFill>
                      <a:srgbClr val="F2EFE7"/>
                    </a:solidFill>
                  </a:tcPr>
                </a:tc>
              </a:tr>
              <a:tr h="533400">
                <a:tc>
                  <a:txBody>
                    <a:bodyPr/>
                    <a:lstStyle/>
                    <a:p>
                      <a:r>
                        <a:rPr sz="1725" b="1">
                          <a:solidFill>
                            <a:srgbClr val="087E79"/>
                          </a:solidFill>
                          <a:latin typeface="Arial"/>
                          <a:ea typeface="Arial"/>
                          <a:cs typeface="Arial"/>
                        </a:rPr>
                        <a:t>New evidence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Another copy shares the image. Q3 blocks replacement</a:t>
                      </a:r>
                    </a:p>
                  </a:txBody>
                  <a:tcPr marL="91440" marR="91440" marT="45720" marB="45720">
                    <a:lnR w="19050">
                      <a:solidFill>
                        <a:srgbClr val="F2EFE7"/>
                      </a:solidFill>
                      <a:prstDash val="solid"/>
                    </a:lnR>
                    <a:lnB w="19050">
                      <a:solidFill>
                        <a:srgbClr val="F2EFE7"/>
                      </a:solidFill>
                      <a:prstDash val="solid"/>
                    </a:lnB>
                    <a:solidFill>
                      <a:srgbClr val="F2EFE7"/>
                    </a:solidFill>
                  </a:tcPr>
                </a:tc>
              </a:tr>
              <a:tr h="533400">
                <a:tc>
                  <a:txBody>
                    <a:bodyPr/>
                    <a:lstStyle/>
                    <a:p>
                      <a:r>
                        <a:rPr sz="1725" b="1">
                          <a:solidFill>
                            <a:srgbClr val="087E79"/>
                          </a:solidFill>
                          <a:latin typeface="Arial"/>
                          <a:ea typeface="Arial"/>
                          <a:cs typeface="Arial"/>
                        </a:rPr>
                        <a:t>Revised plan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Preserve evidence. Verify clean capacity before removal</a:t>
                      </a:r>
                    </a:p>
                  </a:txBody>
                  <a:tcPr marL="91440" marR="91440" marT="45720" marB="45720">
                    <a:lnR w="19050">
                      <a:solidFill>
                        <a:srgbClr val="F2EFE7"/>
                      </a:solidFill>
                      <a:prstDash val="solid"/>
                    </a:lnR>
                    <a:lnB w="19050">
                      <a:solidFill>
                        <a:srgbClr val="F2EFE7"/>
                      </a:solidFill>
                      <a:prstDash val="solid"/>
                    </a:lnB>
                    <a:solidFill>
                      <a:srgbClr val="F2EFE7"/>
                    </a:solidFill>
                  </a:tcPr>
                </a:tc>
              </a:tr>
              <a:tr h="533400">
                <a:tc>
                  <a:txBody>
                    <a:bodyPr/>
                    <a:lstStyle/>
                    <a:p>
                      <a:r>
                        <a:rPr sz="1725" b="1">
                          <a:solidFill>
                            <a:srgbClr val="087E79"/>
                          </a:solidFill>
                          <a:latin typeface="Arial"/>
                          <a:ea typeface="Arial"/>
                          <a:cs typeface="Arial"/>
                        </a:rPr>
                        <a:t>Recovery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Require denied suspect paths, working dependencies and authorized lift</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5" name="MONDAY TRANSFER: Score your record (15 pts max) ">
            <a:extLst xmlns:a="http://schemas.openxmlformats.org/drawingml/2006/main">
              <a:ext uri="{FF2B5EF4-FFF2-40B4-BE49-F238E27FC236}">
                <a16:creationId xmlns:a16="http://schemas.microsoft.com/office/drawing/2014/main" id="{4BB08C1C-0788-4716-A13A-050A38EC9640}"/>
              </a:ext>
            </a:extLst>
          </p:cNvPr>
          <p:cNvSpPr>
            <a:spLocks xmlns:a="http://schemas.openxmlformats.org/drawingml/2006/main" noGrp="1"/>
          </p:cNvSpPr>
          <p:nvPr/>
        </p:nvSpPr>
        <p:spPr>
          <a:xfrm xmlns:a="http://schemas.openxmlformats.org/drawingml/2006/main">
            <a:off x="609600" y="5695950"/>
            <a:ext cx="10953750" cy="533400"/>
          </a:xfrm>
          <a:prstGeom xmlns:a="http://schemas.openxmlformats.org/drawingml/2006/main" prst="rect">
            <a:avLst/>
          </a:prstGeom>
          <a:solidFill xmlns:a="http://schemas.openxmlformats.org/drawingml/2006/main">
            <a:srgbClr val="E6E1D5"/>
          </a:solidFill>
          <a:ln xmlns:a="http://schemas.openxmlformats.org/drawingml/2006/main" w="19050">
            <a:solidFill>
              <a:srgbClr val="D45336"/>
            </a:solidFill>
          </a:ln>
        </p:spPr>
        <p:txBody>
          <a:bodyPr xmlns:a="http://schemas.openxmlformats.org/drawingml/2006/main"/>
          <a:lstStyle xmlns:a="http://schemas.openxmlformats.org/drawingml/2006/main">
            <a:defPPr>
              <a:defRPr sz="1500" b="1">
                <a:solidFill>
                  <a:srgbClr val="0B1822"/>
                </a:solidFill>
                <a:latin typeface="Arial"/>
                <a:ea typeface="Arial"/>
                <a:cs typeface="Arial"/>
              </a:defRPr>
            </a:defPPr>
            <a:lvl1pPr>
              <a:defRPr sz="1500" b="1">
                <a:solidFill>
                  <a:srgbClr val="0B1822"/>
                </a:solidFill>
                <a:latin typeface="Arial"/>
                <a:ea typeface="Arial"/>
                <a:cs typeface="Arial"/>
              </a:defRPr>
            </a:lvl1pPr>
            <a:lvl2pPr>
              <a:defRPr sz="1500" b="1">
                <a:solidFill>
                  <a:srgbClr val="0B1822"/>
                </a:solidFill>
                <a:latin typeface="Arial"/>
                <a:ea typeface="Arial"/>
                <a:cs typeface="Arial"/>
              </a:defRPr>
            </a:lvl2pPr>
            <a:lvl3pPr>
              <a:defRPr sz="1500" b="1">
                <a:solidFill>
                  <a:srgbClr val="0B1822"/>
                </a:solidFill>
                <a:latin typeface="Arial"/>
                <a:ea typeface="Arial"/>
                <a:cs typeface="Arial"/>
              </a:defRPr>
            </a:lvl3pPr>
            <a:lvl4pPr>
              <a:defRPr sz="1500" b="1">
                <a:solidFill>
                  <a:srgbClr val="0B1822"/>
                </a:solidFill>
                <a:latin typeface="Arial"/>
                <a:ea typeface="Arial"/>
                <a:cs typeface="Arial"/>
              </a:defRPr>
            </a:lvl4pPr>
            <a:lvl5pPr>
              <a:defRPr sz="1500" b="1">
                <a:solidFill>
                  <a:srgbClr val="0B1822"/>
                </a:solidFill>
                <a:latin typeface="Arial"/>
                <a:ea typeface="Arial"/>
                <a:cs typeface="Arial"/>
              </a:defRPr>
            </a:lvl5pPr>
            <a:lvl6pPr>
              <a:defRPr sz="1500" b="1">
                <a:solidFill>
                  <a:srgbClr val="0B1822"/>
                </a:solidFill>
                <a:latin typeface="Arial"/>
                <a:ea typeface="Arial"/>
                <a:cs typeface="Arial"/>
              </a:defRPr>
            </a:lvl6pPr>
            <a:lvl7pPr>
              <a:defRPr sz="1500" b="1">
                <a:solidFill>
                  <a:srgbClr val="0B1822"/>
                </a:solidFill>
                <a:latin typeface="Arial"/>
                <a:ea typeface="Arial"/>
                <a:cs typeface="Arial"/>
              </a:defRPr>
            </a:lvl7pPr>
            <a:lvl8pPr>
              <a:defRPr sz="1500" b="1">
                <a:solidFill>
                  <a:srgbClr val="0B1822"/>
                </a:solidFill>
                <a:latin typeface="Arial"/>
                <a:ea typeface="Arial"/>
                <a:cs typeface="Arial"/>
              </a:defRPr>
            </a:lvl8pPr>
            <a:lvl9pPr>
              <a:defRPr sz="1500" b="1">
                <a:solidFill>
                  <a:srgbClr val="0B1822"/>
                </a:solidFill>
                <a:latin typeface="Arial"/>
                <a:ea typeface="Arial"/>
                <a:cs typeface="Arial"/>
              </a:defRPr>
            </a:lvl9pPr>
          </a:lstStyle>
          <a:p xmlns:a="http://schemas.openxmlformats.org/drawingml/2006/main">
            <a:pPr>
              <a:defRPr sz="1500" b="1">
                <a:solidFill>
                  <a:srgbClr val="0B1822"/>
                </a:solidFill>
                <a:latin typeface="Arial"/>
                <a:ea typeface="Arial"/>
                <a:cs typeface="Arial"/>
              </a:defRPr>
            </a:pPr>
            <a:r>
              <a:rPr sz="1500" b="1">
                <a:solidFill>
                  <a:srgbClr val="0B1822"/>
                </a:solidFill>
                <a:latin typeface="Arial"/>
                <a:ea typeface="Arial"/>
                <a:cs typeface="Arial"/>
              </a:rPr>
              <a:t>MONDAY TRANSFER: Score your record (15 pts max) and write 1 requirement, owner, and verification test for your own cluster.</a:t>
            </a:r>
          </a:p>
        </p:txBody>
      </p:sp>
      <p:sp>
        <p:nvSpPr>
          <p:cNvPr id="6" name="ISC2 SECURITY CONGRESS 2026 / SC2632">
            <a:extLst xmlns:a="http://schemas.openxmlformats.org/drawingml/2006/main">
              <a:ext uri="{FF2B5EF4-FFF2-40B4-BE49-F238E27FC236}">
                <a16:creationId xmlns:a16="http://schemas.microsoft.com/office/drawing/2014/main" id="{AF5B83F0-826D-4793-9BA2-2A4A7B8E2F51}"/>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31">
            <a:extLst xmlns:a="http://schemas.openxmlformats.org/drawingml/2006/main">
              <a:ext uri="{FF2B5EF4-FFF2-40B4-BE49-F238E27FC236}">
                <a16:creationId xmlns:a16="http://schemas.microsoft.com/office/drawing/2014/main" id="{5BD28706-37F3-4232-AB13-A0BBB895563B}"/>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31</a:t>
            </a:r>
          </a:p>
        </p:txBody>
      </p:sp>
    </p:spTree>
    <p:extLst>
      <p:ext uri="{BB962C8B-B14F-4D97-AF65-F5344CB8AC3E}">
        <p14:creationId xmlns:p14="http://schemas.microsoft.com/office/powerpoint/2010/main" val="1825271040"/>
      </p:ext>
    </p:extLst>
  </p:cSld>
</p:sld>
</file>

<file path=ppt/slides/slide32.xml><?xml version="1.0" encoding="utf-8"?>
<p:sld xmlns:p="http://schemas.openxmlformats.org/presentationml/2006/main">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9" name="SESSION RESOURCES / OPEN-SOURCE REPOSITORY &amp; PLA">
            <a:extLst xmlns:a="http://schemas.openxmlformats.org/drawingml/2006/main">
              <a:ext uri="{FF2B5EF4-FFF2-40B4-BE49-F238E27FC236}">
                <a16:creationId xmlns:a16="http://schemas.microsoft.com/office/drawing/2014/main" id="{BD7DB2B4-9952-4D13-A8F4-02A22C6E035F}"/>
              </a:ext>
            </a:extLst>
          </p:cNvPr>
          <p:cNvSpPr>
            <a:spLocks xmlns:a="http://schemas.openxmlformats.org/drawingml/2006/main" noGrp="1"/>
          </p:cNvSpPr>
          <p:nvPr/>
        </p:nvSpPr>
        <p:spPr>
          <a:xfrm xmlns:a="http://schemas.openxmlformats.org/drawingml/2006/main">
            <a:off x="609600" y="4381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79"/>
                </a:solidFill>
                <a:latin typeface="Arial"/>
                <a:ea typeface="Arial"/>
                <a:cs typeface="Arial"/>
              </a:defRPr>
            </a:defPPr>
            <a:lvl1pPr>
              <a:defRPr sz="1200" b="1">
                <a:solidFill>
                  <a:srgbClr val="087E79"/>
                </a:solidFill>
                <a:latin typeface="Arial"/>
                <a:ea typeface="Arial"/>
                <a:cs typeface="Arial"/>
              </a:defRPr>
            </a:lvl1pPr>
            <a:lvl2pPr>
              <a:defRPr sz="1200" b="1">
                <a:solidFill>
                  <a:srgbClr val="087E79"/>
                </a:solidFill>
                <a:latin typeface="Arial"/>
                <a:ea typeface="Arial"/>
                <a:cs typeface="Arial"/>
              </a:defRPr>
            </a:lvl2pPr>
            <a:lvl3pPr>
              <a:defRPr sz="1200" b="1">
                <a:solidFill>
                  <a:srgbClr val="087E79"/>
                </a:solidFill>
                <a:latin typeface="Arial"/>
                <a:ea typeface="Arial"/>
                <a:cs typeface="Arial"/>
              </a:defRPr>
            </a:lvl3pPr>
            <a:lvl4pPr>
              <a:defRPr sz="1200" b="1">
                <a:solidFill>
                  <a:srgbClr val="087E79"/>
                </a:solidFill>
                <a:latin typeface="Arial"/>
                <a:ea typeface="Arial"/>
                <a:cs typeface="Arial"/>
              </a:defRPr>
            </a:lvl4pPr>
            <a:lvl5pPr>
              <a:defRPr sz="1200" b="1">
                <a:solidFill>
                  <a:srgbClr val="087E79"/>
                </a:solidFill>
                <a:latin typeface="Arial"/>
                <a:ea typeface="Arial"/>
                <a:cs typeface="Arial"/>
              </a:defRPr>
            </a:lvl5pPr>
            <a:lvl6pPr>
              <a:defRPr sz="1200" b="1">
                <a:solidFill>
                  <a:srgbClr val="087E79"/>
                </a:solidFill>
                <a:latin typeface="Arial"/>
                <a:ea typeface="Arial"/>
                <a:cs typeface="Arial"/>
              </a:defRPr>
            </a:lvl6pPr>
            <a:lvl7pPr>
              <a:defRPr sz="1200" b="1">
                <a:solidFill>
                  <a:srgbClr val="087E79"/>
                </a:solidFill>
                <a:latin typeface="Arial"/>
                <a:ea typeface="Arial"/>
                <a:cs typeface="Arial"/>
              </a:defRPr>
            </a:lvl7pPr>
            <a:lvl8pPr>
              <a:defRPr sz="1200" b="1">
                <a:solidFill>
                  <a:srgbClr val="087E79"/>
                </a:solidFill>
                <a:latin typeface="Arial"/>
                <a:ea typeface="Arial"/>
                <a:cs typeface="Arial"/>
              </a:defRPr>
            </a:lvl8pPr>
            <a:lvl9pPr>
              <a:defRPr sz="1200" b="1">
                <a:solidFill>
                  <a:srgbClr val="087E79"/>
                </a:solidFill>
                <a:latin typeface="Arial"/>
                <a:ea typeface="Arial"/>
                <a:cs typeface="Arial"/>
              </a:defRPr>
            </a:lvl9pPr>
          </a:lstStyle>
          <a:p xmlns:a="http://schemas.openxmlformats.org/drawingml/2006/main">
            <a:pPr>
              <a:defRPr sz="1200" b="1">
                <a:solidFill>
                  <a:srgbClr val="087E79"/>
                </a:solidFill>
                <a:latin typeface="Arial"/>
                <a:ea typeface="Arial"/>
                <a:cs typeface="Arial"/>
              </a:defRPr>
            </a:pPr>
            <a:r>
              <a:rPr sz="1200" b="1">
                <a:solidFill>
                  <a:srgbClr val="087E79"/>
                </a:solidFill>
                <a:latin typeface="Arial"/>
                <a:ea typeface="Arial"/>
                <a:cs typeface="Arial"/>
              </a:rPr>
              <a:t>SESSION RESOURCES / OPEN-SOURCE REPOSITORY &amp; PLAYBOOKS</a:t>
            </a:r>
          </a:p>
        </p:txBody>
      </p:sp>
      <p:sp>
        <p:nvSpPr>
          <p:cNvPr id="2" name="Take the guardrails &amp; lab home">
            <a:extLst xmlns:a="http://schemas.openxmlformats.org/drawingml/2006/main">
              <a:ext uri="{FF2B5EF4-FFF2-40B4-BE49-F238E27FC236}">
                <a16:creationId xmlns:a16="http://schemas.microsoft.com/office/drawing/2014/main" id="{D18EADC9-09C2-4A2F-9DB4-884D307CF565}"/>
              </a:ext>
            </a:extLst>
          </p:cNvPr>
          <p:cNvSpPr>
            <a:spLocks xmlns:a="http://schemas.openxmlformats.org/drawingml/2006/main" noGrp="1"/>
          </p:cNvSpPr>
          <p:nvPr>
            <p:ph type="title" idx="0"/>
          </p:nvPr>
        </p:nvSpPr>
        <p:spPr>
          <a:xfrm xmlns:a="http://schemas.openxmlformats.org/drawingml/2006/main">
            <a:off x="609600" y="914400"/>
            <a:ext cx="1085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Take the guardrails &amp; lab home</a:t>
            </a:r>
          </a:p>
        </p:txBody>
      </p:sp>
      <p:sp>
        <p:nvSpPr>
          <p:cNvPr id="3" name="REPOSITORY: github.com/mgunjan/sc2632-tabletop  ">
            <a:extLst xmlns:a="http://schemas.openxmlformats.org/drawingml/2006/main">
              <a:ext uri="{FF2B5EF4-FFF2-40B4-BE49-F238E27FC236}">
                <a16:creationId xmlns:a16="http://schemas.microsoft.com/office/drawing/2014/main" id="{67CDF433-D3E6-4465-BFDA-6A8A9F8AB54B}"/>
              </a:ext>
            </a:extLst>
          </p:cNvPr>
          <p:cNvSpPr>
            <a:spLocks xmlns:a="http://schemas.openxmlformats.org/drawingml/2006/main" noGrp="1"/>
          </p:cNvSpPr>
          <p:nvPr/>
        </p:nvSpPr>
        <p:spPr>
          <a:xfrm xmlns:a="http://schemas.openxmlformats.org/drawingml/2006/main">
            <a:off x="609600" y="1866900"/>
            <a:ext cx="10953750" cy="609600"/>
          </a:xfrm>
          <a:prstGeom xmlns:a="http://schemas.openxmlformats.org/drawingml/2006/main" prst="rect">
            <a:avLst/>
          </a:prstGeom>
          <a:solidFill xmlns:a="http://schemas.openxmlformats.org/drawingml/2006/main">
            <a:srgbClr val="09131D"/>
          </a:solidFill>
          <a:ln xmlns:a="http://schemas.openxmlformats.org/drawingml/2006/main" w="19050">
            <a:solidFill>
              <a:srgbClr val="25D8BD"/>
            </a:solidFill>
          </a:ln>
        </p:spPr>
        <p:txBody>
          <a:bodyPr xmlns:a="http://schemas.openxmlformats.org/drawingml/2006/main"/>
          <a:lstStyle xmlns:a="http://schemas.openxmlformats.org/drawingml/2006/main">
            <a:defPPr>
              <a:defRPr sz="1800" b="1">
                <a:solidFill>
                  <a:srgbClr val="F2EFE7"/>
                </a:solidFill>
                <a:latin typeface="Arial"/>
                <a:ea typeface="Arial"/>
                <a:cs typeface="Arial"/>
              </a:defRPr>
            </a:defPPr>
            <a:lvl1pPr>
              <a:defRPr sz="1800" b="1">
                <a:solidFill>
                  <a:srgbClr val="F2EFE7"/>
                </a:solidFill>
                <a:latin typeface="Arial"/>
                <a:ea typeface="Arial"/>
                <a:cs typeface="Arial"/>
              </a:defRPr>
            </a:lvl1pPr>
            <a:lvl2pPr>
              <a:defRPr sz="1800" b="1">
                <a:solidFill>
                  <a:srgbClr val="F2EFE7"/>
                </a:solidFill>
                <a:latin typeface="Arial"/>
                <a:ea typeface="Arial"/>
                <a:cs typeface="Arial"/>
              </a:defRPr>
            </a:lvl2pPr>
            <a:lvl3pPr>
              <a:defRPr sz="1800" b="1">
                <a:solidFill>
                  <a:srgbClr val="F2EFE7"/>
                </a:solidFill>
                <a:latin typeface="Arial"/>
                <a:ea typeface="Arial"/>
                <a:cs typeface="Arial"/>
              </a:defRPr>
            </a:lvl3pPr>
            <a:lvl4pPr>
              <a:defRPr sz="1800" b="1">
                <a:solidFill>
                  <a:srgbClr val="F2EFE7"/>
                </a:solidFill>
                <a:latin typeface="Arial"/>
                <a:ea typeface="Arial"/>
                <a:cs typeface="Arial"/>
              </a:defRPr>
            </a:lvl4pPr>
            <a:lvl5pPr>
              <a:defRPr sz="1800" b="1">
                <a:solidFill>
                  <a:srgbClr val="F2EFE7"/>
                </a:solidFill>
                <a:latin typeface="Arial"/>
                <a:ea typeface="Arial"/>
                <a:cs typeface="Arial"/>
              </a:defRPr>
            </a:lvl5pPr>
            <a:lvl6pPr>
              <a:defRPr sz="1800" b="1">
                <a:solidFill>
                  <a:srgbClr val="F2EFE7"/>
                </a:solidFill>
                <a:latin typeface="Arial"/>
                <a:ea typeface="Arial"/>
                <a:cs typeface="Arial"/>
              </a:defRPr>
            </a:lvl6pPr>
            <a:lvl7pPr>
              <a:defRPr sz="1800" b="1">
                <a:solidFill>
                  <a:srgbClr val="F2EFE7"/>
                </a:solidFill>
                <a:latin typeface="Arial"/>
                <a:ea typeface="Arial"/>
                <a:cs typeface="Arial"/>
              </a:defRPr>
            </a:lvl7pPr>
            <a:lvl8pPr>
              <a:defRPr sz="1800" b="1">
                <a:solidFill>
                  <a:srgbClr val="F2EFE7"/>
                </a:solidFill>
                <a:latin typeface="Arial"/>
                <a:ea typeface="Arial"/>
                <a:cs typeface="Arial"/>
              </a:defRPr>
            </a:lvl8pPr>
            <a:lvl9pPr>
              <a:defRPr sz="1800" b="1">
                <a:solidFill>
                  <a:srgbClr val="F2EFE7"/>
                </a:solidFill>
                <a:latin typeface="Arial"/>
                <a:ea typeface="Arial"/>
                <a:cs typeface="Arial"/>
              </a:defRPr>
            </a:lvl9pPr>
          </a:lstStyle>
          <a:p xmlns:a="http://schemas.openxmlformats.org/drawingml/2006/main">
            <a:pPr>
              <a:defRPr sz="1800" b="1">
                <a:solidFill>
                  <a:srgbClr val="F2EFE7"/>
                </a:solidFill>
                <a:latin typeface="Arial"/>
                <a:ea typeface="Arial"/>
                <a:cs typeface="Arial"/>
              </a:defRPr>
            </a:pPr>
            <a:r>
              <a:rPr sz="1800" b="1">
                <a:solidFill>
                  <a:srgbClr val="F2EFE7"/>
                </a:solidFill>
                <a:latin typeface="Arial"/>
                <a:ea typeface="Arial"/>
                <a:cs typeface="Arial"/>
              </a:rPr>
              <a:t>REPOSITORY: github.com/mgunjan/sc2632-tabletop  (Apache-2.0)</a:t>
            </a:r>
          </a:p>
        </p:txBody>
      </p:sp>
      <p:sp>
        <p:nvSpPr>
          <p:cNvPr id="4" name="WHAT IS IN THE REPO&#10;&#10;• Policy compiler + Kyverno">
            <a:extLst xmlns:a="http://schemas.openxmlformats.org/drawingml/2006/main">
              <a:ext uri="{FF2B5EF4-FFF2-40B4-BE49-F238E27FC236}">
                <a16:creationId xmlns:a16="http://schemas.microsoft.com/office/drawing/2014/main" id="{6888E251-3351-40C2-B2BE-0C012712D4FC}"/>
              </a:ext>
            </a:extLst>
          </p:cNvPr>
          <p:cNvSpPr>
            <a:spLocks xmlns:a="http://schemas.openxmlformats.org/drawingml/2006/main" noGrp="1"/>
          </p:cNvSpPr>
          <p:nvPr/>
        </p:nvSpPr>
        <p:spPr>
          <a:xfrm xmlns:a="http://schemas.openxmlformats.org/drawingml/2006/main">
            <a:off x="609600" y="2647950"/>
            <a:ext cx="535305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79"/>
            </a:solidFill>
          </a:ln>
        </p:spPr>
        <p:txBody>
          <a:bodyPr xmlns:a="http://schemas.openxmlformats.org/drawingml/2006/main"/>
          <a:lstStyle xmlns:a="http://schemas.openxmlformats.org/drawingml/2006/main">
            <a:defPPr>
              <a:defRPr sz="1650" b="0">
                <a:solidFill>
                  <a:srgbClr val="0B1822"/>
                </a:solidFill>
                <a:latin typeface="Arial"/>
                <a:ea typeface="Arial"/>
                <a:cs typeface="Arial"/>
              </a:defRPr>
            </a:defPPr>
            <a:lvl1pPr>
              <a:defRPr sz="1650" b="0">
                <a:solidFill>
                  <a:srgbClr val="0B1822"/>
                </a:solidFill>
                <a:latin typeface="Arial"/>
                <a:ea typeface="Arial"/>
                <a:cs typeface="Arial"/>
              </a:defRPr>
            </a:lvl1pPr>
            <a:lvl2pPr>
              <a:defRPr sz="1650" b="0">
                <a:solidFill>
                  <a:srgbClr val="0B1822"/>
                </a:solidFill>
                <a:latin typeface="Arial"/>
                <a:ea typeface="Arial"/>
                <a:cs typeface="Arial"/>
              </a:defRPr>
            </a:lvl2pPr>
            <a:lvl3pPr>
              <a:defRPr sz="1650" b="0">
                <a:solidFill>
                  <a:srgbClr val="0B1822"/>
                </a:solidFill>
                <a:latin typeface="Arial"/>
                <a:ea typeface="Arial"/>
                <a:cs typeface="Arial"/>
              </a:defRPr>
            </a:lvl3pPr>
            <a:lvl4pPr>
              <a:defRPr sz="1650" b="0">
                <a:solidFill>
                  <a:srgbClr val="0B1822"/>
                </a:solidFill>
                <a:latin typeface="Arial"/>
                <a:ea typeface="Arial"/>
                <a:cs typeface="Arial"/>
              </a:defRPr>
            </a:lvl4pPr>
            <a:lvl5pPr>
              <a:defRPr sz="1650" b="0">
                <a:solidFill>
                  <a:srgbClr val="0B1822"/>
                </a:solidFill>
                <a:latin typeface="Arial"/>
                <a:ea typeface="Arial"/>
                <a:cs typeface="Arial"/>
              </a:defRPr>
            </a:lvl5pPr>
            <a:lvl6pPr>
              <a:defRPr sz="1650" b="0">
                <a:solidFill>
                  <a:srgbClr val="0B1822"/>
                </a:solidFill>
                <a:latin typeface="Arial"/>
                <a:ea typeface="Arial"/>
                <a:cs typeface="Arial"/>
              </a:defRPr>
            </a:lvl6pPr>
            <a:lvl7pPr>
              <a:defRPr sz="1650" b="0">
                <a:solidFill>
                  <a:srgbClr val="0B1822"/>
                </a:solidFill>
                <a:latin typeface="Arial"/>
                <a:ea typeface="Arial"/>
                <a:cs typeface="Arial"/>
              </a:defRPr>
            </a:lvl7pPr>
            <a:lvl8pPr>
              <a:defRPr sz="1650" b="0">
                <a:solidFill>
                  <a:srgbClr val="0B1822"/>
                </a:solidFill>
                <a:latin typeface="Arial"/>
                <a:ea typeface="Arial"/>
                <a:cs typeface="Arial"/>
              </a:defRPr>
            </a:lvl8pPr>
            <a:lvl9pPr>
              <a:defRPr sz="1650" b="0">
                <a:solidFill>
                  <a:srgbClr val="0B1822"/>
                </a:solidFill>
                <a:latin typeface="Arial"/>
                <a:ea typeface="Arial"/>
                <a:cs typeface="Arial"/>
              </a:defRPr>
            </a:lvl9pPr>
          </a:lstStyle>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WHAT IS IN THE REPO</a:t>
            </a:r>
          </a:p>
          <a:p xmlns:a="http://schemas.openxmlformats.org/drawingml/2006/main">
            <a:r>
              <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Policy compiler + Kyverno templates &amp; tests</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Requirement coverage ledger (readiness.json)</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Q0–Q3 Quarantine Mode manifests &amp; verifier</a:t>
            </a:r>
          </a:p>
        </p:txBody>
      </p:sp>
      <p:sp>
        <p:nvSpPr>
          <p:cNvPr id="5" name="FOUR INCIDENT CASES &amp; LAB REPLAYS&#10;&#10;• Cases A–D t">
            <a:extLst xmlns:a="http://schemas.openxmlformats.org/drawingml/2006/main">
              <a:ext uri="{FF2B5EF4-FFF2-40B4-BE49-F238E27FC236}">
                <a16:creationId xmlns:a16="http://schemas.microsoft.com/office/drawing/2014/main" id="{912D0B3C-D732-489F-B89A-9B12FE45054E}"/>
              </a:ext>
            </a:extLst>
          </p:cNvPr>
          <p:cNvSpPr>
            <a:spLocks xmlns:a="http://schemas.openxmlformats.org/drawingml/2006/main" noGrp="1"/>
          </p:cNvSpPr>
          <p:nvPr/>
        </p:nvSpPr>
        <p:spPr>
          <a:xfrm xmlns:a="http://schemas.openxmlformats.org/drawingml/2006/main">
            <a:off x="6210300" y="2647950"/>
            <a:ext cx="535305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D45336"/>
            </a:solidFill>
          </a:ln>
        </p:spPr>
        <p:txBody>
          <a:bodyPr xmlns:a="http://schemas.openxmlformats.org/drawingml/2006/main"/>
          <a:lstStyle xmlns:a="http://schemas.openxmlformats.org/drawingml/2006/main">
            <a:defPPr>
              <a:defRPr sz="1650" b="0">
                <a:solidFill>
                  <a:srgbClr val="0B1822"/>
                </a:solidFill>
                <a:latin typeface="Arial"/>
                <a:ea typeface="Arial"/>
                <a:cs typeface="Arial"/>
              </a:defRPr>
            </a:defPPr>
            <a:lvl1pPr>
              <a:defRPr sz="1650" b="0">
                <a:solidFill>
                  <a:srgbClr val="0B1822"/>
                </a:solidFill>
                <a:latin typeface="Arial"/>
                <a:ea typeface="Arial"/>
                <a:cs typeface="Arial"/>
              </a:defRPr>
            </a:lvl1pPr>
            <a:lvl2pPr>
              <a:defRPr sz="1650" b="0">
                <a:solidFill>
                  <a:srgbClr val="0B1822"/>
                </a:solidFill>
                <a:latin typeface="Arial"/>
                <a:ea typeface="Arial"/>
                <a:cs typeface="Arial"/>
              </a:defRPr>
            </a:lvl2pPr>
            <a:lvl3pPr>
              <a:defRPr sz="1650" b="0">
                <a:solidFill>
                  <a:srgbClr val="0B1822"/>
                </a:solidFill>
                <a:latin typeface="Arial"/>
                <a:ea typeface="Arial"/>
                <a:cs typeface="Arial"/>
              </a:defRPr>
            </a:lvl3pPr>
            <a:lvl4pPr>
              <a:defRPr sz="1650" b="0">
                <a:solidFill>
                  <a:srgbClr val="0B1822"/>
                </a:solidFill>
                <a:latin typeface="Arial"/>
                <a:ea typeface="Arial"/>
                <a:cs typeface="Arial"/>
              </a:defRPr>
            </a:lvl4pPr>
            <a:lvl5pPr>
              <a:defRPr sz="1650" b="0">
                <a:solidFill>
                  <a:srgbClr val="0B1822"/>
                </a:solidFill>
                <a:latin typeface="Arial"/>
                <a:ea typeface="Arial"/>
                <a:cs typeface="Arial"/>
              </a:defRPr>
            </a:lvl5pPr>
            <a:lvl6pPr>
              <a:defRPr sz="1650" b="0">
                <a:solidFill>
                  <a:srgbClr val="0B1822"/>
                </a:solidFill>
                <a:latin typeface="Arial"/>
                <a:ea typeface="Arial"/>
                <a:cs typeface="Arial"/>
              </a:defRPr>
            </a:lvl6pPr>
            <a:lvl7pPr>
              <a:defRPr sz="1650" b="0">
                <a:solidFill>
                  <a:srgbClr val="0B1822"/>
                </a:solidFill>
                <a:latin typeface="Arial"/>
                <a:ea typeface="Arial"/>
                <a:cs typeface="Arial"/>
              </a:defRPr>
            </a:lvl7pPr>
            <a:lvl8pPr>
              <a:defRPr sz="1650" b="0">
                <a:solidFill>
                  <a:srgbClr val="0B1822"/>
                </a:solidFill>
                <a:latin typeface="Arial"/>
                <a:ea typeface="Arial"/>
                <a:cs typeface="Arial"/>
              </a:defRPr>
            </a:lvl8pPr>
            <a:lvl9pPr>
              <a:defRPr sz="1650" b="0">
                <a:solidFill>
                  <a:srgbClr val="0B1822"/>
                </a:solidFill>
                <a:latin typeface="Arial"/>
                <a:ea typeface="Arial"/>
                <a:cs typeface="Arial"/>
              </a:defRPr>
            </a:lvl9pPr>
          </a:lstStyle>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FOUR INCIDENT CASES &amp; LAB REPLAYS</a:t>
            </a:r>
          </a:p>
          <a:p xmlns:a="http://schemas.openxmlformats.org/drawingml/2006/main">
            <a:r>
              <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Cases A–D tabletop packs &amp; facilitator runbook</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Recorded k3s/k3d verification scripts</a:t>
            </a:r>
          </a:p>
          <a:p xmlns:a="http://schemas.openxmlformats.org/drawingml/2006/main">
            <a:pPr>
              <a:defRPr sz="1650" b="0">
                <a:solidFill>
                  <a:srgbClr val="0B1822"/>
                </a:solidFill>
                <a:latin typeface="Arial"/>
                <a:ea typeface="Arial"/>
                <a:cs typeface="Arial"/>
              </a:defRPr>
            </a:pPr>
            <a:r>
              <a:rPr sz="1650" b="0">
                <a:solidFill>
                  <a:srgbClr val="0B1822"/>
                </a:solidFill>
                <a:latin typeface="Arial"/>
                <a:ea typeface="Arial"/>
                <a:cs typeface="Arial"/>
              </a:rPr>
              <a:t>• Recorded local and hosted model evaluations (scope and limits documented)</a:t>
            </a:r>
          </a:p>
        </p:txBody>
      </p:sp>
      <p:sp>
        <p:nvSpPr>
          <p:cNvPr id="6" name="MONDAY ACTION: Pick one high-risk namespace, map">
            <a:extLst xmlns:a="http://schemas.openxmlformats.org/drawingml/2006/main">
              <a:ext uri="{FF2B5EF4-FFF2-40B4-BE49-F238E27FC236}">
                <a16:creationId xmlns:a16="http://schemas.microsoft.com/office/drawing/2014/main" id="{29E572B6-360D-4F4E-B8E1-082973252E35}"/>
              </a:ext>
            </a:extLst>
          </p:cNvPr>
          <p:cNvSpPr>
            <a:spLocks xmlns:a="http://schemas.openxmlformats.org/drawingml/2006/main" noGrp="1"/>
          </p:cNvSpPr>
          <p:nvPr/>
        </p:nvSpPr>
        <p:spPr>
          <a:xfrm xmlns:a="http://schemas.openxmlformats.org/drawingml/2006/main">
            <a:off x="609600" y="5353050"/>
            <a:ext cx="10953750" cy="704850"/>
          </a:xfrm>
          <a:prstGeom xmlns:a="http://schemas.openxmlformats.org/drawingml/2006/main" prst="rect">
            <a:avLst/>
          </a:prstGeom>
          <a:solidFill xmlns:a="http://schemas.openxmlformats.org/drawingml/2006/main">
            <a:srgbClr val="E6E1D5"/>
          </a:solidFill>
          <a:ln xmlns:a="http://schemas.openxmlformats.org/drawingml/2006/main" w="19050">
            <a:solidFill>
              <a:srgbClr val="087E79"/>
            </a:solidFill>
          </a:ln>
        </p:spPr>
        <p:txBody>
          <a:bodyPr xmlns:a="http://schemas.openxmlformats.org/drawingml/2006/main"/>
          <a:lstStyle xmlns:a="http://schemas.openxmlformats.org/drawingml/2006/main">
            <a:defPPr>
              <a:defRPr sz="1650" b="1">
                <a:solidFill>
                  <a:srgbClr val="0B1822"/>
                </a:solidFill>
                <a:latin typeface="Arial"/>
                <a:ea typeface="Arial"/>
                <a:cs typeface="Arial"/>
              </a:defRPr>
            </a:defPPr>
            <a:lvl1pPr>
              <a:defRPr sz="1650" b="1">
                <a:solidFill>
                  <a:srgbClr val="0B1822"/>
                </a:solidFill>
                <a:latin typeface="Arial"/>
                <a:ea typeface="Arial"/>
                <a:cs typeface="Arial"/>
              </a:defRPr>
            </a:lvl1pPr>
            <a:lvl2pPr>
              <a:defRPr sz="1650" b="1">
                <a:solidFill>
                  <a:srgbClr val="0B1822"/>
                </a:solidFill>
                <a:latin typeface="Arial"/>
                <a:ea typeface="Arial"/>
                <a:cs typeface="Arial"/>
              </a:defRPr>
            </a:lvl2pPr>
            <a:lvl3pPr>
              <a:defRPr sz="1650" b="1">
                <a:solidFill>
                  <a:srgbClr val="0B1822"/>
                </a:solidFill>
                <a:latin typeface="Arial"/>
                <a:ea typeface="Arial"/>
                <a:cs typeface="Arial"/>
              </a:defRPr>
            </a:lvl3pPr>
            <a:lvl4pPr>
              <a:defRPr sz="1650" b="1">
                <a:solidFill>
                  <a:srgbClr val="0B1822"/>
                </a:solidFill>
                <a:latin typeface="Arial"/>
                <a:ea typeface="Arial"/>
                <a:cs typeface="Arial"/>
              </a:defRPr>
            </a:lvl4pPr>
            <a:lvl5pPr>
              <a:defRPr sz="1650" b="1">
                <a:solidFill>
                  <a:srgbClr val="0B1822"/>
                </a:solidFill>
                <a:latin typeface="Arial"/>
                <a:ea typeface="Arial"/>
                <a:cs typeface="Arial"/>
              </a:defRPr>
            </a:lvl5pPr>
            <a:lvl6pPr>
              <a:defRPr sz="1650" b="1">
                <a:solidFill>
                  <a:srgbClr val="0B1822"/>
                </a:solidFill>
                <a:latin typeface="Arial"/>
                <a:ea typeface="Arial"/>
                <a:cs typeface="Arial"/>
              </a:defRPr>
            </a:lvl6pPr>
            <a:lvl7pPr>
              <a:defRPr sz="1650" b="1">
                <a:solidFill>
                  <a:srgbClr val="0B1822"/>
                </a:solidFill>
                <a:latin typeface="Arial"/>
                <a:ea typeface="Arial"/>
                <a:cs typeface="Arial"/>
              </a:defRPr>
            </a:lvl7pPr>
            <a:lvl8pPr>
              <a:defRPr sz="1650" b="1">
                <a:solidFill>
                  <a:srgbClr val="0B1822"/>
                </a:solidFill>
                <a:latin typeface="Arial"/>
                <a:ea typeface="Arial"/>
                <a:cs typeface="Arial"/>
              </a:defRPr>
            </a:lvl8pPr>
            <a:lvl9pPr>
              <a:defRPr sz="1650" b="1">
                <a:solidFill>
                  <a:srgbClr val="0B1822"/>
                </a:solidFill>
                <a:latin typeface="Arial"/>
                <a:ea typeface="Arial"/>
                <a:cs typeface="Arial"/>
              </a:defRPr>
            </a:lvl9pPr>
          </a:lstStyle>
          <a:p xmlns:a="http://schemas.openxmlformats.org/drawingml/2006/main">
            <a:pPr>
              <a:defRPr sz="1650" b="1">
                <a:solidFill>
                  <a:srgbClr val="0B1822"/>
                </a:solidFill>
                <a:latin typeface="Arial"/>
                <a:ea typeface="Arial"/>
                <a:cs typeface="Arial"/>
              </a:defRPr>
            </a:pPr>
            <a:r>
              <a:rPr sz="1650" b="1">
                <a:solidFill>
                  <a:srgbClr val="0B1822"/>
                </a:solidFill>
                <a:latin typeface="Arial"/>
                <a:ea typeface="Arial"/>
                <a:cs typeface="Arial"/>
              </a:rPr>
              <a:t>MONDAY ACTION: Pick one high-risk namespace, map its dependencies, and test Q1/Q2 before an incident.</a:t>
            </a:r>
          </a:p>
        </p:txBody>
      </p:sp>
      <p:sp>
        <p:nvSpPr>
          <p:cNvPr id="7" name="ISC2 SECURITY CONGRESS 2026 / SC2632">
            <a:extLst xmlns:a="http://schemas.openxmlformats.org/drawingml/2006/main">
              <a:ext uri="{FF2B5EF4-FFF2-40B4-BE49-F238E27FC236}">
                <a16:creationId xmlns:a16="http://schemas.microsoft.com/office/drawing/2014/main" id="{C485FF26-024E-4265-89FA-A46E9857EA88}"/>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8" name="32">
            <a:extLst xmlns:a="http://schemas.openxmlformats.org/drawingml/2006/main">
              <a:ext uri="{FF2B5EF4-FFF2-40B4-BE49-F238E27FC236}">
                <a16:creationId xmlns:a16="http://schemas.microsoft.com/office/drawing/2014/main" id="{42B8C27B-7C44-47F8-B68C-CA6F20141900}"/>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32</a:t>
            </a:r>
          </a:p>
        </p:txBody>
      </p:sp>
    </p:spTree>
    <p:extLst>
      <p:ext uri="{BB962C8B-B14F-4D97-AF65-F5344CB8AC3E}">
        <p14:creationId xmlns:p14="http://schemas.microsoft.com/office/powerpoint/2010/main" val="630907968"/>
      </p:ext>
    </p:extLst>
  </p:cSld>
</p:sld>
</file>

<file path=ppt/slides/slide33.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8" name="BACKUP / SUPPLIED REFERENCE SPEC">
            <a:extLst xmlns:a="http://schemas.openxmlformats.org/drawingml/2006/main">
              <a:ext uri="{FF2B5EF4-FFF2-40B4-BE49-F238E27FC236}">
                <a16:creationId xmlns:a16="http://schemas.microsoft.com/office/drawing/2014/main" id="{18D4F0F8-A231-4DDE-91DD-C9A556A42CB3}"/>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BACKUP / SUPPLIED REFERENCE SPEC</a:t>
            </a:r>
          </a:p>
        </p:txBody>
      </p:sp>
      <p:sp>
        <p:nvSpPr>
          <p:cNvPr id="2" name="Fallback: generated policy excerpt">
            <a:extLst xmlns:a="http://schemas.openxmlformats.org/drawingml/2006/main">
              <a:ext uri="{FF2B5EF4-FFF2-40B4-BE49-F238E27FC236}">
                <a16:creationId xmlns:a16="http://schemas.microsoft.com/office/drawing/2014/main" id="{ED5C1FA9-80E0-41D8-B562-600D2ED23D25}"/>
              </a:ext>
            </a:extLst>
          </p:cNvPr>
          <p:cNvSpPr>
            <a:spLocks xmlns:a="http://schemas.openxmlformats.org/drawingml/2006/main" noGrp="1"/>
          </p:cNvSpPr>
          <p:nvPr>
            <p:ph type="title" idx="0"/>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Fallback: generated policy excerpt</a:t>
            </a:r>
          </a:p>
        </p:txBody>
      </p:sp>
      <p:sp>
        <p:nvSpPr>
          <p:cNvPr id="3" name="kind: ValidatingPolicy&#10;name: deny-privilege-esca">
            <a:extLst xmlns:a="http://schemas.openxmlformats.org/drawingml/2006/main">
              <a:ext uri="{FF2B5EF4-FFF2-40B4-BE49-F238E27FC236}">
                <a16:creationId xmlns:a16="http://schemas.microsoft.com/office/drawing/2014/main" id="{80D26BF1-CF3D-41EC-8CA8-D25E38E6D5C7}"/>
              </a:ext>
            </a:extLst>
          </p:cNvPr>
          <p:cNvSpPr>
            <a:spLocks xmlns:a="http://schemas.openxmlformats.org/drawingml/2006/main" noGrp="1"/>
          </p:cNvSpPr>
          <p:nvPr/>
        </p:nvSpPr>
        <p:spPr>
          <a:xfrm xmlns:a="http://schemas.openxmlformats.org/drawingml/2006/main">
            <a:off x="609600" y="22479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B1822"/>
                </a:solidFill>
                <a:latin typeface="Arial"/>
                <a:ea typeface="Arial"/>
                <a:cs typeface="Arial"/>
              </a:defRPr>
            </a:defPPr>
            <a:lvl1pPr>
              <a:defRPr sz="2250" b="0">
                <a:solidFill>
                  <a:srgbClr val="0B1822"/>
                </a:solidFill>
                <a:latin typeface="Arial"/>
                <a:ea typeface="Arial"/>
                <a:cs typeface="Arial"/>
              </a:defRPr>
            </a:lvl1pPr>
            <a:lvl2pPr>
              <a:defRPr sz="2250" b="0">
                <a:solidFill>
                  <a:srgbClr val="0B1822"/>
                </a:solidFill>
                <a:latin typeface="Arial"/>
                <a:ea typeface="Arial"/>
                <a:cs typeface="Arial"/>
              </a:defRPr>
            </a:lvl2pPr>
            <a:lvl3pPr>
              <a:defRPr sz="2250" b="0">
                <a:solidFill>
                  <a:srgbClr val="0B1822"/>
                </a:solidFill>
                <a:latin typeface="Arial"/>
                <a:ea typeface="Arial"/>
                <a:cs typeface="Arial"/>
              </a:defRPr>
            </a:lvl3pPr>
            <a:lvl4pPr>
              <a:defRPr sz="2250" b="0">
                <a:solidFill>
                  <a:srgbClr val="0B1822"/>
                </a:solidFill>
                <a:latin typeface="Arial"/>
                <a:ea typeface="Arial"/>
                <a:cs typeface="Arial"/>
              </a:defRPr>
            </a:lvl4pPr>
            <a:lvl5pPr>
              <a:defRPr sz="2250" b="0">
                <a:solidFill>
                  <a:srgbClr val="0B1822"/>
                </a:solidFill>
                <a:latin typeface="Arial"/>
                <a:ea typeface="Arial"/>
                <a:cs typeface="Arial"/>
              </a:defRPr>
            </a:lvl5pPr>
            <a:lvl6pPr>
              <a:defRPr sz="2250" b="0">
                <a:solidFill>
                  <a:srgbClr val="0B1822"/>
                </a:solidFill>
                <a:latin typeface="Arial"/>
                <a:ea typeface="Arial"/>
                <a:cs typeface="Arial"/>
              </a:defRPr>
            </a:lvl6pPr>
            <a:lvl7pPr>
              <a:defRPr sz="2250" b="0">
                <a:solidFill>
                  <a:srgbClr val="0B1822"/>
                </a:solidFill>
                <a:latin typeface="Arial"/>
                <a:ea typeface="Arial"/>
                <a:cs typeface="Arial"/>
              </a:defRPr>
            </a:lvl7pPr>
            <a:lvl8pPr>
              <a:defRPr sz="2250" b="0">
                <a:solidFill>
                  <a:srgbClr val="0B1822"/>
                </a:solidFill>
                <a:latin typeface="Arial"/>
                <a:ea typeface="Arial"/>
                <a:cs typeface="Arial"/>
              </a:defRPr>
            </a:lvl8pPr>
            <a:lvl9pPr>
              <a:defRPr sz="2250" b="0">
                <a:solidFill>
                  <a:srgbClr val="0B1822"/>
                </a:solidFill>
                <a:latin typeface="Arial"/>
                <a:ea typeface="Arial"/>
                <a:cs typeface="Arial"/>
              </a:defRPr>
            </a:lvl9pPr>
          </a:lstStyle>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kind: ValidatingPolicy</a:t>
            </a:r>
          </a:p>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name: deny-privilege-escalation</a:t>
            </a:r>
          </a:p>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validationActions: [Deny]</a:t>
            </a:r>
          </a:p>
        </p:txBody>
      </p:sp>
      <p:sp>
        <p:nvSpPr>
          <p:cNvPr id="4" name="The policy rejects privileged containers.&#10;Human ">
            <a:extLst xmlns:a="http://schemas.openxmlformats.org/drawingml/2006/main">
              <a:ext uri="{FF2B5EF4-FFF2-40B4-BE49-F238E27FC236}">
                <a16:creationId xmlns:a16="http://schemas.microsoft.com/office/drawing/2014/main" id="{1C4375AF-161A-44A9-86D1-16C64F13AC84}"/>
              </a:ext>
            </a:extLst>
          </p:cNvPr>
          <p:cNvSpPr>
            <a:spLocks xmlns:a="http://schemas.openxmlformats.org/drawingml/2006/main" noGrp="1"/>
          </p:cNvSpPr>
          <p:nvPr/>
        </p:nvSpPr>
        <p:spPr>
          <a:xfrm xmlns:a="http://schemas.openxmlformats.org/drawingml/2006/main">
            <a:off x="609600" y="417195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B1822"/>
                </a:solidFill>
                <a:latin typeface="Arial"/>
                <a:ea typeface="Arial"/>
                <a:cs typeface="Arial"/>
              </a:defRPr>
            </a:defPPr>
            <a:lvl1pPr>
              <a:defRPr sz="2250" b="0">
                <a:solidFill>
                  <a:srgbClr val="0B1822"/>
                </a:solidFill>
                <a:latin typeface="Arial"/>
                <a:ea typeface="Arial"/>
                <a:cs typeface="Arial"/>
              </a:defRPr>
            </a:lvl1pPr>
            <a:lvl2pPr>
              <a:defRPr sz="2250" b="0">
                <a:solidFill>
                  <a:srgbClr val="0B1822"/>
                </a:solidFill>
                <a:latin typeface="Arial"/>
                <a:ea typeface="Arial"/>
                <a:cs typeface="Arial"/>
              </a:defRPr>
            </a:lvl2pPr>
            <a:lvl3pPr>
              <a:defRPr sz="2250" b="0">
                <a:solidFill>
                  <a:srgbClr val="0B1822"/>
                </a:solidFill>
                <a:latin typeface="Arial"/>
                <a:ea typeface="Arial"/>
                <a:cs typeface="Arial"/>
              </a:defRPr>
            </a:lvl3pPr>
            <a:lvl4pPr>
              <a:defRPr sz="2250" b="0">
                <a:solidFill>
                  <a:srgbClr val="0B1822"/>
                </a:solidFill>
                <a:latin typeface="Arial"/>
                <a:ea typeface="Arial"/>
                <a:cs typeface="Arial"/>
              </a:defRPr>
            </a:lvl4pPr>
            <a:lvl5pPr>
              <a:defRPr sz="2250" b="0">
                <a:solidFill>
                  <a:srgbClr val="0B1822"/>
                </a:solidFill>
                <a:latin typeface="Arial"/>
                <a:ea typeface="Arial"/>
                <a:cs typeface="Arial"/>
              </a:defRPr>
            </a:lvl5pPr>
            <a:lvl6pPr>
              <a:defRPr sz="2250" b="0">
                <a:solidFill>
                  <a:srgbClr val="0B1822"/>
                </a:solidFill>
                <a:latin typeface="Arial"/>
                <a:ea typeface="Arial"/>
                <a:cs typeface="Arial"/>
              </a:defRPr>
            </a:lvl6pPr>
            <a:lvl7pPr>
              <a:defRPr sz="2250" b="0">
                <a:solidFill>
                  <a:srgbClr val="0B1822"/>
                </a:solidFill>
                <a:latin typeface="Arial"/>
                <a:ea typeface="Arial"/>
                <a:cs typeface="Arial"/>
              </a:defRPr>
            </a:lvl7pPr>
            <a:lvl8pPr>
              <a:defRPr sz="2250" b="0">
                <a:solidFill>
                  <a:srgbClr val="0B1822"/>
                </a:solidFill>
                <a:latin typeface="Arial"/>
                <a:ea typeface="Arial"/>
                <a:cs typeface="Arial"/>
              </a:defRPr>
            </a:lvl8pPr>
            <a:lvl9pPr>
              <a:defRPr sz="2250" b="0">
                <a:solidFill>
                  <a:srgbClr val="0B1822"/>
                </a:solidFill>
                <a:latin typeface="Arial"/>
                <a:ea typeface="Arial"/>
                <a:cs typeface="Arial"/>
              </a:defRPr>
            </a:lvl9pPr>
          </a:lstStyle>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The policy rejects privileged containers.</a:t>
            </a:r>
          </a:p>
          <a:p xmlns:a="http://schemas.openxmlformats.org/drawingml/2006/main">
            <a:pPr>
              <a:defRPr sz="2250" b="0">
                <a:solidFill>
                  <a:srgbClr val="0B1822"/>
                </a:solidFill>
                <a:latin typeface="Arial"/>
                <a:ea typeface="Arial"/>
                <a:cs typeface="Arial"/>
              </a:defRPr>
            </a:pPr>
            <a:r>
              <a:rPr sz="2250" b="0">
                <a:solidFill>
                  <a:srgbClr val="0B1822"/>
                </a:solidFill>
                <a:latin typeface="Arial"/>
                <a:ea typeface="Arial"/>
                <a:cs typeface="Arial"/>
              </a:rPr>
              <a:t>Human review approves the generated file before deployment.</a:t>
            </a:r>
          </a:p>
        </p:txBody>
      </p:sp>
      <p:sp>
        <p:nvSpPr>
          <p:cNvPr id="5" name="Provenance: model = none (spec supplied)">
            <a:extLst xmlns:a="http://schemas.openxmlformats.org/drawingml/2006/main">
              <a:ext uri="{FF2B5EF4-FFF2-40B4-BE49-F238E27FC236}">
                <a16:creationId xmlns:a16="http://schemas.microsoft.com/office/drawing/2014/main" id="{40BDABEA-A6DC-4158-ACBD-71104AD68828}"/>
              </a:ext>
            </a:extLst>
          </p:cNvPr>
          <p:cNvSpPr>
            <a:spLocks xmlns:a="http://schemas.openxmlformats.org/drawingml/2006/main" noGrp="1"/>
          </p:cNvSpPr>
          <p:nvPr/>
        </p:nvSpPr>
        <p:spPr>
          <a:xfrm xmlns:a="http://schemas.openxmlformats.org/drawingml/2006/main">
            <a:off x="609600" y="56388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87E79"/>
                </a:solidFill>
                <a:latin typeface="Arial"/>
                <a:ea typeface="Arial"/>
                <a:cs typeface="Arial"/>
              </a:defRPr>
            </a:defPPr>
            <a:lvl1pPr>
              <a:defRPr sz="1875" b="1">
                <a:solidFill>
                  <a:srgbClr val="087E79"/>
                </a:solidFill>
                <a:latin typeface="Arial"/>
                <a:ea typeface="Arial"/>
                <a:cs typeface="Arial"/>
              </a:defRPr>
            </a:lvl1pPr>
            <a:lvl2pPr>
              <a:defRPr sz="1875" b="1">
                <a:solidFill>
                  <a:srgbClr val="087E79"/>
                </a:solidFill>
                <a:latin typeface="Arial"/>
                <a:ea typeface="Arial"/>
                <a:cs typeface="Arial"/>
              </a:defRPr>
            </a:lvl2pPr>
            <a:lvl3pPr>
              <a:defRPr sz="1875" b="1">
                <a:solidFill>
                  <a:srgbClr val="087E79"/>
                </a:solidFill>
                <a:latin typeface="Arial"/>
                <a:ea typeface="Arial"/>
                <a:cs typeface="Arial"/>
              </a:defRPr>
            </a:lvl3pPr>
            <a:lvl4pPr>
              <a:defRPr sz="1875" b="1">
                <a:solidFill>
                  <a:srgbClr val="087E79"/>
                </a:solidFill>
                <a:latin typeface="Arial"/>
                <a:ea typeface="Arial"/>
                <a:cs typeface="Arial"/>
              </a:defRPr>
            </a:lvl4pPr>
            <a:lvl5pPr>
              <a:defRPr sz="1875" b="1">
                <a:solidFill>
                  <a:srgbClr val="087E79"/>
                </a:solidFill>
                <a:latin typeface="Arial"/>
                <a:ea typeface="Arial"/>
                <a:cs typeface="Arial"/>
              </a:defRPr>
            </a:lvl5pPr>
            <a:lvl6pPr>
              <a:defRPr sz="1875" b="1">
                <a:solidFill>
                  <a:srgbClr val="087E79"/>
                </a:solidFill>
                <a:latin typeface="Arial"/>
                <a:ea typeface="Arial"/>
                <a:cs typeface="Arial"/>
              </a:defRPr>
            </a:lvl6pPr>
            <a:lvl7pPr>
              <a:defRPr sz="1875" b="1">
                <a:solidFill>
                  <a:srgbClr val="087E79"/>
                </a:solidFill>
                <a:latin typeface="Arial"/>
                <a:ea typeface="Arial"/>
                <a:cs typeface="Arial"/>
              </a:defRPr>
            </a:lvl7pPr>
            <a:lvl8pPr>
              <a:defRPr sz="1875" b="1">
                <a:solidFill>
                  <a:srgbClr val="087E79"/>
                </a:solidFill>
                <a:latin typeface="Arial"/>
                <a:ea typeface="Arial"/>
                <a:cs typeface="Arial"/>
              </a:defRPr>
            </a:lvl8pPr>
            <a:lvl9pPr>
              <a:defRPr sz="1875" b="1">
                <a:solidFill>
                  <a:srgbClr val="087E79"/>
                </a:solidFill>
                <a:latin typeface="Arial"/>
                <a:ea typeface="Arial"/>
                <a:cs typeface="Arial"/>
              </a:defRPr>
            </a:lvl9pPr>
          </a:lstStyle>
          <a:p xmlns:a="http://schemas.openxmlformats.org/drawingml/2006/main">
            <a:pPr>
              <a:defRPr sz="1875" b="1">
                <a:solidFill>
                  <a:srgbClr val="087E79"/>
                </a:solidFill>
                <a:latin typeface="Arial"/>
                <a:ea typeface="Arial"/>
                <a:cs typeface="Arial"/>
              </a:defRPr>
            </a:pPr>
            <a:r>
              <a:rPr sz="1875" b="1">
                <a:solidFill>
                  <a:srgbClr val="087E79"/>
                </a:solidFill>
                <a:latin typeface="Arial"/>
                <a:ea typeface="Arial"/>
                <a:cs typeface="Arial"/>
              </a:rPr>
              <a:t>Provenance: model = none (spec supplied)</a:t>
            </a:r>
          </a:p>
        </p:txBody>
      </p:sp>
      <p:sp>
        <p:nvSpPr>
          <p:cNvPr id="6" name="ISC2 SECURITY CONGRESS 2026 / SC2632">
            <a:extLst xmlns:a="http://schemas.openxmlformats.org/drawingml/2006/main">
              <a:ext uri="{FF2B5EF4-FFF2-40B4-BE49-F238E27FC236}">
                <a16:creationId xmlns:a16="http://schemas.microsoft.com/office/drawing/2014/main" id="{2B8ACA99-D3F4-4656-B0A2-4412E17A7A3B}"/>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7" name="33">
            <a:extLst xmlns:a="http://schemas.openxmlformats.org/drawingml/2006/main">
              <a:ext uri="{FF2B5EF4-FFF2-40B4-BE49-F238E27FC236}">
                <a16:creationId xmlns:a16="http://schemas.microsoft.com/office/drawing/2014/main" id="{AAA6BCD5-24BC-4854-8708-8B10428260F7}"/>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33</a:t>
            </a:r>
          </a:p>
        </p:txBody>
      </p:sp>
    </p:spTree>
    <p:extLst>
      <p:ext uri="{BB962C8B-B14F-4D97-AF65-F5344CB8AC3E}">
        <p14:creationId xmlns:p14="http://schemas.microsoft.com/office/powerpoint/2010/main" val="432858273"/>
      </p:ext>
    </p:extLst>
  </p:cSld>
</p:sld>
</file>

<file path=ppt/slides/slide34.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6" name="BACKUP / OFFLINE FIXTURE ADMISSION RESULTS">
            <a:extLst xmlns:a="http://schemas.openxmlformats.org/drawingml/2006/main">
              <a:ext uri="{FF2B5EF4-FFF2-40B4-BE49-F238E27FC236}">
                <a16:creationId xmlns:a16="http://schemas.microsoft.com/office/drawing/2014/main" id="{67926100-10C0-4DA5-96FA-016D07AEA39B}"/>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BACKUP / OFFLINE FIXTURE ADMISSION RESULTS</a:t>
            </a:r>
          </a:p>
        </p:txBody>
      </p:sp>
      <p:sp>
        <p:nvSpPr>
          <p:cNvPr id="2" name="Fallback: fixture admission outcomes">
            <a:extLst xmlns:a="http://schemas.openxmlformats.org/drawingml/2006/main">
              <a:ext uri="{FF2B5EF4-FFF2-40B4-BE49-F238E27FC236}">
                <a16:creationId xmlns:a16="http://schemas.microsoft.com/office/drawing/2014/main" id="{3F6D099D-D5FD-47CD-AAB8-EE54599E94DD}"/>
              </a:ext>
            </a:extLst>
          </p:cNvPr>
          <p:cNvSpPr>
            <a:spLocks xmlns:a="http://schemas.openxmlformats.org/drawingml/2006/main" noGrp="1"/>
          </p:cNvSpPr>
          <p:nvPr>
            <p:ph type="title" idx="0"/>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Fallback: fixture admission outcomes</a:t>
            </a:r>
          </a:p>
        </p:txBody>
      </p:sp>
      <p:graphicFrame>
        <p:nvGraphicFramePr>
          <p:cNvPr id="3" name="">
            <a:extLst xmlns:a="http://schemas.openxmlformats.org/drawingml/2006/main">
              <a:ext uri="{FF2B5EF4-FFF2-40B4-BE49-F238E27FC236}">
                <a16:creationId xmlns:a16="http://schemas.microsoft.com/office/drawing/2014/main" id="{1D96924F-ABD5-40B0-B63D-11FA5F44ABAC}"/>
              </a:ext>
            </a:extLst>
          </p:cNvPr>
          <p:cNvGraphicFramePr/>
          <p:nvPr/>
        </p:nvGraphicFramePr>
        <p:xfrm>
          <a:off xmlns:a="http://schemas.openxmlformats.org/drawingml/2006/main" x="609600" y="2305050"/>
          <a:ext xmlns:a="http://schemas.openxmlformats.org/drawingml/2006/main" cx="10953750" cy="3381375"/>
        </p:xfrm>
        <a:graphic xmlns:a="http://schemas.openxmlformats.org/drawingml/2006/main">
          <a:graphicData uri="http://schemas.openxmlformats.org/drawingml/2006/table">
            <a:tbl>
              <a:tblPr firstRow="1" bandRow="1"/>
              <a:tblGrid>
                <a:gridCol w="3714750"/>
                <a:gridCol w="7239000"/>
              </a:tblGrid>
              <a:tr h="676275">
                <a:tc>
                  <a:txBody>
                    <a:bodyPr/>
                    <a:lstStyle/>
                    <a:p>
                      <a:r>
                        <a:rPr sz="2025" b="1">
                          <a:solidFill>
                            <a:srgbClr val="F2EFE7"/>
                          </a:solidFill>
                          <a:latin typeface="Arial"/>
                          <a:ea typeface="Arial"/>
                          <a:cs typeface="Arial"/>
                        </a:rPr>
                        <a:t>Workload</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2025" b="1">
                          <a:solidFill>
                            <a:srgbClr val="F2EFE7"/>
                          </a:solidFill>
                          <a:latin typeface="Arial"/>
                          <a:ea typeface="Arial"/>
                          <a:cs typeface="Arial"/>
                        </a:rPr>
                        <a:t>Policy result</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76275">
                <a:tc>
                  <a:txBody>
                    <a:bodyPr/>
                    <a:lstStyle/>
                    <a:p>
                      <a:r>
                        <a:rPr sz="2025" b="1">
                          <a:solidFill>
                            <a:srgbClr val="087E79"/>
                          </a:solidFill>
                          <a:latin typeface="Arial"/>
                          <a:ea typeface="Arial"/>
                          <a:cs typeface="Arial"/>
                        </a:rPr>
                        <a:t>payments-api</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Passes privilege and egress checks</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2025" b="1">
                          <a:solidFill>
                            <a:srgbClr val="087E79"/>
                          </a:solidFill>
                          <a:latin typeface="Arial"/>
                          <a:ea typeface="Arial"/>
                          <a:cs typeface="Arial"/>
                        </a:rPr>
                        <a:t>backup-job</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Would block under the egress-profile policy</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2025" b="1">
                          <a:solidFill>
                            <a:srgbClr val="087E79"/>
                          </a:solidFill>
                          <a:latin typeface="Arial"/>
                          <a:ea typeface="Arial"/>
                          <a:cs typeface="Arial"/>
                        </a:rPr>
                        <a:t>report-runner</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Registry violation at Audit, admitted</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2025" b="1">
                          <a:solidFill>
                            <a:srgbClr val="087E79"/>
                          </a:solidFill>
                          <a:latin typeface="Arial"/>
                          <a:ea typeface="Arial"/>
                          <a:cs typeface="Arial"/>
                        </a:rPr>
                        <a:t>backup-job with exception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2025" b="0">
                          <a:solidFill>
                            <a:srgbClr val="0B1822"/>
                          </a:solidFill>
                          <a:latin typeface="Arial"/>
                          <a:ea typeface="Arial"/>
                          <a:cs typeface="Arial"/>
                        </a:rPr>
                        <a:t>Egress check skips the matched exception</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ISC2 SECURITY CONGRESS 2026 / SC2632">
            <a:extLst xmlns:a="http://schemas.openxmlformats.org/drawingml/2006/main">
              <a:ext uri="{FF2B5EF4-FFF2-40B4-BE49-F238E27FC236}">
                <a16:creationId xmlns:a16="http://schemas.microsoft.com/office/drawing/2014/main" id="{ABF6DAE4-B521-4FEB-A7C7-E7E18BB7A20B}"/>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5" name="34">
            <a:extLst xmlns:a="http://schemas.openxmlformats.org/drawingml/2006/main">
              <a:ext uri="{FF2B5EF4-FFF2-40B4-BE49-F238E27FC236}">
                <a16:creationId xmlns:a16="http://schemas.microsoft.com/office/drawing/2014/main" id="{2C600CC0-ABA9-4382-A439-AF2A4B242BA9}"/>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34</a:t>
            </a:r>
          </a:p>
        </p:txBody>
      </p:sp>
    </p:spTree>
    <p:extLst>
      <p:ext uri="{BB962C8B-B14F-4D97-AF65-F5344CB8AC3E}">
        <p14:creationId xmlns:p14="http://schemas.microsoft.com/office/powerpoint/2010/main" val="936158998"/>
      </p:ext>
    </p:extLst>
  </p:cSld>
</p:sld>
</file>

<file path=ppt/slides/slide35.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BACKUP / REAL LAB / SYNTHETIC SECRETS">
            <a:extLst xmlns:a="http://schemas.openxmlformats.org/drawingml/2006/main">
              <a:ext uri="{FF2B5EF4-FFF2-40B4-BE49-F238E27FC236}">
                <a16:creationId xmlns:a16="http://schemas.microsoft.com/office/drawing/2014/main" id="{7C862502-5CEC-416F-8EBF-151C679BC68A}"/>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BACKUP / REAL LAB / SYNTHETIC SECRETS</a:t>
            </a:r>
          </a:p>
        </p:txBody>
      </p:sp>
      <p:sp>
        <p:nvSpPr>
          <p:cNvPr id="2" name="Case D: copied credential response">
            <a:extLst xmlns:a="http://schemas.openxmlformats.org/drawingml/2006/main">
              <a:ext uri="{FF2B5EF4-FFF2-40B4-BE49-F238E27FC236}">
                <a16:creationId xmlns:a16="http://schemas.microsoft.com/office/drawing/2014/main" id="{DB42E5AE-627D-42B1-B240-50E46C5347ED}"/>
              </a:ext>
            </a:extLst>
          </p:cNvPr>
          <p:cNvSpPr>
            <a:spLocks xmlns:a="http://schemas.openxmlformats.org/drawingml/2006/main" noGrp="1"/>
          </p:cNvSpPr>
          <p:nvPr>
            <p:ph type="title" idx="0"/>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Case D: copied credential response</a:t>
            </a:r>
          </a:p>
        </p:txBody>
      </p:sp>
      <p:graphicFrame>
        <p:nvGraphicFramePr>
          <p:cNvPr id="3" name="">
            <a:extLst xmlns:a="http://schemas.openxmlformats.org/drawingml/2006/main">
              <a:ext uri="{FF2B5EF4-FFF2-40B4-BE49-F238E27FC236}">
                <a16:creationId xmlns:a16="http://schemas.microsoft.com/office/drawing/2014/main" id="{BD05CDA7-B19A-44C9-AFDB-E430AC1A5848}"/>
              </a:ext>
            </a:extLst>
          </p:cNvPr>
          <p:cNvGraphicFramePr/>
          <p:nvPr/>
        </p:nvGraphicFramePr>
        <p:xfrm>
          <a:off xmlns:a="http://schemas.openxmlformats.org/drawingml/2006/main" x="609600" y="2305050"/>
          <a:ext xmlns:a="http://schemas.openxmlformats.org/drawingml/2006/main" cx="10953750" cy="3238500"/>
        </p:xfrm>
        <a:graphic xmlns:a="http://schemas.openxmlformats.org/drawingml/2006/main">
          <a:graphicData uri="http://schemas.openxmlformats.org/drawingml/2006/table">
            <a:tbl>
              <a:tblPr firstRow="1" bandRow="1"/>
              <a:tblGrid>
                <a:gridCol w="2428875"/>
                <a:gridCol w="4333875"/>
                <a:gridCol w="4191000"/>
              </a:tblGrid>
              <a:tr h="647700">
                <a:tc>
                  <a:txBody>
                    <a:bodyPr/>
                    <a:lstStyle/>
                    <a:p>
                      <a:r>
                        <a:rPr sz="1875" b="1">
                          <a:solidFill>
                            <a:srgbClr val="F2EFE7"/>
                          </a:solidFill>
                          <a:latin typeface="Arial"/>
                          <a:ea typeface="Arial"/>
                          <a:cs typeface="Arial"/>
                        </a:rPr>
                        <a:t>Change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Copied Kubernetes credential</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875" b="1">
                          <a:solidFill>
                            <a:srgbClr val="F2EFE7"/>
                          </a:solidFill>
                          <a:latin typeface="Arial"/>
                          <a:ea typeface="Arial"/>
                          <a:cs typeface="Arial"/>
                        </a:rPr>
                        <a:t>Preserved access</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28650">
                <a:tc>
                  <a:txBody>
                    <a:bodyPr/>
                    <a:lstStyle/>
                    <a:p>
                      <a:r>
                        <a:rPr sz="1875" b="1">
                          <a:solidFill>
                            <a:srgbClr val="087E79"/>
                          </a:solidFill>
                          <a:latin typeface="Arial"/>
                          <a:ea typeface="Arial"/>
                          <a:cs typeface="Arial"/>
                        </a:rPr>
                        <a:t>Broad binding</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Outside Secret GET/LIST: 200</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Named Secret and ConfigMap: 200</a:t>
                      </a:r>
                    </a:p>
                  </a:txBody>
                  <a:tcPr marL="91440" marR="91440" marT="45720" marB="45720">
                    <a:lnR w="19050">
                      <a:solidFill>
                        <a:srgbClr val="F2EFE7"/>
                      </a:solidFill>
                      <a:prstDash val="solid"/>
                    </a:lnR>
                    <a:lnB w="19050">
                      <a:solidFill>
                        <a:srgbClr val="F2EFE7"/>
                      </a:solidFill>
                      <a:prstDash val="solid"/>
                    </a:lnB>
                    <a:solidFill>
                      <a:srgbClr val="F2EFE7"/>
                    </a:solidFill>
                  </a:tcPr>
                </a:tc>
              </a:tr>
              <a:tr h="628650">
                <a:tc>
                  <a:txBody>
                    <a:bodyPr/>
                    <a:lstStyle/>
                    <a:p>
                      <a:r>
                        <a:rPr sz="1875" b="1">
                          <a:solidFill>
                            <a:srgbClr val="087E79"/>
                          </a:solidFill>
                          <a:latin typeface="Arial"/>
                          <a:ea typeface="Arial"/>
                          <a:cs typeface="Arial"/>
                        </a:rPr>
                        <a:t>Pod quarantined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Outside Secret GET/LIST: 200</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Stand-in HTTP health available</a:t>
                      </a:r>
                    </a:p>
                  </a:txBody>
                  <a:tcPr marL="91440" marR="91440" marT="45720" marB="45720">
                    <a:lnR w="19050">
                      <a:solidFill>
                        <a:srgbClr val="F2EFE7"/>
                      </a:solidFill>
                      <a:prstDash val="solid"/>
                    </a:lnR>
                    <a:lnB w="19050">
                      <a:solidFill>
                        <a:srgbClr val="F2EFE7"/>
                      </a:solidFill>
                      <a:prstDash val="solid"/>
                    </a:lnB>
                    <a:solidFill>
                      <a:srgbClr val="F2EFE7"/>
                    </a:solidFill>
                  </a:tcPr>
                </a:tc>
              </a:tr>
              <a:tr h="628650">
                <a:tc>
                  <a:txBody>
                    <a:bodyPr/>
                    <a:lstStyle/>
                    <a:p>
                      <a:r>
                        <a:rPr sz="1875" b="1">
                          <a:solidFill>
                            <a:srgbClr val="087E79"/>
                          </a:solidFill>
                          <a:latin typeface="Arial"/>
                          <a:ea typeface="Arial"/>
                          <a:cs typeface="Arial"/>
                        </a:rPr>
                        <a:t>RBAC narrowed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Outside Secret GET/LIST: 403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Required named GETs: 200</a:t>
                      </a:r>
                    </a:p>
                  </a:txBody>
                  <a:tcPr marL="91440" marR="91440" marT="45720" marB="45720">
                    <a:lnR w="19050">
                      <a:solidFill>
                        <a:srgbClr val="F2EFE7"/>
                      </a:solidFill>
                      <a:prstDash val="solid"/>
                    </a:lnR>
                    <a:lnB w="19050">
                      <a:solidFill>
                        <a:srgbClr val="F2EFE7"/>
                      </a:solidFill>
                      <a:prstDash val="solid"/>
                    </a:lnB>
                    <a:solidFill>
                      <a:srgbClr val="F2EFE7"/>
                    </a:solidFill>
                  </a:tcPr>
                </a:tc>
              </a:tr>
              <a:tr h="704850">
                <a:tc>
                  <a:txBody>
                    <a:bodyPr/>
                    <a:lstStyle/>
                    <a:p>
                      <a:r>
                        <a:rPr sz="1875" b="1">
                          <a:solidFill>
                            <a:srgbClr val="087E79"/>
                          </a:solidFill>
                          <a:latin typeface="Arial"/>
                          <a:ea typeface="Arial"/>
                          <a:cs typeface="Arial"/>
                        </a:rPr>
                        <a:t>Old bound Pod deleted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Old credential: 401</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875" b="0">
                          <a:solidFill>
                            <a:srgbClr val="0B1822"/>
                          </a:solidFill>
                          <a:latin typeface="Arial"/>
                          <a:ea typeface="Arial"/>
                          <a:cs typeface="Arial"/>
                        </a:rPr>
                        <a:t>Replacement credential: 200</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Stand-in health only. External application-key r">
            <a:extLst xmlns:a="http://schemas.openxmlformats.org/drawingml/2006/main">
              <a:ext uri="{FF2B5EF4-FFF2-40B4-BE49-F238E27FC236}">
                <a16:creationId xmlns:a16="http://schemas.microsoft.com/office/drawing/2014/main" id="{0BA74971-5462-4FA6-95CF-EA1FA00261FE}"/>
              </a:ext>
            </a:extLst>
          </p:cNvPr>
          <p:cNvSpPr>
            <a:spLocks xmlns:a="http://schemas.openxmlformats.org/drawingml/2006/main" noGrp="1"/>
          </p:cNvSpPr>
          <p:nvPr/>
        </p:nvSpPr>
        <p:spPr>
          <a:xfrm xmlns:a="http://schemas.openxmlformats.org/drawingml/2006/main">
            <a:off x="609600" y="58483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0717A"/>
                </a:solidFill>
                <a:latin typeface="Arial"/>
                <a:ea typeface="Arial"/>
                <a:cs typeface="Arial"/>
              </a:defRPr>
            </a:defPPr>
            <a:lvl1pPr>
              <a:defRPr sz="1650" b="0">
                <a:solidFill>
                  <a:srgbClr val="60717A"/>
                </a:solidFill>
                <a:latin typeface="Arial"/>
                <a:ea typeface="Arial"/>
                <a:cs typeface="Arial"/>
              </a:defRPr>
            </a:lvl1pPr>
            <a:lvl2pPr>
              <a:defRPr sz="1650" b="0">
                <a:solidFill>
                  <a:srgbClr val="60717A"/>
                </a:solidFill>
                <a:latin typeface="Arial"/>
                <a:ea typeface="Arial"/>
                <a:cs typeface="Arial"/>
              </a:defRPr>
            </a:lvl2pPr>
            <a:lvl3pPr>
              <a:defRPr sz="1650" b="0">
                <a:solidFill>
                  <a:srgbClr val="60717A"/>
                </a:solidFill>
                <a:latin typeface="Arial"/>
                <a:ea typeface="Arial"/>
                <a:cs typeface="Arial"/>
              </a:defRPr>
            </a:lvl3pPr>
            <a:lvl4pPr>
              <a:defRPr sz="1650" b="0">
                <a:solidFill>
                  <a:srgbClr val="60717A"/>
                </a:solidFill>
                <a:latin typeface="Arial"/>
                <a:ea typeface="Arial"/>
                <a:cs typeface="Arial"/>
              </a:defRPr>
            </a:lvl4pPr>
            <a:lvl5pPr>
              <a:defRPr sz="1650" b="0">
                <a:solidFill>
                  <a:srgbClr val="60717A"/>
                </a:solidFill>
                <a:latin typeface="Arial"/>
                <a:ea typeface="Arial"/>
                <a:cs typeface="Arial"/>
              </a:defRPr>
            </a:lvl5pPr>
            <a:lvl6pPr>
              <a:defRPr sz="1650" b="0">
                <a:solidFill>
                  <a:srgbClr val="60717A"/>
                </a:solidFill>
                <a:latin typeface="Arial"/>
                <a:ea typeface="Arial"/>
                <a:cs typeface="Arial"/>
              </a:defRPr>
            </a:lvl6pPr>
            <a:lvl7pPr>
              <a:defRPr sz="1650" b="0">
                <a:solidFill>
                  <a:srgbClr val="60717A"/>
                </a:solidFill>
                <a:latin typeface="Arial"/>
                <a:ea typeface="Arial"/>
                <a:cs typeface="Arial"/>
              </a:defRPr>
            </a:lvl7pPr>
            <a:lvl8pPr>
              <a:defRPr sz="1650" b="0">
                <a:solidFill>
                  <a:srgbClr val="60717A"/>
                </a:solidFill>
                <a:latin typeface="Arial"/>
                <a:ea typeface="Arial"/>
                <a:cs typeface="Arial"/>
              </a:defRPr>
            </a:lvl8pPr>
            <a:lvl9pPr>
              <a:defRPr sz="1650" b="0">
                <a:solidFill>
                  <a:srgbClr val="60717A"/>
                </a:solidFill>
                <a:latin typeface="Arial"/>
                <a:ea typeface="Arial"/>
                <a:cs typeface="Arial"/>
              </a:defRPr>
            </a:lvl9pPr>
          </a:lstStyle>
          <a:p xmlns:a="http://schemas.openxmlformats.org/drawingml/2006/main">
            <a:pPr>
              <a:defRPr sz="1650" b="0">
                <a:solidFill>
                  <a:srgbClr val="60717A"/>
                </a:solidFill>
                <a:latin typeface="Arial"/>
                <a:ea typeface="Arial"/>
                <a:cs typeface="Arial"/>
              </a:defRPr>
            </a:pPr>
            <a:r>
              <a:rPr sz="1650" b="0">
                <a:solidFill>
                  <a:srgbClr val="60717A"/>
                </a:solidFill>
                <a:latin typeface="Arial"/>
                <a:ea typeface="Arial"/>
                <a:cs typeface="Arial"/>
              </a:rPr>
              <a:t>Stand-in health only. External application-key rotation remains required.</a:t>
            </a:r>
          </a:p>
        </p:txBody>
      </p:sp>
      <p:sp>
        <p:nvSpPr>
          <p:cNvPr id="5" name="ISC2 SECURITY CONGRESS 2026 / SC2632">
            <a:extLst xmlns:a="http://schemas.openxmlformats.org/drawingml/2006/main">
              <a:ext uri="{FF2B5EF4-FFF2-40B4-BE49-F238E27FC236}">
                <a16:creationId xmlns:a16="http://schemas.microsoft.com/office/drawing/2014/main" id="{C21CBE01-27EE-4E57-8057-50B0C2C0E4D2}"/>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35">
            <a:extLst xmlns:a="http://schemas.openxmlformats.org/drawingml/2006/main">
              <a:ext uri="{FF2B5EF4-FFF2-40B4-BE49-F238E27FC236}">
                <a16:creationId xmlns:a16="http://schemas.microsoft.com/office/drawing/2014/main" id="{42EA82E9-8432-46DD-A201-AEDE6642804D}"/>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35</a:t>
            </a:r>
          </a:p>
        </p:txBody>
      </p:sp>
    </p:spTree>
    <p:extLst>
      <p:ext uri="{BB962C8B-B14F-4D97-AF65-F5344CB8AC3E}">
        <p14:creationId xmlns:p14="http://schemas.microsoft.com/office/powerpoint/2010/main" val="889691701"/>
      </p:ext>
    </p:extLst>
  </p:cSld>
</p:sld>
</file>

<file path=ppt/slides/slide36.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BACKUP / OCTOBER 19 SYNTHETIC RETRAIN">
            <a:extLst xmlns:a="http://schemas.openxmlformats.org/drawingml/2006/main">
              <a:ext uri="{FF2B5EF4-FFF2-40B4-BE49-F238E27FC236}">
                <a16:creationId xmlns:a16="http://schemas.microsoft.com/office/drawing/2014/main" id="{52386104-D1E7-4579-B86B-69C09162930E}"/>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BACKUP / OCTOBER 19 SYNTHETIC RETRAIN</a:t>
            </a:r>
          </a:p>
        </p:txBody>
      </p:sp>
      <p:sp>
        <p:nvSpPr>
          <p:cNvPr id="2" name="System1 training fit vs. task performance">
            <a:extLst xmlns:a="http://schemas.openxmlformats.org/drawingml/2006/main">
              <a:ext uri="{FF2B5EF4-FFF2-40B4-BE49-F238E27FC236}">
                <a16:creationId xmlns:a16="http://schemas.microsoft.com/office/drawing/2014/main" id="{B0811DE9-B929-4958-8311-CD69F82D4C28}"/>
              </a:ext>
            </a:extLst>
          </p:cNvPr>
          <p:cNvSpPr>
            <a:spLocks xmlns:a="http://schemas.openxmlformats.org/drawingml/2006/main" noGrp="1"/>
          </p:cNvSpPr>
          <p:nvPr>
            <p:ph type="title" idx="0"/>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System1 training fit vs. task performance</a:t>
            </a:r>
          </a:p>
        </p:txBody>
      </p:sp>
      <p:graphicFrame>
        <p:nvGraphicFramePr>
          <p:cNvPr id="3" name="">
            <a:extLst xmlns:a="http://schemas.openxmlformats.org/drawingml/2006/main">
              <a:ext uri="{FF2B5EF4-FFF2-40B4-BE49-F238E27FC236}">
                <a16:creationId xmlns:a16="http://schemas.microsoft.com/office/drawing/2014/main" id="{02EA1777-55F2-41AE-A91E-566F9944B348}"/>
              </a:ext>
            </a:extLst>
          </p:cNvPr>
          <p:cNvGraphicFramePr/>
          <p:nvPr/>
        </p:nvGraphicFramePr>
        <p:xfrm>
          <a:off xmlns:a="http://schemas.openxmlformats.org/drawingml/2006/main" x="609600" y="2305050"/>
          <a:ext xmlns:a="http://schemas.openxmlformats.org/drawingml/2006/main" cx="10953750" cy="2857500"/>
        </p:xfrm>
        <a:graphic xmlns:a="http://schemas.openxmlformats.org/drawingml/2006/main">
          <a:graphicData uri="http://schemas.openxmlformats.org/drawingml/2006/table">
            <a:tbl>
              <a:tblPr firstRow="1" bandRow="1"/>
              <a:tblGrid>
                <a:gridCol w="2571750"/>
                <a:gridCol w="4953000"/>
                <a:gridCol w="3429000"/>
              </a:tblGrid>
              <a:tr h="495300">
                <a:tc>
                  <a:txBody>
                    <a:bodyPr/>
                    <a:lstStyle/>
                    <a:p>
                      <a:r>
                        <a:rPr sz="1575" b="1">
                          <a:solidFill>
                            <a:srgbClr val="F2EFE7"/>
                          </a:solidFill>
                          <a:latin typeface="Arial"/>
                          <a:ea typeface="Arial"/>
                          <a:cs typeface="Arial"/>
                        </a:rPr>
                        <a:t>Evidence</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575" b="1">
                          <a:solidFill>
                            <a:srgbClr val="F2EFE7"/>
                          </a:solidFill>
                          <a:latin typeface="Arial"/>
                          <a:ea typeface="Arial"/>
                          <a:cs typeface="Arial"/>
                        </a:rPr>
                        <a:t>Result</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575" b="1">
                          <a:solidFill>
                            <a:srgbClr val="F2EFE7"/>
                          </a:solidFill>
                          <a:latin typeface="Arial"/>
                          <a:ea typeface="Arial"/>
                          <a:cs typeface="Arial"/>
                        </a:rPr>
                        <a:t>Interpretation</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28650">
                <a:tc>
                  <a:txBody>
                    <a:bodyPr/>
                    <a:lstStyle/>
                    <a:p>
                      <a:r>
                        <a:rPr sz="1575" b="1">
                          <a:solidFill>
                            <a:srgbClr val="087E79"/>
                          </a:solidFill>
                          <a:latin typeface="Arial"/>
                          <a:ea typeface="Arial"/>
                          <a:cs typeface="Arial"/>
                        </a:rPr>
                        <a:t>Training fit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75" b="0">
                          <a:solidFill>
                            <a:srgbClr val="0B1822"/>
                          </a:solidFill>
                          <a:latin typeface="Arial"/>
                          <a:ea typeface="Arial"/>
                          <a:cs typeface="Arial"/>
                        </a:rPr>
                        <a:t>99.69% accuracy; 99.66% minimum class recall on 1,310 assessments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75" b="0">
                          <a:solidFill>
                            <a:srgbClr val="0B1822"/>
                          </a:solidFill>
                          <a:latin typeface="Arial"/>
                          <a:ea typeface="Arial"/>
                          <a:cs typeface="Arial"/>
                        </a:rPr>
                        <a:t>Fit gate passed</a:t>
                      </a:r>
                    </a:p>
                  </a:txBody>
                  <a:tcPr marL="91440" marR="91440" marT="45720" marB="45720">
                    <a:lnR w="19050">
                      <a:solidFill>
                        <a:srgbClr val="F2EFE7"/>
                      </a:solidFill>
                      <a:prstDash val="solid"/>
                    </a:lnR>
                    <a:lnB w="19050">
                      <a:solidFill>
                        <a:srgbClr val="F2EFE7"/>
                      </a:solidFill>
                      <a:prstDash val="solid"/>
                    </a:lnB>
                    <a:solidFill>
                      <a:srgbClr val="F2EFE7"/>
                    </a:solidFill>
                  </a:tcPr>
                </a:tc>
              </a:tr>
              <a:tr h="552450">
                <a:tc>
                  <a:txBody>
                    <a:bodyPr/>
                    <a:lstStyle/>
                    <a:p>
                      <a:r>
                        <a:rPr sz="1575" b="1">
                          <a:solidFill>
                            <a:srgbClr val="087E79"/>
                          </a:solidFill>
                          <a:latin typeface="Arial"/>
                          <a:ea typeface="Arial"/>
                          <a:cs typeface="Arial"/>
                        </a:rPr>
                        <a:t>Authored holdout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75" b="0">
                          <a:solidFill>
                            <a:srgbClr val="0B1822"/>
                          </a:solidFill>
                          <a:latin typeface="Arial"/>
                          <a:ea typeface="Arial"/>
                          <a:cs typeface="Arial"/>
                        </a:rPr>
                        <a:t>2/15 exact plans; previous Laya also 2/15</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75" b="0">
                          <a:solidFill>
                            <a:srgbClr val="0B1822"/>
                          </a:solidFill>
                          <a:latin typeface="Arial"/>
                          <a:ea typeface="Arial"/>
                          <a:cs typeface="Arial"/>
                        </a:rPr>
                        <a:t>No plan-level gain</a:t>
                      </a:r>
                    </a:p>
                  </a:txBody>
                  <a:tcPr marL="91440" marR="91440" marT="45720" marB="45720">
                    <a:lnR w="19050">
                      <a:solidFill>
                        <a:srgbClr val="F2EFE7"/>
                      </a:solidFill>
                      <a:prstDash val="solid"/>
                    </a:lnR>
                    <a:lnB w="19050">
                      <a:solidFill>
                        <a:srgbClr val="F2EFE7"/>
                      </a:solidFill>
                      <a:prstDash val="solid"/>
                    </a:lnB>
                    <a:solidFill>
                      <a:srgbClr val="F2EFE7"/>
                    </a:solidFill>
                  </a:tcPr>
                </a:tc>
              </a:tr>
              <a:tr h="552450">
                <a:tc>
                  <a:txBody>
                    <a:bodyPr/>
                    <a:lstStyle/>
                    <a:p>
                      <a:r>
                        <a:rPr sz="1575" b="1">
                          <a:solidFill>
                            <a:srgbClr val="087E79"/>
                          </a:solidFill>
                          <a:latin typeface="Arial"/>
                          <a:ea typeface="Arial"/>
                          <a:cs typeface="Arial"/>
                        </a:rPr>
                        <a:t>Saved Claude run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75" b="0">
                          <a:solidFill>
                            <a:srgbClr val="0B1822"/>
                          </a:solidFill>
                          <a:latin typeface="Arial"/>
                          <a:ea typeface="Arial"/>
                          <a:cs typeface="Arial"/>
                        </a:rPr>
                        <a:t>10/15 exact plans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75" b="0">
                          <a:solidFill>
                            <a:srgbClr val="0B1822"/>
                          </a:solidFill>
                          <a:latin typeface="Arial"/>
                          <a:ea typeface="Arial"/>
                          <a:cs typeface="Arial"/>
                        </a:rPr>
                        <a:t>Historical reference; no new API call</a:t>
                      </a:r>
                    </a:p>
                  </a:txBody>
                  <a:tcPr marL="91440" marR="91440" marT="45720" marB="45720">
                    <a:lnR w="19050">
                      <a:solidFill>
                        <a:srgbClr val="F2EFE7"/>
                      </a:solidFill>
                      <a:prstDash val="solid"/>
                    </a:lnR>
                    <a:lnB w="19050">
                      <a:solidFill>
                        <a:srgbClr val="F2EFE7"/>
                      </a:solidFill>
                      <a:prstDash val="solid"/>
                    </a:lnB>
                    <a:solidFill>
                      <a:srgbClr val="F2EFE7"/>
                    </a:solidFill>
                  </a:tcPr>
                </a:tc>
              </a:tr>
              <a:tr h="552450">
                <a:tc>
                  <a:txBody>
                    <a:bodyPr/>
                    <a:lstStyle/>
                    <a:p>
                      <a:r>
                        <a:rPr sz="1575" b="1">
                          <a:solidFill>
                            <a:srgbClr val="087E79"/>
                          </a:solidFill>
                          <a:latin typeface="Arial"/>
                          <a:ea typeface="Arial"/>
                          <a:cs typeface="Arial"/>
                        </a:rPr>
                        <a:t>Evidence limit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75" b="0">
                          <a:solidFill>
                            <a:srgbClr val="0B1822"/>
                          </a:solidFill>
                          <a:latin typeface="Arial"/>
                          <a:ea typeface="Arial"/>
                          <a:cs typeface="Arial"/>
                        </a:rPr>
                        <a:t>15 authored cases; labels not independently reviewed</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75" b="0">
                          <a:solidFill>
                            <a:srgbClr val="0B1822"/>
                          </a:solidFill>
                          <a:latin typeface="Arial"/>
                          <a:ea typeface="Arial"/>
                          <a:cs typeface="Arial"/>
                        </a:rPr>
                        <a:t>Not production validation</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TRAINING FIT IS A GATE, NOT A GENERALIZATION RES">
            <a:extLst xmlns:a="http://schemas.openxmlformats.org/drawingml/2006/main">
              <a:ext uri="{FF2B5EF4-FFF2-40B4-BE49-F238E27FC236}">
                <a16:creationId xmlns:a16="http://schemas.microsoft.com/office/drawing/2014/main" id="{BEB6503F-FF87-4BF6-B1D2-CBBC99959E63}"/>
              </a:ext>
            </a:extLst>
          </p:cNvPr>
          <p:cNvSpPr>
            <a:spLocks xmlns:a="http://schemas.openxmlformats.org/drawingml/2006/main" noGrp="1"/>
          </p:cNvSpPr>
          <p:nvPr/>
        </p:nvSpPr>
        <p:spPr>
          <a:xfrm xmlns:a="http://schemas.openxmlformats.org/drawingml/2006/main">
            <a:off x="609600" y="54864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87E79"/>
                </a:solidFill>
                <a:latin typeface="Arial"/>
                <a:ea typeface="Arial"/>
                <a:cs typeface="Arial"/>
              </a:defRPr>
            </a:defPPr>
            <a:lvl1pPr>
              <a:defRPr sz="1800" b="1">
                <a:solidFill>
                  <a:srgbClr val="087E79"/>
                </a:solidFill>
                <a:latin typeface="Arial"/>
                <a:ea typeface="Arial"/>
                <a:cs typeface="Arial"/>
              </a:defRPr>
            </a:lvl1pPr>
            <a:lvl2pPr>
              <a:defRPr sz="1800" b="1">
                <a:solidFill>
                  <a:srgbClr val="087E79"/>
                </a:solidFill>
                <a:latin typeface="Arial"/>
                <a:ea typeface="Arial"/>
                <a:cs typeface="Arial"/>
              </a:defRPr>
            </a:lvl2pPr>
            <a:lvl3pPr>
              <a:defRPr sz="1800" b="1">
                <a:solidFill>
                  <a:srgbClr val="087E79"/>
                </a:solidFill>
                <a:latin typeface="Arial"/>
                <a:ea typeface="Arial"/>
                <a:cs typeface="Arial"/>
              </a:defRPr>
            </a:lvl3pPr>
            <a:lvl4pPr>
              <a:defRPr sz="1800" b="1">
                <a:solidFill>
                  <a:srgbClr val="087E79"/>
                </a:solidFill>
                <a:latin typeface="Arial"/>
                <a:ea typeface="Arial"/>
                <a:cs typeface="Arial"/>
              </a:defRPr>
            </a:lvl4pPr>
            <a:lvl5pPr>
              <a:defRPr sz="1800" b="1">
                <a:solidFill>
                  <a:srgbClr val="087E79"/>
                </a:solidFill>
                <a:latin typeface="Arial"/>
                <a:ea typeface="Arial"/>
                <a:cs typeface="Arial"/>
              </a:defRPr>
            </a:lvl5pPr>
            <a:lvl6pPr>
              <a:defRPr sz="1800" b="1">
                <a:solidFill>
                  <a:srgbClr val="087E79"/>
                </a:solidFill>
                <a:latin typeface="Arial"/>
                <a:ea typeface="Arial"/>
                <a:cs typeface="Arial"/>
              </a:defRPr>
            </a:lvl6pPr>
            <a:lvl7pPr>
              <a:defRPr sz="1800" b="1">
                <a:solidFill>
                  <a:srgbClr val="087E79"/>
                </a:solidFill>
                <a:latin typeface="Arial"/>
                <a:ea typeface="Arial"/>
                <a:cs typeface="Arial"/>
              </a:defRPr>
            </a:lvl7pPr>
            <a:lvl8pPr>
              <a:defRPr sz="1800" b="1">
                <a:solidFill>
                  <a:srgbClr val="087E79"/>
                </a:solidFill>
                <a:latin typeface="Arial"/>
                <a:ea typeface="Arial"/>
                <a:cs typeface="Arial"/>
              </a:defRPr>
            </a:lvl8pPr>
            <a:lvl9pPr>
              <a:defRPr sz="1800" b="1">
                <a:solidFill>
                  <a:srgbClr val="087E79"/>
                </a:solidFill>
                <a:latin typeface="Arial"/>
                <a:ea typeface="Arial"/>
                <a:cs typeface="Arial"/>
              </a:defRPr>
            </a:lvl9pPr>
          </a:lstStyle>
          <a:p xmlns:a="http://schemas.openxmlformats.org/drawingml/2006/main">
            <a:pPr>
              <a:defRPr sz="1800" b="1">
                <a:solidFill>
                  <a:srgbClr val="087E79"/>
                </a:solidFill>
                <a:latin typeface="Arial"/>
                <a:ea typeface="Arial"/>
                <a:cs typeface="Arial"/>
              </a:defRPr>
            </a:pPr>
            <a:r>
              <a:rPr sz="1800" b="1">
                <a:solidFill>
                  <a:srgbClr val="087E79"/>
                </a:solidFill>
                <a:latin typeface="Arial"/>
                <a:ea typeface="Arial"/>
                <a:cs typeface="Arial"/>
              </a:rPr>
              <a:t>TRAINING FIT IS A GATE, NOT A GENERALIZATION RESULT.</a:t>
            </a:r>
          </a:p>
        </p:txBody>
      </p:sp>
      <p:sp>
        <p:nvSpPr>
          <p:cNvPr id="5" name="ISC2 SECURITY CONGRESS 2026 / SC2632">
            <a:extLst xmlns:a="http://schemas.openxmlformats.org/drawingml/2006/main">
              <a:ext uri="{FF2B5EF4-FFF2-40B4-BE49-F238E27FC236}">
                <a16:creationId xmlns:a16="http://schemas.microsoft.com/office/drawing/2014/main" id="{7A098B0F-424B-43D4-8254-6505F01197DF}"/>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36">
            <a:extLst xmlns:a="http://schemas.openxmlformats.org/drawingml/2006/main">
              <a:ext uri="{FF2B5EF4-FFF2-40B4-BE49-F238E27FC236}">
                <a16:creationId xmlns:a16="http://schemas.microsoft.com/office/drawing/2014/main" id="{46396B97-6B96-4DC3-A914-6B2A7DC79469}"/>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36</a:t>
            </a:r>
          </a:p>
        </p:txBody>
      </p:sp>
    </p:spTree>
    <p:extLst>
      <p:ext uri="{BB962C8B-B14F-4D97-AF65-F5344CB8AC3E}">
        <p14:creationId xmlns:p14="http://schemas.microsoft.com/office/powerpoint/2010/main" val="1387981472"/>
      </p:ext>
    </p:extLst>
  </p:cSld>
</p:sld>
</file>

<file path=ppt/slides/slide37.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BACKUP / COST MODEL BOUNDARIES">
            <a:extLst xmlns:a="http://schemas.openxmlformats.org/drawingml/2006/main">
              <a:ext uri="{FF2B5EF4-FFF2-40B4-BE49-F238E27FC236}">
                <a16:creationId xmlns:a16="http://schemas.microsoft.com/office/drawing/2014/main" id="{44C84F57-EF9C-4793-A3D4-3A2BC7900D24}"/>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BACKUP / COST MODEL BOUNDARIES</a:t>
            </a:r>
          </a:p>
        </p:txBody>
      </p:sp>
      <p:sp>
        <p:nvSpPr>
          <p:cNvPr id="2" name="Operating costs beyond inference">
            <a:extLst xmlns:a="http://schemas.openxmlformats.org/drawingml/2006/main">
              <a:ext uri="{FF2B5EF4-FFF2-40B4-BE49-F238E27FC236}">
                <a16:creationId xmlns:a16="http://schemas.microsoft.com/office/drawing/2014/main" id="{D8DAB1A0-6787-42E2-B7F6-E43F1F3F0649}"/>
              </a:ext>
            </a:extLst>
          </p:cNvPr>
          <p:cNvSpPr>
            <a:spLocks xmlns:a="http://schemas.openxmlformats.org/drawingml/2006/main" noGrp="1"/>
          </p:cNvSpPr>
          <p:nvPr>
            <p:ph type="title" idx="0"/>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Operating costs beyond inference</a:t>
            </a:r>
          </a:p>
        </p:txBody>
      </p:sp>
      <p:graphicFrame>
        <p:nvGraphicFramePr>
          <p:cNvPr id="3" name="">
            <a:extLst xmlns:a="http://schemas.openxmlformats.org/drawingml/2006/main">
              <a:ext uri="{FF2B5EF4-FFF2-40B4-BE49-F238E27FC236}">
                <a16:creationId xmlns:a16="http://schemas.microsoft.com/office/drawing/2014/main" id="{9BBA7E0E-EDDE-40EB-9752-4956035A0E2E}"/>
              </a:ext>
            </a:extLst>
          </p:cNvPr>
          <p:cNvGraphicFramePr/>
          <p:nvPr/>
        </p:nvGraphicFramePr>
        <p:xfrm>
          <a:off xmlns:a="http://schemas.openxmlformats.org/drawingml/2006/main" x="609600" y="2305050"/>
          <a:ext xmlns:a="http://schemas.openxmlformats.org/drawingml/2006/main" cx="10953750" cy="3381375"/>
        </p:xfrm>
        <a:graphic xmlns:a="http://schemas.openxmlformats.org/drawingml/2006/main">
          <a:graphicData uri="http://schemas.openxmlformats.org/drawingml/2006/table">
            <a:tbl>
              <a:tblPr firstRow="1" bandRow="1"/>
              <a:tblGrid>
                <a:gridCol w="2524125"/>
                <a:gridCol w="4210050"/>
                <a:gridCol w="4219575"/>
              </a:tblGrid>
              <a:tr h="676275">
                <a:tc>
                  <a:txBody>
                    <a:bodyPr/>
                    <a:lstStyle/>
                    <a:p>
                      <a:r>
                        <a:rPr sz="1725" b="1">
                          <a:solidFill>
                            <a:srgbClr val="F2EFE7"/>
                          </a:solidFill>
                          <a:latin typeface="Arial"/>
                          <a:ea typeface="Arial"/>
                          <a:cs typeface="Arial"/>
                        </a:rPr>
                        <a:t>Cost component</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Hosted API</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725" b="1">
                          <a:solidFill>
                            <a:srgbClr val="F2EFE7"/>
                          </a:solidFill>
                          <a:latin typeface="Arial"/>
                          <a:ea typeface="Arial"/>
                          <a:cs typeface="Arial"/>
                        </a:rPr>
                        <a:t>Local model</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676275">
                <a:tc>
                  <a:txBody>
                    <a:bodyPr/>
                    <a:lstStyle/>
                    <a:p>
                      <a:r>
                        <a:rPr sz="1725" b="1">
                          <a:solidFill>
                            <a:srgbClr val="087E79"/>
                          </a:solidFill>
                          <a:latin typeface="Arial"/>
                          <a:ea typeface="Arial"/>
                          <a:cs typeface="Arial"/>
                        </a:rPr>
                        <a:t>Setup and integration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Keys, billing, network, workspace</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Runtime, weights, device and memory</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1725" b="1">
                          <a:solidFill>
                            <a:srgbClr val="087E79"/>
                          </a:solidFill>
                          <a:latin typeface="Arial"/>
                          <a:ea typeface="Arial"/>
                          <a:cs typeface="Arial"/>
                        </a:rPr>
                        <a:t>Per-run inference</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Metered token charges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Owned compute and operations</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1725" b="1">
                          <a:solidFill>
                            <a:srgbClr val="087E79"/>
                          </a:solidFill>
                          <a:latin typeface="Arial"/>
                          <a:ea typeface="Arial"/>
                          <a:cs typeface="Arial"/>
                        </a:rPr>
                        <a:t>Shared engineering</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Compiler, tests, credentials and observability</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Compiler, tests, credentials and observability</a:t>
                      </a:r>
                    </a:p>
                  </a:txBody>
                  <a:tcPr marL="91440" marR="91440" marT="45720" marB="45720">
                    <a:lnR w="19050">
                      <a:solidFill>
                        <a:srgbClr val="F2EFE7"/>
                      </a:solidFill>
                      <a:prstDash val="solid"/>
                    </a:lnR>
                    <a:lnB w="19050">
                      <a:solidFill>
                        <a:srgbClr val="F2EFE7"/>
                      </a:solidFill>
                      <a:prstDash val="solid"/>
                    </a:lnB>
                    <a:solidFill>
                      <a:srgbClr val="F2EFE7"/>
                    </a:solidFill>
                  </a:tcPr>
                </a:tc>
              </a:tr>
              <a:tr h="676275">
                <a:tc>
                  <a:txBody>
                    <a:bodyPr/>
                    <a:lstStyle/>
                    <a:p>
                      <a:r>
                        <a:rPr sz="1725" b="1">
                          <a:solidFill>
                            <a:srgbClr val="087E79"/>
                          </a:solidFill>
                          <a:latin typeface="Arial"/>
                          <a:ea typeface="Arial"/>
                          <a:cs typeface="Arial"/>
                        </a:rPr>
                        <a:t>Human review</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Uncertainty and unmet intent</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725" b="0">
                          <a:solidFill>
                            <a:srgbClr val="0B1822"/>
                          </a:solidFill>
                          <a:latin typeface="Arial"/>
                          <a:ea typeface="Arial"/>
                          <a:cs typeface="Arial"/>
                        </a:rPr>
                        <a:t>Uncertainty and unmet intent</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Sensitivity only: one engineer-minute at $120/ho">
            <a:extLst xmlns:a="http://schemas.openxmlformats.org/drawingml/2006/main">
              <a:ext uri="{FF2B5EF4-FFF2-40B4-BE49-F238E27FC236}">
                <a16:creationId xmlns:a16="http://schemas.microsoft.com/office/drawing/2014/main" id="{337C52B5-18B7-42EB-AE2D-6B0F38107B89}"/>
              </a:ext>
            </a:extLst>
          </p:cNvPr>
          <p:cNvSpPr>
            <a:spLocks xmlns:a="http://schemas.openxmlformats.org/drawingml/2006/main" noGrp="1"/>
          </p:cNvSpPr>
          <p:nvPr/>
        </p:nvSpPr>
        <p:spPr>
          <a:xfrm xmlns:a="http://schemas.openxmlformats.org/drawingml/2006/main">
            <a:off x="60960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87E79"/>
                </a:solidFill>
                <a:latin typeface="Arial"/>
                <a:ea typeface="Arial"/>
                <a:cs typeface="Arial"/>
              </a:defRPr>
            </a:defPPr>
            <a:lvl1pPr>
              <a:defRPr sz="1575" b="1">
                <a:solidFill>
                  <a:srgbClr val="087E79"/>
                </a:solidFill>
                <a:latin typeface="Arial"/>
                <a:ea typeface="Arial"/>
                <a:cs typeface="Arial"/>
              </a:defRPr>
            </a:lvl1pPr>
            <a:lvl2pPr>
              <a:defRPr sz="1575" b="1">
                <a:solidFill>
                  <a:srgbClr val="087E79"/>
                </a:solidFill>
                <a:latin typeface="Arial"/>
                <a:ea typeface="Arial"/>
                <a:cs typeface="Arial"/>
              </a:defRPr>
            </a:lvl2pPr>
            <a:lvl3pPr>
              <a:defRPr sz="1575" b="1">
                <a:solidFill>
                  <a:srgbClr val="087E79"/>
                </a:solidFill>
                <a:latin typeface="Arial"/>
                <a:ea typeface="Arial"/>
                <a:cs typeface="Arial"/>
              </a:defRPr>
            </a:lvl3pPr>
            <a:lvl4pPr>
              <a:defRPr sz="1575" b="1">
                <a:solidFill>
                  <a:srgbClr val="087E79"/>
                </a:solidFill>
                <a:latin typeface="Arial"/>
                <a:ea typeface="Arial"/>
                <a:cs typeface="Arial"/>
              </a:defRPr>
            </a:lvl4pPr>
            <a:lvl5pPr>
              <a:defRPr sz="1575" b="1">
                <a:solidFill>
                  <a:srgbClr val="087E79"/>
                </a:solidFill>
                <a:latin typeface="Arial"/>
                <a:ea typeface="Arial"/>
                <a:cs typeface="Arial"/>
              </a:defRPr>
            </a:lvl5pPr>
            <a:lvl6pPr>
              <a:defRPr sz="1575" b="1">
                <a:solidFill>
                  <a:srgbClr val="087E79"/>
                </a:solidFill>
                <a:latin typeface="Arial"/>
                <a:ea typeface="Arial"/>
                <a:cs typeface="Arial"/>
              </a:defRPr>
            </a:lvl6pPr>
            <a:lvl7pPr>
              <a:defRPr sz="1575" b="1">
                <a:solidFill>
                  <a:srgbClr val="087E79"/>
                </a:solidFill>
                <a:latin typeface="Arial"/>
                <a:ea typeface="Arial"/>
                <a:cs typeface="Arial"/>
              </a:defRPr>
            </a:lvl7pPr>
            <a:lvl8pPr>
              <a:defRPr sz="1575" b="1">
                <a:solidFill>
                  <a:srgbClr val="087E79"/>
                </a:solidFill>
                <a:latin typeface="Arial"/>
                <a:ea typeface="Arial"/>
                <a:cs typeface="Arial"/>
              </a:defRPr>
            </a:lvl8pPr>
            <a:lvl9pPr>
              <a:defRPr sz="1575" b="1">
                <a:solidFill>
                  <a:srgbClr val="087E79"/>
                </a:solidFill>
                <a:latin typeface="Arial"/>
                <a:ea typeface="Arial"/>
                <a:cs typeface="Arial"/>
              </a:defRPr>
            </a:lvl9pPr>
          </a:lstStyle>
          <a:p xmlns:a="http://schemas.openxmlformats.org/drawingml/2006/main">
            <a:pPr>
              <a:defRPr sz="1575" b="1">
                <a:solidFill>
                  <a:srgbClr val="087E79"/>
                </a:solidFill>
                <a:latin typeface="Arial"/>
                <a:ea typeface="Arial"/>
                <a:cs typeface="Arial"/>
              </a:defRPr>
            </a:pPr>
            <a:r>
              <a:rPr sz="1575" b="1">
                <a:solidFill>
                  <a:srgbClr val="087E79"/>
                </a:solidFill>
                <a:latin typeface="Arial"/>
                <a:ea typeface="Arial"/>
                <a:cs typeface="Arial"/>
              </a:rPr>
              <a:t>Sensitivity only: one engineer-minute at $120/hour is $2. Reviewer time was not measured.</a:t>
            </a:r>
          </a:p>
        </p:txBody>
      </p:sp>
      <p:sp>
        <p:nvSpPr>
          <p:cNvPr id="5" name="ISC2 SECURITY CONGRESS 2026 / SC2632">
            <a:extLst xmlns:a="http://schemas.openxmlformats.org/drawingml/2006/main">
              <a:ext uri="{FF2B5EF4-FFF2-40B4-BE49-F238E27FC236}">
                <a16:creationId xmlns:a16="http://schemas.microsoft.com/office/drawing/2014/main" id="{B1E073B2-6386-472A-B867-066E0E28B877}"/>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37">
            <a:extLst xmlns:a="http://schemas.openxmlformats.org/drawingml/2006/main">
              <a:ext uri="{FF2B5EF4-FFF2-40B4-BE49-F238E27FC236}">
                <a16:creationId xmlns:a16="http://schemas.microsoft.com/office/drawing/2014/main" id="{5C20A355-835D-4548-8975-58039C8372EC}"/>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37</a:t>
            </a:r>
          </a:p>
        </p:txBody>
      </p:sp>
    </p:spTree>
    <p:extLst>
      <p:ext uri="{BB962C8B-B14F-4D97-AF65-F5344CB8AC3E}">
        <p14:creationId xmlns:p14="http://schemas.microsoft.com/office/powerpoint/2010/main" val="1300870483"/>
      </p:ext>
    </p:extLst>
  </p:cSld>
</p:sld>
</file>

<file path=ppt/slides/slide38.xml><?xml version="1.0" encoding="utf-8"?>
<p:sld xmlns:p="http://schemas.openxmlformats.org/presentationml/2006/main" show="0">
  <p:cSld>
    <p:bg>
      <p:bgPr>
        <a:solidFill xmlns:a="http://schemas.openxmlformats.org/drawingml/2006/main">
          <a:srgbClr val="F2EFE7"/>
        </a:solidFill>
      </p:bgPr>
    </p:bg>
    <p:spTree>
      <p:nvGrpSpPr>
        <p:cNvPr id="1" name=""/>
        <p:cNvGrpSpPr/>
        <p:nvPr/>
      </p:nvGrpSpPr>
      <p:grpSpPr>
        <a:xfrm xmlns:a="http://schemas.openxmlformats.org/drawingml/2006/main"/>
      </p:grpSpPr>
      <p:sp>
        <p:nvSpPr>
          <p:cNvPr id="7" name="BACKUP / PILOT SCREENING VS. SEPARATE WORKFLOW R">
            <a:extLst xmlns:a="http://schemas.openxmlformats.org/drawingml/2006/main">
              <a:ext uri="{FF2B5EF4-FFF2-40B4-BE49-F238E27FC236}">
                <a16:creationId xmlns:a16="http://schemas.microsoft.com/office/drawing/2014/main" id="{952517EA-09DB-41D3-8BF3-80B4BF01FDEC}"/>
              </a:ext>
            </a:extLst>
          </p:cNvPr>
          <p:cNvSpPr>
            <a:spLocks xmlns:a="http://schemas.openxmlformats.org/drawingml/2006/main" noGrp="1"/>
          </p:cNvSpPr>
          <p:nvPr/>
        </p:nvSpPr>
        <p:spPr>
          <a:xfrm xmlns:a="http://schemas.openxmlformats.org/drawingml/2006/main">
            <a:off x="609600" y="419100"/>
            <a:ext cx="1076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87E79"/>
                </a:solidFill>
                <a:latin typeface="Arial"/>
                <a:ea typeface="Arial"/>
                <a:cs typeface="Arial"/>
              </a:defRPr>
            </a:defPPr>
            <a:lvl1pPr>
              <a:defRPr sz="1125" b="1">
                <a:solidFill>
                  <a:srgbClr val="087E79"/>
                </a:solidFill>
                <a:latin typeface="Arial"/>
                <a:ea typeface="Arial"/>
                <a:cs typeface="Arial"/>
              </a:defRPr>
            </a:lvl1pPr>
            <a:lvl2pPr>
              <a:defRPr sz="1125" b="1">
                <a:solidFill>
                  <a:srgbClr val="087E79"/>
                </a:solidFill>
                <a:latin typeface="Arial"/>
                <a:ea typeface="Arial"/>
                <a:cs typeface="Arial"/>
              </a:defRPr>
            </a:lvl2pPr>
            <a:lvl3pPr>
              <a:defRPr sz="1125" b="1">
                <a:solidFill>
                  <a:srgbClr val="087E79"/>
                </a:solidFill>
                <a:latin typeface="Arial"/>
                <a:ea typeface="Arial"/>
                <a:cs typeface="Arial"/>
              </a:defRPr>
            </a:lvl3pPr>
            <a:lvl4pPr>
              <a:defRPr sz="1125" b="1">
                <a:solidFill>
                  <a:srgbClr val="087E79"/>
                </a:solidFill>
                <a:latin typeface="Arial"/>
                <a:ea typeface="Arial"/>
                <a:cs typeface="Arial"/>
              </a:defRPr>
            </a:lvl4pPr>
            <a:lvl5pPr>
              <a:defRPr sz="1125" b="1">
                <a:solidFill>
                  <a:srgbClr val="087E79"/>
                </a:solidFill>
                <a:latin typeface="Arial"/>
                <a:ea typeface="Arial"/>
                <a:cs typeface="Arial"/>
              </a:defRPr>
            </a:lvl5pPr>
            <a:lvl6pPr>
              <a:defRPr sz="1125" b="1">
                <a:solidFill>
                  <a:srgbClr val="087E79"/>
                </a:solidFill>
                <a:latin typeface="Arial"/>
                <a:ea typeface="Arial"/>
                <a:cs typeface="Arial"/>
              </a:defRPr>
            </a:lvl6pPr>
            <a:lvl7pPr>
              <a:defRPr sz="1125" b="1">
                <a:solidFill>
                  <a:srgbClr val="087E79"/>
                </a:solidFill>
                <a:latin typeface="Arial"/>
                <a:ea typeface="Arial"/>
                <a:cs typeface="Arial"/>
              </a:defRPr>
            </a:lvl7pPr>
            <a:lvl8pPr>
              <a:defRPr sz="1125" b="1">
                <a:solidFill>
                  <a:srgbClr val="087E79"/>
                </a:solidFill>
                <a:latin typeface="Arial"/>
                <a:ea typeface="Arial"/>
                <a:cs typeface="Arial"/>
              </a:defRPr>
            </a:lvl8pPr>
            <a:lvl9pPr>
              <a:defRPr sz="1125" b="1">
                <a:solidFill>
                  <a:srgbClr val="087E79"/>
                </a:solidFill>
                <a:latin typeface="Arial"/>
                <a:ea typeface="Arial"/>
                <a:cs typeface="Arial"/>
              </a:defRPr>
            </a:lvl9pPr>
          </a:lstStyle>
          <a:p xmlns:a="http://schemas.openxmlformats.org/drawingml/2006/main">
            <a:pPr>
              <a:defRPr sz="1125" b="1">
                <a:solidFill>
                  <a:srgbClr val="087E79"/>
                </a:solidFill>
                <a:latin typeface="Arial"/>
                <a:ea typeface="Arial"/>
                <a:cs typeface="Arial"/>
              </a:defRPr>
            </a:pPr>
            <a:r>
              <a:rPr sz="1125" b="1">
                <a:solidFill>
                  <a:srgbClr val="087E79"/>
                </a:solidFill>
                <a:latin typeface="Arial"/>
                <a:ea typeface="Arial"/>
                <a:cs typeface="Arial"/>
              </a:rPr>
              <a:t>BACKUP / PILOT SCREENING VS. SEPARATE WORKFLOW RUNS</a:t>
            </a:r>
          </a:p>
        </p:txBody>
      </p:sp>
      <p:sp>
        <p:nvSpPr>
          <p:cNvPr id="2" name="Full comparison: quality and run economics">
            <a:extLst xmlns:a="http://schemas.openxmlformats.org/drawingml/2006/main">
              <a:ext uri="{FF2B5EF4-FFF2-40B4-BE49-F238E27FC236}">
                <a16:creationId xmlns:a16="http://schemas.microsoft.com/office/drawing/2014/main" id="{6E6D733E-6979-4494-AFC5-595173A2DD0D}"/>
              </a:ext>
            </a:extLst>
          </p:cNvPr>
          <p:cNvSpPr>
            <a:spLocks xmlns:a="http://schemas.openxmlformats.org/drawingml/2006/main" noGrp="1"/>
          </p:cNvSpPr>
          <p:nvPr>
            <p:ph type="title" idx="0"/>
          </p:nvPr>
        </p:nvSpPr>
        <p:spPr>
          <a:xfrm xmlns:a="http://schemas.openxmlformats.org/drawingml/2006/main">
            <a:off x="609600" y="105727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B1822"/>
                </a:solidFill>
                <a:latin typeface="Arial Black"/>
                <a:ea typeface="Arial Black"/>
                <a:cs typeface="Arial Black"/>
              </a:defRPr>
            </a:defPPr>
            <a:lvl1pPr>
              <a:defRPr sz="3600" b="1">
                <a:solidFill>
                  <a:srgbClr val="0B1822"/>
                </a:solidFill>
                <a:latin typeface="Arial Black"/>
                <a:ea typeface="Arial Black"/>
                <a:cs typeface="Arial Black"/>
              </a:defRPr>
            </a:lvl1pPr>
            <a:lvl2pPr>
              <a:defRPr sz="3600" b="1">
                <a:solidFill>
                  <a:srgbClr val="0B1822"/>
                </a:solidFill>
                <a:latin typeface="Arial Black"/>
                <a:ea typeface="Arial Black"/>
                <a:cs typeface="Arial Black"/>
              </a:defRPr>
            </a:lvl2pPr>
            <a:lvl3pPr>
              <a:defRPr sz="3600" b="1">
                <a:solidFill>
                  <a:srgbClr val="0B1822"/>
                </a:solidFill>
                <a:latin typeface="Arial Black"/>
                <a:ea typeface="Arial Black"/>
                <a:cs typeface="Arial Black"/>
              </a:defRPr>
            </a:lvl3pPr>
            <a:lvl4pPr>
              <a:defRPr sz="3600" b="1">
                <a:solidFill>
                  <a:srgbClr val="0B1822"/>
                </a:solidFill>
                <a:latin typeface="Arial Black"/>
                <a:ea typeface="Arial Black"/>
                <a:cs typeface="Arial Black"/>
              </a:defRPr>
            </a:lvl4pPr>
            <a:lvl5pPr>
              <a:defRPr sz="3600" b="1">
                <a:solidFill>
                  <a:srgbClr val="0B1822"/>
                </a:solidFill>
                <a:latin typeface="Arial Black"/>
                <a:ea typeface="Arial Black"/>
                <a:cs typeface="Arial Black"/>
              </a:defRPr>
            </a:lvl5pPr>
            <a:lvl6pPr>
              <a:defRPr sz="3600" b="1">
                <a:solidFill>
                  <a:srgbClr val="0B1822"/>
                </a:solidFill>
                <a:latin typeface="Arial Black"/>
                <a:ea typeface="Arial Black"/>
                <a:cs typeface="Arial Black"/>
              </a:defRPr>
            </a:lvl6pPr>
            <a:lvl7pPr>
              <a:defRPr sz="3600" b="1">
                <a:solidFill>
                  <a:srgbClr val="0B1822"/>
                </a:solidFill>
                <a:latin typeface="Arial Black"/>
                <a:ea typeface="Arial Black"/>
                <a:cs typeface="Arial Black"/>
              </a:defRPr>
            </a:lvl7pPr>
            <a:lvl8pPr>
              <a:defRPr sz="3600" b="1">
                <a:solidFill>
                  <a:srgbClr val="0B1822"/>
                </a:solidFill>
                <a:latin typeface="Arial Black"/>
                <a:ea typeface="Arial Black"/>
                <a:cs typeface="Arial Black"/>
              </a:defRPr>
            </a:lvl8pPr>
            <a:lvl9pPr>
              <a:defRPr sz="3600" b="1">
                <a:solidFill>
                  <a:srgbClr val="0B1822"/>
                </a:solidFill>
                <a:latin typeface="Arial Black"/>
                <a:ea typeface="Arial Black"/>
                <a:cs typeface="Arial Black"/>
              </a:defRPr>
            </a:lvl9pPr>
          </a:lstStyle>
          <a:p xmlns:a="http://schemas.openxmlformats.org/drawingml/2006/main">
            <a:pPr>
              <a:defRPr sz="3600" b="1">
                <a:solidFill>
                  <a:srgbClr val="0B1822"/>
                </a:solidFill>
                <a:latin typeface="Arial Black"/>
                <a:ea typeface="Arial Black"/>
                <a:cs typeface="Arial Black"/>
              </a:defRPr>
            </a:pPr>
            <a:r>
              <a:rPr sz="3600" b="1">
                <a:solidFill>
                  <a:srgbClr val="0B1822"/>
                </a:solidFill>
                <a:latin typeface="Arial Black"/>
                <a:ea typeface="Arial Black"/>
                <a:cs typeface="Arial Black"/>
              </a:rPr>
              <a:t>Full comparison: quality and run economics</a:t>
            </a:r>
          </a:p>
        </p:txBody>
      </p:sp>
      <p:graphicFrame>
        <p:nvGraphicFramePr>
          <p:cNvPr id="3" name="">
            <a:extLst xmlns:a="http://schemas.openxmlformats.org/drawingml/2006/main">
              <a:ext uri="{FF2B5EF4-FFF2-40B4-BE49-F238E27FC236}">
                <a16:creationId xmlns:a16="http://schemas.microsoft.com/office/drawing/2014/main" id="{2CEB2332-7283-4BD0-AE31-797CD4B52311}"/>
              </a:ext>
            </a:extLst>
          </p:cNvPr>
          <p:cNvGraphicFramePr/>
          <p:nvPr/>
        </p:nvGraphicFramePr>
        <p:xfrm>
          <a:off xmlns:a="http://schemas.openxmlformats.org/drawingml/2006/main" x="609600" y="2305050"/>
          <a:ext xmlns:a="http://schemas.openxmlformats.org/drawingml/2006/main" cx="10953750" cy="3333750"/>
        </p:xfrm>
        <a:graphic xmlns:a="http://schemas.openxmlformats.org/drawingml/2006/main">
          <a:graphicData uri="http://schemas.openxmlformats.org/drawingml/2006/table">
            <a:tbl>
              <a:tblPr firstRow="1" bandRow="1"/>
              <a:tblGrid>
                <a:gridCol w="4238625"/>
                <a:gridCol w="2238375"/>
                <a:gridCol w="2238375"/>
                <a:gridCol w="2238375"/>
              </a:tblGrid>
              <a:tr h="476250">
                <a:tc>
                  <a:txBody>
                    <a:bodyPr/>
                    <a:lstStyle/>
                    <a:p>
                      <a:r>
                        <a:rPr sz="1500" b="1">
                          <a:solidFill>
                            <a:srgbClr val="F2EFE7"/>
                          </a:solidFill>
                          <a:latin typeface="Arial"/>
                          <a:ea typeface="Arial"/>
                          <a:cs typeface="Arial"/>
                        </a:rPr>
                        <a:t>Metric</a:t>
                      </a:r>
                    </a:p>
                  </a:txBody>
                  <a:tcPr marL="91440" marR="91440" marT="45720" marB="45720">
                    <a:lnL w="19050">
                      <a:solidFill>
                        <a:srgbClr val="F2EFE7"/>
                      </a:solidFill>
                      <a:prstDash val="solid"/>
                    </a:lnL>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500" b="1">
                          <a:solidFill>
                            <a:srgbClr val="F2EFE7"/>
                          </a:solidFill>
                          <a:latin typeface="Arial"/>
                          <a:ea typeface="Arial"/>
                          <a:cs typeface="Arial"/>
                        </a:rPr>
                        <a:t>Jev 1.13</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500" b="1">
                          <a:solidFill>
                            <a:srgbClr val="F2EFE7"/>
                          </a:solidFill>
                          <a:latin typeface="Arial"/>
                          <a:ea typeface="Arial"/>
                          <a:cs typeface="Arial"/>
                        </a:rPr>
                        <a:t>Opus 5.5</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c>
                  <a:txBody>
                    <a:bodyPr/>
                    <a:lstStyle/>
                    <a:p>
                      <a:r>
                        <a:rPr sz="1500" b="1">
                          <a:solidFill>
                            <a:srgbClr val="F2EFE7"/>
                          </a:solidFill>
                          <a:latin typeface="Arial"/>
                          <a:ea typeface="Arial"/>
                          <a:cs typeface="Arial"/>
                        </a:rPr>
                        <a:t>Base Laya</a:t>
                      </a:r>
                    </a:p>
                  </a:txBody>
                  <a:tcPr marL="91440" marR="91440" marT="45720" marB="45720">
                    <a:lnR w="19050">
                      <a:solidFill>
                        <a:srgbClr val="F2EFE7"/>
                      </a:solidFill>
                      <a:prstDash val="solid"/>
                    </a:lnR>
                    <a:lnT w="19050">
                      <a:solidFill>
                        <a:srgbClr val="F2EFE7"/>
                      </a:solidFill>
                      <a:prstDash val="solid"/>
                    </a:lnT>
                    <a:lnB w="19050">
                      <a:solidFill>
                        <a:srgbClr val="F2EFE7"/>
                      </a:solidFill>
                      <a:prstDash val="solid"/>
                    </a:lnB>
                    <a:solidFill>
                      <a:srgbClr val="09131D"/>
                    </a:solidFill>
                  </a:tcPr>
                </a:tc>
              </a:tr>
              <a:tr h="476250">
                <a:tc>
                  <a:txBody>
                    <a:bodyPr/>
                    <a:lstStyle/>
                    <a:p>
                      <a:r>
                        <a:rPr sz="1500" b="1">
                          <a:solidFill>
                            <a:srgbClr val="087E79"/>
                          </a:solidFill>
                          <a:latin typeface="Arial"/>
                          <a:ea typeface="Arial"/>
                          <a:cs typeface="Arial"/>
                        </a:rPr>
                        <a:t>33-item screen correct</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30/33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32/33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16/33</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500" b="1">
                          <a:solidFill>
                            <a:srgbClr val="087E79"/>
                          </a:solidFill>
                          <a:latin typeface="Arial"/>
                          <a:ea typeface="Arial"/>
                          <a:cs typeface="Arial"/>
                        </a:rPr>
                        <a:t>Screen decision latency</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0.17 s HTTP</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2.37 s HTTP</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0.09 s in-process</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500" b="1">
                          <a:solidFill>
                            <a:srgbClr val="087E79"/>
                          </a:solidFill>
                          <a:latin typeface="Arial"/>
                          <a:ea typeface="Arial"/>
                          <a:cs typeface="Arial"/>
                        </a:rPr>
                        <a:t>Selected at score 0.6</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26/33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33/33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1/33</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500" b="1">
                          <a:solidFill>
                            <a:srgbClr val="087E79"/>
                          </a:solidFill>
                          <a:latin typeface="Arial"/>
                          <a:ea typeface="Arial"/>
                          <a:cs typeface="Arial"/>
                        </a:rPr>
                        <a:t>Wrong among selected</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0/26</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1/33</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0/1</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500" b="1">
                          <a:solidFill>
                            <a:srgbClr val="087E79"/>
                          </a:solidFill>
                          <a:latin typeface="Arial"/>
                          <a:ea typeface="Arial"/>
                          <a:cs typeface="Arial"/>
                        </a:rPr>
                        <a:t>Scenario A median, 3 fixtures</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1.82 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24.18 s</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0.41 s</a:t>
                      </a:r>
                    </a:p>
                  </a:txBody>
                  <a:tcPr marL="91440" marR="91440" marT="45720" marB="45720">
                    <a:lnR w="19050">
                      <a:solidFill>
                        <a:srgbClr val="F2EFE7"/>
                      </a:solidFill>
                      <a:prstDash val="solid"/>
                    </a:lnR>
                    <a:lnB w="19050">
                      <a:solidFill>
                        <a:srgbClr val="F2EFE7"/>
                      </a:solidFill>
                      <a:prstDash val="solid"/>
                    </a:lnB>
                    <a:solidFill>
                      <a:srgbClr val="F2EFE7"/>
                    </a:solidFill>
                  </a:tcPr>
                </a:tc>
              </a:tr>
              <a:tr h="476250">
                <a:tc>
                  <a:txBody>
                    <a:bodyPr/>
                    <a:lstStyle/>
                    <a:p>
                      <a:r>
                        <a:rPr sz="1500" b="1">
                          <a:solidFill>
                            <a:srgbClr val="087E79"/>
                          </a:solidFill>
                          <a:latin typeface="Arial"/>
                          <a:ea typeface="Arial"/>
                          <a:cs typeface="Arial"/>
                        </a:rPr>
                        <a:t>Estimated API cost/run</a:t>
                      </a:r>
                    </a:p>
                  </a:txBody>
                  <a:tcPr marL="91440" marR="91440" marT="45720" marB="45720">
                    <a:lnL w="19050">
                      <a:solidFill>
                        <a:srgbClr val="F2EFE7"/>
                      </a:solidFill>
                      <a:prstDash val="solid"/>
                    </a:lnL>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$0.00019</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$0.03795</a:t>
                      </a:r>
                    </a:p>
                  </a:txBody>
                  <a:tcPr marL="91440" marR="91440" marT="45720" marB="45720">
                    <a:lnR w="19050">
                      <a:solidFill>
                        <a:srgbClr val="F2EFE7"/>
                      </a:solidFill>
                      <a:prstDash val="solid"/>
                    </a:lnR>
                    <a:lnB w="19050">
                      <a:solidFill>
                        <a:srgbClr val="F2EFE7"/>
                      </a:solidFill>
                      <a:prstDash val="solid"/>
                    </a:lnB>
                    <a:solidFill>
                      <a:srgbClr val="F2EFE7"/>
                    </a:solidFill>
                  </a:tcPr>
                </a:tc>
                <a:tc>
                  <a:txBody>
                    <a:bodyPr/>
                    <a:lstStyle/>
                    <a:p>
                      <a:r>
                        <a:rPr sz="1500" b="0">
                          <a:solidFill>
                            <a:srgbClr val="0B1822"/>
                          </a:solidFill>
                          <a:latin typeface="Arial"/>
                          <a:ea typeface="Arial"/>
                          <a:cs typeface="Arial"/>
                        </a:rPr>
                        <a:t>$0 API; compute unpriced</a:t>
                      </a:r>
                    </a:p>
                  </a:txBody>
                  <a:tcPr marL="91440" marR="91440" marT="45720" marB="45720">
                    <a:lnR w="19050">
                      <a:solidFill>
                        <a:srgbClr val="F2EFE7"/>
                      </a:solidFill>
                      <a:prstDash val="solid"/>
                    </a:lnR>
                    <a:lnB w="19050">
                      <a:solidFill>
                        <a:srgbClr val="F2EFE7"/>
                      </a:solidFill>
                      <a:prstDash val="solid"/>
                    </a:lnB>
                    <a:solidFill>
                      <a:srgbClr val="F2EFE7"/>
                    </a:solidFill>
                  </a:tcPr>
                </a:tc>
              </a:tr>
            </a:tbl>
          </a:graphicData>
        </a:graphic>
      </p:graphicFrame>
      <p:sp>
        <p:nvSpPr>
          <p:cNvPr id="4" name="Author-labelled small pilot; Jev–Claude accuracy">
            <a:extLst xmlns:a="http://schemas.openxmlformats.org/drawingml/2006/main">
              <a:ext uri="{FF2B5EF4-FFF2-40B4-BE49-F238E27FC236}">
                <a16:creationId xmlns:a16="http://schemas.microsoft.com/office/drawing/2014/main" id="{AF03661E-6114-4978-AC8A-719F02C41CFD}"/>
              </a:ext>
            </a:extLst>
          </p:cNvPr>
          <p:cNvSpPr>
            <a:spLocks xmlns:a="http://schemas.openxmlformats.org/drawingml/2006/main" noGrp="1"/>
          </p:cNvSpPr>
          <p:nvPr/>
        </p:nvSpPr>
        <p:spPr>
          <a:xfrm xmlns:a="http://schemas.openxmlformats.org/drawingml/2006/main">
            <a:off x="609600" y="57816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17A"/>
                </a:solidFill>
                <a:latin typeface="Arial"/>
                <a:ea typeface="Arial"/>
                <a:cs typeface="Arial"/>
              </a:defRPr>
            </a:defPPr>
            <a:lvl1pPr>
              <a:defRPr sz="1350" b="0">
                <a:solidFill>
                  <a:srgbClr val="60717A"/>
                </a:solidFill>
                <a:latin typeface="Arial"/>
                <a:ea typeface="Arial"/>
                <a:cs typeface="Arial"/>
              </a:defRPr>
            </a:lvl1pPr>
            <a:lvl2pPr>
              <a:defRPr sz="1350" b="0">
                <a:solidFill>
                  <a:srgbClr val="60717A"/>
                </a:solidFill>
                <a:latin typeface="Arial"/>
                <a:ea typeface="Arial"/>
                <a:cs typeface="Arial"/>
              </a:defRPr>
            </a:lvl2pPr>
            <a:lvl3pPr>
              <a:defRPr sz="1350" b="0">
                <a:solidFill>
                  <a:srgbClr val="60717A"/>
                </a:solidFill>
                <a:latin typeface="Arial"/>
                <a:ea typeface="Arial"/>
                <a:cs typeface="Arial"/>
              </a:defRPr>
            </a:lvl3pPr>
            <a:lvl4pPr>
              <a:defRPr sz="1350" b="0">
                <a:solidFill>
                  <a:srgbClr val="60717A"/>
                </a:solidFill>
                <a:latin typeface="Arial"/>
                <a:ea typeface="Arial"/>
                <a:cs typeface="Arial"/>
              </a:defRPr>
            </a:lvl4pPr>
            <a:lvl5pPr>
              <a:defRPr sz="1350" b="0">
                <a:solidFill>
                  <a:srgbClr val="60717A"/>
                </a:solidFill>
                <a:latin typeface="Arial"/>
                <a:ea typeface="Arial"/>
                <a:cs typeface="Arial"/>
              </a:defRPr>
            </a:lvl5pPr>
            <a:lvl6pPr>
              <a:defRPr sz="1350" b="0">
                <a:solidFill>
                  <a:srgbClr val="60717A"/>
                </a:solidFill>
                <a:latin typeface="Arial"/>
                <a:ea typeface="Arial"/>
                <a:cs typeface="Arial"/>
              </a:defRPr>
            </a:lvl6pPr>
            <a:lvl7pPr>
              <a:defRPr sz="1350" b="0">
                <a:solidFill>
                  <a:srgbClr val="60717A"/>
                </a:solidFill>
                <a:latin typeface="Arial"/>
                <a:ea typeface="Arial"/>
                <a:cs typeface="Arial"/>
              </a:defRPr>
            </a:lvl7pPr>
            <a:lvl8pPr>
              <a:defRPr sz="1350" b="0">
                <a:solidFill>
                  <a:srgbClr val="60717A"/>
                </a:solidFill>
                <a:latin typeface="Arial"/>
                <a:ea typeface="Arial"/>
                <a:cs typeface="Arial"/>
              </a:defRPr>
            </a:lvl8pPr>
            <a:lvl9pPr>
              <a:defRPr sz="1350" b="0">
                <a:solidFill>
                  <a:srgbClr val="60717A"/>
                </a:solidFill>
                <a:latin typeface="Arial"/>
                <a:ea typeface="Arial"/>
                <a:cs typeface="Arial"/>
              </a:defRPr>
            </a:lvl9pPr>
          </a:lstStyle>
          <a:p xmlns:a="http://schemas.openxmlformats.org/drawingml/2006/main">
            <a:pPr>
              <a:defRPr sz="1350" b="0">
                <a:solidFill>
                  <a:srgbClr val="60717A"/>
                </a:solidFill>
                <a:latin typeface="Arial"/>
                <a:ea typeface="Arial"/>
                <a:cs typeface="Arial"/>
              </a:defRPr>
            </a:pPr>
            <a:r>
              <a:rPr sz="1350" b="0">
                <a:solidFill>
                  <a:srgbClr val="60717A"/>
                </a:solidFill>
                <a:latin typeface="Arial"/>
                <a:ea typeface="Arial"/>
                <a:cs typeface="Arial"/>
              </a:rPr>
              <a:t>Author-labelled small pilot; Jev–Claude accuracy gap is inconclusive. Score signals differ. Workflow metrics are separate; Laya generated no guardrail.</a:t>
            </a:r>
          </a:p>
        </p:txBody>
      </p:sp>
      <p:sp>
        <p:nvSpPr>
          <p:cNvPr id="5" name="ISC2 SECURITY CONGRESS 2026 / SC2632">
            <a:extLst xmlns:a="http://schemas.openxmlformats.org/drawingml/2006/main">
              <a:ext uri="{FF2B5EF4-FFF2-40B4-BE49-F238E27FC236}">
                <a16:creationId xmlns:a16="http://schemas.microsoft.com/office/drawing/2014/main" id="{9247E784-803C-4CD8-B034-5A25BFB47C68}"/>
              </a:ext>
            </a:extLst>
          </p:cNvPr>
          <p:cNvSpPr>
            <a:spLocks xmlns:a="http://schemas.openxmlformats.org/drawingml/2006/main" noGrp="1"/>
          </p:cNvSpPr>
          <p:nvPr/>
        </p:nvSpPr>
        <p:spPr>
          <a:xfrm xmlns:a="http://schemas.openxmlformats.org/drawingml/2006/main">
            <a:off x="609600" y="6419850"/>
            <a:ext cx="895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6747C"/>
                </a:solidFill>
                <a:latin typeface="Arial"/>
                <a:ea typeface="Arial"/>
                <a:cs typeface="Arial"/>
              </a:defRPr>
            </a:defPPr>
            <a:lvl1pPr>
              <a:defRPr sz="900" b="0">
                <a:solidFill>
                  <a:srgbClr val="66747C"/>
                </a:solidFill>
                <a:latin typeface="Arial"/>
                <a:ea typeface="Arial"/>
                <a:cs typeface="Arial"/>
              </a:defRPr>
            </a:lvl1pPr>
            <a:lvl2pPr>
              <a:defRPr sz="900" b="0">
                <a:solidFill>
                  <a:srgbClr val="66747C"/>
                </a:solidFill>
                <a:latin typeface="Arial"/>
                <a:ea typeface="Arial"/>
                <a:cs typeface="Arial"/>
              </a:defRPr>
            </a:lvl2pPr>
            <a:lvl3pPr>
              <a:defRPr sz="900" b="0">
                <a:solidFill>
                  <a:srgbClr val="66747C"/>
                </a:solidFill>
                <a:latin typeface="Arial"/>
                <a:ea typeface="Arial"/>
                <a:cs typeface="Arial"/>
              </a:defRPr>
            </a:lvl3pPr>
            <a:lvl4pPr>
              <a:defRPr sz="900" b="0">
                <a:solidFill>
                  <a:srgbClr val="66747C"/>
                </a:solidFill>
                <a:latin typeface="Arial"/>
                <a:ea typeface="Arial"/>
                <a:cs typeface="Arial"/>
              </a:defRPr>
            </a:lvl4pPr>
            <a:lvl5pPr>
              <a:defRPr sz="900" b="0">
                <a:solidFill>
                  <a:srgbClr val="66747C"/>
                </a:solidFill>
                <a:latin typeface="Arial"/>
                <a:ea typeface="Arial"/>
                <a:cs typeface="Arial"/>
              </a:defRPr>
            </a:lvl5pPr>
            <a:lvl6pPr>
              <a:defRPr sz="900" b="0">
                <a:solidFill>
                  <a:srgbClr val="66747C"/>
                </a:solidFill>
                <a:latin typeface="Arial"/>
                <a:ea typeface="Arial"/>
                <a:cs typeface="Arial"/>
              </a:defRPr>
            </a:lvl6pPr>
            <a:lvl7pPr>
              <a:defRPr sz="900" b="0">
                <a:solidFill>
                  <a:srgbClr val="66747C"/>
                </a:solidFill>
                <a:latin typeface="Arial"/>
                <a:ea typeface="Arial"/>
                <a:cs typeface="Arial"/>
              </a:defRPr>
            </a:lvl7pPr>
            <a:lvl8pPr>
              <a:defRPr sz="900" b="0">
                <a:solidFill>
                  <a:srgbClr val="66747C"/>
                </a:solidFill>
                <a:latin typeface="Arial"/>
                <a:ea typeface="Arial"/>
                <a:cs typeface="Arial"/>
              </a:defRPr>
            </a:lvl8pPr>
            <a:lvl9pPr>
              <a:defRPr sz="900" b="0">
                <a:solidFill>
                  <a:srgbClr val="66747C"/>
                </a:solidFill>
                <a:latin typeface="Arial"/>
                <a:ea typeface="Arial"/>
                <a:cs typeface="Arial"/>
              </a:defRPr>
            </a:lvl9pPr>
          </a:lstStyle>
          <a:p xmlns:a="http://schemas.openxmlformats.org/drawingml/2006/main">
            <a:pPr>
              <a:defRPr sz="900" b="0">
                <a:solidFill>
                  <a:srgbClr val="66747C"/>
                </a:solidFill>
                <a:latin typeface="Arial"/>
                <a:ea typeface="Arial"/>
                <a:cs typeface="Arial"/>
              </a:defRPr>
            </a:pPr>
            <a:r>
              <a:rPr sz="900" b="0">
                <a:solidFill>
                  <a:srgbClr val="66747C"/>
                </a:solidFill>
                <a:latin typeface="Arial"/>
                <a:ea typeface="Arial"/>
                <a:cs typeface="Arial"/>
              </a:rPr>
              <a:t>ISC2 SECURITY CONGRESS 2026 / SC2632</a:t>
            </a:r>
          </a:p>
        </p:txBody>
      </p:sp>
      <p:sp>
        <p:nvSpPr>
          <p:cNvPr id="6" name="38">
            <a:extLst xmlns:a="http://schemas.openxmlformats.org/drawingml/2006/main">
              <a:ext uri="{FF2B5EF4-FFF2-40B4-BE49-F238E27FC236}">
                <a16:creationId xmlns:a16="http://schemas.microsoft.com/office/drawing/2014/main" id="{C4714CAE-AE90-4BD3-9A34-B919CB6A4FFE}"/>
              </a:ext>
            </a:extLst>
          </p:cNvPr>
          <p:cNvSpPr>
            <a:spLocks xmlns:a="http://schemas.openxmlformats.org/drawingml/2006/main" noGrp="1"/>
          </p:cNvSpPr>
          <p:nvPr/>
        </p:nvSpPr>
        <p:spPr>
          <a:xfrm xmlns:a="http://schemas.openxmlformats.org/drawingml/2006/main">
            <a:off x="11106150" y="6391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66747C"/>
                </a:solidFill>
                <a:latin typeface="Arial"/>
                <a:ea typeface="Arial"/>
                <a:cs typeface="Arial"/>
              </a:defRPr>
            </a:defPPr>
            <a:lvl1pPr>
              <a:defRPr sz="1200" b="1">
                <a:solidFill>
                  <a:srgbClr val="66747C"/>
                </a:solidFill>
                <a:latin typeface="Arial"/>
                <a:ea typeface="Arial"/>
                <a:cs typeface="Arial"/>
              </a:defRPr>
            </a:lvl1pPr>
            <a:lvl2pPr>
              <a:defRPr sz="1200" b="1">
                <a:solidFill>
                  <a:srgbClr val="66747C"/>
                </a:solidFill>
                <a:latin typeface="Arial"/>
                <a:ea typeface="Arial"/>
                <a:cs typeface="Arial"/>
              </a:defRPr>
            </a:lvl2pPr>
            <a:lvl3pPr>
              <a:defRPr sz="1200" b="1">
                <a:solidFill>
                  <a:srgbClr val="66747C"/>
                </a:solidFill>
                <a:latin typeface="Arial"/>
                <a:ea typeface="Arial"/>
                <a:cs typeface="Arial"/>
              </a:defRPr>
            </a:lvl3pPr>
            <a:lvl4pPr>
              <a:defRPr sz="1200" b="1">
                <a:solidFill>
                  <a:srgbClr val="66747C"/>
                </a:solidFill>
                <a:latin typeface="Arial"/>
                <a:ea typeface="Arial"/>
                <a:cs typeface="Arial"/>
              </a:defRPr>
            </a:lvl4pPr>
            <a:lvl5pPr>
              <a:defRPr sz="1200" b="1">
                <a:solidFill>
                  <a:srgbClr val="66747C"/>
                </a:solidFill>
                <a:latin typeface="Arial"/>
                <a:ea typeface="Arial"/>
                <a:cs typeface="Arial"/>
              </a:defRPr>
            </a:lvl5pPr>
            <a:lvl6pPr>
              <a:defRPr sz="1200" b="1">
                <a:solidFill>
                  <a:srgbClr val="66747C"/>
                </a:solidFill>
                <a:latin typeface="Arial"/>
                <a:ea typeface="Arial"/>
                <a:cs typeface="Arial"/>
              </a:defRPr>
            </a:lvl6pPr>
            <a:lvl7pPr>
              <a:defRPr sz="1200" b="1">
                <a:solidFill>
                  <a:srgbClr val="66747C"/>
                </a:solidFill>
                <a:latin typeface="Arial"/>
                <a:ea typeface="Arial"/>
                <a:cs typeface="Arial"/>
              </a:defRPr>
            </a:lvl7pPr>
            <a:lvl8pPr>
              <a:defRPr sz="1200" b="1">
                <a:solidFill>
                  <a:srgbClr val="66747C"/>
                </a:solidFill>
                <a:latin typeface="Arial"/>
                <a:ea typeface="Arial"/>
                <a:cs typeface="Arial"/>
              </a:defRPr>
            </a:lvl8pPr>
            <a:lvl9pPr>
              <a:defRPr sz="1200" b="1">
                <a:solidFill>
                  <a:srgbClr val="66747C"/>
                </a:solidFill>
                <a:latin typeface="Arial"/>
                <a:ea typeface="Arial"/>
                <a:cs typeface="Arial"/>
              </a:defRPr>
            </a:lvl9pPr>
          </a:lstStyle>
          <a:p xmlns:a="http://schemas.openxmlformats.org/drawingml/2006/main">
            <a:pPr>
              <a:defRPr sz="1200" b="1">
                <a:solidFill>
                  <a:srgbClr val="66747C"/>
                </a:solidFill>
                <a:latin typeface="Arial"/>
                <a:ea typeface="Arial"/>
                <a:cs typeface="Arial"/>
              </a:defRPr>
            </a:pPr>
            <a:r>
              <a:rPr sz="1200" b="1">
                <a:solidFill>
                  <a:srgbClr val="66747C"/>
                </a:solidFill>
                <a:latin typeface="Arial"/>
                <a:ea typeface="Arial"/>
                <a:cs typeface="Arial"/>
              </a:rPr>
              <a:t>38</a:t>
            </a:r>
          </a:p>
        </p:txBody>
      </p:sp>
    </p:spTree>
    <p:extLst>
      <p:ext uri="{BB962C8B-B14F-4D97-AF65-F5344CB8AC3E}">
        <p14:creationId xmlns:p14="http://schemas.microsoft.com/office/powerpoint/2010/main" val="13013876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2026-10-22T08:42:56.8120000Z</dcterms:created>
  <dcterms:modified xsi:type="dcterms:W3CDTF">2026-10-22T08:42:56.8120000Z</dcterms:modified>
</coreProperties>
</file>