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f4123eb6ee404d" /><Relationship Type="http://schemas.openxmlformats.org/officeDocument/2006/relationships/extended-properties" Target="/docProps/app.xml" Id="Rb1db94a2cf4042bd" /><Relationship Type="http://schemas.openxmlformats.org/officeDocument/2006/relationships/officeDocument" Target="/ppt/presentation.xml" Id="R17440153c23b4505" /></Relationships>
</file>

<file path=ppt/presentation.xml><?xml version="1.0" encoding="utf-8"?>
<p:presentation xmlns:p="http://schemas.openxmlformats.org/presentationml/2006/main">
  <p:sldMasterIdLst>
    <p:sldMasterId xmlns:r="http://schemas.openxmlformats.org/officeDocument/2006/relationships" id="2147483648" r:id="Rbefa3821d0ce4469"/>
  </p:sldMasterIdLst>
  <p:notesMasterIdLst>
    <p:notesMasterId xmlns:r="http://schemas.openxmlformats.org/officeDocument/2006/relationships" r:id="Rf809f2edb83148c7"/>
  </p:notesMasterIdLst>
  <p:sldIdLst>
    <p:sldId xmlns:r="http://schemas.openxmlformats.org/officeDocument/2006/relationships" id="256" r:id="Rc8a1dc78736143ca"/>
    <p:sldId xmlns:r="http://schemas.openxmlformats.org/officeDocument/2006/relationships" id="257" r:id="Rba20156d57ad4494"/>
    <p:sldId xmlns:r="http://schemas.openxmlformats.org/officeDocument/2006/relationships" id="258" r:id="Rf45933144b2448ac"/>
    <p:sldId xmlns:r="http://schemas.openxmlformats.org/officeDocument/2006/relationships" id="259" r:id="Raca838df48274f7b"/>
    <p:sldId xmlns:r="http://schemas.openxmlformats.org/officeDocument/2006/relationships" id="260" r:id="R3767af282f934eee"/>
    <p:sldId xmlns:r="http://schemas.openxmlformats.org/officeDocument/2006/relationships" id="261" r:id="R303100acc8e64262"/>
    <p:sldId xmlns:r="http://schemas.openxmlformats.org/officeDocument/2006/relationships" id="262" r:id="R720ba30b00ce4d4c"/>
    <p:sldId xmlns:r="http://schemas.openxmlformats.org/officeDocument/2006/relationships" id="263" r:id="R237861b1642a417f"/>
    <p:sldId xmlns:r="http://schemas.openxmlformats.org/officeDocument/2006/relationships" id="264" r:id="R2d05d22402534659"/>
    <p:sldId xmlns:r="http://schemas.openxmlformats.org/officeDocument/2006/relationships" id="265" r:id="R1680b6a3241b44d3"/>
    <p:sldId xmlns:r="http://schemas.openxmlformats.org/officeDocument/2006/relationships" id="266" r:id="R77c00e5c50274185"/>
    <p:sldId xmlns:r="http://schemas.openxmlformats.org/officeDocument/2006/relationships" id="267" r:id="R548859e75f68459b"/>
    <p:sldId xmlns:r="http://schemas.openxmlformats.org/officeDocument/2006/relationships" id="268" r:id="R0221d70e9437495d"/>
    <p:sldId xmlns:r="http://schemas.openxmlformats.org/officeDocument/2006/relationships" id="269" r:id="R3a7895773846476c"/>
    <p:sldId xmlns:r="http://schemas.openxmlformats.org/officeDocument/2006/relationships" id="270" r:id="R8f359c374fcb4ace"/>
    <p:sldId xmlns:r="http://schemas.openxmlformats.org/officeDocument/2006/relationships" id="271" r:id="R894327447d5c4e80"/>
    <p:sldId xmlns:r="http://schemas.openxmlformats.org/officeDocument/2006/relationships" id="272" r:id="R34dc82104f694cbb"/>
    <p:sldId xmlns:r="http://schemas.openxmlformats.org/officeDocument/2006/relationships" id="273" r:id="Rf447846abfd3464d"/>
    <p:sldId xmlns:r="http://schemas.openxmlformats.org/officeDocument/2006/relationships" id="274" r:id="Ref5d23b04a6145a0"/>
    <p:sldId xmlns:r="http://schemas.openxmlformats.org/officeDocument/2006/relationships" id="275" r:id="R0b75c94cb53f4062"/>
    <p:sldId xmlns:r="http://schemas.openxmlformats.org/officeDocument/2006/relationships" id="276" r:id="R0a588519741d4907"/>
    <p:sldId xmlns:r="http://schemas.openxmlformats.org/officeDocument/2006/relationships" id="277" r:id="R6b511d980d0e44cc"/>
    <p:sldId xmlns:r="http://schemas.openxmlformats.org/officeDocument/2006/relationships" id="278" r:id="Rb307ee5f240e46e8"/>
    <p:sldId xmlns:r="http://schemas.openxmlformats.org/officeDocument/2006/relationships" id="279" r:id="R698df521e79e4b72"/>
    <p:sldId xmlns:r="http://schemas.openxmlformats.org/officeDocument/2006/relationships" id="280" r:id="Re89a40cc7d604d29"/>
    <p:sldId xmlns:r="http://schemas.openxmlformats.org/officeDocument/2006/relationships" id="281" r:id="R10f9da5de5644c61"/>
    <p:sldId xmlns:r="http://schemas.openxmlformats.org/officeDocument/2006/relationships" id="282" r:id="R9805b35a0e6d4a78"/>
    <p:sldId xmlns:r="http://schemas.openxmlformats.org/officeDocument/2006/relationships" id="283" r:id="R09b7dbb5fc344bda"/>
    <p:sldId xmlns:r="http://schemas.openxmlformats.org/officeDocument/2006/relationships" id="284" r:id="R54954f0000ad422e"/>
    <p:sldId xmlns:r="http://schemas.openxmlformats.org/officeDocument/2006/relationships" id="285" r:id="R80ae983b532a4617"/>
    <p:sldId xmlns:r="http://schemas.openxmlformats.org/officeDocument/2006/relationships" id="286" r:id="R88148966faa94757"/>
    <p:sldId xmlns:r="http://schemas.openxmlformats.org/officeDocument/2006/relationships" id="287" r:id="Rb1c844c1522d4d7b"/>
    <p:sldId xmlns:r="http://schemas.openxmlformats.org/officeDocument/2006/relationships" id="288" r:id="R6737491b35b7476e"/>
    <p:sldId xmlns:r="http://schemas.openxmlformats.org/officeDocument/2006/relationships" id="289" r:id="R94ed8dd7712e4439"/>
    <p:sldId xmlns:r="http://schemas.openxmlformats.org/officeDocument/2006/relationships" id="290" r:id="Rd836c22dc6464de5"/>
    <p:sldId xmlns:r="http://schemas.openxmlformats.org/officeDocument/2006/relationships" id="291" r:id="R4f5c449a7ff249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e2b17d83ab4c4c" /><Relationship Type="http://schemas.openxmlformats.org/officeDocument/2006/relationships/slideMaster" Target="/ppt/slideMasters/slideMaster1.xml" Id="Rbefa3821d0ce4469" /><Relationship Type="http://schemas.openxmlformats.org/officeDocument/2006/relationships/notesMaster" Target="/ppt/notesMasters/notesMaster1.xml" Id="Rf809f2edb83148c7" /><Relationship Type="http://schemas.openxmlformats.org/officeDocument/2006/relationships/presProps" Target="/ppt/presProps.xml" Id="R268a5aed525c4cd5" /><Relationship Type="http://schemas.openxmlformats.org/officeDocument/2006/relationships/tableStyles" Target="/ppt/tableStyles.xml" Id="Re0aa7093f3414f06" /><Relationship Type="http://schemas.openxmlformats.org/officeDocument/2006/relationships/slide" Target="/ppt/slides/slide1.xml" Id="Rc8a1dc78736143ca" /><Relationship Type="http://schemas.openxmlformats.org/officeDocument/2006/relationships/slide" Target="/ppt/slides/slide2.xml" Id="Rba20156d57ad4494" /><Relationship Type="http://schemas.openxmlformats.org/officeDocument/2006/relationships/slide" Target="/ppt/slides/slide3.xml" Id="Rf45933144b2448ac" /><Relationship Type="http://schemas.openxmlformats.org/officeDocument/2006/relationships/slide" Target="/ppt/slides/slide4.xml" Id="Raca838df48274f7b" /><Relationship Type="http://schemas.openxmlformats.org/officeDocument/2006/relationships/slide" Target="/ppt/slides/slide5.xml" Id="R3767af282f934eee" /><Relationship Type="http://schemas.openxmlformats.org/officeDocument/2006/relationships/slide" Target="/ppt/slides/slide6.xml" Id="R303100acc8e64262" /><Relationship Type="http://schemas.openxmlformats.org/officeDocument/2006/relationships/slide" Target="/ppt/slides/slide7.xml" Id="R720ba30b00ce4d4c" /><Relationship Type="http://schemas.openxmlformats.org/officeDocument/2006/relationships/slide" Target="/ppt/slides/slide8.xml" Id="R237861b1642a417f" /><Relationship Type="http://schemas.openxmlformats.org/officeDocument/2006/relationships/slide" Target="/ppt/slides/slide9.xml" Id="R2d05d22402534659" /><Relationship Type="http://schemas.openxmlformats.org/officeDocument/2006/relationships/slide" Target="/ppt/slides/slide10.xml" Id="R1680b6a3241b44d3" /><Relationship Type="http://schemas.openxmlformats.org/officeDocument/2006/relationships/slide" Target="/ppt/slides/slide11.xml" Id="R77c00e5c50274185" /><Relationship Type="http://schemas.openxmlformats.org/officeDocument/2006/relationships/slide" Target="/ppt/slides/slide12.xml" Id="R548859e75f68459b" /><Relationship Type="http://schemas.openxmlformats.org/officeDocument/2006/relationships/slide" Target="/ppt/slides/slide13.xml" Id="R0221d70e9437495d" /><Relationship Type="http://schemas.openxmlformats.org/officeDocument/2006/relationships/slide" Target="/ppt/slides/slide14.xml" Id="R3a7895773846476c" /><Relationship Type="http://schemas.openxmlformats.org/officeDocument/2006/relationships/slide" Target="/ppt/slides/slide15.xml" Id="R8f359c374fcb4ace" /><Relationship Type="http://schemas.openxmlformats.org/officeDocument/2006/relationships/slide" Target="/ppt/slides/slide16.xml" Id="R894327447d5c4e80" /><Relationship Type="http://schemas.openxmlformats.org/officeDocument/2006/relationships/slide" Target="/ppt/slides/slide17.xml" Id="R34dc82104f694cbb" /><Relationship Type="http://schemas.openxmlformats.org/officeDocument/2006/relationships/slide" Target="/ppt/slides/slide18.xml" Id="Rf447846abfd3464d" /><Relationship Type="http://schemas.openxmlformats.org/officeDocument/2006/relationships/slide" Target="/ppt/slides/slide19.xml" Id="Ref5d23b04a6145a0" /><Relationship Type="http://schemas.openxmlformats.org/officeDocument/2006/relationships/slide" Target="/ppt/slides/slide20.xml" Id="R0b75c94cb53f4062" /><Relationship Type="http://schemas.openxmlformats.org/officeDocument/2006/relationships/slide" Target="/ppt/slides/slide21.xml" Id="R0a588519741d4907" /><Relationship Type="http://schemas.openxmlformats.org/officeDocument/2006/relationships/slide" Target="/ppt/slides/slide22.xml" Id="R6b511d980d0e44cc" /><Relationship Type="http://schemas.openxmlformats.org/officeDocument/2006/relationships/slide" Target="/ppt/slides/slide23.xml" Id="Rb307ee5f240e46e8" /><Relationship Type="http://schemas.openxmlformats.org/officeDocument/2006/relationships/slide" Target="/ppt/slides/slide24.xml" Id="R698df521e79e4b72" /><Relationship Type="http://schemas.openxmlformats.org/officeDocument/2006/relationships/slide" Target="/ppt/slides/slide25.xml" Id="Re89a40cc7d604d29" /><Relationship Type="http://schemas.openxmlformats.org/officeDocument/2006/relationships/slide" Target="/ppt/slides/slide26.xml" Id="R10f9da5de5644c61" /><Relationship Type="http://schemas.openxmlformats.org/officeDocument/2006/relationships/slide" Target="/ppt/slides/slide27.xml" Id="R9805b35a0e6d4a78" /><Relationship Type="http://schemas.openxmlformats.org/officeDocument/2006/relationships/slide" Target="/ppt/slides/slide28.xml" Id="R09b7dbb5fc344bda" /><Relationship Type="http://schemas.openxmlformats.org/officeDocument/2006/relationships/slide" Target="/ppt/slides/slide29.xml" Id="R54954f0000ad422e" /><Relationship Type="http://schemas.openxmlformats.org/officeDocument/2006/relationships/slide" Target="/ppt/slides/slide30.xml" Id="R80ae983b532a4617" /><Relationship Type="http://schemas.openxmlformats.org/officeDocument/2006/relationships/slide" Target="/ppt/slides/slide31.xml" Id="R88148966faa94757" /><Relationship Type="http://schemas.openxmlformats.org/officeDocument/2006/relationships/slide" Target="/ppt/slides/slide32.xml" Id="Rb1c844c1522d4d7b" /><Relationship Type="http://schemas.openxmlformats.org/officeDocument/2006/relationships/slide" Target="/ppt/slides/slide33.xml" Id="R6737491b35b7476e" /><Relationship Type="http://schemas.openxmlformats.org/officeDocument/2006/relationships/slide" Target="/ppt/slides/slide34.xml" Id="R94ed8dd7712e4439" /><Relationship Type="http://schemas.openxmlformats.org/officeDocument/2006/relationships/slide" Target="/ppt/slides/slide35.xml" Id="Rd836c22dc6464de5" /><Relationship Type="http://schemas.openxmlformats.org/officeDocument/2006/relationships/slide" Target="/ppt/slides/slide36.xml" Id="R4f5c449a7ff249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7b5d4ac62045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c63e28738408d" /><Relationship Type="http://schemas.openxmlformats.org/officeDocument/2006/relationships/notesMaster" Target="/ppt/notesMasters/notesMaster1.xml" Id="R306747f3e46d4f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c6d8862ac44fe3" /><Relationship Type="http://schemas.openxmlformats.org/officeDocument/2006/relationships/notesMaster" Target="/ppt/notesMasters/notesMaster1.xml" Id="R1dca784f049246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4d3fdbf8bf488d" /><Relationship Type="http://schemas.openxmlformats.org/officeDocument/2006/relationships/notesMaster" Target="/ppt/notesMasters/notesMaster1.xml" Id="R028cd39f587e4f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263cde978a4d2a" /><Relationship Type="http://schemas.openxmlformats.org/officeDocument/2006/relationships/notesMaster" Target="/ppt/notesMasters/notesMaster1.xml" Id="Rc62f948ffc9c48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c5f554e3004c94" /><Relationship Type="http://schemas.openxmlformats.org/officeDocument/2006/relationships/notesMaster" Target="/ppt/notesMasters/notesMaster1.xml" Id="R163658fb249442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bcb25a78b2498d" /><Relationship Type="http://schemas.openxmlformats.org/officeDocument/2006/relationships/notesMaster" Target="/ppt/notesMasters/notesMaster1.xml" Id="R69134e21951d4f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21567373db428b" /><Relationship Type="http://schemas.openxmlformats.org/officeDocument/2006/relationships/notesMaster" Target="/ppt/notesMasters/notesMaster1.xml" Id="Rc32714008fe34b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277e0585bc4296" /><Relationship Type="http://schemas.openxmlformats.org/officeDocument/2006/relationships/notesMaster" Target="/ppt/notesMasters/notesMaster1.xml" Id="Rb2151c9043b34c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74abbd18f148fa" /><Relationship Type="http://schemas.openxmlformats.org/officeDocument/2006/relationships/notesMaster" Target="/ppt/notesMasters/notesMaster1.xml" Id="R00f5c439ac754d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1de86198ac4290" /><Relationship Type="http://schemas.openxmlformats.org/officeDocument/2006/relationships/notesMaster" Target="/ppt/notesMasters/notesMaster1.xml" Id="Rd5ebe47e349e43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6fd282d67147cb" /><Relationship Type="http://schemas.openxmlformats.org/officeDocument/2006/relationships/notesMaster" Target="/ppt/notesMasters/notesMaster1.xml" Id="Rf016d3b427114d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792468ebb34d56" /><Relationship Type="http://schemas.openxmlformats.org/officeDocument/2006/relationships/notesMaster" Target="/ppt/notesMasters/notesMaster1.xml" Id="Rd52b9943641a41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320807ee0f46c0" /><Relationship Type="http://schemas.openxmlformats.org/officeDocument/2006/relationships/notesMaster" Target="/ppt/notesMasters/notesMaster1.xml" Id="R35188a0a01264a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895a5b305b41ad" /><Relationship Type="http://schemas.openxmlformats.org/officeDocument/2006/relationships/notesMaster" Target="/ppt/notesMasters/notesMaster1.xml" Id="Ra2584e2549184f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cb7712be8b4c9c" /><Relationship Type="http://schemas.openxmlformats.org/officeDocument/2006/relationships/notesMaster" Target="/ppt/notesMasters/notesMaster1.xml" Id="Rb2f7527554de42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850a810112446a" /><Relationship Type="http://schemas.openxmlformats.org/officeDocument/2006/relationships/notesMaster" Target="/ppt/notesMasters/notesMaster1.xml" Id="R7e2e1000b7b146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adb7bd31464e69" /><Relationship Type="http://schemas.openxmlformats.org/officeDocument/2006/relationships/notesMaster" Target="/ppt/notesMasters/notesMaster1.xml" Id="Rfbddcc189b3441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49b4ade54a4662" /><Relationship Type="http://schemas.openxmlformats.org/officeDocument/2006/relationships/notesMaster" Target="/ppt/notesMasters/notesMaster1.xml" Id="R025f1c4e4add48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f1857c7bf0435d" /><Relationship Type="http://schemas.openxmlformats.org/officeDocument/2006/relationships/notesMaster" Target="/ppt/notesMasters/notesMaster1.xml" Id="R8a87494697e14f7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96c0564fd44bc2" /><Relationship Type="http://schemas.openxmlformats.org/officeDocument/2006/relationships/notesMaster" Target="/ppt/notesMasters/notesMaster1.xml" Id="R1bc11fa808df48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a7d63433824452" /><Relationship Type="http://schemas.openxmlformats.org/officeDocument/2006/relationships/notesMaster" Target="/ppt/notesMasters/notesMaster1.xml" Id="Rea01696aa6a248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0c06698cba3410b" /><Relationship Type="http://schemas.openxmlformats.org/officeDocument/2006/relationships/notesMaster" Target="/ppt/notesMasters/notesMaster1.xml" Id="Rb16de343f89244a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d739e316854e74" /><Relationship Type="http://schemas.openxmlformats.org/officeDocument/2006/relationships/notesMaster" Target="/ppt/notesMasters/notesMaster1.xml" Id="R70e57ccd6d714e3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d7fe111cf5d464c" /><Relationship Type="http://schemas.openxmlformats.org/officeDocument/2006/relationships/notesMaster" Target="/ppt/notesMasters/notesMaster1.xml" Id="Ra7739a18302649f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78bbab182d4449" /><Relationship Type="http://schemas.openxmlformats.org/officeDocument/2006/relationships/notesMaster" Target="/ppt/notesMasters/notesMaster1.xml" Id="Rd098aabd59504e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8137ec40c83411b" /><Relationship Type="http://schemas.openxmlformats.org/officeDocument/2006/relationships/notesMaster" Target="/ppt/notesMasters/notesMaster1.xml" Id="R9e25647d6bbd431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c3fdee6d044552" /><Relationship Type="http://schemas.openxmlformats.org/officeDocument/2006/relationships/notesMaster" Target="/ppt/notesMasters/notesMaster1.xml" Id="R6db98de93dd445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b4dbe028cba406b" /><Relationship Type="http://schemas.openxmlformats.org/officeDocument/2006/relationships/notesMaster" Target="/ppt/notesMasters/notesMaster1.xml" Id="R23877240f2af4af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cc5096464694175" /><Relationship Type="http://schemas.openxmlformats.org/officeDocument/2006/relationships/notesMaster" Target="/ppt/notesMasters/notesMaster1.xml" Id="R23eba55d461b4c4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1e72e494be54f8a" /><Relationship Type="http://schemas.openxmlformats.org/officeDocument/2006/relationships/notesMaster" Target="/ppt/notesMasters/notesMaster1.xml" Id="Ra22cf3e964c64a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07523db57d947b3" /><Relationship Type="http://schemas.openxmlformats.org/officeDocument/2006/relationships/notesMaster" Target="/ppt/notesMasters/notesMaster1.xml" Id="R4bc3c01030e04c8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9036bb36dae4df3" /><Relationship Type="http://schemas.openxmlformats.org/officeDocument/2006/relationships/notesMaster" Target="/ppt/notesMasters/notesMaster1.xml" Id="R4abadcc810da4d5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cacd72c48f6432d" /><Relationship Type="http://schemas.openxmlformats.org/officeDocument/2006/relationships/notesMaster" Target="/ppt/notesMasters/notesMaster1.xml" Id="R46f6576520ea41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309c9786db4413e" /><Relationship Type="http://schemas.openxmlformats.org/officeDocument/2006/relationships/notesMaster" Target="/ppt/notesMasters/notesMaster1.xml" Id="R9ecdf7b0a5cb4a3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1cb7e375eae4255" /><Relationship Type="http://schemas.openxmlformats.org/officeDocument/2006/relationships/notesMaster" Target="/ppt/notesMasters/notesMaster1.xml" Id="Rc51d4bd61e8d45b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c838bdb4a5f43b0" /><Relationship Type="http://schemas.openxmlformats.org/officeDocument/2006/relationships/notesMaster" Target="/ppt/notesMasters/notesMaster1.xml" Id="R7cc2a281ec334e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Welcome. The audience plays an incident change board. This shared-platform incident is fictional. The lab artifacts are real repository outputs. Milind Gunjan and Vivek Mayuranathan are co-presenters and jointly lead the session. Explain that the policy agent proposes and humans deploy. Repository source: https://github.com/mgunjan/agentic-k8s-guardrails/blob/main/tabletop/STORY.md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00:20–01:00. Milind explains the security problem and intended artifact before the technical briefing. Services and automated agents share infrastructure, workload identities and dependencies. Harmful access can exceed its intended boundary, while a broad restriction can interrupt legitimate service. The session builds a reviewable change set from security intent, with policy tests, expiring exceptions, staged rollout and a scoped incident response. State that architecture, data boundaries and implementation come before case selection and team exercises. Do not start a case narrative or ask for a containment decision here. The policy agent proposes bounded choices; people authorize deployment and recovery. The common demo compiles a supplied reference spec, not audience prose. Quarantine Mode is a coordinated project-defined posture; each control requires its own implementation and verification. Repository source: https://github.com/mgunjan/agentic-k8s-guardrails/blob/main/tabletop/congress-2026/TECHNICAL-BRIEF.md Repository source: https://github.com/mgunjan/agentic-k8s-guardrails/blob/main/generator/policy_agent.py Repository source: https://github.com/mgunjan/agentic-k8s-guardrails/blob/main/quarantine/quarantine-mode.md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01:00–01:40. Milind starts without assuming Kubernetes knowledge: Kubernetes manages application packages, called containers, across a pool of machines. Applications and automated agents share that platform. Explain familiar functions before naming their Kubernetes equivalents: application copies, resource groups and workload identities. A cluster is the shared platform running services and agents; a namespace is a named resource group, not automatic isolation; a Pod is a running unit containing one or more containers; a ServiceAccount is the identity a workload uses to call the Kubernetes API. Replicas are copies of a workload. Point to payments and agents as example groups, with payments-api, support-agent, ops-agent and monitoring-agent appearing only when their case is selected. Keep this slide on platform structure. Introduce the four alternative fictional case alerts only after the technical briefing. The recorded enforcement environment is a separate disposable local k3s/Kyverno lab, with synthetic stand-in applications. Definitions: https://kubernetes.io/docs/concepts/overview/ ; https://kubernetes.io/docs/concepts/containers/ ; https://kubernetes.io/docs/concepts/workloads/pods/ ; https://kubernetes.io/docs/concepts/overview/working-with-objects/namespaces/ ; https://kubernetes.io/docs/concepts/security/service-accounts/ . Repository source: https://github.com/mgunjan/agentic-k8s-guardrails/blob/main/tabletop/congress-2026/INCIDENT-BRIEF.md Repository source: https://github.com/mgunjan/agentic-k8s-guardrails/blob/main/lab/README.md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01:40–02:30. Vivek gives the security-control map before the exercise. Suggested spoken explanation: Falco supplies a runtime detection layer, while Kubernetes audit logs record management requests. Kyverno checks a proposed change before it takes effect, a checkpoint called admission. It can refuse a new Pod that requests privilege escalation. Traffic restrictions and API permissions require their own controls. The policy agent proposes controls, and people authorize containment and recovery. Our Falco rules passed validation, but we have not verified live alert detection; the incident alerts are supplied exercise facts. The common demo compiles a prepared proposal and runs policy tests. Point out that denying a new Pod leaves an existing Pod and a copied token requiring separate response. Define RBAC as API permissions and NetworkPolicy as traffic rules enforced by the cluster networking implementation. Runtime rules are provided for A/B, with Kubernetes audit plugin rules for C. Case D uses audit evidence and a separately executed synthetic authorization/credential lab, not a verified Falco read detector. Falco rules detect and emit signals; no alert-to-Quarantine automation is implemented here. People assess the signal, choose a scoped level and require control-specific verification. This is a control map, not a claim of a connected, production-qualified detection pipeline. Keep this fifty-second control overview separate from the following implementation walkthrough. Sources: https://falco.org/docs/ ; https://falco.org/docs/concepts/event-sources/plugins/kubernetes-audit/ ; https://kyverno.io/docs/policy-types/validating-policy/ ; https://kubernetes.io/docs/reference/access-authn-authz/admission-controllers/ ; https://kubernetes.io/docs/reference/access-authn-authz/rbac/ ; https://kubernetes.io/docs/concepts/services-networking/network-policies/ . Repository source: https://github.com/mgunjan/agentic-k8s-guardrails/blob/main/runtime/falco-rules-syscall.yaml Repository source: https://github.com/mgunjan/agentic-k8s-guardrails/blob/main/runtime/falco-rules-k8saudit.yaml Repository source: https://github.com/mgunjan/agentic-k8s-guardrails/blob/main/lab/README.md Repository source: https://github.com/mgunjan/agentic-k8s-guardrails/blob/main/submission/2026-10-14/demo-audit/CI-RESULT.json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02:30–03:30. Milind walks the actual Agent.run method. This is a Python harness with a fixed tool sequence; the provider chooses among typed options. Distinguish the policy agent from a support/ops/monitoring agent in the fictional case. Each intent clause maps to one of ten choices, including process and not_implementable. The harness observes fixture workload labels in the presenter path; optional core CLI live observation is a separate kubectl GET path. The model selects preserve/deny for observed dependency profiles. Code renders values into reviewed templates, simulates covered requests with Kyverno CLI and asks what to do about a blocked workload. Only egress-profile allowances can widen automatically inside the proposed spec; other widening becomes a human exception request. The loop stops after no further change or at most three render/test rounds. It writes a local PR.md review bundle, not a GitHub pull request. No deployment or approved exception occurs in this path. The reference demo bypasses these model choices using a supplied spec; authentic replay reuses recorded choices while tools execute now. A provider adapter does not change these boundaries. Repository source: https://github.com/mgunjan/agentic-k8s-guardrails/blob/main/generator/policy_agent.py Repository source: https://github.com/mgunjan/agentic-k8s-guardrails/blob/main/generator/decider_agent.py Repository source: https://github.com/mgunjan/agentic-k8s-guardrails/blob/main/tabletop/congress-2026/demo.py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03:30–04:30. Vivek traces the actual strings built in policy_agent.py and decider_agent.py. Control questions contain the current clause and full intent. Dependency questions contain full intent, profile and workload names. Block questions contain full intent, workload, policy and the first 300 characters of the denial reason. Hosted adapters transmit those task strings to the selected provider. These calls do not send the complete Pod inventory, credentials or Falco events as a designed payload; user-authored task text must still be treated as provider-visible data. The presenter uses synthetic fixtures, not production inventory. The parser requires a listed string choice and a finite score from zero to one; unknown or unreadable answers abstain. The cutoff 0.6 routes a decision for review, not calibrated deployment risk. On an uncertain dependency the code retains the proposed profile allowance and flags it, preserving availability while leaving exposure for review. Escalated control clauses enable no control. Explain those different defaults explicitly. The core CLI has an optional kubeconfig-backed read path, whereas the bounded presenter wrapper uses fixtures and issues no kubectl calls. Code having no deployment action does not isolate its process credentials; separate IAM, read-only observation and deployment identities require operator enforcement. Reference/replay performs no new inference. No Falco-to-agent or Falco-to-quarantine integration is implemented. Repository source: https://github.com/mgunjan/agentic-k8s-guardrails/blob/main/generator/policy_agent.py Repository source: https://github.com/mgunjan/agentic-k8s-guardrails/blob/main/generator/decision_contract.py Repository source: https://github.com/mgunjan/agentic-k8s-guardrails/blob/main/submission/2026-10-12/benchmark/provider_clients.py Repository source: https://github.com/mgunjan/agentic-k8s-guardrails/blob/main/tabletop/congress-2026/demo.py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04:30–05:15. Milind demonstrates the internal mapping using a prepared requirement before any case choice. This is the A privilege clause as a small technical example, not the table statements. Run the bounded reference compiler with a fresh output directory; use the pre-opened result if the command is unavailable or exceeds its deadline. Show the actual ValidatingPolicy API, payments match, CREATE operation, regular/init container aggregation, privileged default false and allowPrivilegeEscalation default true, which requires an explicit false. The control does not implement the full Restricted Pod Security Standard or cover existing Pods and debug subresources. Show policies/, stages/, tests/, PR.md, readiness.json and provenance.json. No GitHub pull request is opened. The reference spec bypasses inference; an authentic replay or bounded optional provider run is a different path. Keep this walkthrough to forty-five seconds and finish with the whole-intent ledger on the next slide. Repository source: https://github.com/mgunjan/agentic-k8s-guardrails/blob/main/output/frozen-a/policies/deny-privilege-escalation.yaml Repository source: https://github.com/mgunjan/agentic-k8s-guardrails/blob/main/generator/generate.py Repository source: https://github.com/mgunjan/agentic-k8s-guardrails/blob/main/controls/catalog.json Repository source: https://github.com/mgunjan/agentic-k8s-guardrails/blob/main/tabletop/congress-2026/demo.py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05:15–06:15. This is the full four-clause Scenario A reference intent; the preceding single privilege example covers one clause. Read the missing clause first. After the technical briefing, tables will choose a case and compare their own intent with that prepared excerpt during proposal review. A table’s new wording is compared with that prepared artifact, not claimed as its model input. The current demo emits readiness.json: privilege behavior can PASS while the overall proposal remains REVIEW_REQUIRED. The authentic recorded Strands run remains INCOMPLETE_PROPOSAL because privilege coverage is missing. Admission does not enforce Secret GET/LIST. An egress-profile admission label rule also requires the corresponding NetworkPolicy to constrain actual traffic. A handover is visible incompleteness, not completed enforcement. In A, registry restriction was added at Audit although the intent did not request it. Ask whether to keep it. Repository source: https://github.com/mgunjan/agentic-k8s-guardrails/blob/main/output/frozen-a/PR.md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06:15–07:15. Vivek identifies the actual objects and authority before teams build their response. Quarantine Mode is a project-defined posture, implemented by reviewed manifests plus operator runbook actions. Q1 uses native ValidatingAdmissionPolicy and binding to deny writes by system:serviceaccount:agents identities while reads remain; the native location is the API server. It does not cover a sidecar using another namespace identity or a GitOps controller acting under its own identity. Q1 also adds an exception gate. Q2 applies network rules and protected quarantine labels; evidence capture, ServiceAccount authorization changes, tool/input suspension and service-capacity review are separate operator actions. Q3 adds suspect deny-all selection and a payments Pod CREATE gate with incident-commander annotation AND requester-group override. The model does not choose or apply a level. A Falco alert does not activate these changes automatically. Each layer needs its own applied-state check and positive control. State declaring/lifting authority and availability floor without revealing the later lab observations. At minute 26 teams revisit this map, open page 7 only at minute 27, then write their ordered response through minute 34. Repository source: https://github.com/mgunjan/agentic-k8s-guardrails/blob/main/quarantine/q1/freeze-agent-changes.yaml Repository source: https://github.com/mgunjan/agentic-k8s-guardrails/blob/main/quarantine/q2/ Repository source: https://github.com/mgunjan/agentic-k8s-guardrails/blob/main/quarantine/q3/admission-policies.yaml Repository source: https://github.com/mgunjan/agentic-k8s-guardrails/blob/main/quarantine/q3/network-and-identity.yaml Repository source: https://github.com/mgunjan/agentic-k8s-guardrails/blob/main/quarantine/quarantine-mode.md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07:15–08:00. Vivek states the contract: We provide case facts, prepared proposals and enforcement evidence. Your decisions determine the authority you would grant, the exposure you accept and the tests you require; we do not simulate a branching production incident from your prose. Your intent stays on the worksheet; the common demo compiles a supplied reference spec. Vivek assigns the incident review role, explains the four table roles and holds up the actual pack and worksheet. The lead states the decision, recorder writes page 6, analyst checks evidence and independent reviewer raises a concern before the decision. Roles are recorded during the final setup minute. Say: Your table decides what may proceed, what it holds and what evidence must come before enforcement. Record intent, proposal disposition, exception/rollout conditions, ordered containment and recovery on page 6. Work in plain language, without laptops or YAML. Pages 2–5 are the four case cards, page 6 is the shared record, and pages 7/8 stay sealed until their rounds. Keep the CONTROL-REVIEW findings sealed too. State the sequence: discuss, write before the reveal, hear the evidence, and revise beside the first answer. At most two twenty-second table reports. Milind demonstrates the compiler and policy consequences; Vivek leads proposal reviews and evidence reveals; both share round discussions and debrief. Audience prose does not automatically run through a model or deploy. The common demo uses a supplied reference spec. Use the clock to protect writing time. Repository source: https://github.com/mgunjan/agentic-k8s-guardrails/blob/main/tabletop/congress-2026/CO-PRESENTER-CARDS.md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08:00–09:15. Give tables 75 seconds to choose and read the initial alert on pages 2–5. Every table has the four-case participant pack and selects one case. Do not disclose causes yet. A/B/C use excerpted reference PRs and fixture simulation results. D extends scenarios/05-secret-enumeration.md into an RBAC boundary exercise. D uses a human RBAC review and a separately executed synthetic read-authorization/network/credential lab. No generator scenario d or model-generated RBAC is claimed. Explain that Secrets are platform records that can contain credentials; listing them is an observed action, not proof that an application key was used. Translate replicas as application copies and namespaces as resource groups. Teams identify the owner and acceptance evidence for API reads before the recorded lab reveal. If teams cluster on one case, invite volunteers to try another, without removing choice. Repository source: https://github.com/mgunjan/agentic-k8s-guardrails/blob/main/scenarios/05-secret-enumeration.md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09:15–11:00. Explain the constraints for forty-five seconds, then give one minute for setup. Tables record case, roles, constraint and a measurable minimum service on page 6. With fewer than four participants, combine roles. Both co-presenters check readiness at different tables. Use the room seating plan. Explain scoring in one sentence and leave details on the scorecard. Teams choose their constraint, even if it differs from their real role. The pack offers concrete fictional floors to make choices comparable. Require a measurable floor such as two healthy service replicas and verified dependency access. Avoid treating any fictional notification threshold as legal guidance. Repository source: https://github.com/mgunjan/agentic-k8s-guardrails/blob/main/tabletop/packet/content.yaml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11:00–15:00. Spend no more than twenty seconds on the visible example: blocking new privileged workloads while allowing approved releases states a forbidden behavior and a preserved dependency; it does not stop an existing process. Give the remaining time to team work. The lead reads the first alert, the reader summarizes the environment and the scribe writes an intent and constraint. Vivek collects one sentence from two tables. Do not promise that the unvalidated model will translate arbitrary audience prose on stage. During the common demonstration, compare the audience wording to the reference clause map. Generated incident-room art is a visual metaphor, not cluster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15:00–19:00. Teams review their case page. Every team writes a decision and one reason. A catches insufficient host protection and the unresolved RBAC clause. B distinguishes a Pod identity from a sidecar identity and tool misuse from admission. C asks whether the requester is the agent or a human and whether RBAC should have granted the action at all. D rejects an admission-only claim for Secret reads. Invite two contrasting votes. The co-presenter asks what evidence would change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19:00–22:00. Read the case-specific request from the pack. Do not announce a preferred disposition before the table commits. Ask what legitimate operation must continue, what authority it would grant while verification is pending and what evidence would change its answer. The temporary request and approval assertions are fictional exercise facts. Teams must establish approval independently of the agent’s assertion. A: backup-job/storage may have a legitimate narrow temporary need. B: an exception that restores the suspect’s path can undo containment. C: an ops-agent request to widen access requires human identity verification and scope. D: no admission exception fixes excessive Secret-read RBAC. Record owner, clock time of expiry, exact workload/control and independent approval evidence. If refusing or holding the request, record the verification needed before reconsidering it; do not invent an approver or claim a paper-plan revocation has occurred. Repository source: https://github.com/mgunjan/agentic-k8s-guardrails/blob/main/tabletop/packet/content.yaml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22:00–26:00. Audit/Warn/Deny are Kyverno validationActions. Promotion is a human decision. During a confirmed incident some controls may start at Deny, with an explicit compatibility and availability check. Scheduled exception cleanup requires the controller to be enabled and authorized. The October 13 rehearsal first failed because the cleanup controller lacked deletion permission. The scoped repair grants only PolicyException deletion in payments. Its five-minute schedule allows lag beyond the timestamp; it does not terminate an existing Pod, credential or session. See the separate live expiry evidence before claiming successful revocation. Both current compiler and agent write the staged policy manifests. The agent also writes a requirement ledger, provenance and focused independent privilege tests. Human promotion remains disabled; the new artifacts are runtime remediation, not a rerun of the frozen benchmark. All requirements still need explicit reviewer disposition. Repository source: https://github.com/mgunjan/agentic-k8s-guardrails/blob/main/generator/generate.py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26:00–34:00. Teams open their Round 3 alert, number their actions, choose Q0–Q3 and name the incident commander. Require enough specificity to execute: namespace/workload/identity, evidence source, control delta, availability floor, who declares and who can lift. The lab preserves evidence before relabeling. Evidence collection can itself mutate a Pod by adding a debug container; disclose that footprint. In a real active incident, use authorized response procedures and weigh immediate containment needs, rather than claiming this order universally overrides urgency. Generated incident-room art is a visual metaphor, not cluster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34:00–38:00. A learns a second replica has the same image and a host-mounted helper bypasses the existing set. B learns a debug API path and injected ticket/tool scope matter. C learns the agent supports billing while a human is asked to widen RBAC. D learns credential rotation affects the database proxy. Give four minutes. Scribes keep the original decision visible so change is observable. Vivek records one revised and one held decision for the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38:00–38:30. These consequences come from stored lab recordings and the October 10 run. Say recorded lab when showing an image or animation. They are not a live attack against a real company and are not a real model run. No score. Teams predict, then revise. Budget at most six minutes for all four. Repository source: https://github.com/mgunjan/agentic-k8s-guardrails/blob/main/lab/RESULTS-live-2026-10-10.txt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38:30–40:00. Ask yes/no before revealing. Adding an empty allow list cannot subtract the DNS allow from the Q2 policy. In the lab the isolated label excludes the suspect from that allowance. The Oct 10 log verifies retained DNS before the label and loss after it.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NetworkPolicy allows are additive. Use the standalone situation display only after venue rehearsal. Repository source: https://github.com/mgunjan/agentic-k8s-guardrails/blob/main/lab/RESULTS-live-2026-10-10.txt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40:00–41:30. Define eviction as a voluntary request to remove a running copy, replacement as starting a new copy, and the PodDisruptionBudget as the rule limiting voluntary removal to preserve availability. Q3 refuses a replacement. After one eviction, minAvailable=2 blocks the next. The first eviction also destroys uncaptured evidence. Preserving suspects in place and checking clean capacity are part of the plan.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Recovery and evidence can deadlock. Use the standalone situation display only after venue rehearsal. Repository source: https://github.com/mgunjan/agentic-k8s-guardrails/blob/main/lab/RESULTS-live-2026-10-10.txt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41:30–42:30. A rule matching Pods alone can miss pods/ephemeralcontainers. The fixed lab tests approved and unapproved debug images, including privilege checks. Approve a suitable forensic image before incident use.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The subresource changes the boundary. Use the standalone situation display only after venue rehearsal. Repository source: https://github.com/mgunjan/agentic-k8s-guardrails/blob/main/lab/RESULTS-live-2026-10-10.txt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42:30–44:00. The recorded unguarded agent scales Kyverno to zero; its webhooks disappear, while NetworkPolicies continue. Native Q1 freeze holds during the incident and a native guard protects the engine. The durable fix includes narrower RBAC.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The policy engine needs its own guard. Use the standalone situation display only after venue rehearsal. Repository source: https://github.com/mgunjan/agentic-k8s-guardrails/blob/main/lab/RESULTS-live-2026-10-10.txt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44:00–45:00. Reveal causes after the decisions. A investigates a potentially compromised library update; the initial scope is uncertain. B and C are fictional injected-input incidents. D is a fictional overprivileged monitoring identity; its separate synthetic October 13 lab shows copied-token Secret reads still allowed after the suspect Pod is network-quarantined. Read authorization and credential response belong to separate controls. At 44:30 read the prediction a D table locked during Round 3, then compare it with the status-only transcript or backup slide 32 inside this existing minute. If no table chose D, collect a short ungraded prediction before displaying this slide: a copied token is used outside its network-quarantined Pod; does the Pod policy restrict that API request? Do not imply this new room prediction was locked earlier. Do not ask for a first prediction after the result is visible and do not add another demo. Do not cite unverified real-world incident anecdotes from the old deck. Ask neighboring tables to exchange one decision and name the differing constraint during the reveal. Prompt: would your plan still work in the other case, and what dependency or identity assumption would fail? Each table gives one sentence of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45:00–48:00. Vivek gives each table CONTROL-REVIEW.pdf page 1; keep page 2 sealed. Milind shows the recorded proposal. This is one actual local Laya head fine-tune and fixture workflow, not live model inference or current containment. Tables record a disposition, two unresolved requirements, their owners, and an acceptance test. The existing 0.6 cutoff accepts clauses 1, 2 and 4; clause 3 escalates. Scores come from the recorded answer_confidence signal after temperature fitting on separate synthetic data; deployment calibration is not established. Do not announce the ledger result until choices are locked. Reward a justified revision or request for evidence. The old three-case Jev/Claude challenge remains an optional methodology discussion; do not add it to the hour. Source: submission/2026-10-13/CONTROL-REVIEW-EXERCISE.md; laya-training/workflow-cost/run-1/agent-run.json.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48:00–49:00. Milind reveals readiness.json: INCOMPLETE_PROPOSAL. Six fixed Pod CREATE privilege checks pass, but network and process clauses map to the wrong control and Kubernetes API access remains unresolved. Vivek asks one table to defend its disposition and name the actual enforcement owner. The reference control catalog identifies ACG-NET-001 (admission plus CNI), ACG-IAM-001 (RBAC plus credential response) and ACG-GOV-001 (rollout/expiry governance). Its metadata and tests do not grant approval. A catalog must state exact coverage, test evidence and unresolved requirements. This trained candidate did not improve the 33-choice runtime-order pilot: 16/33 both before and after; selected answers increased from 2 to 21, with six wrong among those 21. Its three complete fixture proposals took median 0.975 s, but all remained incomplete. No API charge; local compute unpriced. Source: submission/2026-10-13/REVIEW.md; workflow-cost/run-1/readiness.json; controls/catalog.json.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49:00–50:00. Close the recorded proposal review by asking whether the speed or API price justifies granting unresolved authority; it does not. These historical measurements support candidate screening. Production selection still requires representative error consequences, reviewer effort, failure behavior and setup/operations costs. Show the model/workflow comparison for one minute. The zero-shot Laya column is the October 12 frozen-pilot result, separate from the trained proposal just reviewed. Its frozen option order differs from the runtime order used for the new trained comparison. This is a screening pilot, not production certification or classifier-class superiority. Claude Opus 5.5 used adaptive thinking with medium effort and strict structured output; Jev returned its typed distribution. Returned IDs were claude-opus-5-5 and jev-1.13.0. Cases and labels unchanged from local pilot; 33 scored and four hostile report-only cases. No unreadable answers. Exact McNemar: two Claude-only correct, zero Jev-only, p=0.50. Decision latency covers 37 warm HTTP requests, excluding warmup. Scenario A time and API price are median of three newly measured complete fixture runs: decisions, compilation, Kyverno simulation and local proposal writing. Jev range 1.69–2.05 seconds; Claude 19.41–28.39 seconds. Jev eight API calls and four escalations each run; Claude eight or nine calls and one escalation. Human review and deployment excluded. Clients were launched concurrently, each sequential internally; Jev completed while the first Claude run was in progress. Three runs cannot establish p95 or load performance. List prices checked October 12: Jev $0.042/M input tokens, outputs free; Claude $4/M input and $20/M output. Scenario A per run: Jev 4,552 input tokens and 634 free output tokens; Claude 6,483–7,222 input and 545–931 output tokens. Model cost is estimated from usage, not an invoice. Setup effort was not timed or priced. Four human escalations versus one can dominate total cost; see RUN-COST-ANALYSIS.md. Zero selected mistakes does not certify a threshold: only 26 selected cases and different score definitions. OpenAI has not run because no OpenAI key was supplied. Laya added as a local comparator: 16/33 pilot, 0.089-second median in-process decision latency on MPS, excluding HTTP. Its Scenario A three-run median was 0.41 seconds, but every clause escalated and no guardrail was generated. Four model calls versus eight or nine hosted calls means it did less work. No API charge; compute, energy and operations unpriced. Model load excluded and reported separately. No throughput or production winner claim. Sources: submission/2026-10-12/HOSTED-COMPARISON.md; https://docs.typesafe.ai/models; https://platform.claude.com/docs/en/models/overview; https://platform.claude.com/docs/en/build-with-claude/structured-outputs.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50:00–54:00. Add a concrete exit criterion to the worksheet. A: reviewed clean image and no ongoing suspect connections. B: ticket/tool boundary repaired and tested. C: scoped RBAC, verified approvals and input source repaired. D: affected credentials rotated or accepted risk documented, least-privilege Role and tested metrics recovery. Descent is Q3, Q2, Q1, Q0 under authorized review. If critical service has no clean serving capacity, record the conflict instead of declaring success. Generated incident-room art is a visual metaphor, not cluster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54:00–55:00. Show this illustrative paper decision record only after teams have completed recovery. This is one defensible Case A example, not the only answer, a model output or proof of executed containment. Trace the same requirement through initial disposition, later evidence, changed order and recovery tests. Explain that two ready copies are not automatically two trusted clean copies. Compare one table’s actual revision, accepting a defensible hold. 55:00–57:00. Tally points, hear at most two twenty-second reports and ask each participant to record a requirement, owner and verification step for their own environment. 57:00–60:00 questions. Preserve all three learning outputs: intent/map, justified controls/exceptions and a scoped containment/recovery playbook. Repository source: https://github.com/mgunjan/agentic-k8s-guardrails/blob/main/tabletop/congress-2026/WORKED-DECISION.md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resource slide. Public curated repository verified: https://github.com/mgunjan/sc2632-tabletop. Start with its README; the no-key reference demo compiles and tests a supplied spec and retains human review. Share the complete exercise package after the sealed evidence is revealed. Describe cloud agnostic as implementation patterns based on Kubernetes APIs, not a claim that every managed distribution has been tested. The source includes historical single-node k3s and the October 13 presenting-Mac three-node k3d record. These do not establish support across all managed Kubernetes platforms. Repository source: https://github.com/mgunjan/agentic-k8s-guardrails/blob/main/README.md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terminal compilation is unavailable. This is a summarized excerpt, not verbatim full YAML. Show output/frozen-a/policies/deny-privilege-escalation.yaml for the complete policy. The specification was hand-written and the generator rendered it. Repository source: https://github.com/mgunjan/agentic-k8s-guardrails/blob/main/output/frozen-a/PR.md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Abridged from the frozen Scenario A admission report. These are offline simulations on fictional fixtures. They do not prove that the admission policy constrains a running connection, reads or internal tool calls. Repository source: https://github.com/mgunjan/agentic-k8s-guardrails/blob/main/output/frozen-a/PR.md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within the existing 44–45 case comparison for a D table or as a Q&amp;A backup. Lock the copied-credential prediction during Round 3 before showing this table. Then compare each state and identify which authority boundary changed. This is the actual October 13 presenting-Mac run on synthetic resources, separate from the fictional incident. The suspect cannot open a new API TCP connection while an unaffected positive control still can. The same bearer token used from outside the Pod continues Secret GET/LIST in two other namespaces. Removing its broad binding gives HTTP 403 while preserving exactly one named in-namespace Secret GET and one ConfigMap GET; in-namespace LIST is also denied. The replacement has its own Pod-bound credential and restored API connectivity. Old-token authentication returns 401 41.2 seconds after bound-Pod deletion; the old token was far from natural expiry. New-token positive reads still return 200, and outside reads remain 403. There are 58 passing observations, including repeated health samples, not independent incident scenarios. No production monitoring delivery, audit export, external application-key revocation or compromise eradication is claimed. RBAC proposal is manually reviewed, not model generated. Source: submission/2026-10-13/live-rehearsal/case-d/result.json; lab/verify-case-d.py; scenarios/d-secret-enumeration/review/PR.md; https://kubernetes.io/docs/reference/access-authn-authz/service-accounts-admin/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 selection only: 27 states, six dependency/blocked-workload questions excluded from the full workflow. The TF-IDF word/character model trains in 0.101 s on CPU and takes median 0.523 ms per decision. Base and trained Laya take approximately 89 ms in-process on MPS. Synthetic test: classifier 54/60, base 36/60, trained 37/60; only ten held-out templates, not independent enterprise incidents. Classifier control-pilot ECE 0.247. No universal superiority or production readiness claim. Full-state exception features corrected an earlier unfair scope comparison, raising 2/12 to 12/12. The Qwen recording is incomplete against current states. Laya head training took 57 s. Runtime-order full-pilot accuracy stayed 16/33; six wrong among 21 selected after training. Source: submission/2026-10-13/REVIEW.md; laya-training/control-holdout-rescored/summary.json.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duration and engineering costs were not measured, so no setup-cost winner is claimed. Hosted candidates require no locally owned inference GPU but still require billing, credential security, network and provider-failure handling. Local candidates used the existing Apple-silicon Mac with 18 GiB RAM; there is no measured acquisition, energy or operations charge. Shared deterministic tools and testing apply to either. Total cost per accepted change = amortized setup + inference + compute/operations + human review + failure/rework. Illustrative rate only: at $120/hour, one extra minute costs $2, exceeding the approximately $0.0378 API cost difference per Scenario A run. Jev escalated four items versus Claude one in these runs; item count is not measured human time. Do not claim lower total cost from token price alone. Source: submission/2026-10-12/RUN-COST-ANALYSIS.md; benchmark/workflow-cost/.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metrics preserved from the prior deck. Full confidence distributions and recordings are in benchmark/. The 0.6 scores are not matched calibrated risk. Laya in-process timing excludes HTTP; its incomplete workflow did less work. Jev versus Claude paired accuracy p=0.50 is inconclusive. Human review and deployment excluded; costs are usage-based list-price estimates, not invoices. Sources: HOSTED-COMPARISON.md and RUN-COST-ANALYSIS.md.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1e4ae6ee924f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915fba49c349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307b75706f43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1a6370ac2445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4c3bbec6694b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4bbf24a9d041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15B00-874D-4DEA-8C66-F256AD4C8E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2C45BC-180E-4F59-A074-D5CDF108F7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097411-1257-40A2-B2A4-5B170A9173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22E90C-EFA9-4B5E-9F87-4D3E4AC123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2F226D-EA65-44C9-BB6D-17D32D7C1E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5849D3-E068-4C8B-BA10-760478F3A6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9A3B62-B1EA-40E7-BAE0-F211E72FB5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E09D76-421B-4183-BF3D-BD758F0E65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DAFCC9-8F0B-4B47-8488-4F649055FD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B18926-875C-4CC5-AA2E-9492FFE1D7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a06895f2ba411e" /><Relationship Type="http://schemas.openxmlformats.org/officeDocument/2006/relationships/slideLayout" Target="/ppt/slideLayouts/slideLayout1.xml" Id="Re13e3b586dee494c" /><Relationship Type="http://schemas.openxmlformats.org/officeDocument/2006/relationships/slideLayout" Target="/ppt/slideLayouts/slideLayout2.xml" Id="R692f342f0ddf47cb" /><Relationship Type="http://schemas.openxmlformats.org/officeDocument/2006/relationships/slideLayout" Target="/ppt/slideLayouts/slideLayout3.xml" Id="Rcd3f5c5fefd9400a" /><Relationship Type="http://schemas.openxmlformats.org/officeDocument/2006/relationships/slideLayout" Target="/ppt/slideLayouts/slideLayout4.xml" Id="Re81768ec4ab84dea" /><Relationship Type="http://schemas.openxmlformats.org/officeDocument/2006/relationships/slideLayout" Target="/ppt/slideLayouts/slideLayout5.xml" Id="Rb913dbe4450c4695" /><Relationship Type="http://schemas.openxmlformats.org/officeDocument/2006/relationships/slideLayout" Target="/ppt/slideLayouts/slideLayout6.xml" Id="R530eb5dd68824a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3e3b586dee494c"/>
    <p:sldLayoutId xmlns:r="http://schemas.openxmlformats.org/officeDocument/2006/relationships" id="2147483650" r:id="R692f342f0ddf47cb"/>
    <p:sldLayoutId xmlns:r="http://schemas.openxmlformats.org/officeDocument/2006/relationships" id="2147483651" r:id="Rcd3f5c5fefd9400a"/>
    <p:sldLayoutId xmlns:r="http://schemas.openxmlformats.org/officeDocument/2006/relationships" id="2147483652" r:id="Re81768ec4ab84dea"/>
    <p:sldLayoutId xmlns:r="http://schemas.openxmlformats.org/officeDocument/2006/relationships" id="2147483653" r:id="Rb913dbe4450c4695"/>
    <p:sldLayoutId xmlns:r="http://schemas.openxmlformats.org/officeDocument/2006/relationships" id="2147483654" r:id="R530eb5dd68824a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cb7c96b117435b" /><Relationship Type="http://schemas.openxmlformats.org/officeDocument/2006/relationships/image" Target="/ppt/media/image.png" Id="R7e598446edd4488c" /><Relationship Type="http://schemas.openxmlformats.org/officeDocument/2006/relationships/notesSlide" Target="/ppt/notesSlides/notesSlide1.xml" Id="R1e2e2578f97e49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4478939e2744aa" /><Relationship Type="http://schemas.openxmlformats.org/officeDocument/2006/relationships/notesSlide" Target="/ppt/notesSlides/notesSlide2.xml" Id="Rfa25187511c642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4d29206b454654" /><Relationship Type="http://schemas.openxmlformats.org/officeDocument/2006/relationships/notesSlide" Target="/ppt/notesSlides/notesSlide3.xml" Id="R34c7341fe68947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7d1624d82f4ce5" /><Relationship Type="http://schemas.openxmlformats.org/officeDocument/2006/relationships/notesSlide" Target="/ppt/notesSlides/notesSlide4.xml" Id="Rff2a0a9ddb0548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502547e6904486" /><Relationship Type="http://schemas.openxmlformats.org/officeDocument/2006/relationships/notesSlide" Target="/ppt/notesSlides/notesSlide5.xml" Id="Rf9cc15660dad4d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757fd84fea4a8e" /><Relationship Type="http://schemas.openxmlformats.org/officeDocument/2006/relationships/notesSlide" Target="/ppt/notesSlides/notesSlide6.xml" Id="Rb53b25dc844345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a158f217e74ced" /><Relationship Type="http://schemas.openxmlformats.org/officeDocument/2006/relationships/notesSlide" Target="/ppt/notesSlides/notesSlide7.xml" Id="Rbdb7c66fe4e643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88009b11e442c2" /><Relationship Type="http://schemas.openxmlformats.org/officeDocument/2006/relationships/notesSlide" Target="/ppt/notesSlides/notesSlide8.xml" Id="R6a462cbc39a848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76c1db8def44f0" /><Relationship Type="http://schemas.openxmlformats.org/officeDocument/2006/relationships/notesSlide" Target="/ppt/notesSlides/notesSlide9.xml" Id="R78a530b139ea4f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28af0fa4be046b2" /><Relationship Type="http://schemas.openxmlformats.org/officeDocument/2006/relationships/notesSlide" Target="/ppt/notesSlides/notesSlide10.xml" Id="Rc1402d0de7ed4e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8801819b113499d" /><Relationship Type="http://schemas.openxmlformats.org/officeDocument/2006/relationships/notesSlide" Target="/ppt/notesSlides/notesSlide11.xml" Id="Rf4c174709f4b49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b13edabd844081" /><Relationship Type="http://schemas.openxmlformats.org/officeDocument/2006/relationships/notesSlide" Target="/ppt/notesSlides/notesSlide12.xml" Id="Re2dcca7a8df44a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25a14ca6e9f46a8" /><Relationship Type="http://schemas.openxmlformats.org/officeDocument/2006/relationships/image" Target="/ppt/media/image2.png" Id="R0e8b10f0210a4b59" /><Relationship Type="http://schemas.openxmlformats.org/officeDocument/2006/relationships/notesSlide" Target="/ppt/notesSlides/notesSlide13.xml" Id="R2084f106ff7741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f5504408b204236" /><Relationship Type="http://schemas.openxmlformats.org/officeDocument/2006/relationships/notesSlide" Target="/ppt/notesSlides/notesSlide14.xml" Id="R2932891b02a046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52d5f89f5bd4a65" /><Relationship Type="http://schemas.openxmlformats.org/officeDocument/2006/relationships/notesSlide" Target="/ppt/notesSlides/notesSlide15.xml" Id="Rf70c8c3d0fe14f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808d19285c147ba" /><Relationship Type="http://schemas.openxmlformats.org/officeDocument/2006/relationships/notesSlide" Target="/ppt/notesSlides/notesSlide16.xml" Id="R8e1e8d6340d743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1c97d9d2c524abc" /><Relationship Type="http://schemas.openxmlformats.org/officeDocument/2006/relationships/image" Target="/ppt/media/image3.png" Id="R566f24f7e8d548cd" /><Relationship Type="http://schemas.openxmlformats.org/officeDocument/2006/relationships/notesSlide" Target="/ppt/notesSlides/notesSlide17.xml" Id="Rc7741ea3cbfb40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2dfdb1901be4284" /><Relationship Type="http://schemas.openxmlformats.org/officeDocument/2006/relationships/notesSlide" Target="/ppt/notesSlides/notesSlide18.xml" Id="Ra4094a184fc342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bf16f252e9461b" /><Relationship Type="http://schemas.openxmlformats.org/officeDocument/2006/relationships/notesSlide" Target="/ppt/notesSlides/notesSlide19.xml" Id="R27ffaf51f1274d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0e83537392b4cc0" /><Relationship Type="http://schemas.openxmlformats.org/officeDocument/2006/relationships/image" Target="/ppt/media/image4.png" Id="Raacf2b8914ce49e0" /><Relationship Type="http://schemas.openxmlformats.org/officeDocument/2006/relationships/notesSlide" Target="/ppt/notesSlides/notesSlide20.xml" Id="Rcd5459b0e14540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f9b38f8e46e460a" /><Relationship Type="http://schemas.openxmlformats.org/officeDocument/2006/relationships/image" Target="/ppt/media/image5.png" Id="Rd80f36d09efe41ae" /><Relationship Type="http://schemas.openxmlformats.org/officeDocument/2006/relationships/notesSlide" Target="/ppt/notesSlides/notesSlide21.xml" Id="R28a03a40b7644a5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41d62ca493c4946" /><Relationship Type="http://schemas.openxmlformats.org/officeDocument/2006/relationships/image" Target="/ppt/media/image6.png" Id="R6e895555f9014942" /><Relationship Type="http://schemas.openxmlformats.org/officeDocument/2006/relationships/notesSlide" Target="/ppt/notesSlides/notesSlide22.xml" Id="Rfe8db1586086426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7de941cfd1b47bf" /><Relationship Type="http://schemas.openxmlformats.org/officeDocument/2006/relationships/image" Target="/ppt/media/image7.png" Id="R0e1500a7d5dd4ba0" /><Relationship Type="http://schemas.openxmlformats.org/officeDocument/2006/relationships/notesSlide" Target="/ppt/notesSlides/notesSlide23.xml" Id="R17dbd0f803e3489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057f455a60d40f2" /><Relationship Type="http://schemas.openxmlformats.org/officeDocument/2006/relationships/notesSlide" Target="/ppt/notesSlides/notesSlide24.xml" Id="R70b71c5fdce4449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ef2e249fcf641ad" /><Relationship Type="http://schemas.openxmlformats.org/officeDocument/2006/relationships/notesSlide" Target="/ppt/notesSlides/notesSlide25.xml" Id="R542cce6f36ba46b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195de02dd2c451b" /><Relationship Type="http://schemas.openxmlformats.org/officeDocument/2006/relationships/notesSlide" Target="/ppt/notesSlides/notesSlide26.xml" Id="Rf2f83706cc3f437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e3d79f004124064" /><Relationship Type="http://schemas.openxmlformats.org/officeDocument/2006/relationships/notesSlide" Target="/ppt/notesSlides/notesSlide27.xml" Id="R6622a44746e2424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d071bec2e584797" /><Relationship Type="http://schemas.openxmlformats.org/officeDocument/2006/relationships/image" Target="/ppt/media/image8.png" Id="R32d0f8b3cf4e40ab" /><Relationship Type="http://schemas.openxmlformats.org/officeDocument/2006/relationships/notesSlide" Target="/ppt/notesSlides/notesSlide28.xml" Id="R6b3f7306b7e745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e468a88e039465e" /><Relationship Type="http://schemas.openxmlformats.org/officeDocument/2006/relationships/notesSlide" Target="/ppt/notesSlides/notesSlide29.xml" Id="R6068dc13c21f40a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ef6b235aff342bf" /><Relationship Type="http://schemas.openxmlformats.org/officeDocument/2006/relationships/notesSlide" Target="/ppt/notesSlides/notesSlide30.xml" Id="R3d558b5d832640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a00ec8284cc4127" /><Relationship Type="http://schemas.openxmlformats.org/officeDocument/2006/relationships/notesSlide" Target="/ppt/notesSlides/notesSlide31.xml" Id="Rcb48887c8eff477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fd19cb067c547cf" /><Relationship Type="http://schemas.openxmlformats.org/officeDocument/2006/relationships/notesSlide" Target="/ppt/notesSlides/notesSlide32.xml" Id="R35f33d5847d3439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6a47723fb654c1e" /><Relationship Type="http://schemas.openxmlformats.org/officeDocument/2006/relationships/notesSlide" Target="/ppt/notesSlides/notesSlide33.xml" Id="Ra780e5bf2cc64ef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b2abb6da0604c13" /><Relationship Type="http://schemas.openxmlformats.org/officeDocument/2006/relationships/notesSlide" Target="/ppt/notesSlides/notesSlide34.xml" Id="R5f44388dc2d94d0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d86246fd9ec4238" /><Relationship Type="http://schemas.openxmlformats.org/officeDocument/2006/relationships/notesSlide" Target="/ppt/notesSlides/notesSlide35.xml" Id="R488c359198ea438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f87f19fb6244f42" /><Relationship Type="http://schemas.openxmlformats.org/officeDocument/2006/relationships/notesSlide" Target="/ppt/notesSlides/notesSlide36.xml" Id="R009c2b0384504ee2" /></Relationships>
</file>

<file path=ppt/slides/slide1.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779990A-D264-498B-B8EF-EEBC302A3AE4}"/>
              </a:ext>
            </a:extLst>
          </p:cNvPr>
          <p:cNvPicPr>
            <a:picLocks xmlns:a="http://schemas.openxmlformats.org/drawingml/2006/main" noChangeAspect="1"/>
          </p:cNvPicPr>
          <p:nvPr/>
        </p:nvPicPr>
        <p:blipFill>
          <a:blip xmlns:r="http://schemas.openxmlformats.org/officeDocument/2006/relationships" xmlns:a="http://schemas.openxmlformats.org/drawingml/2006/main" r:embed="R7e598446edd448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ABLETOP / AGENTIC KUBERNETES GUARDRAILS">
            <a:extLst xmlns:a="http://schemas.openxmlformats.org/drawingml/2006/main">
              <a:ext uri="{FF2B5EF4-FFF2-40B4-BE49-F238E27FC236}">
                <a16:creationId xmlns:a16="http://schemas.microsoft.com/office/drawing/2014/main" id="{76924FA2-5AF3-4F15-B5F8-DCC0D308972D}"/>
              </a:ext>
            </a:extLst>
          </p:cNvPr>
          <p:cNvSpPr>
            <a:spLocks xmlns:a="http://schemas.openxmlformats.org/drawingml/2006/main" noGrp="1"/>
          </p:cNvSpPr>
          <p:nvPr/>
        </p:nvSpPr>
        <p:spPr>
          <a:xfrm xmlns:a="http://schemas.openxmlformats.org/drawingml/2006/main">
            <a:off x="609600" y="495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TABLETOP / AGENTIC KUBERNETES GUARDRAILS</a:t>
            </a:r>
          </a:p>
        </p:txBody>
      </p:sp>
      <p:sp>
        <p:nvSpPr>
          <p:cNvPr id="3" name="FROM INTENT&#10;TO ENFORCEMENT">
            <a:extLst xmlns:a="http://schemas.openxmlformats.org/drawingml/2006/main">
              <a:ext uri="{FF2B5EF4-FFF2-40B4-BE49-F238E27FC236}">
                <a16:creationId xmlns:a16="http://schemas.microsoft.com/office/drawing/2014/main" id="{1D3BB3DB-FAB4-49F5-8057-4B68C2D47571}"/>
              </a:ext>
            </a:extLst>
          </p:cNvPr>
          <p:cNvSpPr>
            <a:spLocks xmlns:a="http://schemas.openxmlformats.org/drawingml/2006/main" noGrp="1"/>
          </p:cNvSpPr>
          <p:nvPr/>
        </p:nvSpPr>
        <p:spPr>
          <a:xfrm xmlns:a="http://schemas.openxmlformats.org/drawingml/2006/main">
            <a:off x="609600" y="1504950"/>
            <a:ext cx="776287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F2EFE7"/>
                </a:solidFill>
                <a:latin typeface="Arial Black"/>
                <a:ea typeface="Arial Black"/>
                <a:cs typeface="Arial Black"/>
              </a:defRPr>
            </a:defPPr>
          </a:lstStyle>
          <a:p xmlns:a="http://schemas.openxmlformats.org/drawingml/2006/main">
            <a:pPr>
              <a:defRPr sz="5100" b="1">
                <a:solidFill>
                  <a:srgbClr val="F2EFE7"/>
                </a:solidFill>
                <a:latin typeface="Arial Black"/>
                <a:ea typeface="Arial Black"/>
                <a:cs typeface="Arial Black"/>
              </a:defRPr>
            </a:pPr>
            <a:r>
              <a:rPr sz="5100" b="1">
                <a:solidFill>
                  <a:srgbClr val="F2EFE7"/>
                </a:solidFill>
                <a:latin typeface="Arial Black"/>
                <a:ea typeface="Arial Black"/>
                <a:cs typeface="Arial Black"/>
              </a:rPr>
              <a:t>FROM INTENT</a:t>
            </a:r>
          </a:p>
          <a:p xmlns:a="http://schemas.openxmlformats.org/drawingml/2006/main">
            <a:pPr>
              <a:defRPr sz="5100" b="1">
                <a:solidFill>
                  <a:srgbClr val="F2EFE7"/>
                </a:solidFill>
                <a:latin typeface="Arial Black"/>
                <a:ea typeface="Arial Black"/>
                <a:cs typeface="Arial Black"/>
              </a:defRPr>
            </a:pPr>
            <a:r>
              <a:rPr sz="5100" b="1">
                <a:solidFill>
                  <a:srgbClr val="F2EFE7"/>
                </a:solidFill>
                <a:latin typeface="Arial Black"/>
                <a:ea typeface="Arial Black"/>
                <a:cs typeface="Arial Black"/>
              </a:rPr>
              <a:t>TO ENFORCEMENT</a:t>
            </a:r>
          </a:p>
        </p:txBody>
      </p:sp>
      <p:sp>
        <p:nvSpPr>
          <p:cNvPr id="4" name="Quarantine Mode">
            <a:extLst xmlns:a="http://schemas.openxmlformats.org/drawingml/2006/main">
              <a:ext uri="{FF2B5EF4-FFF2-40B4-BE49-F238E27FC236}">
                <a16:creationId xmlns:a16="http://schemas.microsoft.com/office/drawing/2014/main" id="{62DFF1AF-2F8A-4EA8-B103-4EA1E41DD200}"/>
              </a:ext>
            </a:extLst>
          </p:cNvPr>
          <p:cNvSpPr>
            <a:spLocks xmlns:a="http://schemas.openxmlformats.org/drawingml/2006/main" noGrp="1"/>
          </p:cNvSpPr>
          <p:nvPr/>
        </p:nvSpPr>
        <p:spPr>
          <a:xfrm xmlns:a="http://schemas.openxmlformats.org/drawingml/2006/main">
            <a:off x="628650" y="38576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795B"/>
                </a:solidFill>
                <a:latin typeface="Arial"/>
                <a:ea typeface="Arial"/>
                <a:cs typeface="Arial"/>
              </a:defRPr>
            </a:defPPr>
          </a:lstStyle>
          <a:p xmlns:a="http://schemas.openxmlformats.org/drawingml/2006/main">
            <a:pPr>
              <a:defRPr sz="3150" b="1">
                <a:solidFill>
                  <a:srgbClr val="FF795B"/>
                </a:solidFill>
                <a:latin typeface="Arial"/>
                <a:ea typeface="Arial"/>
                <a:cs typeface="Arial"/>
              </a:defRPr>
            </a:pPr>
            <a:r>
              <a:rPr sz="3150" b="1">
                <a:solidFill>
                  <a:srgbClr val="FF795B"/>
                </a:solidFill>
                <a:latin typeface="Arial"/>
                <a:ea typeface="Arial"/>
                <a:cs typeface="Arial"/>
              </a:rPr>
              <a:t>Quarantine Mode</a:t>
            </a:r>
          </a:p>
        </p:txBody>
      </p:sp>
      <p:sp>
        <p:nvSpPr>
          <p:cNvPr id="5" name="Incident containment on a shared Kubernetes plat">
            <a:extLst xmlns:a="http://schemas.openxmlformats.org/drawingml/2006/main">
              <a:ext uri="{FF2B5EF4-FFF2-40B4-BE49-F238E27FC236}">
                <a16:creationId xmlns:a16="http://schemas.microsoft.com/office/drawing/2014/main" id="{79CBB0FD-97CB-4194-8829-B3A17823924C}"/>
              </a:ext>
            </a:extLst>
          </p:cNvPr>
          <p:cNvSpPr>
            <a:spLocks xmlns:a="http://schemas.openxmlformats.org/drawingml/2006/main" noGrp="1"/>
          </p:cNvSpPr>
          <p:nvPr/>
        </p:nvSpPr>
        <p:spPr>
          <a:xfrm xmlns:a="http://schemas.openxmlformats.org/drawingml/2006/main">
            <a:off x="628650" y="4638675"/>
            <a:ext cx="647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2EFE7"/>
                </a:solidFill>
                <a:latin typeface="Arial"/>
                <a:ea typeface="Arial"/>
                <a:cs typeface="Arial"/>
              </a:defRPr>
            </a:defPPr>
          </a:lstStyle>
          <a:p xmlns:a="http://schemas.openxmlformats.org/drawingml/2006/main">
            <a:pPr>
              <a:defRPr sz="1800" b="0">
                <a:solidFill>
                  <a:srgbClr val="F2EFE7"/>
                </a:solidFill>
                <a:latin typeface="Arial"/>
                <a:ea typeface="Arial"/>
                <a:cs typeface="Arial"/>
              </a:defRPr>
            </a:pPr>
            <a:r>
              <a:rPr sz="1800" b="0">
                <a:solidFill>
                  <a:srgbClr val="F2EFE7"/>
                </a:solidFill>
                <a:latin typeface="Arial"/>
                <a:ea typeface="Arial"/>
                <a:cs typeface="Arial"/>
              </a:rPr>
              <a:t>Incident containment on a shared Kubernetes platform</a:t>
            </a:r>
          </a:p>
        </p:txBody>
      </p:sp>
      <p:sp>
        <p:nvSpPr>
          <p:cNvPr id="6" name="Co-presenters: Milind Gunjan  /  Vivek Mayuranat">
            <a:extLst xmlns:a="http://schemas.openxmlformats.org/drawingml/2006/main">
              <a:ext uri="{FF2B5EF4-FFF2-40B4-BE49-F238E27FC236}">
                <a16:creationId xmlns:a16="http://schemas.microsoft.com/office/drawing/2014/main" id="{943919E9-2696-44F5-8FE3-77EBB0975657}"/>
              </a:ext>
            </a:extLst>
          </p:cNvPr>
          <p:cNvSpPr>
            <a:spLocks xmlns:a="http://schemas.openxmlformats.org/drawingml/2006/main" noGrp="1"/>
          </p:cNvSpPr>
          <p:nvPr/>
        </p:nvSpPr>
        <p:spPr>
          <a:xfrm xmlns:a="http://schemas.openxmlformats.org/drawingml/2006/main">
            <a:off x="628650" y="5762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6C5CD"/>
                </a:solidFill>
                <a:latin typeface="Arial"/>
                <a:ea typeface="Arial"/>
                <a:cs typeface="Arial"/>
              </a:defRPr>
            </a:defPPr>
          </a:lstStyle>
          <a:p xmlns:a="http://schemas.openxmlformats.org/drawingml/2006/main">
            <a:pPr>
              <a:defRPr sz="1650" b="0">
                <a:solidFill>
                  <a:srgbClr val="B6C5CD"/>
                </a:solidFill>
                <a:latin typeface="Arial"/>
                <a:ea typeface="Arial"/>
                <a:cs typeface="Arial"/>
              </a:defRPr>
            </a:pPr>
            <a:r>
              <a:rPr sz="1650" b="0">
                <a:solidFill>
                  <a:srgbClr val="B6C5CD"/>
                </a:solidFill>
                <a:latin typeface="Arial"/>
                <a:ea typeface="Arial"/>
                <a:cs typeface="Arial"/>
              </a:rPr>
              <a:t>Co-presenters: Milind Gunjan  /  Vivek Mayuranathan</a:t>
            </a:r>
          </a:p>
        </p:txBody>
      </p:sp>
      <p:sp>
        <p:nvSpPr>
          <p:cNvPr id="7" name="October 26, 2026  ·  4:30–5:30 PM  ·  Views are ">
            <a:extLst xmlns:a="http://schemas.openxmlformats.org/drawingml/2006/main">
              <a:ext uri="{FF2B5EF4-FFF2-40B4-BE49-F238E27FC236}">
                <a16:creationId xmlns:a16="http://schemas.microsoft.com/office/drawing/2014/main" id="{9D8CF0B3-AA82-4756-BFC5-E07991385153}"/>
              </a:ext>
            </a:extLst>
          </p:cNvPr>
          <p:cNvSpPr>
            <a:spLocks xmlns:a="http://schemas.openxmlformats.org/drawingml/2006/main" noGrp="1"/>
          </p:cNvSpPr>
          <p:nvPr/>
        </p:nvSpPr>
        <p:spPr>
          <a:xfrm xmlns:a="http://schemas.openxmlformats.org/drawingml/2006/main">
            <a:off x="628650" y="60960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6C5CD"/>
                </a:solidFill>
                <a:latin typeface="Arial"/>
                <a:ea typeface="Arial"/>
                <a:cs typeface="Arial"/>
              </a:defRPr>
            </a:defPPr>
          </a:lstStyle>
          <a:p xmlns:a="http://schemas.openxmlformats.org/drawingml/2006/main">
            <a:pPr>
              <a:defRPr sz="1125" b="0">
                <a:solidFill>
                  <a:srgbClr val="B6C5CD"/>
                </a:solidFill>
                <a:latin typeface="Arial"/>
                <a:ea typeface="Arial"/>
                <a:cs typeface="Arial"/>
              </a:defRPr>
            </a:pPr>
            <a:r>
              <a:rPr sz="1125" b="0">
                <a:solidFill>
                  <a:srgbClr val="B6C5CD"/>
                </a:solidFill>
                <a:latin typeface="Arial"/>
                <a:ea typeface="Arial"/>
                <a:cs typeface="Arial"/>
              </a:rPr>
              <a:t>October 26, 2026  ·  4:30–5:30 PM  ·  Views are our own</a:t>
            </a:r>
          </a:p>
        </p:txBody>
      </p:sp>
      <p:sp>
        <p:nvSpPr>
          <p:cNvPr id="8" name="ISC2 SECURITY CONGRESS 2026 / SC2632">
            <a:extLst xmlns:a="http://schemas.openxmlformats.org/drawingml/2006/main">
              <a:ext uri="{FF2B5EF4-FFF2-40B4-BE49-F238E27FC236}">
                <a16:creationId xmlns:a16="http://schemas.microsoft.com/office/drawing/2014/main" id="{5833BA35-5B95-4A9B-A488-B38185A905EE}"/>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9" name="01">
            <a:extLst xmlns:a="http://schemas.openxmlformats.org/drawingml/2006/main">
              <a:ext uri="{FF2B5EF4-FFF2-40B4-BE49-F238E27FC236}">
                <a16:creationId xmlns:a16="http://schemas.microsoft.com/office/drawing/2014/main" id="{DC17DE2C-1D1B-42D1-8E63-1E21AA14817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01</a:t>
            </a:r>
          </a:p>
        </p:txBody>
      </p:sp>
    </p:spTree>
    <p:extLst>
      <p:ext uri="{BB962C8B-B14F-4D97-AF65-F5344CB8AC3E}">
        <p14:creationId xmlns:p14="http://schemas.microsoft.com/office/powerpoint/2010/main" val="485568595"/>
      </p:ext>
    </p:extLst>
  </p:cSld>
</p:sld>
</file>

<file path=ppt/slides/slide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0" name="PURPOSE / SECURITY CHANGES ON A SHARED PLATFORM">
            <a:extLst xmlns:a="http://schemas.openxmlformats.org/drawingml/2006/main">
              <a:ext uri="{FF2B5EF4-FFF2-40B4-BE49-F238E27FC236}">
                <a16:creationId xmlns:a16="http://schemas.microsoft.com/office/drawing/2014/main" id="{4017EE79-D693-45D7-ACA3-BE3005F4FA8A}"/>
              </a:ext>
            </a:extLst>
          </p:cNvPr>
          <p:cNvSpPr>
            <a:spLocks xmlns:a="http://schemas.openxmlformats.org/drawingml/2006/main" noGrp="1"/>
          </p:cNvSpPr>
          <p:nvPr/>
        </p:nvSpPr>
        <p:spPr>
          <a:xfrm xmlns:a="http://schemas.openxmlformats.org/drawingml/2006/main">
            <a:off x="609600" y="476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PURPOSE / SECURITY CHANGES ON A SHARED PLATFORM</a:t>
            </a:r>
          </a:p>
        </p:txBody>
      </p:sp>
      <p:sp>
        <p:nvSpPr>
          <p:cNvPr id="2" name="Security changes during an incident">
            <a:extLst xmlns:a="http://schemas.openxmlformats.org/drawingml/2006/main">
              <a:ext uri="{FF2B5EF4-FFF2-40B4-BE49-F238E27FC236}">
                <a16:creationId xmlns:a16="http://schemas.microsoft.com/office/drawing/2014/main" id="{4A2075F6-8C9B-46AE-A693-6851F7EFADC6}"/>
              </a:ext>
            </a:extLst>
          </p:cNvPr>
          <p:cNvSpPr>
            <a:spLocks xmlns:a="http://schemas.openxmlformats.org/drawingml/2006/main" noGrp="1"/>
          </p:cNvSpPr>
          <p:nvPr/>
        </p:nvSpPr>
        <p:spPr>
          <a:xfrm xmlns:a="http://schemas.openxmlformats.org/drawingml/2006/main">
            <a:off x="609600" y="11811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B1822"/>
                </a:solidFill>
                <a:latin typeface="Arial Black"/>
                <a:ea typeface="Arial Black"/>
                <a:cs typeface="Arial Black"/>
              </a:defRPr>
            </a:defPPr>
          </a:lstStyle>
          <a:p xmlns:a="http://schemas.openxmlformats.org/drawingml/2006/main">
            <a:pPr>
              <a:defRPr sz="3825" b="1">
                <a:solidFill>
                  <a:srgbClr val="0B1822"/>
                </a:solidFill>
                <a:latin typeface="Arial Black"/>
                <a:ea typeface="Arial Black"/>
                <a:cs typeface="Arial Black"/>
              </a:defRPr>
            </a:pPr>
            <a:r>
              <a:rPr sz="3825" b="1">
                <a:solidFill>
                  <a:srgbClr val="0B1822"/>
                </a:solidFill>
                <a:latin typeface="Arial Black"/>
                <a:ea typeface="Arial Black"/>
                <a:cs typeface="Arial Black"/>
              </a:rPr>
              <a:t>Security changes during an incident</a:t>
            </a:r>
          </a:p>
        </p:txBody>
      </p:sp>
      <p:sp>
        <p:nvSpPr>
          <p:cNvPr id="3" name="THE PROBLEM">
            <a:extLst xmlns:a="http://schemas.openxmlformats.org/drawingml/2006/main">
              <a:ext uri="{FF2B5EF4-FFF2-40B4-BE49-F238E27FC236}">
                <a16:creationId xmlns:a16="http://schemas.microsoft.com/office/drawing/2014/main" id="{101F7EB4-8356-4C5A-B497-6C4DC4261363}"/>
              </a:ext>
            </a:extLst>
          </p:cNvPr>
          <p:cNvSpPr>
            <a:spLocks xmlns:a="http://schemas.openxmlformats.org/drawingml/2006/main" noGrp="1"/>
          </p:cNvSpPr>
          <p:nvPr/>
        </p:nvSpPr>
        <p:spPr>
          <a:xfrm xmlns:a="http://schemas.openxmlformats.org/drawingml/2006/main">
            <a:off x="628650" y="24193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87E79"/>
                </a:solidFill>
                <a:latin typeface="Arial"/>
                <a:ea typeface="Arial"/>
                <a:cs typeface="Arial"/>
              </a:defRPr>
            </a:defPPr>
          </a:lstStyle>
          <a:p xmlns:a="http://schemas.openxmlformats.org/drawingml/2006/main">
            <a:pPr>
              <a:defRPr sz="1575" b="1">
                <a:solidFill>
                  <a:srgbClr val="087E79"/>
                </a:solidFill>
                <a:latin typeface="Arial"/>
                <a:ea typeface="Arial"/>
                <a:cs typeface="Arial"/>
              </a:defRPr>
            </a:pPr>
            <a:r>
              <a:rPr sz="1575" b="1">
                <a:solidFill>
                  <a:srgbClr val="087E79"/>
                </a:solidFill>
                <a:latin typeface="Arial"/>
                <a:ea typeface="Arial"/>
                <a:cs typeface="Arial"/>
              </a:rPr>
              <a:t>THE PROBLEM</a:t>
            </a:r>
          </a:p>
        </p:txBody>
      </p:sp>
      <p:sp>
        <p:nvSpPr>
          <p:cNvPr id="4" name="Services and automated agents share infrastructu">
            <a:extLst xmlns:a="http://schemas.openxmlformats.org/drawingml/2006/main">
              <a:ext uri="{FF2B5EF4-FFF2-40B4-BE49-F238E27FC236}">
                <a16:creationId xmlns:a16="http://schemas.microsoft.com/office/drawing/2014/main" id="{A647FC3C-8E62-42BB-BB34-FA0CEE565F4C}"/>
              </a:ext>
            </a:extLst>
          </p:cNvPr>
          <p:cNvSpPr>
            <a:spLocks xmlns:a="http://schemas.openxmlformats.org/drawingml/2006/main" noGrp="1"/>
          </p:cNvSpPr>
          <p:nvPr/>
        </p:nvSpPr>
        <p:spPr>
          <a:xfrm xmlns:a="http://schemas.openxmlformats.org/drawingml/2006/main">
            <a:off x="628650" y="28098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1822"/>
                </a:solidFill>
                <a:latin typeface="Arial"/>
                <a:ea typeface="Arial"/>
                <a:cs typeface="Arial"/>
              </a:defRPr>
            </a:defPPr>
          </a:lstStyle>
          <a:p xmlns:a="http://schemas.openxmlformats.org/drawingml/2006/main">
            <a:pPr>
              <a:defRPr sz="2100" b="0">
                <a:solidFill>
                  <a:srgbClr val="0B1822"/>
                </a:solidFill>
                <a:latin typeface="Arial"/>
                <a:ea typeface="Arial"/>
                <a:cs typeface="Arial"/>
              </a:defRPr>
            </a:pPr>
            <a:r>
              <a:rPr sz="2100" b="0">
                <a:solidFill>
                  <a:srgbClr val="0B1822"/>
                </a:solidFill>
                <a:latin typeface="Arial"/>
                <a:ea typeface="Arial"/>
                <a:cs typeface="Arial"/>
              </a:rPr>
              <a:t>Services and automated agents share infrastructure and credentials.</a:t>
            </a:r>
          </a:p>
          <a:p xmlns:a="http://schemas.openxmlformats.org/drawingml/2006/main">
            <a:pPr>
              <a:defRPr sz="2100" b="0">
                <a:solidFill>
                  <a:srgbClr val="0B1822"/>
                </a:solidFill>
                <a:latin typeface="Arial"/>
                <a:ea typeface="Arial"/>
                <a:cs typeface="Arial"/>
              </a:defRPr>
            </a:pPr>
            <a:r>
              <a:rPr sz="2100" b="0">
                <a:solidFill>
                  <a:srgbClr val="0B1822"/>
                </a:solidFill>
                <a:latin typeface="Arial"/>
                <a:ea typeface="Arial"/>
                <a:cs typeface="Arial"/>
              </a:rPr>
              <a:t>Harmful access can cross a workload’s intended boundary.</a:t>
            </a:r>
          </a:p>
          <a:p xmlns:a="http://schemas.openxmlformats.org/drawingml/2006/main">
            <a:pPr>
              <a:defRPr sz="2100" b="0">
                <a:solidFill>
                  <a:srgbClr val="0B1822"/>
                </a:solidFill>
                <a:latin typeface="Arial"/>
                <a:ea typeface="Arial"/>
                <a:cs typeface="Arial"/>
              </a:defRPr>
            </a:pPr>
            <a:r>
              <a:rPr sz="2100" b="0">
                <a:solidFill>
                  <a:srgbClr val="0B1822"/>
                </a:solidFill>
                <a:latin typeface="Arial"/>
                <a:ea typeface="Arial"/>
                <a:cs typeface="Arial"/>
              </a:rPr>
              <a:t>Broad restrictions can disrupt essential services.</a:t>
            </a:r>
          </a:p>
        </p:txBody>
      </p:sp>
      <p:sp>
        <p:nvSpPr>
          <p:cNvPr id="5" name="WHAT WE BUILD">
            <a:extLst xmlns:a="http://schemas.openxmlformats.org/drawingml/2006/main">
              <a:ext uri="{FF2B5EF4-FFF2-40B4-BE49-F238E27FC236}">
                <a16:creationId xmlns:a16="http://schemas.microsoft.com/office/drawing/2014/main" id="{A72767A0-01D1-48DD-8A5F-021C2976E831}"/>
              </a:ext>
            </a:extLst>
          </p:cNvPr>
          <p:cNvSpPr>
            <a:spLocks xmlns:a="http://schemas.openxmlformats.org/drawingml/2006/main" noGrp="1"/>
          </p:cNvSpPr>
          <p:nvPr/>
        </p:nvSpPr>
        <p:spPr>
          <a:xfrm xmlns:a="http://schemas.openxmlformats.org/drawingml/2006/main">
            <a:off x="628650" y="41243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87E79"/>
                </a:solidFill>
                <a:latin typeface="Arial"/>
                <a:ea typeface="Arial"/>
                <a:cs typeface="Arial"/>
              </a:defRPr>
            </a:defPPr>
          </a:lstStyle>
          <a:p xmlns:a="http://schemas.openxmlformats.org/drawingml/2006/main">
            <a:pPr>
              <a:defRPr sz="1575" b="1">
                <a:solidFill>
                  <a:srgbClr val="087E79"/>
                </a:solidFill>
                <a:latin typeface="Arial"/>
                <a:ea typeface="Arial"/>
                <a:cs typeface="Arial"/>
              </a:defRPr>
            </a:pPr>
            <a:r>
              <a:rPr sz="1575" b="1">
                <a:solidFill>
                  <a:srgbClr val="087E79"/>
                </a:solidFill>
                <a:latin typeface="Arial"/>
                <a:ea typeface="Arial"/>
                <a:cs typeface="Arial"/>
              </a:rPr>
              <a:t>WHAT WE BUILD</a:t>
            </a:r>
          </a:p>
        </p:txBody>
      </p:sp>
      <p:sp>
        <p:nvSpPr>
          <p:cNvPr id="6" name="A tested change set from written security intent">
            <a:extLst xmlns:a="http://schemas.openxmlformats.org/drawingml/2006/main">
              <a:ext uri="{FF2B5EF4-FFF2-40B4-BE49-F238E27FC236}">
                <a16:creationId xmlns:a16="http://schemas.microsoft.com/office/drawing/2014/main" id="{0675F1D9-FAF6-496D-A0EA-F1E8511547BE}"/>
              </a:ext>
            </a:extLst>
          </p:cNvPr>
          <p:cNvSpPr>
            <a:spLocks xmlns:a="http://schemas.openxmlformats.org/drawingml/2006/main" noGrp="1"/>
          </p:cNvSpPr>
          <p:nvPr/>
        </p:nvSpPr>
        <p:spPr>
          <a:xfrm xmlns:a="http://schemas.openxmlformats.org/drawingml/2006/main">
            <a:off x="628650" y="4562475"/>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B1822"/>
                </a:solidFill>
                <a:latin typeface="Arial"/>
                <a:ea typeface="Arial"/>
                <a:cs typeface="Arial"/>
              </a:defRPr>
            </a:defPPr>
          </a:lstStyle>
          <a:p xmlns:a="http://schemas.openxmlformats.org/drawingml/2006/main">
            <a:pPr>
              <a:defRPr sz="2325" b="0">
                <a:solidFill>
                  <a:srgbClr val="0B1822"/>
                </a:solidFill>
                <a:latin typeface="Arial"/>
                <a:ea typeface="Arial"/>
                <a:cs typeface="Arial"/>
              </a:defRPr>
            </a:pPr>
            <a:r>
              <a:rPr sz="2325" b="0">
                <a:solidFill>
                  <a:srgbClr val="0B1822"/>
                </a:solidFill>
                <a:latin typeface="Arial"/>
                <a:ea typeface="Arial"/>
                <a:cs typeface="Arial"/>
              </a:rPr>
              <a:t>A tested change set from written security intent,</a:t>
            </a:r>
          </a:p>
          <a:p xmlns:a="http://schemas.openxmlformats.org/drawingml/2006/main">
            <a:pPr>
              <a:defRPr sz="2325" b="0">
                <a:solidFill>
                  <a:srgbClr val="0B1822"/>
                </a:solidFill>
                <a:latin typeface="Arial"/>
                <a:ea typeface="Arial"/>
                <a:cs typeface="Arial"/>
              </a:defRPr>
            </a:pPr>
            <a:r>
              <a:rPr sz="2325" b="0">
                <a:solidFill>
                  <a:srgbClr val="0B1822"/>
                </a:solidFill>
                <a:latin typeface="Arial"/>
                <a:ea typeface="Arial"/>
                <a:cs typeface="Arial"/>
              </a:rPr>
              <a:t>with explicit approval and containment boundaries.</a:t>
            </a:r>
          </a:p>
        </p:txBody>
      </p:sp>
      <p:sp>
        <p:nvSpPr>
          <p:cNvPr id="7" name="Technical briefing first. Then your team reviews">
            <a:extLst xmlns:a="http://schemas.openxmlformats.org/drawingml/2006/main">
              <a:ext uri="{FF2B5EF4-FFF2-40B4-BE49-F238E27FC236}">
                <a16:creationId xmlns:a16="http://schemas.microsoft.com/office/drawing/2014/main" id="{0F520E36-6845-4DD9-AB64-5BF7BF73835D}"/>
              </a:ext>
            </a:extLst>
          </p:cNvPr>
          <p:cNvSpPr>
            <a:spLocks xmlns:a="http://schemas.openxmlformats.org/drawingml/2006/main" noGrp="1"/>
          </p:cNvSpPr>
          <p:nvPr/>
        </p:nvSpPr>
        <p:spPr>
          <a:xfrm xmlns:a="http://schemas.openxmlformats.org/drawingml/2006/main">
            <a:off x="628650" y="58578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Technical briefing first. Then your team reviews a case and defines recovery tests.</a:t>
            </a:r>
          </a:p>
        </p:txBody>
      </p:sp>
      <p:sp>
        <p:nvSpPr>
          <p:cNvPr id="8" name="ISC2 SECURITY CONGRESS 2026 / SC2632">
            <a:extLst xmlns:a="http://schemas.openxmlformats.org/drawingml/2006/main">
              <a:ext uri="{FF2B5EF4-FFF2-40B4-BE49-F238E27FC236}">
                <a16:creationId xmlns:a16="http://schemas.microsoft.com/office/drawing/2014/main" id="{F7263E9C-CCD5-4FAF-AA10-FDFE4282F4E4}"/>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9" name="02">
            <a:extLst xmlns:a="http://schemas.openxmlformats.org/drawingml/2006/main">
              <a:ext uri="{FF2B5EF4-FFF2-40B4-BE49-F238E27FC236}">
                <a16:creationId xmlns:a16="http://schemas.microsoft.com/office/drawing/2014/main" id="{B17BF4DC-63BA-472D-A063-73D1C0B9482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02</a:t>
            </a:r>
          </a:p>
        </p:txBody>
      </p:sp>
    </p:spTree>
    <p:extLst>
      <p:ext uri="{BB962C8B-B14F-4D97-AF65-F5344CB8AC3E}">
        <p14:creationId xmlns:p14="http://schemas.microsoft.com/office/powerpoint/2010/main" val="1106094803"/>
      </p:ext>
    </p:extLst>
  </p:cSld>
</p:sld>
</file>

<file path=ppt/slides/slide3.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3" name="WHAT KUBERNETES DOES / WHY SHARED ACCESS MATTERS">
            <a:extLst xmlns:a="http://schemas.openxmlformats.org/drawingml/2006/main">
              <a:ext uri="{FF2B5EF4-FFF2-40B4-BE49-F238E27FC236}">
                <a16:creationId xmlns:a16="http://schemas.microsoft.com/office/drawing/2014/main" id="{F3EE7F74-7E73-4B83-8E55-3D074E36A62D}"/>
              </a:ext>
            </a:extLst>
          </p:cNvPr>
          <p:cNvSpPr>
            <a:spLocks xmlns:a="http://schemas.openxmlformats.org/drawingml/2006/main" noGrp="1"/>
          </p:cNvSpPr>
          <p:nvPr/>
        </p:nvSpPr>
        <p:spPr>
          <a:xfrm xmlns:a="http://schemas.openxmlformats.org/drawingml/2006/main">
            <a:off x="609600" y="476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WHAT KUBERNETES DOES / WHY SHARED ACCESS MATTERS</a:t>
            </a:r>
          </a:p>
        </p:txBody>
      </p:sp>
      <p:sp>
        <p:nvSpPr>
          <p:cNvPr id="2" name="The environment in plain language">
            <a:extLst xmlns:a="http://schemas.openxmlformats.org/drawingml/2006/main">
              <a:ext uri="{FF2B5EF4-FFF2-40B4-BE49-F238E27FC236}">
                <a16:creationId xmlns:a16="http://schemas.microsoft.com/office/drawing/2014/main" id="{19B320B1-B8DC-4B15-96D3-138998616BD0}"/>
              </a:ext>
            </a:extLst>
          </p:cNvPr>
          <p:cNvSpPr>
            <a:spLocks xmlns:a="http://schemas.openxmlformats.org/drawingml/2006/main" noGrp="1"/>
          </p:cNvSpPr>
          <p:nvPr/>
        </p:nvSpPr>
        <p:spPr>
          <a:xfrm xmlns:a="http://schemas.openxmlformats.org/drawingml/2006/main">
            <a:off x="609600" y="11811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2EFE7"/>
                </a:solidFill>
                <a:latin typeface="Arial Black"/>
                <a:ea typeface="Arial Black"/>
                <a:cs typeface="Arial Black"/>
              </a:defRPr>
            </a:defPPr>
          </a:lstStyle>
          <a:p xmlns:a="http://schemas.openxmlformats.org/drawingml/2006/main">
            <a:pPr>
              <a:defRPr sz="3600" b="1">
                <a:solidFill>
                  <a:srgbClr val="F2EFE7"/>
                </a:solidFill>
                <a:latin typeface="Arial Black"/>
                <a:ea typeface="Arial Black"/>
                <a:cs typeface="Arial Black"/>
              </a:defRPr>
            </a:pPr>
            <a:r>
              <a:rPr sz="3600" b="1">
                <a:solidFill>
                  <a:srgbClr val="F2EFE7"/>
                </a:solidFill>
                <a:latin typeface="Arial Black"/>
                <a:ea typeface="Arial Black"/>
                <a:cs typeface="Arial Black"/>
              </a:rPr>
              <a:t>The environment in plain language</a:t>
            </a:r>
          </a:p>
        </p:txBody>
      </p:sp>
      <p:sp>
        <p:nvSpPr>
          <p:cNvPr id="3" name="Kubernetes manages application packages, called ">
            <a:extLst xmlns:a="http://schemas.openxmlformats.org/drawingml/2006/main">
              <a:ext uri="{FF2B5EF4-FFF2-40B4-BE49-F238E27FC236}">
                <a16:creationId xmlns:a16="http://schemas.microsoft.com/office/drawing/2014/main" id="{82835652-F140-4FC0-8EB2-CE78404F85CF}"/>
              </a:ext>
            </a:extLst>
          </p:cNvPr>
          <p:cNvSpPr>
            <a:spLocks xmlns:a="http://schemas.openxmlformats.org/drawingml/2006/main" noGrp="1"/>
          </p:cNvSpPr>
          <p:nvPr/>
        </p:nvSpPr>
        <p:spPr>
          <a:xfrm xmlns:a="http://schemas.openxmlformats.org/drawingml/2006/main">
            <a:off x="628650" y="23526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2EFE7"/>
                </a:solidFill>
                <a:latin typeface="Arial"/>
                <a:ea typeface="Arial"/>
                <a:cs typeface="Arial"/>
              </a:defRPr>
            </a:defPPr>
          </a:lstStyle>
          <a:p xmlns:a="http://schemas.openxmlformats.org/drawingml/2006/main">
            <a:pPr>
              <a:defRPr sz="2175" b="0">
                <a:solidFill>
                  <a:srgbClr val="F2EFE7"/>
                </a:solidFill>
                <a:latin typeface="Arial"/>
                <a:ea typeface="Arial"/>
                <a:cs typeface="Arial"/>
              </a:defRPr>
            </a:pPr>
            <a:r>
              <a:rPr sz="2175" b="0">
                <a:solidFill>
                  <a:srgbClr val="F2EFE7"/>
                </a:solidFill>
                <a:latin typeface="Arial"/>
                <a:ea typeface="Arial"/>
                <a:cs typeface="Arial"/>
              </a:rPr>
              <a:t>Kubernetes manages application packages, called containers, across machines.</a:t>
            </a:r>
          </a:p>
          <a:p xmlns:a="http://schemas.openxmlformats.org/drawingml/2006/main">
            <a:pPr>
              <a:defRPr sz="2175" b="0">
                <a:solidFill>
                  <a:srgbClr val="F2EFE7"/>
                </a:solidFill>
                <a:latin typeface="Arial"/>
                <a:ea typeface="Arial"/>
                <a:cs typeface="Arial"/>
              </a:defRPr>
            </a:pPr>
            <a:r>
              <a:rPr sz="2175" b="0">
                <a:solidFill>
                  <a:srgbClr val="F2EFE7"/>
                </a:solidFill>
                <a:latin typeface="Arial"/>
                <a:ea typeface="Arial"/>
                <a:cs typeface="Arial"/>
              </a:rPr>
              <a:t>Payment services and automated agents share this platform.</a:t>
            </a:r>
          </a:p>
        </p:txBody>
      </p:sp>
      <p:sp>
        <p:nvSpPr>
          <p:cNvPr id="4" name="Application copies">
            <a:extLst xmlns:a="http://schemas.openxmlformats.org/drawingml/2006/main">
              <a:ext uri="{FF2B5EF4-FFF2-40B4-BE49-F238E27FC236}">
                <a16:creationId xmlns:a16="http://schemas.microsoft.com/office/drawing/2014/main" id="{D6724244-B44F-44C9-95F8-E48EC4128874}"/>
              </a:ext>
            </a:extLst>
          </p:cNvPr>
          <p:cNvSpPr>
            <a:spLocks xmlns:a="http://schemas.openxmlformats.org/drawingml/2006/main" noGrp="1"/>
          </p:cNvSpPr>
          <p:nvPr/>
        </p:nvSpPr>
        <p:spPr>
          <a:xfrm xmlns:a="http://schemas.openxmlformats.org/drawingml/2006/main">
            <a:off x="609600" y="3400425"/>
            <a:ext cx="266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Application copies</a:t>
            </a:r>
          </a:p>
        </p:txBody>
      </p:sp>
      <p:sp>
        <p:nvSpPr>
          <p:cNvPr id="5" name="Pods: running units. Replicas: copies.">
            <a:extLst xmlns:a="http://schemas.openxmlformats.org/drawingml/2006/main">
              <a:ext uri="{FF2B5EF4-FFF2-40B4-BE49-F238E27FC236}">
                <a16:creationId xmlns:a16="http://schemas.microsoft.com/office/drawing/2014/main" id="{A3E21F24-DA02-4AFE-9F33-618D365F7B7B}"/>
              </a:ext>
            </a:extLst>
          </p:cNvPr>
          <p:cNvSpPr>
            <a:spLocks xmlns:a="http://schemas.openxmlformats.org/drawingml/2006/main" noGrp="1"/>
          </p:cNvSpPr>
          <p:nvPr/>
        </p:nvSpPr>
        <p:spPr>
          <a:xfrm xmlns:a="http://schemas.openxmlformats.org/drawingml/2006/main">
            <a:off x="3562350" y="3400425"/>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Pods: running units. Replicas: copies.</a:t>
            </a:r>
          </a:p>
        </p:txBody>
      </p:sp>
      <p:sp>
        <p:nvSpPr>
          <p:cNvPr id="6" name="Resource groups">
            <a:extLst xmlns:a="http://schemas.openxmlformats.org/drawingml/2006/main">
              <a:ext uri="{FF2B5EF4-FFF2-40B4-BE49-F238E27FC236}">
                <a16:creationId xmlns:a16="http://schemas.microsoft.com/office/drawing/2014/main" id="{6C047EA4-02D2-4C9D-94E3-75A084E40E53}"/>
              </a:ext>
            </a:extLst>
          </p:cNvPr>
          <p:cNvSpPr>
            <a:spLocks xmlns:a="http://schemas.openxmlformats.org/drawingml/2006/main" noGrp="1"/>
          </p:cNvSpPr>
          <p:nvPr/>
        </p:nvSpPr>
        <p:spPr>
          <a:xfrm xmlns:a="http://schemas.openxmlformats.org/drawingml/2006/main">
            <a:off x="609600" y="4114800"/>
            <a:ext cx="266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Resource groups</a:t>
            </a:r>
          </a:p>
        </p:txBody>
      </p:sp>
      <p:sp>
        <p:nvSpPr>
          <p:cNvPr id="7" name="Namespaces: named groups, such as payments.">
            <a:extLst xmlns:a="http://schemas.openxmlformats.org/drawingml/2006/main">
              <a:ext uri="{FF2B5EF4-FFF2-40B4-BE49-F238E27FC236}">
                <a16:creationId xmlns:a16="http://schemas.microsoft.com/office/drawing/2014/main" id="{BA2983D4-35A0-49D6-AEC7-E16224DAE84D}"/>
              </a:ext>
            </a:extLst>
          </p:cNvPr>
          <p:cNvSpPr>
            <a:spLocks xmlns:a="http://schemas.openxmlformats.org/drawingml/2006/main" noGrp="1"/>
          </p:cNvSpPr>
          <p:nvPr/>
        </p:nvSpPr>
        <p:spPr>
          <a:xfrm xmlns:a="http://schemas.openxmlformats.org/drawingml/2006/main">
            <a:off x="3562350" y="4114800"/>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Namespaces: named groups, such as payments.</a:t>
            </a:r>
          </a:p>
        </p:txBody>
      </p:sp>
      <p:sp>
        <p:nvSpPr>
          <p:cNvPr id="8" name="Workload identity">
            <a:extLst xmlns:a="http://schemas.openxmlformats.org/drawingml/2006/main">
              <a:ext uri="{FF2B5EF4-FFF2-40B4-BE49-F238E27FC236}">
                <a16:creationId xmlns:a16="http://schemas.microsoft.com/office/drawing/2014/main" id="{3A42E78F-A3E2-4E61-A67C-182D04B4F548}"/>
              </a:ext>
            </a:extLst>
          </p:cNvPr>
          <p:cNvSpPr>
            <a:spLocks xmlns:a="http://schemas.openxmlformats.org/drawingml/2006/main" noGrp="1"/>
          </p:cNvSpPr>
          <p:nvPr/>
        </p:nvSpPr>
        <p:spPr>
          <a:xfrm xmlns:a="http://schemas.openxmlformats.org/drawingml/2006/main">
            <a:off x="609600" y="4829175"/>
            <a:ext cx="266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Workload identity</a:t>
            </a:r>
          </a:p>
        </p:txBody>
      </p:sp>
      <p:sp>
        <p:nvSpPr>
          <p:cNvPr id="9" name="ServiceAccount: identity for management API requ">
            <a:extLst xmlns:a="http://schemas.openxmlformats.org/drawingml/2006/main">
              <a:ext uri="{FF2B5EF4-FFF2-40B4-BE49-F238E27FC236}">
                <a16:creationId xmlns:a16="http://schemas.microsoft.com/office/drawing/2014/main" id="{0C9420F0-7E62-40EE-B7C8-766AE8C44A89}"/>
              </a:ext>
            </a:extLst>
          </p:cNvPr>
          <p:cNvSpPr>
            <a:spLocks xmlns:a="http://schemas.openxmlformats.org/drawingml/2006/main" noGrp="1"/>
          </p:cNvSpPr>
          <p:nvPr/>
        </p:nvSpPr>
        <p:spPr>
          <a:xfrm xmlns:a="http://schemas.openxmlformats.org/drawingml/2006/main">
            <a:off x="3562350" y="4829175"/>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ServiceAccount: identity for management API requests.</a:t>
            </a:r>
          </a:p>
        </p:txBody>
      </p:sp>
      <p:sp>
        <p:nvSpPr>
          <p:cNvPr id="10" name="Multiple services share infrastructure and depen">
            <a:extLst xmlns:a="http://schemas.openxmlformats.org/drawingml/2006/main">
              <a:ext uri="{FF2B5EF4-FFF2-40B4-BE49-F238E27FC236}">
                <a16:creationId xmlns:a16="http://schemas.microsoft.com/office/drawing/2014/main" id="{3EE4000C-0D3C-43C7-8744-059E3CDF66E9}"/>
              </a:ext>
            </a:extLst>
          </p:cNvPr>
          <p:cNvSpPr>
            <a:spLocks xmlns:a="http://schemas.openxmlformats.org/drawingml/2006/main" noGrp="1"/>
          </p:cNvSpPr>
          <p:nvPr/>
        </p:nvSpPr>
        <p:spPr>
          <a:xfrm xmlns:a="http://schemas.openxmlformats.org/drawingml/2006/main">
            <a:off x="628650" y="57626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2EFE7"/>
                </a:solidFill>
                <a:latin typeface="Arial"/>
                <a:ea typeface="Arial"/>
                <a:cs typeface="Arial"/>
              </a:defRPr>
            </a:defPPr>
          </a:lstStyle>
          <a:p xmlns:a="http://schemas.openxmlformats.org/drawingml/2006/main">
            <a:pPr>
              <a:defRPr sz="1875" b="0">
                <a:solidFill>
                  <a:srgbClr val="F2EFE7"/>
                </a:solidFill>
                <a:latin typeface="Arial"/>
                <a:ea typeface="Arial"/>
                <a:cs typeface="Arial"/>
              </a:defRPr>
            </a:pPr>
            <a:r>
              <a:rPr sz="1875" b="0">
                <a:solidFill>
                  <a:srgbClr val="F2EFE7"/>
                </a:solidFill>
                <a:latin typeface="Arial"/>
                <a:ea typeface="Arial"/>
                <a:cs typeface="Arial"/>
              </a:rPr>
              <a:t>Multiple services share infrastructure and dependencies.</a:t>
            </a:r>
          </a:p>
          <a:p xmlns:a="http://schemas.openxmlformats.org/drawingml/2006/main">
            <a:pPr>
              <a:defRPr sz="1875" b="0">
                <a:solidFill>
                  <a:srgbClr val="F2EFE7"/>
                </a:solidFill>
                <a:latin typeface="Arial"/>
                <a:ea typeface="Arial"/>
                <a:cs typeface="Arial"/>
              </a:defRPr>
            </a:pPr>
            <a:r>
              <a:rPr sz="1875" b="0">
                <a:solidFill>
                  <a:srgbClr val="F2EFE7"/>
                </a:solidFill>
                <a:latin typeface="Arial"/>
                <a:ea typeface="Arial"/>
                <a:cs typeface="Arial"/>
              </a:rPr>
              <a:t>A restriction for one can affect another.</a:t>
            </a:r>
          </a:p>
        </p:txBody>
      </p:sp>
      <p:sp>
        <p:nvSpPr>
          <p:cNvPr id="11" name="ISC2 SECURITY CONGRESS 2026 / SC2632">
            <a:extLst xmlns:a="http://schemas.openxmlformats.org/drawingml/2006/main">
              <a:ext uri="{FF2B5EF4-FFF2-40B4-BE49-F238E27FC236}">
                <a16:creationId xmlns:a16="http://schemas.microsoft.com/office/drawing/2014/main" id="{4E92C70D-2490-4866-9FBA-E96CAAFBAE6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12" name="03">
            <a:extLst xmlns:a="http://schemas.openxmlformats.org/drawingml/2006/main">
              <a:ext uri="{FF2B5EF4-FFF2-40B4-BE49-F238E27FC236}">
                <a16:creationId xmlns:a16="http://schemas.microsoft.com/office/drawing/2014/main" id="{F9D4DF15-F076-41F8-B1BA-2439EE2A231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03</a:t>
            </a:r>
          </a:p>
        </p:txBody>
      </p:sp>
    </p:spTree>
    <p:extLst>
      <p:ext uri="{BB962C8B-B14F-4D97-AF65-F5344CB8AC3E}">
        <p14:creationId xmlns:p14="http://schemas.microsoft.com/office/powerpoint/2010/main" val="472698498"/>
      </p:ext>
    </p:extLst>
  </p:cSld>
</p:sld>
</file>

<file path=ppt/slides/slide4.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5" name="SECURITY CONTROLS / SHARED PLATFORM">
            <a:extLst xmlns:a="http://schemas.openxmlformats.org/drawingml/2006/main">
              <a:ext uri="{FF2B5EF4-FFF2-40B4-BE49-F238E27FC236}">
                <a16:creationId xmlns:a16="http://schemas.microsoft.com/office/drawing/2014/main" id="{62A9B83F-E1AF-4854-AF13-CDACD9D328CB}"/>
              </a:ext>
            </a:extLst>
          </p:cNvPr>
          <p:cNvSpPr>
            <a:spLocks xmlns:a="http://schemas.openxmlformats.org/drawingml/2006/main" noGrp="1"/>
          </p:cNvSpPr>
          <p:nvPr/>
        </p:nvSpPr>
        <p:spPr>
          <a:xfrm xmlns:a="http://schemas.openxmlformats.org/drawingml/2006/main">
            <a:off x="609600" y="476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SECURITY CONTROLS / SHARED PLATFORM</a:t>
            </a:r>
          </a:p>
        </p:txBody>
      </p:sp>
      <p:sp>
        <p:nvSpPr>
          <p:cNvPr id="2" name="Detection, prevention and response">
            <a:extLst xmlns:a="http://schemas.openxmlformats.org/drawingml/2006/main">
              <a:ext uri="{FF2B5EF4-FFF2-40B4-BE49-F238E27FC236}">
                <a16:creationId xmlns:a16="http://schemas.microsoft.com/office/drawing/2014/main" id="{4018ECF4-8CEE-4786-9DE2-88D021B84E82}"/>
              </a:ext>
            </a:extLst>
          </p:cNvPr>
          <p:cNvSpPr>
            <a:spLocks xmlns:a="http://schemas.openxmlformats.org/drawingml/2006/main" noGrp="1"/>
          </p:cNvSpPr>
          <p:nvPr/>
        </p:nvSpPr>
        <p:spPr>
          <a:xfrm xmlns:a="http://schemas.openxmlformats.org/drawingml/2006/main">
            <a:off x="609600" y="11811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B1822"/>
                </a:solidFill>
                <a:latin typeface="Arial Black"/>
                <a:ea typeface="Arial Black"/>
                <a:cs typeface="Arial Black"/>
              </a:defRPr>
            </a:defPPr>
          </a:lstStyle>
          <a:p xmlns:a="http://schemas.openxmlformats.org/drawingml/2006/main">
            <a:pPr>
              <a:defRPr sz="3825" b="1">
                <a:solidFill>
                  <a:srgbClr val="0B1822"/>
                </a:solidFill>
                <a:latin typeface="Arial Black"/>
                <a:ea typeface="Arial Black"/>
                <a:cs typeface="Arial Black"/>
              </a:defRPr>
            </a:pPr>
            <a:r>
              <a:rPr sz="3825" b="1">
                <a:solidFill>
                  <a:srgbClr val="0B1822"/>
                </a:solidFill>
                <a:latin typeface="Arial Black"/>
                <a:ea typeface="Arial Black"/>
                <a:cs typeface="Arial Black"/>
              </a:rPr>
              <a:t>Detection, prevention and response</a:t>
            </a:r>
          </a:p>
        </p:txBody>
      </p:sp>
      <p:sp>
        <p:nvSpPr>
          <p:cNvPr id="3" name="Detection">
            <a:extLst xmlns:a="http://schemas.openxmlformats.org/drawingml/2006/main">
              <a:ext uri="{FF2B5EF4-FFF2-40B4-BE49-F238E27FC236}">
                <a16:creationId xmlns:a16="http://schemas.microsoft.com/office/drawing/2014/main" id="{7680F2F1-BEF9-43A4-8771-F1AC80055C48}"/>
              </a:ext>
            </a:extLst>
          </p:cNvPr>
          <p:cNvSpPr>
            <a:spLocks xmlns:a="http://schemas.openxmlformats.org/drawingml/2006/main" noGrp="1"/>
          </p:cNvSpPr>
          <p:nvPr/>
        </p:nvSpPr>
        <p:spPr>
          <a:xfrm xmlns:a="http://schemas.openxmlformats.org/drawingml/2006/main">
            <a:off x="628650" y="234315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Detection</a:t>
            </a:r>
          </a:p>
        </p:txBody>
      </p:sp>
      <p:sp>
        <p:nvSpPr>
          <p:cNvPr id="4" name="Falco rules flag suspicious runtime activity.&#10;Au">
            <a:extLst xmlns:a="http://schemas.openxmlformats.org/drawingml/2006/main">
              <a:ext uri="{FF2B5EF4-FFF2-40B4-BE49-F238E27FC236}">
                <a16:creationId xmlns:a16="http://schemas.microsoft.com/office/drawing/2014/main" id="{E0B62404-2897-4EB1-A895-9CDF948DEE1F}"/>
              </a:ext>
            </a:extLst>
          </p:cNvPr>
          <p:cNvSpPr>
            <a:spLocks xmlns:a="http://schemas.openxmlformats.org/drawingml/2006/main" noGrp="1"/>
          </p:cNvSpPr>
          <p:nvPr/>
        </p:nvSpPr>
        <p:spPr>
          <a:xfrm xmlns:a="http://schemas.openxmlformats.org/drawingml/2006/main">
            <a:off x="2952750" y="2343150"/>
            <a:ext cx="859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Falco rules flag suspicious runtime activity.</a:t>
            </a:r>
          </a:p>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Audit logs record Kubernetes API requests.</a:t>
            </a:r>
          </a:p>
        </p:txBody>
      </p:sp>
      <p:sp>
        <p:nvSpPr>
          <p:cNvPr id="5" name="Admission">
            <a:extLst xmlns:a="http://schemas.openxmlformats.org/drawingml/2006/main">
              <a:ext uri="{FF2B5EF4-FFF2-40B4-BE49-F238E27FC236}">
                <a16:creationId xmlns:a16="http://schemas.microsoft.com/office/drawing/2014/main" id="{1F2DB68A-9436-444F-A837-D7B0E54243A0}"/>
              </a:ext>
            </a:extLst>
          </p:cNvPr>
          <p:cNvSpPr>
            <a:spLocks xmlns:a="http://schemas.openxmlformats.org/drawingml/2006/main" noGrp="1"/>
          </p:cNvSpPr>
          <p:nvPr/>
        </p:nvSpPr>
        <p:spPr>
          <a:xfrm xmlns:a="http://schemas.openxmlformats.org/drawingml/2006/main">
            <a:off x="628650" y="308610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Admission</a:t>
            </a:r>
          </a:p>
        </p:txBody>
      </p:sp>
      <p:sp>
        <p:nvSpPr>
          <p:cNvPr id="6" name="Kyverno can deny a new Pod requesting&#10;privilege ">
            <a:extLst xmlns:a="http://schemas.openxmlformats.org/drawingml/2006/main">
              <a:ext uri="{FF2B5EF4-FFF2-40B4-BE49-F238E27FC236}">
                <a16:creationId xmlns:a16="http://schemas.microsoft.com/office/drawing/2014/main" id="{F791229F-11BB-49C3-8E4D-29239F3DBA84}"/>
              </a:ext>
            </a:extLst>
          </p:cNvPr>
          <p:cNvSpPr>
            <a:spLocks xmlns:a="http://schemas.openxmlformats.org/drawingml/2006/main" noGrp="1"/>
          </p:cNvSpPr>
          <p:nvPr/>
        </p:nvSpPr>
        <p:spPr>
          <a:xfrm xmlns:a="http://schemas.openxmlformats.org/drawingml/2006/main">
            <a:off x="2952750" y="3086100"/>
            <a:ext cx="859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Kyverno can deny a new Pod requesting</a:t>
            </a:r>
          </a:p>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privilege escalation before it starts.</a:t>
            </a:r>
          </a:p>
        </p:txBody>
      </p:sp>
      <p:sp>
        <p:nvSpPr>
          <p:cNvPr id="7" name="Containment">
            <a:extLst xmlns:a="http://schemas.openxmlformats.org/drawingml/2006/main">
              <a:ext uri="{FF2B5EF4-FFF2-40B4-BE49-F238E27FC236}">
                <a16:creationId xmlns:a16="http://schemas.microsoft.com/office/drawing/2014/main" id="{DF497031-8397-4C97-ABD3-5BEE93D5EC08}"/>
              </a:ext>
            </a:extLst>
          </p:cNvPr>
          <p:cNvSpPr>
            <a:spLocks xmlns:a="http://schemas.openxmlformats.org/drawingml/2006/main" noGrp="1"/>
          </p:cNvSpPr>
          <p:nvPr/>
        </p:nvSpPr>
        <p:spPr>
          <a:xfrm xmlns:a="http://schemas.openxmlformats.org/drawingml/2006/main">
            <a:off x="628650" y="382905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Containment</a:t>
            </a:r>
          </a:p>
        </p:txBody>
      </p:sp>
      <p:sp>
        <p:nvSpPr>
          <p:cNvPr id="8" name="NetworkPolicy limits traffic. RBAC limits API ac">
            <a:extLst xmlns:a="http://schemas.openxmlformats.org/drawingml/2006/main">
              <a:ext uri="{FF2B5EF4-FFF2-40B4-BE49-F238E27FC236}">
                <a16:creationId xmlns:a16="http://schemas.microsoft.com/office/drawing/2014/main" id="{44539690-84B0-4ACB-9F01-9BF9D88982E7}"/>
              </a:ext>
            </a:extLst>
          </p:cNvPr>
          <p:cNvSpPr>
            <a:spLocks xmlns:a="http://schemas.openxmlformats.org/drawingml/2006/main" noGrp="1"/>
          </p:cNvSpPr>
          <p:nvPr/>
        </p:nvSpPr>
        <p:spPr>
          <a:xfrm xmlns:a="http://schemas.openxmlformats.org/drawingml/2006/main">
            <a:off x="2952750" y="3829050"/>
            <a:ext cx="859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NetworkPolicy limits traffic. RBAC limits API access.</a:t>
            </a:r>
          </a:p>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Agent tools need application controls.</a:t>
            </a:r>
          </a:p>
        </p:txBody>
      </p:sp>
      <p:sp>
        <p:nvSpPr>
          <p:cNvPr id="9" name="Authority">
            <a:extLst xmlns:a="http://schemas.openxmlformats.org/drawingml/2006/main">
              <a:ext uri="{FF2B5EF4-FFF2-40B4-BE49-F238E27FC236}">
                <a16:creationId xmlns:a16="http://schemas.microsoft.com/office/drawing/2014/main" id="{BED66E0B-6753-4C18-8937-6F3680467BB7}"/>
              </a:ext>
            </a:extLst>
          </p:cNvPr>
          <p:cNvSpPr>
            <a:spLocks xmlns:a="http://schemas.openxmlformats.org/drawingml/2006/main" noGrp="1"/>
          </p:cNvSpPr>
          <p:nvPr/>
        </p:nvSpPr>
        <p:spPr>
          <a:xfrm xmlns:a="http://schemas.openxmlformats.org/drawingml/2006/main">
            <a:off x="628650" y="457200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Authority</a:t>
            </a:r>
          </a:p>
        </p:txBody>
      </p:sp>
      <p:sp>
        <p:nvSpPr>
          <p:cNvPr id="10" name="The policy agent proposes controls for review.&#10;P">
            <a:extLst xmlns:a="http://schemas.openxmlformats.org/drawingml/2006/main">
              <a:ext uri="{FF2B5EF4-FFF2-40B4-BE49-F238E27FC236}">
                <a16:creationId xmlns:a16="http://schemas.microsoft.com/office/drawing/2014/main" id="{E55E0E59-77F6-4BA0-9717-ABC3BE33C7A1}"/>
              </a:ext>
            </a:extLst>
          </p:cNvPr>
          <p:cNvSpPr>
            <a:spLocks xmlns:a="http://schemas.openxmlformats.org/drawingml/2006/main" noGrp="1"/>
          </p:cNvSpPr>
          <p:nvPr/>
        </p:nvSpPr>
        <p:spPr>
          <a:xfrm xmlns:a="http://schemas.openxmlformats.org/drawingml/2006/main">
            <a:off x="2952750" y="4572000"/>
            <a:ext cx="859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The policy agent proposes controls for review.</a:t>
            </a:r>
          </a:p>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People authorize containment and recovery.</a:t>
            </a:r>
          </a:p>
        </p:txBody>
      </p:sp>
      <p:sp>
        <p:nvSpPr>
          <p:cNvPr id="11" name="Denying a new Pod leaves running workloads and c">
            <a:extLst xmlns:a="http://schemas.openxmlformats.org/drawingml/2006/main">
              <a:ext uri="{FF2B5EF4-FFF2-40B4-BE49-F238E27FC236}">
                <a16:creationId xmlns:a16="http://schemas.microsoft.com/office/drawing/2014/main" id="{4128C1FC-2432-4B82-993E-920B2F7CE7F9}"/>
              </a:ext>
            </a:extLst>
          </p:cNvPr>
          <p:cNvSpPr>
            <a:spLocks xmlns:a="http://schemas.openxmlformats.org/drawingml/2006/main" noGrp="1"/>
          </p:cNvSpPr>
          <p:nvPr/>
        </p:nvSpPr>
        <p:spPr>
          <a:xfrm xmlns:a="http://schemas.openxmlformats.org/drawingml/2006/main">
            <a:off x="628650" y="54578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Denying a new Pod leaves running workloads and copied tokens for separate response.</a:t>
            </a:r>
          </a:p>
        </p:txBody>
      </p:sp>
      <p:sp>
        <p:nvSpPr>
          <p:cNvPr id="12" name="Falco rules passed validation. Live detection is">
            <a:extLst xmlns:a="http://schemas.openxmlformats.org/drawingml/2006/main">
              <a:ext uri="{FF2B5EF4-FFF2-40B4-BE49-F238E27FC236}">
                <a16:creationId xmlns:a16="http://schemas.microsoft.com/office/drawing/2014/main" id="{0D76751B-9A84-4162-9C17-947918458F14}"/>
              </a:ext>
            </a:extLst>
          </p:cNvPr>
          <p:cNvSpPr>
            <a:spLocks xmlns:a="http://schemas.openxmlformats.org/drawingml/2006/main" noGrp="1"/>
          </p:cNvSpPr>
          <p:nvPr/>
        </p:nvSpPr>
        <p:spPr>
          <a:xfrm xmlns:a="http://schemas.openxmlformats.org/drawingml/2006/main">
            <a:off x="628650" y="589597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0717A"/>
                </a:solidFill>
                <a:latin typeface="Arial"/>
                <a:ea typeface="Arial"/>
                <a:cs typeface="Arial"/>
              </a:defRPr>
            </a:defPPr>
          </a:lstStyle>
          <a:p xmlns:a="http://schemas.openxmlformats.org/drawingml/2006/main">
            <a:pPr>
              <a:defRPr sz="1500" b="0">
                <a:solidFill>
                  <a:srgbClr val="60717A"/>
                </a:solidFill>
                <a:latin typeface="Arial"/>
                <a:ea typeface="Arial"/>
                <a:cs typeface="Arial"/>
              </a:defRPr>
            </a:pPr>
            <a:r>
              <a:rPr sz="1500" b="0">
                <a:solidFill>
                  <a:srgbClr val="60717A"/>
                </a:solidFill>
                <a:latin typeface="Arial"/>
                <a:ea typeface="Arial"/>
                <a:cs typeface="Arial"/>
              </a:rPr>
              <a:t>Falco rules passed validation. Live detection is unverified.</a:t>
            </a:r>
          </a:p>
          <a:p xmlns:a="http://schemas.openxmlformats.org/drawingml/2006/main">
            <a:pPr>
              <a:defRPr sz="1500" b="0">
                <a:solidFill>
                  <a:srgbClr val="60717A"/>
                </a:solidFill>
                <a:latin typeface="Arial"/>
                <a:ea typeface="Arial"/>
                <a:cs typeface="Arial"/>
              </a:defRPr>
            </a:pPr>
            <a:r>
              <a:rPr sz="1500" b="0">
                <a:solidFill>
                  <a:srgbClr val="60717A"/>
                </a:solidFill>
                <a:latin typeface="Arial"/>
                <a:ea typeface="Arial"/>
                <a:cs typeface="Arial"/>
              </a:rPr>
              <a:t>We supply incident alerts. The demo compiles proposals and runs policy tests.</a:t>
            </a:r>
          </a:p>
        </p:txBody>
      </p:sp>
      <p:sp>
        <p:nvSpPr>
          <p:cNvPr id="13" name="ISC2 SECURITY CONGRESS 2026 / SC2632">
            <a:extLst xmlns:a="http://schemas.openxmlformats.org/drawingml/2006/main">
              <a:ext uri="{FF2B5EF4-FFF2-40B4-BE49-F238E27FC236}">
                <a16:creationId xmlns:a16="http://schemas.microsoft.com/office/drawing/2014/main" id="{45E85DD4-27D2-413B-AD68-2B25D43B42D7}"/>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4" name="04">
            <a:extLst xmlns:a="http://schemas.openxmlformats.org/drawingml/2006/main">
              <a:ext uri="{FF2B5EF4-FFF2-40B4-BE49-F238E27FC236}">
                <a16:creationId xmlns:a16="http://schemas.microsoft.com/office/drawing/2014/main" id="{51468333-8703-4897-8B3E-C08FF13E338D}"/>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04</a:t>
            </a:r>
          </a:p>
        </p:txBody>
      </p:sp>
    </p:spTree>
    <p:extLst>
      <p:ext uri="{BB962C8B-B14F-4D97-AF65-F5344CB8AC3E}">
        <p14:creationId xmlns:p14="http://schemas.microsoft.com/office/powerpoint/2010/main" val="609493746"/>
      </p:ext>
    </p:extLst>
  </p:cSld>
</p:sld>
</file>

<file path=ppt/slides/slide5.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PYTHON HARNESS / OPTIONAL MODEL PATH">
            <a:extLst xmlns:a="http://schemas.openxmlformats.org/drawingml/2006/main">
              <a:ext uri="{FF2B5EF4-FFF2-40B4-BE49-F238E27FC236}">
                <a16:creationId xmlns:a16="http://schemas.microsoft.com/office/drawing/2014/main" id="{17F25C86-0373-4B1B-991E-F1EC960F1070}"/>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PYTHON HARNESS / OPTIONAL MODEL PATH</a:t>
            </a:r>
          </a:p>
        </p:txBody>
      </p:sp>
      <p:sp>
        <p:nvSpPr>
          <p:cNvPr id="2" name="The policy agent decision loop">
            <a:extLst xmlns:a="http://schemas.openxmlformats.org/drawingml/2006/main">
              <a:ext uri="{FF2B5EF4-FFF2-40B4-BE49-F238E27FC236}">
                <a16:creationId xmlns:a16="http://schemas.microsoft.com/office/drawing/2014/main" id="{A3F50C77-643F-48D2-BB46-B662FF869252}"/>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The policy agent decision loop</a:t>
            </a:r>
          </a:p>
        </p:txBody>
      </p:sp>
      <p:graphicFrame>
        <p:nvGraphicFramePr>
          <p:cNvPr id="3" name="">
            <a:extLst xmlns:a="http://schemas.openxmlformats.org/drawingml/2006/main">
              <a:ext uri="{FF2B5EF4-FFF2-40B4-BE49-F238E27FC236}">
                <a16:creationId xmlns:a16="http://schemas.microsoft.com/office/drawing/2014/main" id="{527F0C8C-E8FD-4D2A-B9EE-DCAB3FA565BB}"/>
              </a:ext>
            </a:extLst>
          </p:cNvPr>
          <p:cNvGraphicFramePr/>
          <p:nvPr/>
        </p:nvGraphicFramePr>
        <p:xfrm>
          <a:off xmlns:a="http://schemas.openxmlformats.org/drawingml/2006/main" x="609600" y="2305050"/>
          <a:ext xmlns:a="http://schemas.openxmlformats.org/drawingml/2006/main" cx="10953750" cy="3476625"/>
        </p:xfrm>
        <a:graphic xmlns:a="http://schemas.openxmlformats.org/drawingml/2006/main">
          <a:graphicData uri="http://schemas.openxmlformats.org/drawingml/2006/table">
            <a:tbl>
              <a:tblPr/>
              <a:tblGrid>
                <a:gridCol w="2190750"/>
                <a:gridCol w="4048125"/>
                <a:gridCol w="4714875"/>
              </a:tblGrid>
              <a:tr h="552450">
                <a:tc>
                  <a:txBody>
                    <a:bodyPr/>
                    <a:lstStyle/>
                    <a:p>
                      <a:r>
                        <a:rPr sz="1800" b="1">
                          <a:solidFill>
                            <a:srgbClr val="F2EFE7"/>
                          </a:solidFill>
                          <a:latin typeface="Arial"/>
                          <a:ea typeface="Arial"/>
                          <a:cs typeface="Arial"/>
                        </a:rPr>
                        <a:t>Stage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Model choice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Python and tools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57225">
                <a:tc>
                  <a:txBody>
                    <a:bodyPr/>
                    <a:lstStyle/>
                    <a:p>
                      <a:r>
                        <a:rPr sz="1800" b="1">
                          <a:solidFill>
                            <a:srgbClr val="087E79"/>
                          </a:solidFill>
                          <a:latin typeface="Arial"/>
                          <a:ea typeface="Arial"/>
                          <a:cs typeface="Arial"/>
                        </a:rPr>
                        <a:t>Map intent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One of 10 catalog options per clause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Validate choice; fill the scoped spec</a:t>
                      </a:r>
                    </a:p>
                  </a:txBody>
                  <a:tcPr marL="91440" marR="91440" marT="45720" marB="45720">
                    <a:lnR w="19050">
                      <a:solidFill>
                        <a:srgbClr val="F2EFE7"/>
                      </a:solidFill>
                      <a:prstDash val="solid"/>
                    </a:lnR>
                    <a:lnB w="19050">
                      <a:solidFill>
                        <a:srgbClr val="F2EFE7"/>
                      </a:solidFill>
                      <a:prstDash val="solid"/>
                    </a:lnB>
                    <a:solidFill>
                      <a:srgbClr val="F2EFE7"/>
                    </a:solidFill>
                  </a:tcPr>
                </a:tc>
              </a:tr>
              <a:tr h="657225">
                <a:tc>
                  <a:txBody>
                    <a:bodyPr/>
                    <a:lstStyle/>
                    <a:p>
                      <a:r>
                        <a:rPr sz="1800" b="1">
                          <a:solidFill>
                            <a:srgbClr val="087E79"/>
                          </a:solidFill>
                          <a:latin typeface="Arial"/>
                          <a:ea typeface="Arial"/>
                          <a:cs typeface="Arial"/>
                        </a:rPr>
                        <a:t>Dependencies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preserve or deny each profile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Read fixtures; collect workload labels</a:t>
                      </a:r>
                    </a:p>
                  </a:txBody>
                  <a:tcPr marL="91440" marR="91440" marT="45720" marB="45720">
                    <a:lnR w="19050">
                      <a:solidFill>
                        <a:srgbClr val="F2EFE7"/>
                      </a:solidFill>
                      <a:prstDash val="solid"/>
                    </a:lnR>
                    <a:lnB w="19050">
                      <a:solidFill>
                        <a:srgbClr val="F2EFE7"/>
                      </a:solidFill>
                      <a:prstDash val="solid"/>
                    </a:lnB>
                    <a:solidFill>
                      <a:srgbClr val="F2EFE7"/>
                    </a:solidFill>
                  </a:tcPr>
                </a:tc>
              </a:tr>
              <a:tr h="866775">
                <a:tc>
                  <a:txBody>
                    <a:bodyPr/>
                    <a:lstStyle/>
                    <a:p>
                      <a:r>
                        <a:rPr sz="1800" b="1">
                          <a:solidFill>
                            <a:srgbClr val="087E79"/>
                          </a:solidFill>
                          <a:latin typeface="Arial"/>
                          <a:ea typeface="Arial"/>
                          <a:cs typeface="Arial"/>
                        </a:rPr>
                        <a:t>Blocked workload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allow_and_retest, request_exception or block_is_intended</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Render templates; simulate admission; at most 3 rounds</a:t>
                      </a:r>
                    </a:p>
                  </a:txBody>
                  <a:tcPr marL="91440" marR="91440" marT="45720" marB="45720">
                    <a:lnR w="19050">
                      <a:solidFill>
                        <a:srgbClr val="F2EFE7"/>
                      </a:solidFill>
                      <a:prstDash val="solid"/>
                    </a:lnR>
                    <a:lnB w="19050">
                      <a:solidFill>
                        <a:srgbClr val="F2EFE7"/>
                      </a:solidFill>
                      <a:prstDash val="solid"/>
                    </a:lnB>
                    <a:solidFill>
                      <a:srgbClr val="F2EFE7"/>
                    </a:solidFill>
                  </a:tcPr>
                </a:tc>
              </a:tr>
              <a:tr h="742950">
                <a:tc>
                  <a:txBody>
                    <a:bodyPr/>
                    <a:lstStyle/>
                    <a:p>
                      <a:r>
                        <a:rPr sz="1800" b="1">
                          <a:solidFill>
                            <a:srgbClr val="087E79"/>
                          </a:solidFill>
                          <a:latin typeface="Arial"/>
                          <a:ea typeface="Arial"/>
                          <a:cs typeface="Arial"/>
                        </a:rPr>
                        <a:t>Review bundle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Exception request or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Write stage files, tests, coverage and local PR.md</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Python fixes the sequence. Reviewers resolve mis">
            <a:extLst xmlns:a="http://schemas.openxmlformats.org/drawingml/2006/main">
              <a:ext uri="{FF2B5EF4-FFF2-40B4-BE49-F238E27FC236}">
                <a16:creationId xmlns:a16="http://schemas.microsoft.com/office/drawing/2014/main" id="{E847A89F-9C8A-465D-BAE3-CF712FA5F8C3}"/>
              </a:ext>
            </a:extLst>
          </p:cNvPr>
          <p:cNvSpPr>
            <a:spLocks xmlns:a="http://schemas.openxmlformats.org/drawingml/2006/main" noGrp="1"/>
          </p:cNvSpPr>
          <p:nvPr/>
        </p:nvSpPr>
        <p:spPr>
          <a:xfrm xmlns:a="http://schemas.openxmlformats.org/drawingml/2006/main">
            <a:off x="609600" y="59340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Python fixes the sequence. Reviewers resolve missing coverage and authorize deployment.</a:t>
            </a:r>
          </a:p>
        </p:txBody>
      </p:sp>
      <p:sp>
        <p:nvSpPr>
          <p:cNvPr id="5" name="ISC2 SECURITY CONGRESS 2026 / SC2632">
            <a:extLst xmlns:a="http://schemas.openxmlformats.org/drawingml/2006/main">
              <a:ext uri="{FF2B5EF4-FFF2-40B4-BE49-F238E27FC236}">
                <a16:creationId xmlns:a16="http://schemas.microsoft.com/office/drawing/2014/main" id="{1F233775-3269-48BB-BC0A-2F7956E8652B}"/>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05">
            <a:extLst xmlns:a="http://schemas.openxmlformats.org/drawingml/2006/main">
              <a:ext uri="{FF2B5EF4-FFF2-40B4-BE49-F238E27FC236}">
                <a16:creationId xmlns:a16="http://schemas.microsoft.com/office/drawing/2014/main" id="{7326483D-5301-4628-814D-9B250DA9FFFF}"/>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05</a:t>
            </a:r>
          </a:p>
        </p:txBody>
      </p:sp>
    </p:spTree>
    <p:extLst>
      <p:ext uri="{BB962C8B-B14F-4D97-AF65-F5344CB8AC3E}">
        <p14:creationId xmlns:p14="http://schemas.microsoft.com/office/powerpoint/2010/main" val="1566545865"/>
      </p:ext>
    </p:extLst>
  </p:cSld>
</p:sld>
</file>

<file path=ppt/slides/slide6.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ACTUAL DATA PATH / AUTHORITY LIMITS">
            <a:extLst xmlns:a="http://schemas.openxmlformats.org/drawingml/2006/main">
              <a:ext uri="{FF2B5EF4-FFF2-40B4-BE49-F238E27FC236}">
                <a16:creationId xmlns:a16="http://schemas.microsoft.com/office/drawing/2014/main" id="{93CDF6F7-B02B-4F05-9149-858F6625E0D4}"/>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ACTUAL DATA PATH / AUTHORITY LIMITS</a:t>
            </a:r>
          </a:p>
        </p:txBody>
      </p:sp>
      <p:sp>
        <p:nvSpPr>
          <p:cNvPr id="2" name="Trust boundaries and model inputs">
            <a:extLst xmlns:a="http://schemas.openxmlformats.org/drawingml/2006/main">
              <a:ext uri="{FF2B5EF4-FFF2-40B4-BE49-F238E27FC236}">
                <a16:creationId xmlns:a16="http://schemas.microsoft.com/office/drawing/2014/main" id="{5430106A-1213-4930-8E59-4560E957A9C7}"/>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Trust boundaries and model inputs</a:t>
            </a:r>
          </a:p>
        </p:txBody>
      </p:sp>
      <p:graphicFrame>
        <p:nvGraphicFramePr>
          <p:cNvPr id="3" name="">
            <a:extLst xmlns:a="http://schemas.openxmlformats.org/drawingml/2006/main">
              <a:ext uri="{FF2B5EF4-FFF2-40B4-BE49-F238E27FC236}">
                <a16:creationId xmlns:a16="http://schemas.microsoft.com/office/drawing/2014/main" id="{B20B9470-157E-4B37-80E6-6A07A87AED19}"/>
              </a:ext>
            </a:extLst>
          </p:cNvPr>
          <p:cNvGraphicFramePr/>
          <p:nvPr/>
        </p:nvGraphicFramePr>
        <p:xfrm>
          <a:off xmlns:a="http://schemas.openxmlformats.org/drawingml/2006/main" x="609600" y="2305050"/>
          <a:ext xmlns:a="http://schemas.openxmlformats.org/drawingml/2006/main" cx="10953750" cy="3667125"/>
        </p:xfrm>
        <a:graphic xmlns:a="http://schemas.openxmlformats.org/drawingml/2006/main">
          <a:graphicData uri="http://schemas.openxmlformats.org/drawingml/2006/table">
            <a:tbl>
              <a:tblPr/>
              <a:tblGrid>
                <a:gridCol w="2857500"/>
                <a:gridCol w="8096250"/>
              </a:tblGrid>
              <a:tr h="466725">
                <a:tc>
                  <a:txBody>
                    <a:bodyPr/>
                    <a:lstStyle/>
                    <a:p>
                      <a:r>
                        <a:rPr sz="1800" b="1">
                          <a:solidFill>
                            <a:srgbClr val="F2EFE7"/>
                          </a:solidFill>
                          <a:latin typeface="Arial"/>
                          <a:ea typeface="Arial"/>
                          <a:cs typeface="Arial"/>
                        </a:rPr>
                        <a:t>Boundary</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What crosses it</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71500">
                <a:tc>
                  <a:txBody>
                    <a:bodyPr/>
                    <a:lstStyle/>
                    <a:p>
                      <a:r>
                        <a:rPr sz="1800" b="1">
                          <a:solidFill>
                            <a:srgbClr val="087E79"/>
                          </a:solidFill>
                          <a:latin typeface="Arial"/>
                          <a:ea typeface="Arial"/>
                          <a:cs typeface="Arial"/>
                        </a:rPr>
                        <a:t>Runtime events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Supplied alerts inform human review. The harness does not ingest Falco.</a:t>
                      </a:r>
                    </a:p>
                  </a:txBody>
                  <a:tcPr marL="91440" marR="91440" marT="45720" marB="45720">
                    <a:lnR w="19050">
                      <a:solidFill>
                        <a:srgbClr val="F2EFE7"/>
                      </a:solidFill>
                      <a:prstDash val="solid"/>
                    </a:lnR>
                    <a:lnB w="19050">
                      <a:solidFill>
                        <a:srgbClr val="F2EFE7"/>
                      </a:solidFill>
                      <a:prstDash val="solid"/>
                    </a:lnB>
                    <a:solidFill>
                      <a:srgbClr val="F2EFE7"/>
                    </a:solidFill>
                  </a:tcPr>
                </a:tc>
              </a:tr>
              <a:tr h="781050">
                <a:tc>
                  <a:txBody>
                    <a:bodyPr/>
                    <a:lstStyle/>
                    <a:p>
                      <a:r>
                        <a:rPr sz="1800" b="1">
                          <a:solidFill>
                            <a:srgbClr val="087E79"/>
                          </a:solidFill>
                          <a:latin typeface="Arial"/>
                          <a:ea typeface="Arial"/>
                          <a:cs typeface="Arial"/>
                        </a:rPr>
                        <a:t>Provider request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Full intent + clause, profile/workload names, or workload/policy/denial reason</a:t>
                      </a:r>
                    </a:p>
                  </a:txBody>
                  <a:tcPr marL="91440" marR="91440" marT="45720" marB="45720">
                    <a:lnR w="19050">
                      <a:solidFill>
                        <a:srgbClr val="F2EFE7"/>
                      </a:solidFill>
                      <a:prstDash val="solid"/>
                    </a:lnR>
                    <a:lnB w="19050">
                      <a:solidFill>
                        <a:srgbClr val="F2EFE7"/>
                      </a:solidFill>
                      <a:prstDash val="solid"/>
                    </a:lnB>
                    <a:solidFill>
                      <a:srgbClr val="F2EFE7"/>
                    </a:solidFill>
                  </a:tcPr>
                </a:tc>
              </a:tr>
              <a:tr h="571500">
                <a:tc>
                  <a:txBody>
                    <a:bodyPr/>
                    <a:lstStyle/>
                    <a:p>
                      <a:r>
                        <a:rPr sz="1800" b="1">
                          <a:solidFill>
                            <a:srgbClr val="087E79"/>
                          </a:solidFill>
                          <a:latin typeface="Arial"/>
                          <a:ea typeface="Arial"/>
                          <a:cs typeface="Arial"/>
                        </a:rPr>
                        <a:t>Provider response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Allowed choice + numeric score. Invalid or below 0.6 escalates.</a:t>
                      </a:r>
                    </a:p>
                  </a:txBody>
                  <a:tcPr marL="91440" marR="91440" marT="45720" marB="45720">
                    <a:lnR w="19050">
                      <a:solidFill>
                        <a:srgbClr val="F2EFE7"/>
                      </a:solidFill>
                      <a:prstDash val="solid"/>
                    </a:lnR>
                    <a:lnB w="19050">
                      <a:solidFill>
                        <a:srgbClr val="F2EFE7"/>
                      </a:solidFill>
                      <a:prstDash val="solid"/>
                    </a:lnB>
                    <a:solidFill>
                      <a:srgbClr val="F2EFE7"/>
                    </a:solidFill>
                  </a:tcPr>
                </a:tc>
              </a:tr>
              <a:tr h="638175">
                <a:tc>
                  <a:txBody>
                    <a:bodyPr/>
                    <a:lstStyle/>
                    <a:p>
                      <a:r>
                        <a:rPr sz="1800" b="1">
                          <a:solidFill>
                            <a:srgbClr val="087E79"/>
                          </a:solidFill>
                          <a:latin typeface="Arial"/>
                          <a:ea typeface="Arial"/>
                          <a:cs typeface="Arial"/>
                        </a:rPr>
                        <a:t>Uncertain dependency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The proposal retains the allowance and flags it for human review.</a:t>
                      </a:r>
                    </a:p>
                  </a:txBody>
                  <a:tcPr marL="91440" marR="91440" marT="45720" marB="45720">
                    <a:lnR w="19050">
                      <a:solidFill>
                        <a:srgbClr val="F2EFE7"/>
                      </a:solidFill>
                      <a:prstDash val="solid"/>
                    </a:lnR>
                    <a:lnB w="19050">
                      <a:solidFill>
                        <a:srgbClr val="F2EFE7"/>
                      </a:solidFill>
                      <a:prstDash val="solid"/>
                    </a:lnB>
                    <a:solidFill>
                      <a:srgbClr val="F2EFE7"/>
                    </a:solidFill>
                  </a:tcPr>
                </a:tc>
              </a:tr>
              <a:tr h="638175">
                <a:tc>
                  <a:txBody>
                    <a:bodyPr/>
                    <a:lstStyle/>
                    <a:p>
                      <a:r>
                        <a:rPr sz="1800" b="1">
                          <a:solidFill>
                            <a:srgbClr val="087E79"/>
                          </a:solidFill>
                          <a:latin typeface="Arial"/>
                          <a:ea typeface="Arial"/>
                          <a:cs typeface="Arial"/>
                        </a:rPr>
                        <a:t>Cluster change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An operator applies reviewed changes. The presenter path uses fixtures.</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Scores are uncalibrated. Credentials need separa">
            <a:extLst xmlns:a="http://schemas.openxmlformats.org/drawingml/2006/main">
              <a:ext uri="{FF2B5EF4-FFF2-40B4-BE49-F238E27FC236}">
                <a16:creationId xmlns:a16="http://schemas.microsoft.com/office/drawing/2014/main" id="{3EF3EB55-8491-42F1-9C87-D0148C532001}"/>
              </a:ext>
            </a:extLst>
          </p:cNvPr>
          <p:cNvSpPr>
            <a:spLocks xmlns:a="http://schemas.openxmlformats.org/drawingml/2006/main" noGrp="1"/>
          </p:cNvSpPr>
          <p:nvPr/>
        </p:nvSpPr>
        <p:spPr>
          <a:xfrm xmlns:a="http://schemas.openxmlformats.org/drawingml/2006/main">
            <a:off x="6096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0717A"/>
                </a:solidFill>
                <a:latin typeface="Arial"/>
                <a:ea typeface="Arial"/>
                <a:cs typeface="Arial"/>
              </a:defRPr>
            </a:defPPr>
          </a:lstStyle>
          <a:p xmlns:a="http://schemas.openxmlformats.org/drawingml/2006/main">
            <a:pPr>
              <a:defRPr sz="1500" b="0">
                <a:solidFill>
                  <a:srgbClr val="60717A"/>
                </a:solidFill>
                <a:latin typeface="Arial"/>
                <a:ea typeface="Arial"/>
                <a:cs typeface="Arial"/>
              </a:defRPr>
            </a:pPr>
            <a:r>
              <a:rPr sz="1500" b="0">
                <a:solidFill>
                  <a:srgbClr val="60717A"/>
                </a:solidFill>
                <a:latin typeface="Arial"/>
                <a:ea typeface="Arial"/>
                <a:cs typeface="Arial"/>
              </a:rPr>
              <a:t>Scores are uncalibrated. Credentials need separate least-privilege controls.</a:t>
            </a:r>
          </a:p>
          <a:p xmlns:a="http://schemas.openxmlformats.org/drawingml/2006/main">
            <a:pPr>
              <a:defRPr sz="1500" b="0">
                <a:solidFill>
                  <a:srgbClr val="60717A"/>
                </a:solidFill>
                <a:latin typeface="Arial"/>
                <a:ea typeface="Arial"/>
                <a:cs typeface="Arial"/>
              </a:defRPr>
            </a:pPr>
            <a:r>
              <a:rPr sz="1500" b="0">
                <a:solidFill>
                  <a:srgbClr val="60717A"/>
                </a:solidFill>
                <a:latin typeface="Arial"/>
                <a:ea typeface="Arial"/>
                <a:cs typeface="Arial"/>
              </a:rPr>
              <a:t>Reference and replay make no new model request.</a:t>
            </a:r>
          </a:p>
        </p:txBody>
      </p:sp>
      <p:sp>
        <p:nvSpPr>
          <p:cNvPr id="5" name="ISC2 SECURITY CONGRESS 2026 / SC2632">
            <a:extLst xmlns:a="http://schemas.openxmlformats.org/drawingml/2006/main">
              <a:ext uri="{FF2B5EF4-FFF2-40B4-BE49-F238E27FC236}">
                <a16:creationId xmlns:a16="http://schemas.microsoft.com/office/drawing/2014/main" id="{60197459-193E-4187-9127-785ED52B53AE}"/>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06">
            <a:extLst xmlns:a="http://schemas.openxmlformats.org/drawingml/2006/main">
              <a:ext uri="{FF2B5EF4-FFF2-40B4-BE49-F238E27FC236}">
                <a16:creationId xmlns:a16="http://schemas.microsoft.com/office/drawing/2014/main" id="{873E3B04-64E1-451C-BD06-2ED5F5E4363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06</a:t>
            </a:r>
          </a:p>
        </p:txBody>
      </p:sp>
    </p:spTree>
    <p:extLst>
      <p:ext uri="{BB962C8B-B14F-4D97-AF65-F5344CB8AC3E}">
        <p14:creationId xmlns:p14="http://schemas.microsoft.com/office/powerpoint/2010/main" val="1222786659"/>
      </p:ext>
    </p:extLst>
  </p:cSld>
</p:sld>
</file>

<file path=ppt/slides/slide7.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SUPPLIED REFERENCE SPEC / COMPILER WALKTHROUGH">
            <a:extLst xmlns:a="http://schemas.openxmlformats.org/drawingml/2006/main">
              <a:ext uri="{FF2B5EF4-FFF2-40B4-BE49-F238E27FC236}">
                <a16:creationId xmlns:a16="http://schemas.microsoft.com/office/drawing/2014/main" id="{8B66B9FC-F96B-49C7-A66F-271C8C9EC989}"/>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SUPPLIED REFERENCE SPEC / COMPILER WALKTHROUGH</a:t>
            </a:r>
          </a:p>
        </p:txBody>
      </p:sp>
      <p:sp>
        <p:nvSpPr>
          <p:cNvPr id="2" name="One requirement, one compiled control">
            <a:extLst xmlns:a="http://schemas.openxmlformats.org/drawingml/2006/main">
              <a:ext uri="{FF2B5EF4-FFF2-40B4-BE49-F238E27FC236}">
                <a16:creationId xmlns:a16="http://schemas.microsoft.com/office/drawing/2014/main" id="{577578F5-F845-4385-8B4F-F420D9EA8528}"/>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One requirement, one compiled control</a:t>
            </a:r>
          </a:p>
        </p:txBody>
      </p:sp>
      <p:graphicFrame>
        <p:nvGraphicFramePr>
          <p:cNvPr id="3" name="">
            <a:extLst xmlns:a="http://schemas.openxmlformats.org/drawingml/2006/main">
              <a:ext uri="{FF2B5EF4-FFF2-40B4-BE49-F238E27FC236}">
                <a16:creationId xmlns:a16="http://schemas.microsoft.com/office/drawing/2014/main" id="{DD5C65FA-748D-4CF7-87EA-431E69FB19C3}"/>
              </a:ext>
            </a:extLst>
          </p:cNvPr>
          <p:cNvGraphicFramePr/>
          <p:nvPr/>
        </p:nvGraphicFramePr>
        <p:xfrm>
          <a:off xmlns:a="http://schemas.openxmlformats.org/drawingml/2006/main" x="609600" y="2305050"/>
          <a:ext xmlns:a="http://schemas.openxmlformats.org/drawingml/2006/main" cx="10953750" cy="3333750"/>
        </p:xfrm>
        <a:graphic xmlns:a="http://schemas.openxmlformats.org/drawingml/2006/main">
          <a:graphicData uri="http://schemas.openxmlformats.org/drawingml/2006/table">
            <a:tbl>
              <a:tblPr/>
              <a:tblGrid>
                <a:gridCol w="3143250"/>
                <a:gridCol w="7810500"/>
              </a:tblGrid>
              <a:tr h="555625">
                <a:tc>
                  <a:txBody>
                    <a:bodyPr/>
                    <a:lstStyle/>
                    <a:p>
                      <a:r>
                        <a:rPr sz="1800" b="1">
                          <a:solidFill>
                            <a:srgbClr val="F2EFE7"/>
                          </a:solidFill>
                          <a:latin typeface="Arial"/>
                          <a:ea typeface="Arial"/>
                          <a:cs typeface="Arial"/>
                        </a:rPr>
                        <a:t>Field</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Compiled behavior</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55625">
                <a:tc>
                  <a:txBody>
                    <a:bodyPr/>
                    <a:lstStyle/>
                    <a:p>
                      <a:r>
                        <a:rPr sz="1800" b="1">
                          <a:solidFill>
                            <a:srgbClr val="087E79"/>
                          </a:solidFill>
                          <a:latin typeface="Arial"/>
                          <a:ea typeface="Arial"/>
                          <a:cs typeface="Arial"/>
                        </a:rPr>
                        <a:t>Intent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Prevent privilege escalation in payments.</a:t>
                      </a:r>
                    </a:p>
                  </a:txBody>
                  <a:tcPr marL="91440" marR="91440" marT="45720" marB="45720">
                    <a:lnR w="19050">
                      <a:solidFill>
                        <a:srgbClr val="F2EFE7"/>
                      </a:solidFill>
                      <a:prstDash val="solid"/>
                    </a:lnR>
                    <a:lnB w="19050">
                      <a:solidFill>
                        <a:srgbClr val="F2EFE7"/>
                      </a:solidFill>
                      <a:prstDash val="solid"/>
                    </a:lnB>
                    <a:solidFill>
                      <a:srgbClr val="F2EFE7"/>
                    </a:solidFill>
                  </a:tcPr>
                </a:tc>
              </a:tr>
              <a:tr h="555625">
                <a:tc>
                  <a:txBody>
                    <a:bodyPr/>
                    <a:lstStyle/>
                    <a:p>
                      <a:r>
                        <a:rPr sz="1800" b="1">
                          <a:solidFill>
                            <a:srgbClr val="087E79"/>
                          </a:solidFill>
                          <a:latin typeface="Arial"/>
                          <a:ea typeface="Arial"/>
                          <a:cs typeface="Arial"/>
                        </a:rPr>
                        <a:t>Catalog key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deny_privilege_escalation / ACG-POD-001</a:t>
                      </a:r>
                    </a:p>
                  </a:txBody>
                  <a:tcPr marL="91440" marR="91440" marT="45720" marB="45720">
                    <a:lnR w="19050">
                      <a:solidFill>
                        <a:srgbClr val="F2EFE7"/>
                      </a:solidFill>
                      <a:prstDash val="solid"/>
                    </a:lnR>
                    <a:lnB w="19050">
                      <a:solidFill>
                        <a:srgbClr val="F2EFE7"/>
                      </a:solidFill>
                      <a:prstDash val="solid"/>
                    </a:lnB>
                    <a:solidFill>
                      <a:srgbClr val="F2EFE7"/>
                    </a:solidFill>
                  </a:tcPr>
                </a:tc>
              </a:tr>
              <a:tr h="555625">
                <a:tc>
                  <a:txBody>
                    <a:bodyPr/>
                    <a:lstStyle/>
                    <a:p>
                      <a:r>
                        <a:rPr sz="1800" b="1">
                          <a:solidFill>
                            <a:srgbClr val="087E79"/>
                          </a:solidFill>
                          <a:latin typeface="Arial"/>
                          <a:ea typeface="Arial"/>
                          <a:cs typeface="Arial"/>
                        </a:rPr>
                        <a:t>Generated API</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Kyverno ValidatingPolicy, scoped to payments</a:t>
                      </a:r>
                    </a:p>
                  </a:txBody>
                  <a:tcPr marL="91440" marR="91440" marT="45720" marB="45720">
                    <a:lnR w="19050">
                      <a:solidFill>
                        <a:srgbClr val="F2EFE7"/>
                      </a:solidFill>
                      <a:prstDash val="solid"/>
                    </a:lnR>
                    <a:lnB w="19050">
                      <a:solidFill>
                        <a:srgbClr val="F2EFE7"/>
                      </a:solidFill>
                      <a:prstDash val="solid"/>
                    </a:lnB>
                    <a:solidFill>
                      <a:srgbClr val="F2EFE7"/>
                    </a:solidFill>
                  </a:tcPr>
                </a:tc>
              </a:tr>
              <a:tr h="555625">
                <a:tc>
                  <a:txBody>
                    <a:bodyPr/>
                    <a:lstStyle/>
                    <a:p>
                      <a:r>
                        <a:rPr sz="1800" b="1">
                          <a:solidFill>
                            <a:srgbClr val="087E79"/>
                          </a:solidFill>
                          <a:latin typeface="Arial"/>
                          <a:ea typeface="Arial"/>
                          <a:cs typeface="Arial"/>
                        </a:rPr>
                        <a:t>Covered requests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Pod CREATE; regular and init containers</a:t>
                      </a:r>
                    </a:p>
                  </a:txBody>
                  <a:tcPr marL="91440" marR="91440" marT="45720" marB="45720">
                    <a:lnR w="19050">
                      <a:solidFill>
                        <a:srgbClr val="F2EFE7"/>
                      </a:solidFill>
                      <a:prstDash val="solid"/>
                    </a:lnR>
                    <a:lnB w="19050">
                      <a:solidFill>
                        <a:srgbClr val="F2EFE7"/>
                      </a:solidFill>
                      <a:prstDash val="solid"/>
                    </a:lnB>
                    <a:solidFill>
                      <a:srgbClr val="F2EFE7"/>
                    </a:solidFill>
                  </a:tcPr>
                </a:tc>
              </a:tr>
              <a:tr h="555625">
                <a:tc>
                  <a:txBody>
                    <a:bodyPr/>
                    <a:lstStyle/>
                    <a:p>
                      <a:r>
                        <a:rPr sz="1800" b="1">
                          <a:solidFill>
                            <a:srgbClr val="087E79"/>
                          </a:solidFill>
                          <a:latin typeface="Arial"/>
                          <a:ea typeface="Arial"/>
                          <a:cs typeface="Arial"/>
                        </a:rPr>
                        <a:t>Required fields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privileged=false and explicit allowPrivilegeEscalation=false</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Local bundle: PR.md, stage files, tests, readine">
            <a:extLst xmlns:a="http://schemas.openxmlformats.org/drawingml/2006/main">
              <a:ext uri="{FF2B5EF4-FFF2-40B4-BE49-F238E27FC236}">
                <a16:creationId xmlns:a16="http://schemas.microsoft.com/office/drawing/2014/main" id="{80AAAFC3-529A-407F-B736-CB5B7DE00B09}"/>
              </a:ext>
            </a:extLst>
          </p:cNvPr>
          <p:cNvSpPr>
            <a:spLocks xmlns:a="http://schemas.openxmlformats.org/drawingml/2006/main" noGrp="1"/>
          </p:cNvSpPr>
          <p:nvPr/>
        </p:nvSpPr>
        <p:spPr>
          <a:xfrm xmlns:a="http://schemas.openxmlformats.org/drawingml/2006/main">
            <a:off x="609600" y="58197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17A"/>
                </a:solidFill>
                <a:latin typeface="Arial"/>
                <a:ea typeface="Arial"/>
                <a:cs typeface="Arial"/>
              </a:defRPr>
            </a:defPPr>
          </a:lstStyle>
          <a:p xmlns:a="http://schemas.openxmlformats.org/drawingml/2006/main">
            <a:pPr>
              <a:defRPr sz="1650" b="0">
                <a:solidFill>
                  <a:srgbClr val="60717A"/>
                </a:solidFill>
                <a:latin typeface="Arial"/>
                <a:ea typeface="Arial"/>
                <a:cs typeface="Arial"/>
              </a:defRPr>
            </a:pPr>
            <a:r>
              <a:rPr sz="1650" b="0">
                <a:solidFill>
                  <a:srgbClr val="60717A"/>
                </a:solidFill>
                <a:latin typeface="Arial"/>
                <a:ea typeface="Arial"/>
                <a:cs typeface="Arial"/>
              </a:rPr>
              <a:t>Local bundle: PR.md, stage files, tests, readiness and provenance.</a:t>
            </a:r>
          </a:p>
          <a:p xmlns:a="http://schemas.openxmlformats.org/drawingml/2006/main">
            <a:pPr>
              <a:defRPr sz="1650" b="0">
                <a:solidFill>
                  <a:srgbClr val="60717A"/>
                </a:solidFill>
                <a:latin typeface="Arial"/>
                <a:ea typeface="Arial"/>
                <a:cs typeface="Arial"/>
              </a:defRPr>
            </a:pPr>
            <a:r>
              <a:rPr sz="1650" b="0">
                <a:solidFill>
                  <a:srgbClr val="60717A"/>
                </a:solidFill>
                <a:latin typeface="Arial"/>
                <a:ea typeface="Arial"/>
                <a:cs typeface="Arial"/>
              </a:rPr>
              <a:t>This supplied-spec path makes no model request or deployment.</a:t>
            </a:r>
          </a:p>
        </p:txBody>
      </p:sp>
      <p:sp>
        <p:nvSpPr>
          <p:cNvPr id="5" name="ISC2 SECURITY CONGRESS 2026 / SC2632">
            <a:extLst xmlns:a="http://schemas.openxmlformats.org/drawingml/2006/main">
              <a:ext uri="{FF2B5EF4-FFF2-40B4-BE49-F238E27FC236}">
                <a16:creationId xmlns:a16="http://schemas.microsoft.com/office/drawing/2014/main" id="{973256BE-85C5-4062-A9FC-3A776922F567}"/>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07">
            <a:extLst xmlns:a="http://schemas.openxmlformats.org/drawingml/2006/main">
              <a:ext uri="{FF2B5EF4-FFF2-40B4-BE49-F238E27FC236}">
                <a16:creationId xmlns:a16="http://schemas.microsoft.com/office/drawing/2014/main" id="{54C3CB06-B507-4234-BC07-7A7FC4A80F2D}"/>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07</a:t>
            </a:r>
          </a:p>
        </p:txBody>
      </p:sp>
    </p:spTree>
    <p:extLst>
      <p:ext uri="{BB962C8B-B14F-4D97-AF65-F5344CB8AC3E}">
        <p14:creationId xmlns:p14="http://schemas.microsoft.com/office/powerpoint/2010/main" val="1284484529"/>
      </p:ext>
    </p:extLst>
  </p:cSld>
</p:sld>
</file>

<file path=ppt/slides/slide8.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INDEPENDENT CONTRACT / PREPARED INTENT">
            <a:extLst xmlns:a="http://schemas.openxmlformats.org/drawingml/2006/main">
              <a:ext uri="{FF2B5EF4-FFF2-40B4-BE49-F238E27FC236}">
                <a16:creationId xmlns:a16="http://schemas.microsoft.com/office/drawing/2014/main" id="{A932A70E-6CE6-4D8A-B0B8-BD11D77ECC60}"/>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INDEPENDENT CONTRACT / PREPARED INTENT</a:t>
            </a:r>
          </a:p>
        </p:txBody>
      </p:sp>
      <p:sp>
        <p:nvSpPr>
          <p:cNvPr id="2" name="Unresolved enforcement requirements">
            <a:extLst xmlns:a="http://schemas.openxmlformats.org/drawingml/2006/main">
              <a:ext uri="{FF2B5EF4-FFF2-40B4-BE49-F238E27FC236}">
                <a16:creationId xmlns:a16="http://schemas.microsoft.com/office/drawing/2014/main" id="{4652573D-F89B-4E2D-85AC-89AC56CCCD6F}"/>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Unresolved enforcement requirements</a:t>
            </a:r>
          </a:p>
        </p:txBody>
      </p:sp>
      <p:graphicFrame>
        <p:nvGraphicFramePr>
          <p:cNvPr id="3" name="">
            <a:extLst xmlns:a="http://schemas.openxmlformats.org/drawingml/2006/main">
              <a:ext uri="{FF2B5EF4-FFF2-40B4-BE49-F238E27FC236}">
                <a16:creationId xmlns:a16="http://schemas.microsoft.com/office/drawing/2014/main" id="{DAE453C8-3416-4078-B137-85A4CB0E67EA}"/>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a:tblGrid>
                <a:gridCol w="4857750"/>
                <a:gridCol w="6096000"/>
              </a:tblGrid>
              <a:tr h="676275">
                <a:tc>
                  <a:txBody>
                    <a:bodyPr/>
                    <a:lstStyle/>
                    <a:p>
                      <a:r>
                        <a:rPr sz="1875" b="1">
                          <a:solidFill>
                            <a:srgbClr val="F2EFE7"/>
                          </a:solidFill>
                          <a:latin typeface="Arial"/>
                          <a:ea typeface="Arial"/>
                          <a:cs typeface="Arial"/>
                        </a:rPr>
                        <a:t>Intent clause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Proposal status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76275">
                <a:tc>
                  <a:txBody>
                    <a:bodyPr/>
                    <a:lstStyle/>
                    <a:p>
                      <a:r>
                        <a:rPr sz="1875" b="1">
                          <a:solidFill>
                            <a:srgbClr val="087E79"/>
                          </a:solidFill>
                          <a:latin typeface="Arial"/>
                          <a:ea typeface="Arial"/>
                          <a:cs typeface="Arial"/>
                        </a:rPr>
                        <a:t>Limit east-west communication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Egress-profile policy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875" b="1">
                          <a:solidFill>
                            <a:srgbClr val="087E79"/>
                          </a:solidFill>
                          <a:latin typeface="Arial"/>
                          <a:ea typeface="Arial"/>
                          <a:cs typeface="Arial"/>
                        </a:rPr>
                        <a:t>Prevent privilege escalation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Privilege policy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875" b="1">
                          <a:solidFill>
                            <a:srgbClr val="087E79"/>
                          </a:solidFill>
                          <a:latin typeface="Arial"/>
                          <a:ea typeface="Arial"/>
                          <a:cs typeface="Arial"/>
                        </a:rPr>
                        <a:t>Restrict Kubernetes API access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Unimplemented. RBAC handover required.</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875" b="1">
                          <a:solidFill>
                            <a:srgbClr val="087E79"/>
                          </a:solidFill>
                          <a:latin typeface="Arial"/>
                          <a:ea typeface="Arial"/>
                          <a:cs typeface="Arial"/>
                        </a:rPr>
                        <a:t>Avoid disruption and expire exceptions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Rollout and exception process</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The independent contract is bound to this prepar">
            <a:extLst xmlns:a="http://schemas.openxmlformats.org/drawingml/2006/main">
              <a:ext uri="{FF2B5EF4-FFF2-40B4-BE49-F238E27FC236}">
                <a16:creationId xmlns:a16="http://schemas.microsoft.com/office/drawing/2014/main" id="{1F527338-6E59-4271-B4F8-FF85BB9A75AA}"/>
              </a:ext>
            </a:extLst>
          </p:cNvPr>
          <p:cNvSpPr>
            <a:spLocks xmlns:a="http://schemas.openxmlformats.org/drawingml/2006/main" noGrp="1"/>
          </p:cNvSpPr>
          <p:nvPr/>
        </p:nvSpPr>
        <p:spPr>
          <a:xfrm xmlns:a="http://schemas.openxmlformats.org/drawingml/2006/main">
            <a:off x="609600" y="57816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7E79"/>
                </a:solidFill>
                <a:latin typeface="Arial"/>
                <a:ea typeface="Arial"/>
                <a:cs typeface="Arial"/>
              </a:defRPr>
            </a:defPPr>
          </a:lstStyle>
          <a:p xmlns:a="http://schemas.openxmlformats.org/drawingml/2006/main">
            <a:pPr>
              <a:defRPr sz="1725" b="1">
                <a:solidFill>
                  <a:srgbClr val="087E79"/>
                </a:solidFill>
                <a:latin typeface="Arial"/>
                <a:ea typeface="Arial"/>
                <a:cs typeface="Arial"/>
              </a:defRPr>
            </a:pPr>
            <a:r>
              <a:rPr sz="1725" b="1">
                <a:solidFill>
                  <a:srgbClr val="087E79"/>
                </a:solidFill>
                <a:latin typeface="Arial"/>
                <a:ea typeface="Arial"/>
                <a:cs typeface="Arial"/>
              </a:rPr>
              <a:t>The independent contract is bound to this prepared intent.</a:t>
            </a:r>
          </a:p>
          <a:p xmlns:a="http://schemas.openxmlformats.org/drawingml/2006/main">
            <a:pPr>
              <a:defRPr sz="1725" b="1">
                <a:solidFill>
                  <a:srgbClr val="087E79"/>
                </a:solidFill>
                <a:latin typeface="Arial"/>
                <a:ea typeface="Arial"/>
                <a:cs typeface="Arial"/>
              </a:defRPr>
            </a:pPr>
            <a:r>
              <a:rPr sz="1725" b="1">
                <a:solidFill>
                  <a:srgbClr val="087E79"/>
                </a:solidFill>
                <a:latin typeface="Arial"/>
                <a:ea typeface="Arial"/>
                <a:cs typeface="Arial"/>
              </a:rPr>
              <a:t>New wording requires its own reviewed contract and acceptance tests.</a:t>
            </a:r>
          </a:p>
        </p:txBody>
      </p:sp>
      <p:sp>
        <p:nvSpPr>
          <p:cNvPr id="5" name="ISC2 SECURITY CONGRESS 2026 / SC2632">
            <a:extLst xmlns:a="http://schemas.openxmlformats.org/drawingml/2006/main">
              <a:ext uri="{FF2B5EF4-FFF2-40B4-BE49-F238E27FC236}">
                <a16:creationId xmlns:a16="http://schemas.microsoft.com/office/drawing/2014/main" id="{CC3790EE-D537-4401-B413-AAF5FC640496}"/>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08">
            <a:extLst xmlns:a="http://schemas.openxmlformats.org/drawingml/2006/main">
              <a:ext uri="{FF2B5EF4-FFF2-40B4-BE49-F238E27FC236}">
                <a16:creationId xmlns:a16="http://schemas.microsoft.com/office/drawing/2014/main" id="{D53C1374-ECBA-4BD7-86ED-E842A7D1F475}"/>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08</a:t>
            </a:r>
          </a:p>
        </p:txBody>
      </p:sp>
    </p:spTree>
    <p:extLst>
      <p:ext uri="{BB962C8B-B14F-4D97-AF65-F5344CB8AC3E}">
        <p14:creationId xmlns:p14="http://schemas.microsoft.com/office/powerpoint/2010/main" val="561242185"/>
      </p:ext>
    </p:extLst>
  </p:cSld>
</p:sld>
</file>

<file path=ppt/slides/slide9.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COORDINATED CONTROL CHANGES / HUMAN APPLICATION">
            <a:extLst xmlns:a="http://schemas.openxmlformats.org/drawingml/2006/main">
              <a:ext uri="{FF2B5EF4-FFF2-40B4-BE49-F238E27FC236}">
                <a16:creationId xmlns:a16="http://schemas.microsoft.com/office/drawing/2014/main" id="{FEE279FB-B208-46F5-9FEC-6FAE5E315E2A}"/>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COORDINATED CONTROL CHANGES / HUMAN APPLICATION</a:t>
            </a:r>
          </a:p>
        </p:txBody>
      </p:sp>
      <p:sp>
        <p:nvSpPr>
          <p:cNvPr id="2" name="Quarantine Mode implementation">
            <a:extLst xmlns:a="http://schemas.openxmlformats.org/drawingml/2006/main">
              <a:ext uri="{FF2B5EF4-FFF2-40B4-BE49-F238E27FC236}">
                <a16:creationId xmlns:a16="http://schemas.microsoft.com/office/drawing/2014/main" id="{06ADCDC6-2CC0-4CE6-9B20-1F727C35BAAD}"/>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Quarantine Mode implementation</a:t>
            </a:r>
          </a:p>
        </p:txBody>
      </p:sp>
      <p:graphicFrame>
        <p:nvGraphicFramePr>
          <p:cNvPr id="3" name="">
            <a:extLst xmlns:a="http://schemas.openxmlformats.org/drawingml/2006/main">
              <a:ext uri="{FF2B5EF4-FFF2-40B4-BE49-F238E27FC236}">
                <a16:creationId xmlns:a16="http://schemas.microsoft.com/office/drawing/2014/main" id="{290A9253-0869-4B7F-9298-C2A4B3ED8D88}"/>
              </a:ext>
            </a:extLst>
          </p:cNvPr>
          <p:cNvGraphicFramePr/>
          <p:nvPr/>
        </p:nvGraphicFramePr>
        <p:xfrm>
          <a:off xmlns:a="http://schemas.openxmlformats.org/drawingml/2006/main" x="609600" y="2305050"/>
          <a:ext xmlns:a="http://schemas.openxmlformats.org/drawingml/2006/main" cx="10953750" cy="3581400"/>
        </p:xfrm>
        <a:graphic xmlns:a="http://schemas.openxmlformats.org/drawingml/2006/main">
          <a:graphicData uri="http://schemas.openxmlformats.org/drawingml/2006/table">
            <a:tbl>
              <a:tblPr/>
              <a:tblGrid>
                <a:gridCol w="1952625"/>
                <a:gridCol w="5238750"/>
                <a:gridCol w="3762375"/>
              </a:tblGrid>
              <a:tr h="552450">
                <a:tc>
                  <a:txBody>
                    <a:bodyPr/>
                    <a:lstStyle/>
                    <a:p>
                      <a:r>
                        <a:rPr sz="1800" b="1">
                          <a:solidFill>
                            <a:srgbClr val="F2EFE7"/>
                          </a:solidFill>
                          <a:latin typeface="Arial"/>
                          <a:ea typeface="Arial"/>
                          <a:cs typeface="Arial"/>
                        </a:rPr>
                        <a:t>Level</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Mechanisms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Verification required</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71500">
                <a:tc>
                  <a:txBody>
                    <a:bodyPr/>
                    <a:lstStyle/>
                    <a:p>
                      <a:r>
                        <a:rPr sz="1800" b="1">
                          <a:solidFill>
                            <a:srgbClr val="087E79"/>
                          </a:solidFill>
                          <a:latin typeface="Arial"/>
                          <a:ea typeface="Arial"/>
                          <a:cs typeface="Arial"/>
                        </a:rPr>
                        <a:t>Q0 Normal</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Reviewed baseline guardrails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Legitimate service paths</a:t>
                      </a:r>
                    </a:p>
                  </a:txBody>
                  <a:tcPr marL="91440" marR="91440" marT="45720" marB="45720">
                    <a:lnR w="19050">
                      <a:solidFill>
                        <a:srgbClr val="F2EFE7"/>
                      </a:solidFill>
                      <a:prstDash val="solid"/>
                    </a:lnR>
                    <a:lnB w="19050">
                      <a:solidFill>
                        <a:srgbClr val="F2EFE7"/>
                      </a:solidFill>
                      <a:prstDash val="solid"/>
                    </a:lnB>
                    <a:solidFill>
                      <a:srgbClr val="F2EFE7"/>
                    </a:solidFill>
                  </a:tcPr>
                </a:tc>
              </a:tr>
              <a:tr h="819150">
                <a:tc>
                  <a:txBody>
                    <a:bodyPr/>
                    <a:lstStyle/>
                    <a:p>
                      <a:r>
                        <a:rPr sz="1800" b="1">
                          <a:solidFill>
                            <a:srgbClr val="087E79"/>
                          </a:solidFill>
                          <a:latin typeface="Arial"/>
                          <a:ea typeface="Arial"/>
                          <a:cs typeface="Arial"/>
                        </a:rPr>
                        <a:t>Q1 Freeze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Native API-server policy freezes writes by identities in agents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Covered writes and allowed reads</a:t>
                      </a:r>
                    </a:p>
                  </a:txBody>
                  <a:tcPr marL="91440" marR="91440" marT="45720" marB="45720">
                    <a:lnR w="19050">
                      <a:solidFill>
                        <a:srgbClr val="F2EFE7"/>
                      </a:solidFill>
                      <a:prstDash val="solid"/>
                    </a:lnR>
                    <a:lnB w="19050">
                      <a:solidFill>
                        <a:srgbClr val="F2EFE7"/>
                      </a:solidFill>
                      <a:prstDash val="solid"/>
                    </a:lnB>
                    <a:solidFill>
                      <a:srgbClr val="F2EFE7"/>
                    </a:solidFill>
                  </a:tcPr>
                </a:tc>
              </a:tr>
              <a:tr h="819150">
                <a:tc>
                  <a:txBody>
                    <a:bodyPr/>
                    <a:lstStyle/>
                    <a:p>
                      <a:r>
                        <a:rPr sz="1800" b="1">
                          <a:solidFill>
                            <a:srgbClr val="087E79"/>
                          </a:solidFill>
                          <a:latin typeface="Arial"/>
                          <a:ea typeface="Arial"/>
                          <a:cs typeface="Arial"/>
                        </a:rPr>
                        <a:t>Q2 Constrain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NetworkPolicy and protected labels; manual RBAC narrowing</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Traffic and API positive/negative tests</a:t>
                      </a:r>
                    </a:p>
                  </a:txBody>
                  <a:tcPr marL="91440" marR="91440" marT="45720" marB="45720">
                    <a:lnR w="19050">
                      <a:solidFill>
                        <a:srgbClr val="F2EFE7"/>
                      </a:solidFill>
                      <a:prstDash val="solid"/>
                    </a:lnR>
                    <a:lnB w="19050">
                      <a:solidFill>
                        <a:srgbClr val="F2EFE7"/>
                      </a:solidFill>
                      <a:prstDash val="solid"/>
                    </a:lnB>
                    <a:solidFill>
                      <a:srgbClr val="F2EFE7"/>
                    </a:solidFill>
                  </a:tcPr>
                </a:tc>
              </a:tr>
              <a:tr h="819150">
                <a:tc>
                  <a:txBody>
                    <a:bodyPr/>
                    <a:lstStyle/>
                    <a:p>
                      <a:r>
                        <a:rPr sz="1800" b="1">
                          <a:solidFill>
                            <a:srgbClr val="087E79"/>
                          </a:solidFill>
                          <a:latin typeface="Arial"/>
                          <a:ea typeface="Arial"/>
                          <a:cs typeface="Arial"/>
                        </a:rPr>
                        <a:t>Q3 Isolate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Suspect isolation labels + deny-all; Pod CREATE gate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Isolation and clean serving capacity</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People apply reviewed manifests and perform iden">
            <a:extLst xmlns:a="http://schemas.openxmlformats.org/drawingml/2006/main">
              <a:ext uri="{FF2B5EF4-FFF2-40B4-BE49-F238E27FC236}">
                <a16:creationId xmlns:a16="http://schemas.microsoft.com/office/drawing/2014/main" id="{38F9BF5A-91A6-4D95-9111-1B3ACF8AD142}"/>
              </a:ext>
            </a:extLst>
          </p:cNvPr>
          <p:cNvSpPr>
            <a:spLocks xmlns:a="http://schemas.openxmlformats.org/drawingml/2006/main" noGrp="1"/>
          </p:cNvSpPr>
          <p:nvPr/>
        </p:nvSpPr>
        <p:spPr>
          <a:xfrm xmlns:a="http://schemas.openxmlformats.org/drawingml/2006/main">
            <a:off x="6096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0717A"/>
                </a:solidFill>
                <a:latin typeface="Arial"/>
                <a:ea typeface="Arial"/>
                <a:cs typeface="Arial"/>
              </a:defRPr>
            </a:defPPr>
          </a:lstStyle>
          <a:p xmlns:a="http://schemas.openxmlformats.org/drawingml/2006/main">
            <a:pPr>
              <a:defRPr sz="1575" b="0">
                <a:solidFill>
                  <a:srgbClr val="60717A"/>
                </a:solidFill>
                <a:latin typeface="Arial"/>
                <a:ea typeface="Arial"/>
                <a:cs typeface="Arial"/>
              </a:defRPr>
            </a:pPr>
            <a:r>
              <a:rPr sz="1575" b="0">
                <a:solidFill>
                  <a:srgbClr val="60717A"/>
                </a:solidFill>
                <a:latin typeface="Arial"/>
                <a:ea typeface="Arial"/>
                <a:cs typeface="Arial"/>
              </a:rPr>
              <a:t>People apply reviewed manifests and perform identity steps separately.</a:t>
            </a:r>
          </a:p>
          <a:p xmlns:a="http://schemas.openxmlformats.org/drawingml/2006/main">
            <a:pPr>
              <a:defRPr sz="1575" b="0">
                <a:solidFill>
                  <a:srgbClr val="60717A"/>
                </a:solidFill>
                <a:latin typeface="Arial"/>
                <a:ea typeface="Arial"/>
                <a:cs typeface="Arial"/>
              </a:defRPr>
            </a:pPr>
            <a:r>
              <a:rPr sz="1575" b="0">
                <a:solidFill>
                  <a:srgbClr val="60717A"/>
                </a:solidFill>
                <a:latin typeface="Arial"/>
                <a:ea typeface="Arial"/>
                <a:cs typeface="Arial"/>
              </a:rPr>
              <a:t>Quarantine Mode has no automatic Falco-triggered controller here.</a:t>
            </a:r>
          </a:p>
        </p:txBody>
      </p:sp>
      <p:sp>
        <p:nvSpPr>
          <p:cNvPr id="5" name="ISC2 SECURITY CONGRESS 2026 / SC2632">
            <a:extLst xmlns:a="http://schemas.openxmlformats.org/drawingml/2006/main">
              <a:ext uri="{FF2B5EF4-FFF2-40B4-BE49-F238E27FC236}">
                <a16:creationId xmlns:a16="http://schemas.microsoft.com/office/drawing/2014/main" id="{6566D06F-162E-4CDB-AEEA-ACB30FDAF767}"/>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09">
            <a:extLst xmlns:a="http://schemas.openxmlformats.org/drawingml/2006/main">
              <a:ext uri="{FF2B5EF4-FFF2-40B4-BE49-F238E27FC236}">
                <a16:creationId xmlns:a16="http://schemas.microsoft.com/office/drawing/2014/main" id="{BD0DB4C9-2071-44B4-B46F-712A595E4A8A}"/>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09</a:t>
            </a:r>
          </a:p>
        </p:txBody>
      </p:sp>
    </p:spTree>
    <p:extLst>
      <p:ext uri="{BB962C8B-B14F-4D97-AF65-F5344CB8AC3E}">
        <p14:creationId xmlns:p14="http://schemas.microsoft.com/office/powerpoint/2010/main" val="499866592"/>
      </p:ext>
    </p:extLst>
  </p:cSld>
</p:sld>
</file>

<file path=ppt/slides/slide10.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1" name="YOUR TABLE / INCIDENT REVIEW TEAM / PLAIN LANGUA">
            <a:extLst xmlns:a="http://schemas.openxmlformats.org/drawingml/2006/main">
              <a:ext uri="{FF2B5EF4-FFF2-40B4-BE49-F238E27FC236}">
                <a16:creationId xmlns:a16="http://schemas.microsoft.com/office/drawing/2014/main" id="{2E8C721E-B80D-4C7F-95BE-1F13B979B959}"/>
              </a:ext>
            </a:extLst>
          </p:cNvPr>
          <p:cNvSpPr>
            <a:spLocks xmlns:a="http://schemas.openxmlformats.org/drawingml/2006/main" noGrp="1"/>
          </p:cNvSpPr>
          <p:nvPr/>
        </p:nvSpPr>
        <p:spPr>
          <a:xfrm xmlns:a="http://schemas.openxmlformats.org/drawingml/2006/main">
            <a:off x="609600" y="476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YOUR TABLE / INCIDENT REVIEW TEAM / PLAIN LANGUAGE / NO LAPTOP REQUIRED</a:t>
            </a:r>
          </a:p>
        </p:txBody>
      </p:sp>
      <p:sp>
        <p:nvSpPr>
          <p:cNvPr id="2" name="Your table’s task">
            <a:extLst xmlns:a="http://schemas.openxmlformats.org/drawingml/2006/main">
              <a:ext uri="{FF2B5EF4-FFF2-40B4-BE49-F238E27FC236}">
                <a16:creationId xmlns:a16="http://schemas.microsoft.com/office/drawing/2014/main" id="{235069D2-E4E5-4987-A834-50336EE1E447}"/>
              </a:ext>
            </a:extLst>
          </p:cNvPr>
          <p:cNvSpPr>
            <a:spLocks xmlns:a="http://schemas.openxmlformats.org/drawingml/2006/main" noGrp="1"/>
          </p:cNvSpPr>
          <p:nvPr/>
        </p:nvSpPr>
        <p:spPr>
          <a:xfrm xmlns:a="http://schemas.openxmlformats.org/drawingml/2006/main">
            <a:off x="609600" y="118110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B1822"/>
                </a:solidFill>
                <a:latin typeface="Arial Black"/>
                <a:ea typeface="Arial Black"/>
                <a:cs typeface="Arial Black"/>
              </a:defRPr>
            </a:defPPr>
          </a:lstStyle>
          <a:p xmlns:a="http://schemas.openxmlformats.org/drawingml/2006/main">
            <a:pPr>
              <a:defRPr sz="4425" b="1">
                <a:solidFill>
                  <a:srgbClr val="0B1822"/>
                </a:solidFill>
                <a:latin typeface="Arial Black"/>
                <a:ea typeface="Arial Black"/>
                <a:cs typeface="Arial Black"/>
              </a:defRPr>
            </a:pPr>
            <a:r>
              <a:rPr sz="4425" b="1">
                <a:solidFill>
                  <a:srgbClr val="0B1822"/>
                </a:solidFill>
                <a:latin typeface="Arial Black"/>
                <a:ea typeface="Arial Black"/>
                <a:cs typeface="Arial Black"/>
              </a:rPr>
              <a:t>Your table’s task</a:t>
            </a:r>
          </a:p>
        </p:txBody>
      </p:sp>
      <p:sp>
        <p:nvSpPr>
          <p:cNvPr id="3" name="We provide case facts, prepared proposals and en">
            <a:extLst xmlns:a="http://schemas.openxmlformats.org/drawingml/2006/main">
              <a:ext uri="{FF2B5EF4-FFF2-40B4-BE49-F238E27FC236}">
                <a16:creationId xmlns:a16="http://schemas.microsoft.com/office/drawing/2014/main" id="{698BED1C-2A1C-4C4F-B879-8FC51B20CE2F}"/>
              </a:ext>
            </a:extLst>
          </p:cNvPr>
          <p:cNvSpPr>
            <a:spLocks xmlns:a="http://schemas.openxmlformats.org/drawingml/2006/main" noGrp="1"/>
          </p:cNvSpPr>
          <p:nvPr/>
        </p:nvSpPr>
        <p:spPr>
          <a:xfrm xmlns:a="http://schemas.openxmlformats.org/drawingml/2006/main">
            <a:off x="628650" y="2352675"/>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B1822"/>
                </a:solidFill>
                <a:latin typeface="Arial"/>
                <a:ea typeface="Arial"/>
                <a:cs typeface="Arial"/>
              </a:defRPr>
            </a:defPPr>
          </a:lstStyle>
          <a:p xmlns:a="http://schemas.openxmlformats.org/drawingml/2006/main">
            <a:pPr>
              <a:defRPr sz="2175" b="0">
                <a:solidFill>
                  <a:srgbClr val="0B1822"/>
                </a:solidFill>
                <a:latin typeface="Arial"/>
                <a:ea typeface="Arial"/>
                <a:cs typeface="Arial"/>
              </a:defRPr>
            </a:pPr>
            <a:r>
              <a:rPr sz="2175" b="0">
                <a:solidFill>
                  <a:srgbClr val="0B1822"/>
                </a:solidFill>
                <a:latin typeface="Arial"/>
                <a:ea typeface="Arial"/>
                <a:cs typeface="Arial"/>
              </a:rPr>
              <a:t>We provide case facts, prepared proposals and enforcement evidence.</a:t>
            </a:r>
          </a:p>
          <a:p xmlns:a="http://schemas.openxmlformats.org/drawingml/2006/main">
            <a:pPr>
              <a:defRPr sz="2175" b="0">
                <a:solidFill>
                  <a:srgbClr val="0B1822"/>
                </a:solidFill>
                <a:latin typeface="Arial"/>
                <a:ea typeface="Arial"/>
                <a:cs typeface="Arial"/>
              </a:defRPr>
            </a:pPr>
            <a:r>
              <a:rPr sz="2175" b="0">
                <a:solidFill>
                  <a:srgbClr val="0B1822"/>
                </a:solidFill>
                <a:latin typeface="Arial"/>
                <a:ea typeface="Arial"/>
                <a:cs typeface="Arial"/>
              </a:rPr>
              <a:t>You write, review and revise decisions on page 6 before each reveal.</a:t>
            </a:r>
          </a:p>
        </p:txBody>
      </p:sp>
      <p:sp>
        <p:nvSpPr>
          <p:cNvPr id="4" name="YOUR RECORD ON PAGE 6">
            <a:extLst xmlns:a="http://schemas.openxmlformats.org/drawingml/2006/main">
              <a:ext uri="{FF2B5EF4-FFF2-40B4-BE49-F238E27FC236}">
                <a16:creationId xmlns:a16="http://schemas.microsoft.com/office/drawing/2014/main" id="{81C2C512-0D10-4594-B25D-577D2BBE9505}"/>
              </a:ext>
            </a:extLst>
          </p:cNvPr>
          <p:cNvSpPr>
            <a:spLocks xmlns:a="http://schemas.openxmlformats.org/drawingml/2006/main" noGrp="1"/>
          </p:cNvSpPr>
          <p:nvPr/>
        </p:nvSpPr>
        <p:spPr>
          <a:xfrm xmlns:a="http://schemas.openxmlformats.org/drawingml/2006/main">
            <a:off x="628650" y="35433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87E79"/>
                </a:solidFill>
                <a:latin typeface="Arial"/>
                <a:ea typeface="Arial"/>
                <a:cs typeface="Arial"/>
              </a:defRPr>
            </a:defPPr>
          </a:lstStyle>
          <a:p xmlns:a="http://schemas.openxmlformats.org/drawingml/2006/main">
            <a:pPr>
              <a:defRPr sz="1575" b="1">
                <a:solidFill>
                  <a:srgbClr val="087E79"/>
                </a:solidFill>
                <a:latin typeface="Arial"/>
                <a:ea typeface="Arial"/>
                <a:cs typeface="Arial"/>
              </a:defRPr>
            </a:pPr>
            <a:r>
              <a:rPr sz="1575" b="1">
                <a:solidFill>
                  <a:srgbClr val="087E79"/>
                </a:solidFill>
                <a:latin typeface="Arial"/>
                <a:ea typeface="Arial"/>
                <a:cs typeface="Arial"/>
              </a:rPr>
              <a:t>YOUR RECORD ON PAGE 6</a:t>
            </a:r>
          </a:p>
        </p:txBody>
      </p:sp>
      <p:sp>
        <p:nvSpPr>
          <p:cNvPr id="5" name="Intent and approval decision&#10;Exception and rollo">
            <a:extLst xmlns:a="http://schemas.openxmlformats.org/drawingml/2006/main">
              <a:ext uri="{FF2B5EF4-FFF2-40B4-BE49-F238E27FC236}">
                <a16:creationId xmlns:a16="http://schemas.microsoft.com/office/drawing/2014/main" id="{D8537457-408E-4AAF-9AD9-D9177275B076}"/>
              </a:ext>
            </a:extLst>
          </p:cNvPr>
          <p:cNvSpPr>
            <a:spLocks xmlns:a="http://schemas.openxmlformats.org/drawingml/2006/main" noGrp="1"/>
          </p:cNvSpPr>
          <p:nvPr/>
        </p:nvSpPr>
        <p:spPr>
          <a:xfrm xmlns:a="http://schemas.openxmlformats.org/drawingml/2006/main">
            <a:off x="628650" y="4010025"/>
            <a:ext cx="5381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Intent and approval decision</a:t>
            </a:r>
          </a:p>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Exception and rollout conditions</a:t>
            </a:r>
          </a:p>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Containment order and recovery tests</a:t>
            </a:r>
          </a:p>
        </p:txBody>
      </p:sp>
      <p:sp>
        <p:nvSpPr>
          <p:cNvPr id="6" name="YOUR TABLE ROLES">
            <a:extLst xmlns:a="http://schemas.openxmlformats.org/drawingml/2006/main">
              <a:ext uri="{FF2B5EF4-FFF2-40B4-BE49-F238E27FC236}">
                <a16:creationId xmlns:a16="http://schemas.microsoft.com/office/drawing/2014/main" id="{E0295657-8217-4027-A2B6-BDD82C16AF85}"/>
              </a:ext>
            </a:extLst>
          </p:cNvPr>
          <p:cNvSpPr>
            <a:spLocks xmlns:a="http://schemas.openxmlformats.org/drawingml/2006/main" noGrp="1"/>
          </p:cNvSpPr>
          <p:nvPr/>
        </p:nvSpPr>
        <p:spPr>
          <a:xfrm xmlns:a="http://schemas.openxmlformats.org/drawingml/2006/main">
            <a:off x="6686550" y="35433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87E79"/>
                </a:solidFill>
                <a:latin typeface="Arial"/>
                <a:ea typeface="Arial"/>
                <a:cs typeface="Arial"/>
              </a:defRPr>
            </a:defPPr>
          </a:lstStyle>
          <a:p xmlns:a="http://schemas.openxmlformats.org/drawingml/2006/main">
            <a:pPr>
              <a:defRPr sz="1575" b="1">
                <a:solidFill>
                  <a:srgbClr val="087E79"/>
                </a:solidFill>
                <a:latin typeface="Arial"/>
                <a:ea typeface="Arial"/>
                <a:cs typeface="Arial"/>
              </a:defRPr>
            </a:pPr>
            <a:r>
              <a:rPr sz="1575" b="1">
                <a:solidFill>
                  <a:srgbClr val="087E79"/>
                </a:solidFill>
                <a:latin typeface="Arial"/>
                <a:ea typeface="Arial"/>
                <a:cs typeface="Arial"/>
              </a:rPr>
              <a:t>YOUR TABLE ROLES</a:t>
            </a:r>
          </a:p>
        </p:txBody>
      </p:sp>
      <p:sp>
        <p:nvSpPr>
          <p:cNvPr id="7" name="Lead: states the decision&#10;Recorder: writes page ">
            <a:extLst xmlns:a="http://schemas.openxmlformats.org/drawingml/2006/main">
              <a:ext uri="{FF2B5EF4-FFF2-40B4-BE49-F238E27FC236}">
                <a16:creationId xmlns:a16="http://schemas.microsoft.com/office/drawing/2014/main" id="{98E16D34-7FCC-4223-B1A3-DB15749115C9}"/>
              </a:ext>
            </a:extLst>
          </p:cNvPr>
          <p:cNvSpPr>
            <a:spLocks xmlns:a="http://schemas.openxmlformats.org/drawingml/2006/main" noGrp="1"/>
          </p:cNvSpPr>
          <p:nvPr/>
        </p:nvSpPr>
        <p:spPr>
          <a:xfrm xmlns:a="http://schemas.openxmlformats.org/drawingml/2006/main">
            <a:off x="6686550" y="4010025"/>
            <a:ext cx="48196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B1822"/>
                </a:solidFill>
                <a:latin typeface="Arial"/>
                <a:ea typeface="Arial"/>
                <a:cs typeface="Arial"/>
              </a:defRPr>
            </a:defPPr>
          </a:lstStyle>
          <a:p xmlns:a="http://schemas.openxmlformats.org/drawingml/2006/main">
            <a:pPr>
              <a:defRPr sz="1950" b="0">
                <a:solidFill>
                  <a:srgbClr val="0B1822"/>
                </a:solidFill>
                <a:latin typeface="Arial"/>
                <a:ea typeface="Arial"/>
                <a:cs typeface="Arial"/>
              </a:defRPr>
            </a:pPr>
            <a:r>
              <a:rPr sz="1950" b="0">
                <a:solidFill>
                  <a:srgbClr val="0B1822"/>
                </a:solidFill>
                <a:latin typeface="Arial"/>
                <a:ea typeface="Arial"/>
                <a:cs typeface="Arial"/>
              </a:rPr>
              <a:t>Lead: states the decision</a:t>
            </a:r>
          </a:p>
          <a:p xmlns:a="http://schemas.openxmlformats.org/drawingml/2006/main">
            <a:pPr>
              <a:defRPr sz="1950" b="0">
                <a:solidFill>
                  <a:srgbClr val="0B1822"/>
                </a:solidFill>
                <a:latin typeface="Arial"/>
                <a:ea typeface="Arial"/>
                <a:cs typeface="Arial"/>
              </a:defRPr>
            </a:pPr>
            <a:r>
              <a:rPr sz="1950" b="0">
                <a:solidFill>
                  <a:srgbClr val="0B1822"/>
                </a:solidFill>
                <a:latin typeface="Arial"/>
                <a:ea typeface="Arial"/>
                <a:cs typeface="Arial"/>
              </a:rPr>
              <a:t>Recorder: writes page 6</a:t>
            </a:r>
          </a:p>
          <a:p xmlns:a="http://schemas.openxmlformats.org/drawingml/2006/main">
            <a:pPr>
              <a:defRPr sz="1950" b="0">
                <a:solidFill>
                  <a:srgbClr val="0B1822"/>
                </a:solidFill>
                <a:latin typeface="Arial"/>
                <a:ea typeface="Arial"/>
                <a:cs typeface="Arial"/>
              </a:defRPr>
            </a:pPr>
            <a:r>
              <a:rPr sz="1950" b="0">
                <a:solidFill>
                  <a:srgbClr val="0B1822"/>
                </a:solidFill>
                <a:latin typeface="Arial"/>
                <a:ea typeface="Arial"/>
                <a:cs typeface="Arial"/>
              </a:rPr>
              <a:t>Analyst: checks the evidence</a:t>
            </a:r>
          </a:p>
          <a:p xmlns:a="http://schemas.openxmlformats.org/drawingml/2006/main">
            <a:pPr>
              <a:defRPr sz="1950" b="0">
                <a:solidFill>
                  <a:srgbClr val="0B1822"/>
                </a:solidFill>
                <a:latin typeface="Arial"/>
                <a:ea typeface="Arial"/>
                <a:cs typeface="Arial"/>
              </a:defRPr>
            </a:pPr>
            <a:r>
              <a:rPr sz="1950" b="0">
                <a:solidFill>
                  <a:srgbClr val="0B1822"/>
                </a:solidFill>
                <a:latin typeface="Arial"/>
                <a:ea typeface="Arial"/>
                <a:cs typeface="Arial"/>
              </a:rPr>
              <a:t>Reviewer: raises a concern</a:t>
            </a:r>
          </a:p>
        </p:txBody>
      </p:sp>
      <p:sp>
        <p:nvSpPr>
          <p:cNvPr id="8" name="Milind and Vivek co-present the demo, reviews an">
            <a:extLst xmlns:a="http://schemas.openxmlformats.org/drawingml/2006/main">
              <a:ext uri="{FF2B5EF4-FFF2-40B4-BE49-F238E27FC236}">
                <a16:creationId xmlns:a16="http://schemas.microsoft.com/office/drawing/2014/main" id="{996F050C-6C2F-41B3-9A91-9B8249DF0F62}"/>
              </a:ext>
            </a:extLst>
          </p:cNvPr>
          <p:cNvSpPr>
            <a:spLocks xmlns:a="http://schemas.openxmlformats.org/drawingml/2006/main" noGrp="1"/>
          </p:cNvSpPr>
          <p:nvPr/>
        </p:nvSpPr>
        <p:spPr>
          <a:xfrm xmlns:a="http://schemas.openxmlformats.org/drawingml/2006/main">
            <a:off x="628650" y="58197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0B1822"/>
                </a:solidFill>
                <a:latin typeface="Arial"/>
                <a:ea typeface="Arial"/>
                <a:cs typeface="Arial"/>
              </a:defRPr>
            </a:defPPr>
          </a:lstStyle>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Milind and Vivek co-present the demo, reviews and evidence.</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Your intent stays on the record. The common demo uses a supplied reference spec.</a:t>
            </a:r>
          </a:p>
        </p:txBody>
      </p:sp>
      <p:sp>
        <p:nvSpPr>
          <p:cNvPr id="9" name="ISC2 SECURITY CONGRESS 2026 / SC2632">
            <a:extLst xmlns:a="http://schemas.openxmlformats.org/drawingml/2006/main">
              <a:ext uri="{FF2B5EF4-FFF2-40B4-BE49-F238E27FC236}">
                <a16:creationId xmlns:a16="http://schemas.microsoft.com/office/drawing/2014/main" id="{B4E3A132-9113-4695-8764-73DD4A759FA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0" name="10">
            <a:extLst xmlns:a="http://schemas.openxmlformats.org/drawingml/2006/main">
              <a:ext uri="{FF2B5EF4-FFF2-40B4-BE49-F238E27FC236}">
                <a16:creationId xmlns:a16="http://schemas.microsoft.com/office/drawing/2014/main" id="{96931059-5CD3-4ABE-85AD-6E1181319F6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10</a:t>
            </a:r>
          </a:p>
        </p:txBody>
      </p:sp>
    </p:spTree>
    <p:extLst>
      <p:ext uri="{BB962C8B-B14F-4D97-AF65-F5344CB8AC3E}">
        <p14:creationId xmlns:p14="http://schemas.microsoft.com/office/powerpoint/2010/main" val="2085430144"/>
      </p:ext>
    </p:extLst>
  </p:cSld>
</p:sld>
</file>

<file path=ppt/slides/slide11.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8" name="CHOOSE ONE CASE / PARTICIPANT PACK PAGES 2–5">
            <a:extLst xmlns:a="http://schemas.openxmlformats.org/drawingml/2006/main">
              <a:ext uri="{FF2B5EF4-FFF2-40B4-BE49-F238E27FC236}">
                <a16:creationId xmlns:a16="http://schemas.microsoft.com/office/drawing/2014/main" id="{45AA630F-DF59-4C53-96CF-EE27AC316B7A}"/>
              </a:ext>
            </a:extLst>
          </p:cNvPr>
          <p:cNvSpPr>
            <a:spLocks xmlns:a="http://schemas.openxmlformats.org/drawingml/2006/main" noGrp="1"/>
          </p:cNvSpPr>
          <p:nvPr/>
        </p:nvSpPr>
        <p:spPr>
          <a:xfrm xmlns:a="http://schemas.openxmlformats.org/drawingml/2006/main">
            <a:off x="609600" y="476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CHOOSE ONE CASE / PARTICIPANT PACK PAGES 2–5</a:t>
            </a:r>
          </a:p>
        </p:txBody>
      </p:sp>
      <p:sp>
        <p:nvSpPr>
          <p:cNvPr id="2" name="Four prepared scenarios">
            <a:extLst xmlns:a="http://schemas.openxmlformats.org/drawingml/2006/main">
              <a:ext uri="{FF2B5EF4-FFF2-40B4-BE49-F238E27FC236}">
                <a16:creationId xmlns:a16="http://schemas.microsoft.com/office/drawing/2014/main" id="{59DB308B-623E-48CB-AD7E-4EE75D3FA112}"/>
              </a:ext>
            </a:extLst>
          </p:cNvPr>
          <p:cNvSpPr>
            <a:spLocks xmlns:a="http://schemas.openxmlformats.org/drawingml/2006/main" noGrp="1"/>
          </p:cNvSpPr>
          <p:nvPr/>
        </p:nvSpPr>
        <p:spPr>
          <a:xfrm xmlns:a="http://schemas.openxmlformats.org/drawingml/2006/main">
            <a:off x="609600" y="1076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0B1822"/>
                </a:solidFill>
                <a:latin typeface="Arial Black"/>
                <a:ea typeface="Arial Black"/>
                <a:cs typeface="Arial Black"/>
              </a:defRPr>
            </a:defPPr>
          </a:lstStyle>
          <a:p xmlns:a="http://schemas.openxmlformats.org/drawingml/2006/main">
            <a:pPr>
              <a:defRPr sz="4875" b="1">
                <a:solidFill>
                  <a:srgbClr val="0B1822"/>
                </a:solidFill>
                <a:latin typeface="Arial Black"/>
                <a:ea typeface="Arial Black"/>
                <a:cs typeface="Arial Black"/>
              </a:defRPr>
            </a:pPr>
            <a:r>
              <a:rPr sz="4875" b="1">
                <a:solidFill>
                  <a:srgbClr val="0B1822"/>
                </a:solidFill>
                <a:latin typeface="Arial Black"/>
                <a:ea typeface="Arial Black"/>
                <a:cs typeface="Arial Black"/>
              </a:rPr>
              <a:t>Four prepared scenarios</a:t>
            </a:r>
          </a:p>
        </p:txBody>
      </p:sp>
      <p:sp>
        <p:nvSpPr>
          <p:cNvPr id="3" name="A">
            <a:extLst xmlns:a="http://schemas.openxmlformats.org/drawingml/2006/main">
              <a:ext uri="{FF2B5EF4-FFF2-40B4-BE49-F238E27FC236}">
                <a16:creationId xmlns:a16="http://schemas.microsoft.com/office/drawing/2014/main" id="{F0918C3F-9B46-4894-B55B-A8A23EC4D90D}"/>
              </a:ext>
            </a:extLst>
          </p:cNvPr>
          <p:cNvSpPr>
            <a:spLocks xmlns:a="http://schemas.openxmlformats.org/drawingml/2006/main" noGrp="1"/>
          </p:cNvSpPr>
          <p:nvPr/>
        </p:nvSpPr>
        <p:spPr>
          <a:xfrm xmlns:a="http://schemas.openxmlformats.org/drawingml/2006/main">
            <a:off x="628650" y="2343150"/>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087E79"/>
                </a:solidFill>
                <a:latin typeface="Arial Black"/>
                <a:ea typeface="Arial Black"/>
                <a:cs typeface="Arial Black"/>
              </a:defRPr>
            </a:defPPr>
          </a:lstStyle>
          <a:p xmlns:a="http://schemas.openxmlformats.org/drawingml/2006/main">
            <a:pPr>
              <a:defRPr sz="4725" b="1">
                <a:solidFill>
                  <a:srgbClr val="087E79"/>
                </a:solidFill>
                <a:latin typeface="Arial Black"/>
                <a:ea typeface="Arial Black"/>
                <a:cs typeface="Arial Black"/>
              </a:defRPr>
            </a:pPr>
            <a:r>
              <a:rPr sz="4725" b="1">
                <a:solidFill>
                  <a:srgbClr val="087E79"/>
                </a:solidFill>
                <a:latin typeface="Arial Black"/>
                <a:ea typeface="Arial Black"/>
                <a:cs typeface="Arial Black"/>
              </a:rPr>
              <a:t>A</a:t>
            </a:r>
          </a:p>
        </p:txBody>
      </p:sp>
      <p:sp>
        <p:nvSpPr>
          <p:cNvPr id="4" name="Library update">
            <a:extLst xmlns:a="http://schemas.openxmlformats.org/drawingml/2006/main">
              <a:ext uri="{FF2B5EF4-FFF2-40B4-BE49-F238E27FC236}">
                <a16:creationId xmlns:a16="http://schemas.microsoft.com/office/drawing/2014/main" id="{FECE72DA-2354-40F6-93C4-8A3B6259DFE1}"/>
              </a:ext>
            </a:extLst>
          </p:cNvPr>
          <p:cNvSpPr>
            <a:spLocks xmlns:a="http://schemas.openxmlformats.org/drawingml/2006/main" noGrp="1"/>
          </p:cNvSpPr>
          <p:nvPr/>
        </p:nvSpPr>
        <p:spPr>
          <a:xfrm xmlns:a="http://schemas.openxmlformats.org/drawingml/2006/main">
            <a:off x="1876425" y="2381250"/>
            <a:ext cx="476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B1822"/>
                </a:solidFill>
                <a:latin typeface="Arial"/>
                <a:ea typeface="Arial"/>
                <a:cs typeface="Arial"/>
              </a:defRPr>
            </a:defPPr>
          </a:lstStyle>
          <a:p xmlns:a="http://schemas.openxmlformats.org/drawingml/2006/main">
            <a:pPr>
              <a:defRPr sz="2625" b="1">
                <a:solidFill>
                  <a:srgbClr val="0B1822"/>
                </a:solidFill>
                <a:latin typeface="Arial"/>
                <a:ea typeface="Arial"/>
                <a:cs typeface="Arial"/>
              </a:defRPr>
            </a:pPr>
            <a:r>
              <a:rPr sz="2625" b="1">
                <a:solidFill>
                  <a:srgbClr val="0B1822"/>
                </a:solidFill>
                <a:latin typeface="Arial"/>
                <a:ea typeface="Arial"/>
                <a:cs typeface="Arial"/>
              </a:rPr>
              <a:t>Library update</a:t>
            </a:r>
          </a:p>
        </p:txBody>
      </p:sp>
      <p:sp>
        <p:nvSpPr>
          <p:cNvPr id="5" name="A library update and unexpected payments traffic">
            <a:extLst xmlns:a="http://schemas.openxmlformats.org/drawingml/2006/main">
              <a:ext uri="{FF2B5EF4-FFF2-40B4-BE49-F238E27FC236}">
                <a16:creationId xmlns:a16="http://schemas.microsoft.com/office/drawing/2014/main" id="{82958B89-A865-45D9-8353-45E1F4D87E43}"/>
              </a:ext>
            </a:extLst>
          </p:cNvPr>
          <p:cNvSpPr>
            <a:spLocks xmlns:a="http://schemas.openxmlformats.org/drawingml/2006/main" noGrp="1"/>
          </p:cNvSpPr>
          <p:nvPr/>
        </p:nvSpPr>
        <p:spPr>
          <a:xfrm xmlns:a="http://schemas.openxmlformats.org/drawingml/2006/main">
            <a:off x="6915150" y="23812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B1822"/>
                </a:solidFill>
                <a:latin typeface="Arial"/>
                <a:ea typeface="Arial"/>
                <a:cs typeface="Arial"/>
              </a:defRPr>
            </a:defPPr>
          </a:lstStyle>
          <a:p xmlns:a="http://schemas.openxmlformats.org/drawingml/2006/main">
            <a:pPr>
              <a:defRPr sz="1800" b="0">
                <a:solidFill>
                  <a:srgbClr val="0B1822"/>
                </a:solidFill>
                <a:latin typeface="Arial"/>
                <a:ea typeface="Arial"/>
                <a:cs typeface="Arial"/>
              </a:defRPr>
            </a:pPr>
            <a:r>
              <a:rPr sz="1800" b="0">
                <a:solidFill>
                  <a:srgbClr val="0B1822"/>
                </a:solidFill>
                <a:latin typeface="Arial"/>
                <a:ea typeface="Arial"/>
                <a:cs typeface="Arial"/>
              </a:rPr>
              <a:t>A library update and unexpected payments traffic</a:t>
            </a:r>
          </a:p>
        </p:txBody>
      </p:sp>
      <p:sp>
        <p:nvSpPr>
          <p:cNvPr id="6" name="B">
            <a:extLst xmlns:a="http://schemas.openxmlformats.org/drawingml/2006/main">
              <a:ext uri="{FF2B5EF4-FFF2-40B4-BE49-F238E27FC236}">
                <a16:creationId xmlns:a16="http://schemas.microsoft.com/office/drawing/2014/main" id="{67369D03-6567-4820-A303-CAD461E63C7A}"/>
              </a:ext>
            </a:extLst>
          </p:cNvPr>
          <p:cNvSpPr>
            <a:spLocks xmlns:a="http://schemas.openxmlformats.org/drawingml/2006/main" noGrp="1"/>
          </p:cNvSpPr>
          <p:nvPr/>
        </p:nvSpPr>
        <p:spPr>
          <a:xfrm xmlns:a="http://schemas.openxmlformats.org/drawingml/2006/main">
            <a:off x="628650" y="3200400"/>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087E79"/>
                </a:solidFill>
                <a:latin typeface="Arial Black"/>
                <a:ea typeface="Arial Black"/>
                <a:cs typeface="Arial Black"/>
              </a:defRPr>
            </a:defPPr>
          </a:lstStyle>
          <a:p xmlns:a="http://schemas.openxmlformats.org/drawingml/2006/main">
            <a:pPr>
              <a:defRPr sz="4725" b="1">
                <a:solidFill>
                  <a:srgbClr val="087E79"/>
                </a:solidFill>
                <a:latin typeface="Arial Black"/>
                <a:ea typeface="Arial Black"/>
                <a:cs typeface="Arial Black"/>
              </a:defRPr>
            </a:pPr>
            <a:r>
              <a:rPr sz="4725" b="1">
                <a:solidFill>
                  <a:srgbClr val="087E79"/>
                </a:solidFill>
                <a:latin typeface="Arial Black"/>
                <a:ea typeface="Arial Black"/>
                <a:cs typeface="Arial Black"/>
              </a:rPr>
              <a:t>B</a:t>
            </a:r>
          </a:p>
        </p:txBody>
      </p:sp>
      <p:sp>
        <p:nvSpPr>
          <p:cNvPr id="7" name="Support assistant">
            <a:extLst xmlns:a="http://schemas.openxmlformats.org/drawingml/2006/main">
              <a:ext uri="{FF2B5EF4-FFF2-40B4-BE49-F238E27FC236}">
                <a16:creationId xmlns:a16="http://schemas.microsoft.com/office/drawing/2014/main" id="{038BAA92-7A96-4B37-86D0-AF5B914A567E}"/>
              </a:ext>
            </a:extLst>
          </p:cNvPr>
          <p:cNvSpPr>
            <a:spLocks xmlns:a="http://schemas.openxmlformats.org/drawingml/2006/main" noGrp="1"/>
          </p:cNvSpPr>
          <p:nvPr/>
        </p:nvSpPr>
        <p:spPr>
          <a:xfrm xmlns:a="http://schemas.openxmlformats.org/drawingml/2006/main">
            <a:off x="1876425" y="3238500"/>
            <a:ext cx="476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B1822"/>
                </a:solidFill>
                <a:latin typeface="Arial"/>
                <a:ea typeface="Arial"/>
                <a:cs typeface="Arial"/>
              </a:defRPr>
            </a:defPPr>
          </a:lstStyle>
          <a:p xmlns:a="http://schemas.openxmlformats.org/drawingml/2006/main">
            <a:pPr>
              <a:defRPr sz="2625" b="1">
                <a:solidFill>
                  <a:srgbClr val="0B1822"/>
                </a:solidFill>
                <a:latin typeface="Arial"/>
                <a:ea typeface="Arial"/>
                <a:cs typeface="Arial"/>
              </a:defRPr>
            </a:pPr>
            <a:r>
              <a:rPr sz="2625" b="1">
                <a:solidFill>
                  <a:srgbClr val="0B1822"/>
                </a:solidFill>
                <a:latin typeface="Arial"/>
                <a:ea typeface="Arial"/>
                <a:cs typeface="Arial"/>
              </a:rPr>
              <a:t>Support assistant</a:t>
            </a:r>
          </a:p>
        </p:txBody>
      </p:sp>
      <p:sp>
        <p:nvSpPr>
          <p:cNvPr id="8" name="A ticket-reading assistant and unexpected tool a">
            <a:extLst xmlns:a="http://schemas.openxmlformats.org/drawingml/2006/main">
              <a:ext uri="{FF2B5EF4-FFF2-40B4-BE49-F238E27FC236}">
                <a16:creationId xmlns:a16="http://schemas.microsoft.com/office/drawing/2014/main" id="{EC902DC6-4A6D-4544-A9FE-1C991A6AA174}"/>
              </a:ext>
            </a:extLst>
          </p:cNvPr>
          <p:cNvSpPr>
            <a:spLocks xmlns:a="http://schemas.openxmlformats.org/drawingml/2006/main" noGrp="1"/>
          </p:cNvSpPr>
          <p:nvPr/>
        </p:nvSpPr>
        <p:spPr>
          <a:xfrm xmlns:a="http://schemas.openxmlformats.org/drawingml/2006/main">
            <a:off x="6915150" y="323850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B1822"/>
                </a:solidFill>
                <a:latin typeface="Arial"/>
                <a:ea typeface="Arial"/>
                <a:cs typeface="Arial"/>
              </a:defRPr>
            </a:defPPr>
          </a:lstStyle>
          <a:p xmlns:a="http://schemas.openxmlformats.org/drawingml/2006/main">
            <a:pPr>
              <a:defRPr sz="1800" b="0">
                <a:solidFill>
                  <a:srgbClr val="0B1822"/>
                </a:solidFill>
                <a:latin typeface="Arial"/>
                <a:ea typeface="Arial"/>
                <a:cs typeface="Arial"/>
              </a:defRPr>
            </a:pPr>
            <a:r>
              <a:rPr sz="1800" b="0">
                <a:solidFill>
                  <a:srgbClr val="0B1822"/>
                </a:solidFill>
                <a:latin typeface="Arial"/>
                <a:ea typeface="Arial"/>
                <a:cs typeface="Arial"/>
              </a:rPr>
              <a:t>A ticket-reading assistant and unexpected tool activity</a:t>
            </a:r>
          </a:p>
        </p:txBody>
      </p:sp>
      <p:sp>
        <p:nvSpPr>
          <p:cNvPr id="9" name="C">
            <a:extLst xmlns:a="http://schemas.openxmlformats.org/drawingml/2006/main">
              <a:ext uri="{FF2B5EF4-FFF2-40B4-BE49-F238E27FC236}">
                <a16:creationId xmlns:a16="http://schemas.microsoft.com/office/drawing/2014/main" id="{80A0B095-38E8-4D2D-94F1-1BEBE7BC9C2F}"/>
              </a:ext>
            </a:extLst>
          </p:cNvPr>
          <p:cNvSpPr>
            <a:spLocks xmlns:a="http://schemas.openxmlformats.org/drawingml/2006/main" noGrp="1"/>
          </p:cNvSpPr>
          <p:nvPr/>
        </p:nvSpPr>
        <p:spPr>
          <a:xfrm xmlns:a="http://schemas.openxmlformats.org/drawingml/2006/main">
            <a:off x="628650" y="4057650"/>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087E79"/>
                </a:solidFill>
                <a:latin typeface="Arial Black"/>
                <a:ea typeface="Arial Black"/>
                <a:cs typeface="Arial Black"/>
              </a:defRPr>
            </a:defPPr>
          </a:lstStyle>
          <a:p xmlns:a="http://schemas.openxmlformats.org/drawingml/2006/main">
            <a:pPr>
              <a:defRPr sz="4725" b="1">
                <a:solidFill>
                  <a:srgbClr val="087E79"/>
                </a:solidFill>
                <a:latin typeface="Arial Black"/>
                <a:ea typeface="Arial Black"/>
                <a:cs typeface="Arial Black"/>
              </a:defRPr>
            </a:pPr>
            <a:r>
              <a:rPr sz="4725" b="1">
                <a:solidFill>
                  <a:srgbClr val="087E79"/>
                </a:solidFill>
                <a:latin typeface="Arial Black"/>
                <a:ea typeface="Arial Black"/>
                <a:cs typeface="Arial Black"/>
              </a:rPr>
              <a:t>C</a:t>
            </a:r>
          </a:p>
        </p:txBody>
      </p:sp>
      <p:sp>
        <p:nvSpPr>
          <p:cNvPr id="10" name="Unexpected changes">
            <a:extLst xmlns:a="http://schemas.openxmlformats.org/drawingml/2006/main">
              <a:ext uri="{FF2B5EF4-FFF2-40B4-BE49-F238E27FC236}">
                <a16:creationId xmlns:a16="http://schemas.microsoft.com/office/drawing/2014/main" id="{E9F22EE4-F63B-46EC-B424-8AFD47A2FF67}"/>
              </a:ext>
            </a:extLst>
          </p:cNvPr>
          <p:cNvSpPr>
            <a:spLocks xmlns:a="http://schemas.openxmlformats.org/drawingml/2006/main" noGrp="1"/>
          </p:cNvSpPr>
          <p:nvPr/>
        </p:nvSpPr>
        <p:spPr>
          <a:xfrm xmlns:a="http://schemas.openxmlformats.org/drawingml/2006/main">
            <a:off x="1876425" y="4095750"/>
            <a:ext cx="476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B1822"/>
                </a:solidFill>
                <a:latin typeface="Arial"/>
                <a:ea typeface="Arial"/>
                <a:cs typeface="Arial"/>
              </a:defRPr>
            </a:defPPr>
          </a:lstStyle>
          <a:p xmlns:a="http://schemas.openxmlformats.org/drawingml/2006/main">
            <a:pPr>
              <a:defRPr sz="2625" b="1">
                <a:solidFill>
                  <a:srgbClr val="0B1822"/>
                </a:solidFill>
                <a:latin typeface="Arial"/>
                <a:ea typeface="Arial"/>
                <a:cs typeface="Arial"/>
              </a:defRPr>
            </a:pPr>
            <a:r>
              <a:rPr sz="2625" b="1">
                <a:solidFill>
                  <a:srgbClr val="0B1822"/>
                </a:solidFill>
                <a:latin typeface="Arial"/>
                <a:ea typeface="Arial"/>
                <a:cs typeface="Arial"/>
              </a:rPr>
              <a:t>Unexpected changes</a:t>
            </a:r>
          </a:p>
        </p:txBody>
      </p:sp>
      <p:sp>
        <p:nvSpPr>
          <p:cNvPr id="11" name="An ops agent changes application copies without ">
            <a:extLst xmlns:a="http://schemas.openxmlformats.org/drawingml/2006/main">
              <a:ext uri="{FF2B5EF4-FFF2-40B4-BE49-F238E27FC236}">
                <a16:creationId xmlns:a16="http://schemas.microsoft.com/office/drawing/2014/main" id="{3BC22FC6-872A-4AD7-AF50-B94233F7AEEE}"/>
              </a:ext>
            </a:extLst>
          </p:cNvPr>
          <p:cNvSpPr>
            <a:spLocks xmlns:a="http://schemas.openxmlformats.org/drawingml/2006/main" noGrp="1"/>
          </p:cNvSpPr>
          <p:nvPr/>
        </p:nvSpPr>
        <p:spPr>
          <a:xfrm xmlns:a="http://schemas.openxmlformats.org/drawingml/2006/main">
            <a:off x="6915150" y="40957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B1822"/>
                </a:solidFill>
                <a:latin typeface="Arial"/>
                <a:ea typeface="Arial"/>
                <a:cs typeface="Arial"/>
              </a:defRPr>
            </a:defPPr>
          </a:lstStyle>
          <a:p xmlns:a="http://schemas.openxmlformats.org/drawingml/2006/main">
            <a:pPr>
              <a:defRPr sz="1800" b="0">
                <a:solidFill>
                  <a:srgbClr val="0B1822"/>
                </a:solidFill>
                <a:latin typeface="Arial"/>
                <a:ea typeface="Arial"/>
                <a:cs typeface="Arial"/>
              </a:defRPr>
            </a:pPr>
            <a:r>
              <a:rPr sz="1800" b="0">
                <a:solidFill>
                  <a:srgbClr val="0B1822"/>
                </a:solidFill>
                <a:latin typeface="Arial"/>
                <a:ea typeface="Arial"/>
                <a:cs typeface="Arial"/>
              </a:rPr>
              <a:t>An ops agent changes application copies without a ticket</a:t>
            </a:r>
          </a:p>
        </p:txBody>
      </p:sp>
      <p:sp>
        <p:nvSpPr>
          <p:cNvPr id="12" name="D">
            <a:extLst xmlns:a="http://schemas.openxmlformats.org/drawingml/2006/main">
              <a:ext uri="{FF2B5EF4-FFF2-40B4-BE49-F238E27FC236}">
                <a16:creationId xmlns:a16="http://schemas.microsoft.com/office/drawing/2014/main" id="{7D8141B1-57A2-4172-B034-CC3E79CBE6BC}"/>
              </a:ext>
            </a:extLst>
          </p:cNvPr>
          <p:cNvSpPr>
            <a:spLocks xmlns:a="http://schemas.openxmlformats.org/drawingml/2006/main" noGrp="1"/>
          </p:cNvSpPr>
          <p:nvPr/>
        </p:nvSpPr>
        <p:spPr>
          <a:xfrm xmlns:a="http://schemas.openxmlformats.org/drawingml/2006/main">
            <a:off x="628650" y="4914900"/>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FF795B"/>
                </a:solidFill>
                <a:latin typeface="Arial Black"/>
                <a:ea typeface="Arial Black"/>
                <a:cs typeface="Arial Black"/>
              </a:defRPr>
            </a:defPPr>
          </a:lstStyle>
          <a:p xmlns:a="http://schemas.openxmlformats.org/drawingml/2006/main">
            <a:pPr>
              <a:defRPr sz="4725" b="1">
                <a:solidFill>
                  <a:srgbClr val="FF795B"/>
                </a:solidFill>
                <a:latin typeface="Arial Black"/>
                <a:ea typeface="Arial Black"/>
                <a:cs typeface="Arial Black"/>
              </a:defRPr>
            </a:pPr>
            <a:r>
              <a:rPr sz="4725" b="1">
                <a:solidFill>
                  <a:srgbClr val="FF795B"/>
                </a:solidFill>
                <a:latin typeface="Arial Black"/>
                <a:ea typeface="Arial Black"/>
                <a:cs typeface="Arial Black"/>
              </a:rPr>
              <a:t>D</a:t>
            </a:r>
          </a:p>
        </p:txBody>
      </p:sp>
      <p:sp>
        <p:nvSpPr>
          <p:cNvPr id="13" name="Credential access">
            <a:extLst xmlns:a="http://schemas.openxmlformats.org/drawingml/2006/main">
              <a:ext uri="{FF2B5EF4-FFF2-40B4-BE49-F238E27FC236}">
                <a16:creationId xmlns:a16="http://schemas.microsoft.com/office/drawing/2014/main" id="{729B2A1F-FB45-4FFB-BC67-61144F9800CF}"/>
              </a:ext>
            </a:extLst>
          </p:cNvPr>
          <p:cNvSpPr>
            <a:spLocks xmlns:a="http://schemas.openxmlformats.org/drawingml/2006/main" noGrp="1"/>
          </p:cNvSpPr>
          <p:nvPr/>
        </p:nvSpPr>
        <p:spPr>
          <a:xfrm xmlns:a="http://schemas.openxmlformats.org/drawingml/2006/main">
            <a:off x="1876425" y="4953000"/>
            <a:ext cx="476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B1822"/>
                </a:solidFill>
                <a:latin typeface="Arial"/>
                <a:ea typeface="Arial"/>
                <a:cs typeface="Arial"/>
              </a:defRPr>
            </a:defPPr>
          </a:lstStyle>
          <a:p xmlns:a="http://schemas.openxmlformats.org/drawingml/2006/main">
            <a:pPr>
              <a:defRPr sz="2625" b="1">
                <a:solidFill>
                  <a:srgbClr val="0B1822"/>
                </a:solidFill>
                <a:latin typeface="Arial"/>
                <a:ea typeface="Arial"/>
                <a:cs typeface="Arial"/>
              </a:defRPr>
            </a:pPr>
            <a:r>
              <a:rPr sz="2625" b="1">
                <a:solidFill>
                  <a:srgbClr val="0B1822"/>
                </a:solidFill>
                <a:latin typeface="Arial"/>
                <a:ea typeface="Arial"/>
                <a:cs typeface="Arial"/>
              </a:rPr>
              <a:t>Credential access</a:t>
            </a:r>
          </a:p>
        </p:txBody>
      </p:sp>
      <p:sp>
        <p:nvSpPr>
          <p:cNvPr id="14" name="A monitoring identity lists credential records a">
            <a:extLst xmlns:a="http://schemas.openxmlformats.org/drawingml/2006/main">
              <a:ext uri="{FF2B5EF4-FFF2-40B4-BE49-F238E27FC236}">
                <a16:creationId xmlns:a16="http://schemas.microsoft.com/office/drawing/2014/main" id="{D5DF193B-0A21-4105-8DBF-15913541B836}"/>
              </a:ext>
            </a:extLst>
          </p:cNvPr>
          <p:cNvSpPr>
            <a:spLocks xmlns:a="http://schemas.openxmlformats.org/drawingml/2006/main" noGrp="1"/>
          </p:cNvSpPr>
          <p:nvPr/>
        </p:nvSpPr>
        <p:spPr>
          <a:xfrm xmlns:a="http://schemas.openxmlformats.org/drawingml/2006/main">
            <a:off x="6915150" y="495300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B1822"/>
                </a:solidFill>
                <a:latin typeface="Arial"/>
                <a:ea typeface="Arial"/>
                <a:cs typeface="Arial"/>
              </a:defRPr>
            </a:defPPr>
          </a:lstStyle>
          <a:p xmlns:a="http://schemas.openxmlformats.org/drawingml/2006/main">
            <a:pPr>
              <a:defRPr sz="1800" b="0">
                <a:solidFill>
                  <a:srgbClr val="0B1822"/>
                </a:solidFill>
                <a:latin typeface="Arial"/>
                <a:ea typeface="Arial"/>
                <a:cs typeface="Arial"/>
              </a:defRPr>
            </a:pPr>
            <a:r>
              <a:rPr sz="1800" b="0">
                <a:solidFill>
                  <a:srgbClr val="0B1822"/>
                </a:solidFill>
                <a:latin typeface="Arial"/>
                <a:ea typeface="Arial"/>
                <a:cs typeface="Arial"/>
              </a:rPr>
              <a:t>A monitoring identity lists credential records across groups</a:t>
            </a:r>
          </a:p>
        </p:txBody>
      </p:sp>
      <p:sp>
        <p:nvSpPr>
          <p:cNvPr id="15" name="Choose as a team. Keep the sealed updates closed">
            <a:extLst xmlns:a="http://schemas.openxmlformats.org/drawingml/2006/main">
              <a:ext uri="{FF2B5EF4-FFF2-40B4-BE49-F238E27FC236}">
                <a16:creationId xmlns:a16="http://schemas.microsoft.com/office/drawing/2014/main" id="{01C9DFD9-121F-40B7-A850-2C3274374412}"/>
              </a:ext>
            </a:extLst>
          </p:cNvPr>
          <p:cNvSpPr>
            <a:spLocks xmlns:a="http://schemas.openxmlformats.org/drawingml/2006/main" noGrp="1"/>
          </p:cNvSpPr>
          <p:nvPr/>
        </p:nvSpPr>
        <p:spPr>
          <a:xfrm xmlns:a="http://schemas.openxmlformats.org/drawingml/2006/main">
            <a:off x="628650" y="59912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7E79"/>
                </a:solidFill>
                <a:latin typeface="Arial"/>
                <a:ea typeface="Arial"/>
                <a:cs typeface="Arial"/>
              </a:defRPr>
            </a:defPPr>
          </a:lstStyle>
          <a:p xmlns:a="http://schemas.openxmlformats.org/drawingml/2006/main">
            <a:pPr>
              <a:defRPr sz="1725" b="1">
                <a:solidFill>
                  <a:srgbClr val="087E79"/>
                </a:solidFill>
                <a:latin typeface="Arial"/>
                <a:ea typeface="Arial"/>
                <a:cs typeface="Arial"/>
              </a:defRPr>
            </a:pPr>
            <a:r>
              <a:rPr sz="1725" b="1">
                <a:solidFill>
                  <a:srgbClr val="087E79"/>
                </a:solidFill>
                <a:latin typeface="Arial"/>
                <a:ea typeface="Arial"/>
                <a:cs typeface="Arial"/>
              </a:rPr>
              <a:t>Choose as a team. Keep the sealed updates closed until the round opens.</a:t>
            </a:r>
          </a:p>
        </p:txBody>
      </p:sp>
      <p:sp>
        <p:nvSpPr>
          <p:cNvPr id="16" name="ISC2 SECURITY CONGRESS 2026 / SC2632">
            <a:extLst xmlns:a="http://schemas.openxmlformats.org/drawingml/2006/main">
              <a:ext uri="{FF2B5EF4-FFF2-40B4-BE49-F238E27FC236}">
                <a16:creationId xmlns:a16="http://schemas.microsoft.com/office/drawing/2014/main" id="{6E053FC0-027A-43C6-89E6-DD24F89436F0}"/>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7" name="11">
            <a:extLst xmlns:a="http://schemas.openxmlformats.org/drawingml/2006/main">
              <a:ext uri="{FF2B5EF4-FFF2-40B4-BE49-F238E27FC236}">
                <a16:creationId xmlns:a16="http://schemas.microsoft.com/office/drawing/2014/main" id="{12324E48-AB4C-494F-9E59-65BCBF0628D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11</a:t>
            </a:r>
          </a:p>
        </p:txBody>
      </p:sp>
    </p:spTree>
    <p:extLst>
      <p:ext uri="{BB962C8B-B14F-4D97-AF65-F5344CB8AC3E}">
        <p14:creationId xmlns:p14="http://schemas.microsoft.com/office/powerpoint/2010/main" val="2121106750"/>
      </p:ext>
    </p:extLst>
  </p:cSld>
</p:sld>
</file>

<file path=ppt/slides/slide1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4" name="RECORD THE OPERATIONAL CONSTRAINT">
            <a:extLst xmlns:a="http://schemas.openxmlformats.org/drawingml/2006/main">
              <a:ext uri="{FF2B5EF4-FFF2-40B4-BE49-F238E27FC236}">
                <a16:creationId xmlns:a16="http://schemas.microsoft.com/office/drawing/2014/main" id="{48D384CD-AC53-47E1-97F7-B37FE74DDE72}"/>
              </a:ext>
            </a:extLst>
          </p:cNvPr>
          <p:cNvSpPr>
            <a:spLocks xmlns:a="http://schemas.openxmlformats.org/drawingml/2006/main" noGrp="1"/>
          </p:cNvSpPr>
          <p:nvPr/>
        </p:nvSpPr>
        <p:spPr>
          <a:xfrm xmlns:a="http://schemas.openxmlformats.org/drawingml/2006/main">
            <a:off x="609600" y="476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 THE OPERATIONAL CONSTRAINT</a:t>
            </a:r>
          </a:p>
        </p:txBody>
      </p:sp>
      <p:sp>
        <p:nvSpPr>
          <p:cNvPr id="2" name="Operational constraints">
            <a:extLst xmlns:a="http://schemas.openxmlformats.org/drawingml/2006/main">
              <a:ext uri="{FF2B5EF4-FFF2-40B4-BE49-F238E27FC236}">
                <a16:creationId xmlns:a16="http://schemas.microsoft.com/office/drawing/2014/main" id="{154C2799-5115-4939-924F-6F5B8D46D65C}"/>
              </a:ext>
            </a:extLst>
          </p:cNvPr>
          <p:cNvSpPr>
            <a:spLocks xmlns:a="http://schemas.openxmlformats.org/drawingml/2006/main" noGrp="1"/>
          </p:cNvSpPr>
          <p:nvPr/>
        </p:nvSpPr>
        <p:spPr>
          <a:xfrm xmlns:a="http://schemas.openxmlformats.org/drawingml/2006/main">
            <a:off x="609600" y="1190625"/>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0B1822"/>
                </a:solidFill>
                <a:latin typeface="Arial Black"/>
                <a:ea typeface="Arial Black"/>
                <a:cs typeface="Arial Black"/>
              </a:defRPr>
            </a:defPPr>
          </a:lstStyle>
          <a:p xmlns:a="http://schemas.openxmlformats.org/drawingml/2006/main">
            <a:pPr>
              <a:defRPr sz="4050" b="1">
                <a:solidFill>
                  <a:srgbClr val="0B1822"/>
                </a:solidFill>
                <a:latin typeface="Arial Black"/>
                <a:ea typeface="Arial Black"/>
                <a:cs typeface="Arial Black"/>
              </a:defRPr>
            </a:pPr>
            <a:r>
              <a:rPr sz="4050" b="1">
                <a:solidFill>
                  <a:srgbClr val="0B1822"/>
                </a:solidFill>
                <a:latin typeface="Arial Black"/>
                <a:ea typeface="Arial Black"/>
                <a:cs typeface="Arial Black"/>
              </a:rPr>
              <a:t>Operational constraints</a:t>
            </a:r>
          </a:p>
        </p:txBody>
      </p:sp>
      <p:sp>
        <p:nvSpPr>
          <p:cNvPr id="3" name="Availability">
            <a:extLst xmlns:a="http://schemas.openxmlformats.org/drawingml/2006/main">
              <a:ext uri="{FF2B5EF4-FFF2-40B4-BE49-F238E27FC236}">
                <a16:creationId xmlns:a16="http://schemas.microsoft.com/office/drawing/2014/main" id="{A728B5AB-1D50-4457-8082-0EA4EB9B5F6D}"/>
              </a:ext>
            </a:extLst>
          </p:cNvPr>
          <p:cNvSpPr>
            <a:spLocks xmlns:a="http://schemas.openxmlformats.org/drawingml/2006/main" noGrp="1"/>
          </p:cNvSpPr>
          <p:nvPr/>
        </p:nvSpPr>
        <p:spPr>
          <a:xfrm xmlns:a="http://schemas.openxmlformats.org/drawingml/2006/main">
            <a:off x="609600" y="27717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Availability</a:t>
            </a:r>
          </a:p>
        </p:txBody>
      </p:sp>
      <p:sp>
        <p:nvSpPr>
          <p:cNvPr id="4" name="Keep two healthy application copies and required">
            <a:extLst xmlns:a="http://schemas.openxmlformats.org/drawingml/2006/main">
              <a:ext uri="{FF2B5EF4-FFF2-40B4-BE49-F238E27FC236}">
                <a16:creationId xmlns:a16="http://schemas.microsoft.com/office/drawing/2014/main" id="{7EF90B51-2F71-4233-9BF8-1358CED860B2}"/>
              </a:ext>
            </a:extLst>
          </p:cNvPr>
          <p:cNvSpPr>
            <a:spLocks xmlns:a="http://schemas.openxmlformats.org/drawingml/2006/main" noGrp="1"/>
          </p:cNvSpPr>
          <p:nvPr/>
        </p:nvSpPr>
        <p:spPr>
          <a:xfrm xmlns:a="http://schemas.openxmlformats.org/drawingml/2006/main">
            <a:off x="3371850" y="277177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Keep two healthy application copies and required connections.</a:t>
            </a:r>
          </a:p>
        </p:txBody>
      </p:sp>
      <p:sp>
        <p:nvSpPr>
          <p:cNvPr id="5" name="Evidence">
            <a:extLst xmlns:a="http://schemas.openxmlformats.org/drawingml/2006/main">
              <a:ext uri="{FF2B5EF4-FFF2-40B4-BE49-F238E27FC236}">
                <a16:creationId xmlns:a16="http://schemas.microsoft.com/office/drawing/2014/main" id="{22984B01-C964-4C00-9DFB-A3294E19140E}"/>
              </a:ext>
            </a:extLst>
          </p:cNvPr>
          <p:cNvSpPr>
            <a:spLocks xmlns:a="http://schemas.openxmlformats.org/drawingml/2006/main" noGrp="1"/>
          </p:cNvSpPr>
          <p:nvPr/>
        </p:nvSpPr>
        <p:spPr>
          <a:xfrm xmlns:a="http://schemas.openxmlformats.org/drawingml/2006/main">
            <a:off x="609600" y="35337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Evidence</a:t>
            </a:r>
          </a:p>
        </p:txBody>
      </p:sp>
      <p:sp>
        <p:nvSpPr>
          <p:cNvPr id="6" name="Preserve evidence and record every approval.">
            <a:extLst xmlns:a="http://schemas.openxmlformats.org/drawingml/2006/main">
              <a:ext uri="{FF2B5EF4-FFF2-40B4-BE49-F238E27FC236}">
                <a16:creationId xmlns:a16="http://schemas.microsoft.com/office/drawing/2014/main" id="{88337FE0-624D-4B0D-925C-D5371A999487}"/>
              </a:ext>
            </a:extLst>
          </p:cNvPr>
          <p:cNvSpPr>
            <a:spLocks xmlns:a="http://schemas.openxmlformats.org/drawingml/2006/main" noGrp="1"/>
          </p:cNvSpPr>
          <p:nvPr/>
        </p:nvSpPr>
        <p:spPr>
          <a:xfrm xmlns:a="http://schemas.openxmlformats.org/drawingml/2006/main">
            <a:off x="3371850" y="353377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Preserve evidence and record every approval.</a:t>
            </a:r>
          </a:p>
        </p:txBody>
      </p:sp>
      <p:sp>
        <p:nvSpPr>
          <p:cNvPr id="7" name="Velocity">
            <a:extLst xmlns:a="http://schemas.openxmlformats.org/drawingml/2006/main">
              <a:ext uri="{FF2B5EF4-FFF2-40B4-BE49-F238E27FC236}">
                <a16:creationId xmlns:a16="http://schemas.microsoft.com/office/drawing/2014/main" id="{4D96631B-440B-43A9-BA09-5B550549094E}"/>
              </a:ext>
            </a:extLst>
          </p:cNvPr>
          <p:cNvSpPr>
            <a:spLocks xmlns:a="http://schemas.openxmlformats.org/drawingml/2006/main" noGrp="1"/>
          </p:cNvSpPr>
          <p:nvPr/>
        </p:nvSpPr>
        <p:spPr>
          <a:xfrm xmlns:a="http://schemas.openxmlformats.org/drawingml/2006/main">
            <a:off x="609600" y="42957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Velocity</a:t>
            </a:r>
          </a:p>
        </p:txBody>
      </p:sp>
      <p:sp>
        <p:nvSpPr>
          <p:cNvPr id="8" name="Continue safe delivery while affected changes pa">
            <a:extLst xmlns:a="http://schemas.openxmlformats.org/drawingml/2006/main">
              <a:ext uri="{FF2B5EF4-FFF2-40B4-BE49-F238E27FC236}">
                <a16:creationId xmlns:a16="http://schemas.microsoft.com/office/drawing/2014/main" id="{E0D55A91-7F66-4163-85A1-D7C94ABDBD1C}"/>
              </a:ext>
            </a:extLst>
          </p:cNvPr>
          <p:cNvSpPr>
            <a:spLocks xmlns:a="http://schemas.openxmlformats.org/drawingml/2006/main" noGrp="1"/>
          </p:cNvSpPr>
          <p:nvPr/>
        </p:nvSpPr>
        <p:spPr>
          <a:xfrm xmlns:a="http://schemas.openxmlformats.org/drawingml/2006/main">
            <a:off x="3371850" y="429577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Continue safe delivery while affected changes pause.</a:t>
            </a:r>
          </a:p>
        </p:txBody>
      </p:sp>
      <p:sp>
        <p:nvSpPr>
          <p:cNvPr id="9" name="Containment">
            <a:extLst xmlns:a="http://schemas.openxmlformats.org/drawingml/2006/main">
              <a:ext uri="{FF2B5EF4-FFF2-40B4-BE49-F238E27FC236}">
                <a16:creationId xmlns:a16="http://schemas.microsoft.com/office/drawing/2014/main" id="{D29DBA3F-5E92-4CCD-83C9-89663082A608}"/>
              </a:ext>
            </a:extLst>
          </p:cNvPr>
          <p:cNvSpPr>
            <a:spLocks xmlns:a="http://schemas.openxmlformats.org/drawingml/2006/main" noGrp="1"/>
          </p:cNvSpPr>
          <p:nvPr/>
        </p:nvSpPr>
        <p:spPr>
          <a:xfrm xmlns:a="http://schemas.openxmlformats.org/drawingml/2006/main">
            <a:off x="609600" y="5057775"/>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Containment</a:t>
            </a:r>
          </a:p>
        </p:txBody>
      </p:sp>
      <p:sp>
        <p:nvSpPr>
          <p:cNvPr id="10" name="Stop suspected exposure and justify the service ">
            <a:extLst xmlns:a="http://schemas.openxmlformats.org/drawingml/2006/main">
              <a:ext uri="{FF2B5EF4-FFF2-40B4-BE49-F238E27FC236}">
                <a16:creationId xmlns:a16="http://schemas.microsoft.com/office/drawing/2014/main" id="{0BD8C2CF-698D-4BA2-8EA7-8A6D0D477330}"/>
              </a:ext>
            </a:extLst>
          </p:cNvPr>
          <p:cNvSpPr>
            <a:spLocks xmlns:a="http://schemas.openxmlformats.org/drawingml/2006/main" noGrp="1"/>
          </p:cNvSpPr>
          <p:nvPr/>
        </p:nvSpPr>
        <p:spPr>
          <a:xfrm xmlns:a="http://schemas.openxmlformats.org/drawingml/2006/main">
            <a:off x="3371850" y="505777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Stop suspected exposure and justify the service cost.</a:t>
            </a:r>
          </a:p>
        </p:txBody>
      </p:sp>
      <p:sp>
        <p:nvSpPr>
          <p:cNvPr id="11" name="Record your case, roles, constraint and minimum ">
            <a:extLst xmlns:a="http://schemas.openxmlformats.org/drawingml/2006/main">
              <a:ext uri="{FF2B5EF4-FFF2-40B4-BE49-F238E27FC236}">
                <a16:creationId xmlns:a16="http://schemas.microsoft.com/office/drawing/2014/main" id="{8F2FFB71-6A8D-49A7-BA44-F4D42FCDACAF}"/>
              </a:ext>
            </a:extLst>
          </p:cNvPr>
          <p:cNvSpPr>
            <a:spLocks xmlns:a="http://schemas.openxmlformats.org/drawingml/2006/main" noGrp="1"/>
          </p:cNvSpPr>
          <p:nvPr/>
        </p:nvSpPr>
        <p:spPr>
          <a:xfrm xmlns:a="http://schemas.openxmlformats.org/drawingml/2006/main">
            <a:off x="628650" y="5962650"/>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Record your case, roles, constraint and minimum service on page 6.</a:t>
            </a:r>
          </a:p>
        </p:txBody>
      </p:sp>
      <p:sp>
        <p:nvSpPr>
          <p:cNvPr id="12" name="ISC2 SECURITY CONGRESS 2026 / SC2632">
            <a:extLst xmlns:a="http://schemas.openxmlformats.org/drawingml/2006/main">
              <a:ext uri="{FF2B5EF4-FFF2-40B4-BE49-F238E27FC236}">
                <a16:creationId xmlns:a16="http://schemas.microsoft.com/office/drawing/2014/main" id="{7206C66E-FE06-4515-B5FF-CE1C25EAA1D0}"/>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3" name="12">
            <a:extLst xmlns:a="http://schemas.openxmlformats.org/drawingml/2006/main">
              <a:ext uri="{FF2B5EF4-FFF2-40B4-BE49-F238E27FC236}">
                <a16:creationId xmlns:a16="http://schemas.microsoft.com/office/drawing/2014/main" id="{B55262A5-95BA-447F-AFBD-FF3A557AA0D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12</a:t>
            </a:r>
          </a:p>
        </p:txBody>
      </p:sp>
    </p:spTree>
    <p:extLst>
      <p:ext uri="{BB962C8B-B14F-4D97-AF65-F5344CB8AC3E}">
        <p14:creationId xmlns:p14="http://schemas.microsoft.com/office/powerpoint/2010/main" val="1323053209"/>
      </p:ext>
    </p:extLst>
  </p:cSld>
</p:sld>
</file>

<file path=ppt/slides/slide13.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57009BD-7F6E-412A-AE77-8E15221400D0}"/>
              </a:ext>
            </a:extLst>
          </p:cNvPr>
          <p:cNvPicPr>
            <a:picLocks xmlns:a="http://schemas.openxmlformats.org/drawingml/2006/main" noChangeAspect="1"/>
          </p:cNvPicPr>
          <p:nvPr/>
        </p:nvPicPr>
        <p:blipFill>
          <a:blip xmlns:r="http://schemas.openxmlformats.org/officeDocument/2006/relationships" xmlns:a="http://schemas.openxmlformats.org/drawingml/2006/main" r:embed="R0e8b10f0210a4b5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4 MINUTES / DRAFT AND MAP THE INTENT">
            <a:extLst xmlns:a="http://schemas.openxmlformats.org/drawingml/2006/main">
              <a:ext uri="{FF2B5EF4-FFF2-40B4-BE49-F238E27FC236}">
                <a16:creationId xmlns:a16="http://schemas.microsoft.com/office/drawing/2014/main" id="{71E29F10-BD94-4846-B758-D8865CAF65B4}"/>
              </a:ext>
            </a:extLst>
          </p:cNvPr>
          <p:cNvSpPr>
            <a:spLocks xmlns:a="http://schemas.openxmlformats.org/drawingml/2006/main" noGrp="1"/>
          </p:cNvSpPr>
          <p:nvPr/>
        </p:nvSpPr>
        <p:spPr>
          <a:xfrm xmlns:a="http://schemas.openxmlformats.org/drawingml/2006/main">
            <a:off x="609600" y="495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5D8BD"/>
                </a:solidFill>
                <a:latin typeface="Arial"/>
                <a:ea typeface="Arial"/>
                <a:cs typeface="Arial"/>
              </a:defRPr>
            </a:defPPr>
          </a:lstStyle>
          <a:p xmlns:a="http://schemas.openxmlformats.org/drawingml/2006/main">
            <a:pPr>
              <a:defRPr sz="1350" b="1">
                <a:solidFill>
                  <a:srgbClr val="25D8BD"/>
                </a:solidFill>
                <a:latin typeface="Arial"/>
                <a:ea typeface="Arial"/>
                <a:cs typeface="Arial"/>
              </a:defRPr>
            </a:pPr>
            <a:r>
              <a:rPr sz="1350" b="1">
                <a:solidFill>
                  <a:srgbClr val="25D8BD"/>
                </a:solidFill>
                <a:latin typeface="Arial"/>
                <a:ea typeface="Arial"/>
                <a:cs typeface="Arial"/>
              </a:rPr>
              <a:t>4 MINUTES / DRAFT AND MAP THE INTENT</a:t>
            </a:r>
          </a:p>
        </p:txBody>
      </p:sp>
      <p:sp>
        <p:nvSpPr>
          <p:cNvPr id="3" name="01">
            <a:extLst xmlns:a="http://schemas.openxmlformats.org/drawingml/2006/main">
              <a:ext uri="{FF2B5EF4-FFF2-40B4-BE49-F238E27FC236}">
                <a16:creationId xmlns:a16="http://schemas.microsoft.com/office/drawing/2014/main" id="{C434E3EE-59B8-4805-8F9B-0EF6D4B94808}"/>
              </a:ext>
            </a:extLst>
          </p:cNvPr>
          <p:cNvSpPr>
            <a:spLocks xmlns:a="http://schemas.openxmlformats.org/drawingml/2006/main" noGrp="1"/>
          </p:cNvSpPr>
          <p:nvPr/>
        </p:nvSpPr>
        <p:spPr>
          <a:xfrm xmlns:a="http://schemas.openxmlformats.org/drawingml/2006/main">
            <a:off x="609600" y="9715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1">
                <a:solidFill>
                  <a:srgbClr val="FF795B"/>
                </a:solidFill>
                <a:latin typeface="Arial Black"/>
                <a:ea typeface="Arial Black"/>
                <a:cs typeface="Arial Black"/>
              </a:defRPr>
            </a:defPPr>
          </a:lstStyle>
          <a:p xmlns:a="http://schemas.openxmlformats.org/drawingml/2006/main">
            <a:pPr>
              <a:defRPr sz="9450" b="1">
                <a:solidFill>
                  <a:srgbClr val="FF795B"/>
                </a:solidFill>
                <a:latin typeface="Arial Black"/>
                <a:ea typeface="Arial Black"/>
                <a:cs typeface="Arial Black"/>
              </a:defRPr>
            </a:pPr>
            <a:r>
              <a:rPr sz="9450" b="1">
                <a:solidFill>
                  <a:srgbClr val="FF795B"/>
                </a:solidFill>
                <a:latin typeface="Arial Black"/>
                <a:ea typeface="Arial Black"/>
                <a:cs typeface="Arial Black"/>
              </a:rPr>
              <a:t>01</a:t>
            </a:r>
          </a:p>
        </p:txBody>
      </p:sp>
      <p:sp>
        <p:nvSpPr>
          <p:cNvPr id="4" name="Define the&#10;security requirement.">
            <a:extLst xmlns:a="http://schemas.openxmlformats.org/drawingml/2006/main">
              <a:ext uri="{FF2B5EF4-FFF2-40B4-BE49-F238E27FC236}">
                <a16:creationId xmlns:a16="http://schemas.microsoft.com/office/drawing/2014/main" id="{77C775C9-801C-4DC0-92B1-052B7036723F}"/>
              </a:ext>
            </a:extLst>
          </p:cNvPr>
          <p:cNvSpPr>
            <a:spLocks xmlns:a="http://schemas.openxmlformats.org/drawingml/2006/main" noGrp="1"/>
          </p:cNvSpPr>
          <p:nvPr/>
        </p:nvSpPr>
        <p:spPr>
          <a:xfrm xmlns:a="http://schemas.openxmlformats.org/drawingml/2006/main">
            <a:off x="609600" y="2762250"/>
            <a:ext cx="8286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Define the</a:t>
            </a:r>
          </a:p>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security requirement.</a:t>
            </a:r>
          </a:p>
        </p:txBody>
      </p:sp>
      <p:sp>
        <p:nvSpPr>
          <p:cNvPr id="5" name="Stop [behavior]. Preserve [dependency].&#10;Example:">
            <a:extLst xmlns:a="http://schemas.openxmlformats.org/drawingml/2006/main">
              <a:ext uri="{FF2B5EF4-FFF2-40B4-BE49-F238E27FC236}">
                <a16:creationId xmlns:a16="http://schemas.microsoft.com/office/drawing/2014/main" id="{F9226092-6676-45AE-8E31-5DF66936E759}"/>
              </a:ext>
            </a:extLst>
          </p:cNvPr>
          <p:cNvSpPr>
            <a:spLocks xmlns:a="http://schemas.openxmlformats.org/drawingml/2006/main" noGrp="1"/>
          </p:cNvSpPr>
          <p:nvPr/>
        </p:nvSpPr>
        <p:spPr>
          <a:xfrm xmlns:a="http://schemas.openxmlformats.org/drawingml/2006/main">
            <a:off x="628650" y="4829175"/>
            <a:ext cx="752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2EFE7"/>
                </a:solidFill>
                <a:latin typeface="Arial"/>
                <a:ea typeface="Arial"/>
                <a:cs typeface="Arial"/>
              </a:defRPr>
            </a:defPPr>
          </a:lstStyle>
          <a:p xmlns:a="http://schemas.openxmlformats.org/drawingml/2006/main">
            <a:pPr>
              <a:defRPr sz="2025" b="0">
                <a:solidFill>
                  <a:srgbClr val="F2EFE7"/>
                </a:solidFill>
                <a:latin typeface="Arial"/>
                <a:ea typeface="Arial"/>
                <a:cs typeface="Arial"/>
              </a:defRPr>
            </a:pPr>
            <a:r>
              <a:rPr sz="2025" b="0">
                <a:solidFill>
                  <a:srgbClr val="F2EFE7"/>
                </a:solidFill>
                <a:latin typeface="Arial"/>
                <a:ea typeface="Arial"/>
                <a:cs typeface="Arial"/>
              </a:rPr>
              <a:t>Stop [behavior]. Preserve [dependency].</a:t>
            </a:r>
          </a:p>
          <a:p xmlns:a="http://schemas.openxmlformats.org/drawingml/2006/main">
            <a:pPr>
              <a:defRPr sz="2025" b="0">
                <a:solidFill>
                  <a:srgbClr val="F2EFE7"/>
                </a:solidFill>
                <a:latin typeface="Arial"/>
                <a:ea typeface="Arial"/>
                <a:cs typeface="Arial"/>
              </a:defRPr>
            </a:pPr>
            <a:r>
              <a:rPr sz="2025" b="0">
                <a:solidFill>
                  <a:srgbClr val="F2EFE7"/>
                </a:solidFill>
                <a:latin typeface="Arial"/>
                <a:ea typeface="Arial"/>
                <a:cs typeface="Arial"/>
              </a:rPr>
              <a:t>Example: block new privileged workloads.</a:t>
            </a:r>
          </a:p>
          <a:p xmlns:a="http://schemas.openxmlformats.org/drawingml/2006/main">
            <a:pPr>
              <a:defRPr sz="2025" b="0">
                <a:solidFill>
                  <a:srgbClr val="F2EFE7"/>
                </a:solidFill>
                <a:latin typeface="Arial"/>
                <a:ea typeface="Arial"/>
                <a:cs typeface="Arial"/>
              </a:defRPr>
            </a:pPr>
            <a:r>
              <a:rPr sz="2025" b="0">
                <a:solidFill>
                  <a:srgbClr val="F2EFE7"/>
                </a:solidFill>
                <a:latin typeface="Arial"/>
                <a:ea typeface="Arial"/>
                <a:cs typeface="Arial"/>
              </a:rPr>
              <a:t>Allow approved releases. Write your own on page 6.</a:t>
            </a:r>
          </a:p>
        </p:txBody>
      </p:sp>
      <p:sp>
        <p:nvSpPr>
          <p:cNvPr id="6" name="ISC2 SECURITY CONGRESS 2026 / SC2632">
            <a:extLst xmlns:a="http://schemas.openxmlformats.org/drawingml/2006/main">
              <a:ext uri="{FF2B5EF4-FFF2-40B4-BE49-F238E27FC236}">
                <a16:creationId xmlns:a16="http://schemas.microsoft.com/office/drawing/2014/main" id="{A485E9AC-8354-4647-A13C-C994B83A8117}"/>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7" name="13">
            <a:extLst xmlns:a="http://schemas.openxmlformats.org/drawingml/2006/main">
              <a:ext uri="{FF2B5EF4-FFF2-40B4-BE49-F238E27FC236}">
                <a16:creationId xmlns:a16="http://schemas.microsoft.com/office/drawing/2014/main" id="{67C92F8D-3A45-464E-9BA1-C68F6AB31E9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13</a:t>
            </a:r>
          </a:p>
        </p:txBody>
      </p:sp>
    </p:spTree>
    <p:extLst>
      <p:ext uri="{BB962C8B-B14F-4D97-AF65-F5344CB8AC3E}">
        <p14:creationId xmlns:p14="http://schemas.microsoft.com/office/powerpoint/2010/main" val="861145607"/>
      </p:ext>
    </p:extLst>
  </p:cSld>
</p:sld>
</file>

<file path=ppt/slides/slide14.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1" name="PR REVIEW / YOUR DECISION">
            <a:extLst xmlns:a="http://schemas.openxmlformats.org/drawingml/2006/main">
              <a:ext uri="{FF2B5EF4-FFF2-40B4-BE49-F238E27FC236}">
                <a16:creationId xmlns:a16="http://schemas.microsoft.com/office/drawing/2014/main" id="{361D2E86-D805-458E-8124-271AC39C52C8}"/>
              </a:ext>
            </a:extLst>
          </p:cNvPr>
          <p:cNvSpPr>
            <a:spLocks xmlns:a="http://schemas.openxmlformats.org/drawingml/2006/main" noGrp="1"/>
          </p:cNvSpPr>
          <p:nvPr/>
        </p:nvSpPr>
        <p:spPr>
          <a:xfrm xmlns:a="http://schemas.openxmlformats.org/drawingml/2006/main">
            <a:off x="609600" y="476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PR REVIEW / YOUR DECISION</a:t>
            </a:r>
          </a:p>
        </p:txBody>
      </p:sp>
      <p:sp>
        <p:nvSpPr>
          <p:cNvPr id="2" name="Record your review decision">
            <a:extLst xmlns:a="http://schemas.openxmlformats.org/drawingml/2006/main">
              <a:ext uri="{FF2B5EF4-FFF2-40B4-BE49-F238E27FC236}">
                <a16:creationId xmlns:a16="http://schemas.microsoft.com/office/drawing/2014/main" id="{F5A5A751-669C-458A-9CE4-D56D736E2029}"/>
              </a:ext>
            </a:extLst>
          </p:cNvPr>
          <p:cNvSpPr>
            <a:spLocks xmlns:a="http://schemas.openxmlformats.org/drawingml/2006/main" noGrp="1"/>
          </p:cNvSpPr>
          <p:nvPr/>
        </p:nvSpPr>
        <p:spPr>
          <a:xfrm xmlns:a="http://schemas.openxmlformats.org/drawingml/2006/main">
            <a:off x="609600" y="11239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Record your review decision</a:t>
            </a:r>
          </a:p>
        </p:txBody>
      </p:sp>
      <p:sp>
        <p:nvSpPr>
          <p:cNvPr id="3" name="APPROVE">
            <a:extLst xmlns:a="http://schemas.openxmlformats.org/drawingml/2006/main">
              <a:ext uri="{FF2B5EF4-FFF2-40B4-BE49-F238E27FC236}">
                <a16:creationId xmlns:a16="http://schemas.microsoft.com/office/drawing/2014/main" id="{5AB8550A-2FB2-426B-BA0A-069969808137}"/>
              </a:ext>
            </a:extLst>
          </p:cNvPr>
          <p:cNvSpPr>
            <a:spLocks xmlns:a="http://schemas.openxmlformats.org/drawingml/2006/main" noGrp="1"/>
          </p:cNvSpPr>
          <p:nvPr/>
        </p:nvSpPr>
        <p:spPr>
          <a:xfrm xmlns:a="http://schemas.openxmlformats.org/drawingml/2006/main">
            <a:off x="628650" y="2400300"/>
            <a:ext cx="571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2EFE7"/>
                </a:solidFill>
                <a:latin typeface="Arial Black"/>
                <a:ea typeface="Arial Black"/>
                <a:cs typeface="Arial Black"/>
              </a:defRPr>
            </a:defPPr>
          </a:lstStyle>
          <a:p xmlns:a="http://schemas.openxmlformats.org/drawingml/2006/main">
            <a:pPr>
              <a:defRPr sz="3900" b="1">
                <a:solidFill>
                  <a:srgbClr val="F2EFE7"/>
                </a:solidFill>
                <a:latin typeface="Arial Black"/>
                <a:ea typeface="Arial Black"/>
                <a:cs typeface="Arial Black"/>
              </a:defRPr>
            </a:pPr>
            <a:r>
              <a:rPr sz="3900" b="1">
                <a:solidFill>
                  <a:srgbClr val="F2EFE7"/>
                </a:solidFill>
                <a:latin typeface="Arial Black"/>
                <a:ea typeface="Arial Black"/>
                <a:cs typeface="Arial Black"/>
              </a:rPr>
              <a:t>APPROVE</a:t>
            </a:r>
          </a:p>
        </p:txBody>
      </p:sp>
      <p:sp>
        <p:nvSpPr>
          <p:cNvPr id="4" name="MODIFY">
            <a:extLst xmlns:a="http://schemas.openxmlformats.org/drawingml/2006/main">
              <a:ext uri="{FF2B5EF4-FFF2-40B4-BE49-F238E27FC236}">
                <a16:creationId xmlns:a16="http://schemas.microsoft.com/office/drawing/2014/main" id="{FD5E9A48-3B4A-41BE-A0DD-29F49B1AFA0C}"/>
              </a:ext>
            </a:extLst>
          </p:cNvPr>
          <p:cNvSpPr>
            <a:spLocks xmlns:a="http://schemas.openxmlformats.org/drawingml/2006/main" noGrp="1"/>
          </p:cNvSpPr>
          <p:nvPr/>
        </p:nvSpPr>
        <p:spPr>
          <a:xfrm xmlns:a="http://schemas.openxmlformats.org/drawingml/2006/main">
            <a:off x="628650" y="3228975"/>
            <a:ext cx="571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25D8BD"/>
                </a:solidFill>
                <a:latin typeface="Arial Black"/>
                <a:ea typeface="Arial Black"/>
                <a:cs typeface="Arial Black"/>
              </a:defRPr>
            </a:defPPr>
          </a:lstStyle>
          <a:p xmlns:a="http://schemas.openxmlformats.org/drawingml/2006/main">
            <a:pPr>
              <a:defRPr sz="3900" b="1">
                <a:solidFill>
                  <a:srgbClr val="25D8BD"/>
                </a:solidFill>
                <a:latin typeface="Arial Black"/>
                <a:ea typeface="Arial Black"/>
                <a:cs typeface="Arial Black"/>
              </a:defRPr>
            </a:pPr>
            <a:r>
              <a:rPr sz="3900" b="1">
                <a:solidFill>
                  <a:srgbClr val="25D8BD"/>
                </a:solidFill>
                <a:latin typeface="Arial Black"/>
                <a:ea typeface="Arial Black"/>
                <a:cs typeface="Arial Black"/>
              </a:rPr>
              <a:t>MODIFY</a:t>
            </a:r>
          </a:p>
        </p:txBody>
      </p:sp>
      <p:sp>
        <p:nvSpPr>
          <p:cNvPr id="5" name="REJECT">
            <a:extLst xmlns:a="http://schemas.openxmlformats.org/drawingml/2006/main">
              <a:ext uri="{FF2B5EF4-FFF2-40B4-BE49-F238E27FC236}">
                <a16:creationId xmlns:a16="http://schemas.microsoft.com/office/drawing/2014/main" id="{032EE24B-9631-443C-A49B-70466E3E972B}"/>
              </a:ext>
            </a:extLst>
          </p:cNvPr>
          <p:cNvSpPr>
            <a:spLocks xmlns:a="http://schemas.openxmlformats.org/drawingml/2006/main" noGrp="1"/>
          </p:cNvSpPr>
          <p:nvPr/>
        </p:nvSpPr>
        <p:spPr>
          <a:xfrm xmlns:a="http://schemas.openxmlformats.org/drawingml/2006/main">
            <a:off x="628650" y="4057650"/>
            <a:ext cx="571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795B"/>
                </a:solidFill>
                <a:latin typeface="Arial Black"/>
                <a:ea typeface="Arial Black"/>
                <a:cs typeface="Arial Black"/>
              </a:defRPr>
            </a:defPPr>
          </a:lstStyle>
          <a:p xmlns:a="http://schemas.openxmlformats.org/drawingml/2006/main">
            <a:pPr>
              <a:defRPr sz="3900" b="1">
                <a:solidFill>
                  <a:srgbClr val="FF795B"/>
                </a:solidFill>
                <a:latin typeface="Arial Black"/>
                <a:ea typeface="Arial Black"/>
                <a:cs typeface="Arial Black"/>
              </a:defRPr>
            </a:pPr>
            <a:r>
              <a:rPr sz="3900" b="1">
                <a:solidFill>
                  <a:srgbClr val="FF795B"/>
                </a:solidFill>
                <a:latin typeface="Arial Black"/>
                <a:ea typeface="Arial Black"/>
                <a:cs typeface="Arial Black"/>
              </a:rPr>
              <a:t>REJECT</a:t>
            </a:r>
          </a:p>
        </p:txBody>
      </p:sp>
      <p:sp>
        <p:nvSpPr>
          <p:cNvPr id="6" name="ESCALATE">
            <a:extLst xmlns:a="http://schemas.openxmlformats.org/drawingml/2006/main">
              <a:ext uri="{FF2B5EF4-FFF2-40B4-BE49-F238E27FC236}">
                <a16:creationId xmlns:a16="http://schemas.microsoft.com/office/drawing/2014/main" id="{1F2BFB21-7CBF-4668-AAB6-2D4070B7E003}"/>
              </a:ext>
            </a:extLst>
          </p:cNvPr>
          <p:cNvSpPr>
            <a:spLocks xmlns:a="http://schemas.openxmlformats.org/drawingml/2006/main" noGrp="1"/>
          </p:cNvSpPr>
          <p:nvPr/>
        </p:nvSpPr>
        <p:spPr>
          <a:xfrm xmlns:a="http://schemas.openxmlformats.org/drawingml/2006/main">
            <a:off x="628650" y="4886325"/>
            <a:ext cx="571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2EFE7"/>
                </a:solidFill>
                <a:latin typeface="Arial Black"/>
                <a:ea typeface="Arial Black"/>
                <a:cs typeface="Arial Black"/>
              </a:defRPr>
            </a:defPPr>
          </a:lstStyle>
          <a:p xmlns:a="http://schemas.openxmlformats.org/drawingml/2006/main">
            <a:pPr>
              <a:defRPr sz="3900" b="1">
                <a:solidFill>
                  <a:srgbClr val="F2EFE7"/>
                </a:solidFill>
                <a:latin typeface="Arial Black"/>
                <a:ea typeface="Arial Black"/>
                <a:cs typeface="Arial Black"/>
              </a:defRPr>
            </a:pPr>
            <a:r>
              <a:rPr sz="3900" b="1">
                <a:solidFill>
                  <a:srgbClr val="F2EFE7"/>
                </a:solidFill>
                <a:latin typeface="Arial Black"/>
                <a:ea typeface="Arial Black"/>
                <a:cs typeface="Arial Black"/>
              </a:rPr>
              <a:t>ESCALATE</a:t>
            </a:r>
          </a:p>
        </p:txBody>
      </p:sp>
      <p:sp>
        <p:nvSpPr>
          <p:cNvPr id="7" name="One control to keep&#10;or change.">
            <a:extLst xmlns:a="http://schemas.openxmlformats.org/drawingml/2006/main">
              <a:ext uri="{FF2B5EF4-FFF2-40B4-BE49-F238E27FC236}">
                <a16:creationId xmlns:a16="http://schemas.microsoft.com/office/drawing/2014/main" id="{36B07DEE-1726-4BA8-86B5-9B124706942F}"/>
              </a:ext>
            </a:extLst>
          </p:cNvPr>
          <p:cNvSpPr>
            <a:spLocks xmlns:a="http://schemas.openxmlformats.org/drawingml/2006/main" noGrp="1"/>
          </p:cNvSpPr>
          <p:nvPr/>
        </p:nvSpPr>
        <p:spPr>
          <a:xfrm xmlns:a="http://schemas.openxmlformats.org/drawingml/2006/main">
            <a:off x="7553325" y="2686050"/>
            <a:ext cx="381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2EFE7"/>
                </a:solidFill>
                <a:latin typeface="Arial"/>
                <a:ea typeface="Arial"/>
                <a:cs typeface="Arial"/>
              </a:defRPr>
            </a:defPPr>
          </a:lstStyle>
          <a:p xmlns:a="http://schemas.openxmlformats.org/drawingml/2006/main">
            <a:pPr>
              <a:defRPr sz="2550" b="1">
                <a:solidFill>
                  <a:srgbClr val="F2EFE7"/>
                </a:solidFill>
                <a:latin typeface="Arial"/>
                <a:ea typeface="Arial"/>
                <a:cs typeface="Arial"/>
              </a:defRPr>
            </a:pPr>
            <a:r>
              <a:rPr sz="2550" b="1">
                <a:solidFill>
                  <a:srgbClr val="F2EFE7"/>
                </a:solidFill>
                <a:latin typeface="Arial"/>
                <a:ea typeface="Arial"/>
                <a:cs typeface="Arial"/>
              </a:rPr>
              <a:t>One control to keep</a:t>
            </a:r>
          </a:p>
          <a:p xmlns:a="http://schemas.openxmlformats.org/drawingml/2006/main">
            <a:pPr>
              <a:defRPr sz="2550" b="1">
                <a:solidFill>
                  <a:srgbClr val="F2EFE7"/>
                </a:solidFill>
                <a:latin typeface="Arial"/>
                <a:ea typeface="Arial"/>
                <a:cs typeface="Arial"/>
              </a:defRPr>
            </a:pPr>
            <a:r>
              <a:rPr sz="2550" b="1">
                <a:solidFill>
                  <a:srgbClr val="F2EFE7"/>
                </a:solidFill>
                <a:latin typeface="Arial"/>
                <a:ea typeface="Arial"/>
                <a:cs typeface="Arial"/>
              </a:rPr>
              <a:t>or change.</a:t>
            </a:r>
          </a:p>
        </p:txBody>
      </p:sp>
      <p:sp>
        <p:nvSpPr>
          <p:cNvPr id="8" name="One missing test&#10;that could change&#10;your decision">
            <a:extLst xmlns:a="http://schemas.openxmlformats.org/drawingml/2006/main">
              <a:ext uri="{FF2B5EF4-FFF2-40B4-BE49-F238E27FC236}">
                <a16:creationId xmlns:a16="http://schemas.microsoft.com/office/drawing/2014/main" id="{69725D0E-1E28-4671-B384-0146068BD32C}"/>
              </a:ext>
            </a:extLst>
          </p:cNvPr>
          <p:cNvSpPr>
            <a:spLocks xmlns:a="http://schemas.openxmlformats.org/drawingml/2006/main" noGrp="1"/>
          </p:cNvSpPr>
          <p:nvPr/>
        </p:nvSpPr>
        <p:spPr>
          <a:xfrm xmlns:a="http://schemas.openxmlformats.org/drawingml/2006/main">
            <a:off x="7553325" y="4295775"/>
            <a:ext cx="3810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2EFE7"/>
                </a:solidFill>
                <a:latin typeface="Arial"/>
                <a:ea typeface="Arial"/>
                <a:cs typeface="Arial"/>
              </a:defRPr>
            </a:defPPr>
          </a:lstStyle>
          <a:p xmlns:a="http://schemas.openxmlformats.org/drawingml/2006/main">
            <a:pPr>
              <a:defRPr sz="2475" b="0">
                <a:solidFill>
                  <a:srgbClr val="F2EFE7"/>
                </a:solidFill>
                <a:latin typeface="Arial"/>
                <a:ea typeface="Arial"/>
                <a:cs typeface="Arial"/>
              </a:defRPr>
            </a:pPr>
            <a:r>
              <a:rPr sz="2475" b="0">
                <a:solidFill>
                  <a:srgbClr val="F2EFE7"/>
                </a:solidFill>
                <a:latin typeface="Arial"/>
                <a:ea typeface="Arial"/>
                <a:cs typeface="Arial"/>
              </a:rPr>
              <a:t>One missing test</a:t>
            </a:r>
          </a:p>
          <a:p xmlns:a="http://schemas.openxmlformats.org/drawingml/2006/main">
            <a:pPr>
              <a:defRPr sz="2475" b="0">
                <a:solidFill>
                  <a:srgbClr val="F2EFE7"/>
                </a:solidFill>
                <a:latin typeface="Arial"/>
                <a:ea typeface="Arial"/>
                <a:cs typeface="Arial"/>
              </a:defRPr>
            </a:pPr>
            <a:r>
              <a:rPr sz="2475" b="0">
                <a:solidFill>
                  <a:srgbClr val="F2EFE7"/>
                </a:solidFill>
                <a:latin typeface="Arial"/>
                <a:ea typeface="Arial"/>
                <a:cs typeface="Arial"/>
              </a:rPr>
              <a:t>that could change</a:t>
            </a:r>
          </a:p>
          <a:p xmlns:a="http://schemas.openxmlformats.org/drawingml/2006/main">
            <a:pPr>
              <a:defRPr sz="2475" b="0">
                <a:solidFill>
                  <a:srgbClr val="F2EFE7"/>
                </a:solidFill>
                <a:latin typeface="Arial"/>
                <a:ea typeface="Arial"/>
                <a:cs typeface="Arial"/>
              </a:defRPr>
            </a:pPr>
            <a:r>
              <a:rPr sz="2475" b="0">
                <a:solidFill>
                  <a:srgbClr val="F2EFE7"/>
                </a:solidFill>
                <a:latin typeface="Arial"/>
                <a:ea typeface="Arial"/>
                <a:cs typeface="Arial"/>
              </a:rPr>
              <a:t>your decision.</a:t>
            </a:r>
          </a:p>
        </p:txBody>
      </p:sp>
      <p:sp>
        <p:nvSpPr>
          <p:cNvPr id="9" name="ISC2 SECURITY CONGRESS 2026 / SC2632">
            <a:extLst xmlns:a="http://schemas.openxmlformats.org/drawingml/2006/main">
              <a:ext uri="{FF2B5EF4-FFF2-40B4-BE49-F238E27FC236}">
                <a16:creationId xmlns:a16="http://schemas.microsoft.com/office/drawing/2014/main" id="{C8DFB696-C683-46CD-9AC4-DDDC3635C74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10" name="14">
            <a:extLst xmlns:a="http://schemas.openxmlformats.org/drawingml/2006/main">
              <a:ext uri="{FF2B5EF4-FFF2-40B4-BE49-F238E27FC236}">
                <a16:creationId xmlns:a16="http://schemas.microsoft.com/office/drawing/2014/main" id="{CB998ADD-8051-4E31-94F8-D240B7E60B4F}"/>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14</a:t>
            </a:r>
          </a:p>
        </p:txBody>
      </p:sp>
    </p:spTree>
    <p:extLst>
      <p:ext uri="{BB962C8B-B14F-4D97-AF65-F5344CB8AC3E}">
        <p14:creationId xmlns:p14="http://schemas.microsoft.com/office/powerpoint/2010/main" val="1265336429"/>
      </p:ext>
    </p:extLst>
  </p:cSld>
</p:sld>
</file>

<file path=ppt/slides/slide15.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ROUND 02 / EXCEPTION REQUEST / FICTIONAL INJECT">
            <a:extLst xmlns:a="http://schemas.openxmlformats.org/drawingml/2006/main">
              <a:ext uri="{FF2B5EF4-FFF2-40B4-BE49-F238E27FC236}">
                <a16:creationId xmlns:a16="http://schemas.microsoft.com/office/drawing/2014/main" id="{9825BC7F-DBDB-41B7-B0F4-88B6A99FAC8C}"/>
              </a:ext>
            </a:extLst>
          </p:cNvPr>
          <p:cNvSpPr>
            <a:spLocks xmlns:a="http://schemas.openxmlformats.org/drawingml/2006/main" noGrp="1"/>
          </p:cNvSpPr>
          <p:nvPr/>
        </p:nvSpPr>
        <p:spPr>
          <a:xfrm xmlns:a="http://schemas.openxmlformats.org/drawingml/2006/main">
            <a:off x="609600" y="4762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ROUND 02 / EXCEPTION REQUEST / FICTIONAL INJECT</a:t>
            </a:r>
          </a:p>
        </p:txBody>
      </p:sp>
      <p:sp>
        <p:nvSpPr>
          <p:cNvPr id="2" name="A temporary&#10;access request">
            <a:extLst xmlns:a="http://schemas.openxmlformats.org/drawingml/2006/main">
              <a:ext uri="{FF2B5EF4-FFF2-40B4-BE49-F238E27FC236}">
                <a16:creationId xmlns:a16="http://schemas.microsoft.com/office/drawing/2014/main" id="{8F9CC59F-3A48-45A6-98A4-6CD1C5C8A6FE}"/>
              </a:ext>
            </a:extLst>
          </p:cNvPr>
          <p:cNvSpPr>
            <a:spLocks xmlns:a="http://schemas.openxmlformats.org/drawingml/2006/main" noGrp="1"/>
          </p:cNvSpPr>
          <p:nvPr/>
        </p:nvSpPr>
        <p:spPr>
          <a:xfrm xmlns:a="http://schemas.openxmlformats.org/drawingml/2006/main">
            <a:off x="609600" y="1266825"/>
            <a:ext cx="10668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0B1822"/>
                </a:solidFill>
                <a:latin typeface="Arial Black"/>
                <a:ea typeface="Arial Black"/>
                <a:cs typeface="Arial Black"/>
              </a:defRPr>
            </a:defPPr>
          </a:lstStyle>
          <a:p xmlns:a="http://schemas.openxmlformats.org/drawingml/2006/main">
            <a:pPr>
              <a:defRPr sz="4875" b="1">
                <a:solidFill>
                  <a:srgbClr val="0B1822"/>
                </a:solidFill>
                <a:latin typeface="Arial Black"/>
                <a:ea typeface="Arial Black"/>
                <a:cs typeface="Arial Black"/>
              </a:defRPr>
            </a:pPr>
            <a:r>
              <a:rPr sz="4875" b="1">
                <a:solidFill>
                  <a:srgbClr val="0B1822"/>
                </a:solidFill>
                <a:latin typeface="Arial Black"/>
                <a:ea typeface="Arial Black"/>
                <a:cs typeface="Arial Black"/>
              </a:rPr>
              <a:t>A temporary</a:t>
            </a:r>
          </a:p>
          <a:p xmlns:a="http://schemas.openxmlformats.org/drawingml/2006/main">
            <a:pPr>
              <a:defRPr sz="4875" b="1">
                <a:solidFill>
                  <a:srgbClr val="0B1822"/>
                </a:solidFill>
                <a:latin typeface="Arial Black"/>
                <a:ea typeface="Arial Black"/>
                <a:cs typeface="Arial Black"/>
              </a:defRPr>
            </a:pPr>
            <a:r>
              <a:rPr sz="4875" b="1">
                <a:solidFill>
                  <a:srgbClr val="0B1822"/>
                </a:solidFill>
                <a:latin typeface="Arial Black"/>
                <a:ea typeface="Arial Black"/>
                <a:cs typeface="Arial Black"/>
              </a:rPr>
              <a:t>access request</a:t>
            </a:r>
          </a:p>
        </p:txBody>
      </p:sp>
      <p:sp>
        <p:nvSpPr>
          <p:cNvPr id="3" name="Read your case’s request. Which operation must c">
            <a:extLst xmlns:a="http://schemas.openxmlformats.org/drawingml/2006/main">
              <a:ext uri="{FF2B5EF4-FFF2-40B4-BE49-F238E27FC236}">
                <a16:creationId xmlns:a16="http://schemas.microsoft.com/office/drawing/2014/main" id="{EE995F76-0A7D-4EE1-AF17-A9B10B1D8DE6}"/>
              </a:ext>
            </a:extLst>
          </p:cNvPr>
          <p:cNvSpPr>
            <a:spLocks xmlns:a="http://schemas.openxmlformats.org/drawingml/2006/main" noGrp="1"/>
          </p:cNvSpPr>
          <p:nvPr/>
        </p:nvSpPr>
        <p:spPr>
          <a:xfrm xmlns:a="http://schemas.openxmlformats.org/drawingml/2006/main">
            <a:off x="628650" y="3524250"/>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B1822"/>
                </a:solidFill>
                <a:latin typeface="Arial"/>
                <a:ea typeface="Arial"/>
                <a:cs typeface="Arial"/>
              </a:defRPr>
            </a:defPPr>
          </a:lstStyle>
          <a:p xmlns:a="http://schemas.openxmlformats.org/drawingml/2006/main">
            <a:pPr>
              <a:defRPr sz="2325" b="0">
                <a:solidFill>
                  <a:srgbClr val="0B1822"/>
                </a:solidFill>
                <a:latin typeface="Arial"/>
                <a:ea typeface="Arial"/>
                <a:cs typeface="Arial"/>
              </a:defRPr>
            </a:pPr>
            <a:r>
              <a:rPr sz="2325" b="0">
                <a:solidFill>
                  <a:srgbClr val="0B1822"/>
                </a:solidFill>
                <a:latin typeface="Arial"/>
                <a:ea typeface="Arial"/>
                <a:cs typeface="Arial"/>
              </a:rPr>
              <a:t>Read your case’s request. Which operation must continue?</a:t>
            </a:r>
          </a:p>
          <a:p xmlns:a="http://schemas.openxmlformats.org/drawingml/2006/main">
            <a:pPr>
              <a:defRPr sz="2325" b="0">
                <a:solidFill>
                  <a:srgbClr val="0B1822"/>
                </a:solidFill>
                <a:latin typeface="Arial"/>
                <a:ea typeface="Arial"/>
                <a:cs typeface="Arial"/>
              </a:defRPr>
            </a:pPr>
            <a:r>
              <a:rPr sz="2325" b="0">
                <a:solidFill>
                  <a:srgbClr val="0B1822"/>
                </a:solidFill>
                <a:latin typeface="Arial"/>
                <a:ea typeface="Arial"/>
                <a:cs typeface="Arial"/>
              </a:rPr>
              <a:t>What authority would you grant while approval is checked?</a:t>
            </a:r>
          </a:p>
        </p:txBody>
      </p:sp>
      <p:sp>
        <p:nvSpPr>
          <p:cNvPr id="4" name="Grant / narrow / hold / refuse.&#10;Record condition">
            <a:extLst xmlns:a="http://schemas.openxmlformats.org/drawingml/2006/main">
              <a:ext uri="{FF2B5EF4-FFF2-40B4-BE49-F238E27FC236}">
                <a16:creationId xmlns:a16="http://schemas.microsoft.com/office/drawing/2014/main" id="{C215D4BC-5FEE-4D42-A613-276E4D1FFEBE}"/>
              </a:ext>
            </a:extLst>
          </p:cNvPr>
          <p:cNvSpPr>
            <a:spLocks xmlns:a="http://schemas.openxmlformats.org/drawingml/2006/main" noGrp="1"/>
          </p:cNvSpPr>
          <p:nvPr/>
        </p:nvSpPr>
        <p:spPr>
          <a:xfrm xmlns:a="http://schemas.openxmlformats.org/drawingml/2006/main">
            <a:off x="628650" y="5038725"/>
            <a:ext cx="10715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79"/>
                </a:solidFill>
                <a:latin typeface="Arial"/>
                <a:ea typeface="Arial"/>
                <a:cs typeface="Arial"/>
              </a:defRPr>
            </a:defPPr>
          </a:lstStyle>
          <a:p xmlns:a="http://schemas.openxmlformats.org/drawingml/2006/main">
            <a:pPr>
              <a:defRPr sz="2025" b="1">
                <a:solidFill>
                  <a:srgbClr val="087E79"/>
                </a:solidFill>
                <a:latin typeface="Arial"/>
                <a:ea typeface="Arial"/>
                <a:cs typeface="Arial"/>
              </a:defRPr>
            </a:pPr>
            <a:r>
              <a:rPr sz="2025" b="1">
                <a:solidFill>
                  <a:srgbClr val="087E79"/>
                </a:solidFill>
                <a:latin typeface="Arial"/>
                <a:ea typeface="Arial"/>
                <a:cs typeface="Arial"/>
              </a:rPr>
              <a:t>Grant / narrow / hold / refuse.</a:t>
            </a:r>
          </a:p>
          <a:p xmlns:a="http://schemas.openxmlformats.org/drawingml/2006/main">
            <a:pPr>
              <a:defRPr sz="2025" b="1">
                <a:solidFill>
                  <a:srgbClr val="087E79"/>
                </a:solidFill>
                <a:latin typeface="Arial"/>
                <a:ea typeface="Arial"/>
                <a:cs typeface="Arial"/>
              </a:defRPr>
            </a:pPr>
            <a:r>
              <a:rPr sz="2025" b="1">
                <a:solidFill>
                  <a:srgbClr val="087E79"/>
                </a:solidFill>
                <a:latin typeface="Arial"/>
                <a:ea typeface="Arial"/>
                <a:cs typeface="Arial"/>
              </a:rPr>
              <a:t>Record conditions, remaining exposure and one test that could change your answer.</a:t>
            </a:r>
          </a:p>
        </p:txBody>
      </p:sp>
      <p:sp>
        <p:nvSpPr>
          <p:cNvPr id="5" name="ISC2 SECURITY CONGRESS 2026 / SC2632">
            <a:extLst xmlns:a="http://schemas.openxmlformats.org/drawingml/2006/main">
              <a:ext uri="{FF2B5EF4-FFF2-40B4-BE49-F238E27FC236}">
                <a16:creationId xmlns:a16="http://schemas.microsoft.com/office/drawing/2014/main" id="{B1C03033-A783-4AC7-B0D1-3D05FDAF87C5}"/>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15">
            <a:extLst xmlns:a="http://schemas.openxmlformats.org/drawingml/2006/main">
              <a:ext uri="{FF2B5EF4-FFF2-40B4-BE49-F238E27FC236}">
                <a16:creationId xmlns:a16="http://schemas.microsoft.com/office/drawing/2014/main" id="{88850DE8-E662-46BD-B194-12B7858CFDCA}"/>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15</a:t>
            </a:r>
          </a:p>
        </p:txBody>
      </p:sp>
    </p:spTree>
    <p:extLst>
      <p:ext uri="{BB962C8B-B14F-4D97-AF65-F5344CB8AC3E}">
        <p14:creationId xmlns:p14="http://schemas.microsoft.com/office/powerpoint/2010/main" val="1141161079"/>
      </p:ext>
    </p:extLst>
  </p:cSld>
</p:sld>
</file>

<file path=ppt/slides/slide16.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22–26 MINUTES / TEAM TASK">
            <a:extLst xmlns:a="http://schemas.openxmlformats.org/drawingml/2006/main">
              <a:ext uri="{FF2B5EF4-FFF2-40B4-BE49-F238E27FC236}">
                <a16:creationId xmlns:a16="http://schemas.microsoft.com/office/drawing/2014/main" id="{A4A154FA-0C9C-47D6-867B-F5F7A5C9AED3}"/>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22–26 MINUTES / TEAM TASK</a:t>
            </a:r>
          </a:p>
        </p:txBody>
      </p:sp>
      <p:sp>
        <p:nvSpPr>
          <p:cNvPr id="2" name="Audit. Warn. Deny.">
            <a:extLst xmlns:a="http://schemas.openxmlformats.org/drawingml/2006/main">
              <a:ext uri="{FF2B5EF4-FFF2-40B4-BE49-F238E27FC236}">
                <a16:creationId xmlns:a16="http://schemas.microsoft.com/office/drawing/2014/main" id="{94D78CA8-9667-4DA4-87D9-45D28AD0C58B}"/>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Audit. Warn. Deny.</a:t>
            </a:r>
          </a:p>
        </p:txBody>
      </p:sp>
      <p:graphicFrame>
        <p:nvGraphicFramePr>
          <p:cNvPr id="3" name="">
            <a:extLst xmlns:a="http://schemas.openxmlformats.org/drawingml/2006/main">
              <a:ext uri="{FF2B5EF4-FFF2-40B4-BE49-F238E27FC236}">
                <a16:creationId xmlns:a16="http://schemas.microsoft.com/office/drawing/2014/main" id="{F075CD71-C458-4BA2-A657-317909857CBE}"/>
              </a:ext>
            </a:extLst>
          </p:cNvPr>
          <p:cNvGraphicFramePr/>
          <p:nvPr/>
        </p:nvGraphicFramePr>
        <p:xfrm>
          <a:off xmlns:a="http://schemas.openxmlformats.org/drawingml/2006/main" x="609600" y="2305050"/>
          <a:ext xmlns:a="http://schemas.openxmlformats.org/drawingml/2006/main" cx="10953750" cy="2857500"/>
        </p:xfrm>
        <a:graphic xmlns:a="http://schemas.openxmlformats.org/drawingml/2006/main">
          <a:graphicData uri="http://schemas.openxmlformats.org/drawingml/2006/table">
            <a:tbl>
              <a:tblPr/>
              <a:tblGrid>
                <a:gridCol w="1524000"/>
                <a:gridCol w="3905250"/>
                <a:gridCol w="5524500"/>
              </a:tblGrid>
              <a:tr h="714375">
                <a:tc>
                  <a:txBody>
                    <a:bodyPr/>
                    <a:lstStyle/>
                    <a:p>
                      <a:r>
                        <a:rPr sz="1875" b="1">
                          <a:solidFill>
                            <a:srgbClr val="F2EFE7"/>
                          </a:solidFill>
                          <a:latin typeface="Arial"/>
                          <a:ea typeface="Arial"/>
                          <a:cs typeface="Arial"/>
                        </a:rPr>
                        <a:t>Mode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Admission behavior</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Review question</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714375">
                <a:tc>
                  <a:txBody>
                    <a:bodyPr/>
                    <a:lstStyle/>
                    <a:p>
                      <a:r>
                        <a:rPr sz="1875" b="1">
                          <a:solidFill>
                            <a:srgbClr val="087E79"/>
                          </a:solidFill>
                          <a:latin typeface="Arial"/>
                          <a:ea typeface="Arial"/>
                          <a:cs typeface="Arial"/>
                        </a:rPr>
                        <a:t>Audit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Allow and record</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Is exposure acceptable while we observe?</a:t>
                      </a:r>
                    </a:p>
                  </a:txBody>
                  <a:tcPr marL="91440" marR="91440" marT="45720" marB="45720">
                    <a:lnR w="19050">
                      <a:solidFill>
                        <a:srgbClr val="F2EFE7"/>
                      </a:solidFill>
                      <a:prstDash val="solid"/>
                    </a:lnR>
                    <a:lnB w="19050">
                      <a:solidFill>
                        <a:srgbClr val="F2EFE7"/>
                      </a:solidFill>
                      <a:prstDash val="solid"/>
                    </a:lnB>
                    <a:solidFill>
                      <a:srgbClr val="F2EFE7"/>
                    </a:solidFill>
                  </a:tcPr>
                </a:tc>
              </a:tr>
              <a:tr h="714375">
                <a:tc>
                  <a:txBody>
                    <a:bodyPr/>
                    <a:lstStyle/>
                    <a:p>
                      <a:r>
                        <a:rPr sz="1875" b="1">
                          <a:solidFill>
                            <a:srgbClr val="087E79"/>
                          </a:solidFill>
                          <a:latin typeface="Arial"/>
                          <a:ea typeface="Arial"/>
                          <a:cs typeface="Arial"/>
                        </a:rPr>
                        <a:t>Warn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Allow and warn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Who will act on the warning?</a:t>
                      </a:r>
                    </a:p>
                  </a:txBody>
                  <a:tcPr marL="91440" marR="91440" marT="45720" marB="45720">
                    <a:lnR w="19050">
                      <a:solidFill>
                        <a:srgbClr val="F2EFE7"/>
                      </a:solidFill>
                      <a:prstDash val="solid"/>
                    </a:lnR>
                    <a:lnB w="19050">
                      <a:solidFill>
                        <a:srgbClr val="F2EFE7"/>
                      </a:solidFill>
                      <a:prstDash val="solid"/>
                    </a:lnB>
                    <a:solidFill>
                      <a:srgbClr val="F2EFE7"/>
                    </a:solidFill>
                  </a:tcPr>
                </a:tc>
              </a:tr>
              <a:tr h="714375">
                <a:tc>
                  <a:txBody>
                    <a:bodyPr/>
                    <a:lstStyle/>
                    <a:p>
                      <a:r>
                        <a:rPr sz="1875" b="1">
                          <a:solidFill>
                            <a:srgbClr val="087E79"/>
                          </a:solidFill>
                          <a:latin typeface="Arial"/>
                          <a:ea typeface="Arial"/>
                          <a:cs typeface="Arial"/>
                        </a:rPr>
                        <a:t>Deny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Refuse the change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What legitimate workload could break?</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Choose a mode per control and write promotion cr">
            <a:extLst xmlns:a="http://schemas.openxmlformats.org/drawingml/2006/main">
              <a:ext uri="{FF2B5EF4-FFF2-40B4-BE49-F238E27FC236}">
                <a16:creationId xmlns:a16="http://schemas.microsoft.com/office/drawing/2014/main" id="{F3987AA0-B8C1-4FDD-84D1-A620CB2E7B07}"/>
              </a:ext>
            </a:extLst>
          </p:cNvPr>
          <p:cNvSpPr>
            <a:spLocks xmlns:a="http://schemas.openxmlformats.org/drawingml/2006/main" noGrp="1"/>
          </p:cNvSpPr>
          <p:nvPr/>
        </p:nvSpPr>
        <p:spPr>
          <a:xfrm xmlns:a="http://schemas.openxmlformats.org/drawingml/2006/main">
            <a:off x="609600" y="5572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Choose a mode per control and write promotion criteria.</a:t>
            </a:r>
          </a:p>
        </p:txBody>
      </p:sp>
      <p:sp>
        <p:nvSpPr>
          <p:cNvPr id="5" name="ISC2 SECURITY CONGRESS 2026 / SC2632">
            <a:extLst xmlns:a="http://schemas.openxmlformats.org/drawingml/2006/main">
              <a:ext uri="{FF2B5EF4-FFF2-40B4-BE49-F238E27FC236}">
                <a16:creationId xmlns:a16="http://schemas.microsoft.com/office/drawing/2014/main" id="{916E9D15-990B-459C-953D-79C0AA53F2F2}"/>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16">
            <a:extLst xmlns:a="http://schemas.openxmlformats.org/drawingml/2006/main">
              <a:ext uri="{FF2B5EF4-FFF2-40B4-BE49-F238E27FC236}">
                <a16:creationId xmlns:a16="http://schemas.microsoft.com/office/drawing/2014/main" id="{C6AB4BA9-59B9-4556-8B80-4EFEACE5431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16</a:t>
            </a:r>
          </a:p>
        </p:txBody>
      </p:sp>
    </p:spTree>
    <p:extLst>
      <p:ext uri="{BB962C8B-B14F-4D97-AF65-F5344CB8AC3E}">
        <p14:creationId xmlns:p14="http://schemas.microsoft.com/office/powerpoint/2010/main" val="112811971"/>
      </p:ext>
    </p:extLst>
  </p:cSld>
</p:sld>
</file>

<file path=ppt/slides/slide17.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A94BAC0-F188-40D0-9A4D-345DCAF18CFD}"/>
              </a:ext>
            </a:extLst>
          </p:cNvPr>
          <p:cNvPicPr>
            <a:picLocks xmlns:a="http://schemas.openxmlformats.org/drawingml/2006/main" noChangeAspect="1"/>
          </p:cNvPicPr>
          <p:nvPr/>
        </p:nvPicPr>
        <p:blipFill>
          <a:blip xmlns:r="http://schemas.openxmlformats.org/officeDocument/2006/relationships" xmlns:a="http://schemas.openxmlformats.org/drawingml/2006/main" r:embed="R566f24f7e8d548c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7 MINUTES / JUSTIFY THE ACTION ORDER">
            <a:extLst xmlns:a="http://schemas.openxmlformats.org/drawingml/2006/main">
              <a:ext uri="{FF2B5EF4-FFF2-40B4-BE49-F238E27FC236}">
                <a16:creationId xmlns:a16="http://schemas.microsoft.com/office/drawing/2014/main" id="{DD417946-DE79-4BD2-BB50-7F22D66D0934}"/>
              </a:ext>
            </a:extLst>
          </p:cNvPr>
          <p:cNvSpPr>
            <a:spLocks xmlns:a="http://schemas.openxmlformats.org/drawingml/2006/main" noGrp="1"/>
          </p:cNvSpPr>
          <p:nvPr/>
        </p:nvSpPr>
        <p:spPr>
          <a:xfrm xmlns:a="http://schemas.openxmlformats.org/drawingml/2006/main">
            <a:off x="609600" y="495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5D8BD"/>
                </a:solidFill>
                <a:latin typeface="Arial"/>
                <a:ea typeface="Arial"/>
                <a:cs typeface="Arial"/>
              </a:defRPr>
            </a:defPPr>
          </a:lstStyle>
          <a:p xmlns:a="http://schemas.openxmlformats.org/drawingml/2006/main">
            <a:pPr>
              <a:defRPr sz="1350" b="1">
                <a:solidFill>
                  <a:srgbClr val="25D8BD"/>
                </a:solidFill>
                <a:latin typeface="Arial"/>
                <a:ea typeface="Arial"/>
                <a:cs typeface="Arial"/>
              </a:defRPr>
            </a:pPr>
            <a:r>
              <a:rPr sz="1350" b="1">
                <a:solidFill>
                  <a:srgbClr val="25D8BD"/>
                </a:solidFill>
                <a:latin typeface="Arial"/>
                <a:ea typeface="Arial"/>
                <a:cs typeface="Arial"/>
              </a:rPr>
              <a:t>7 MINUTES / JUSTIFY THE ACTION ORDER</a:t>
            </a:r>
          </a:p>
        </p:txBody>
      </p:sp>
      <p:sp>
        <p:nvSpPr>
          <p:cNvPr id="3" name="03">
            <a:extLst xmlns:a="http://schemas.openxmlformats.org/drawingml/2006/main">
              <a:ext uri="{FF2B5EF4-FFF2-40B4-BE49-F238E27FC236}">
                <a16:creationId xmlns:a16="http://schemas.microsoft.com/office/drawing/2014/main" id="{284B9008-0150-4F36-BDA3-7E08EDC9DB22}"/>
              </a:ext>
            </a:extLst>
          </p:cNvPr>
          <p:cNvSpPr>
            <a:spLocks xmlns:a="http://schemas.openxmlformats.org/drawingml/2006/main" noGrp="1"/>
          </p:cNvSpPr>
          <p:nvPr/>
        </p:nvSpPr>
        <p:spPr>
          <a:xfrm xmlns:a="http://schemas.openxmlformats.org/drawingml/2006/main">
            <a:off x="609600" y="9715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1">
                <a:solidFill>
                  <a:srgbClr val="FF795B"/>
                </a:solidFill>
                <a:latin typeface="Arial Black"/>
                <a:ea typeface="Arial Black"/>
                <a:cs typeface="Arial Black"/>
              </a:defRPr>
            </a:defPPr>
          </a:lstStyle>
          <a:p xmlns:a="http://schemas.openxmlformats.org/drawingml/2006/main">
            <a:pPr>
              <a:defRPr sz="9450" b="1">
                <a:solidFill>
                  <a:srgbClr val="FF795B"/>
                </a:solidFill>
                <a:latin typeface="Arial Black"/>
                <a:ea typeface="Arial Black"/>
                <a:cs typeface="Arial Black"/>
              </a:defRPr>
            </a:pPr>
            <a:r>
              <a:rPr sz="9450" b="1">
                <a:solidFill>
                  <a:srgbClr val="FF795B"/>
                </a:solidFill>
                <a:latin typeface="Arial Black"/>
                <a:ea typeface="Arial Black"/>
                <a:cs typeface="Arial Black"/>
              </a:rPr>
              <a:t>03</a:t>
            </a:r>
          </a:p>
        </p:txBody>
      </p:sp>
      <p:sp>
        <p:nvSpPr>
          <p:cNvPr id="4" name="Plan scoped&#10;containment.">
            <a:extLst xmlns:a="http://schemas.openxmlformats.org/drawingml/2006/main">
              <a:ext uri="{FF2B5EF4-FFF2-40B4-BE49-F238E27FC236}">
                <a16:creationId xmlns:a16="http://schemas.microsoft.com/office/drawing/2014/main" id="{935FDE8F-1AD5-4385-90D2-D418FF8F1FF0}"/>
              </a:ext>
            </a:extLst>
          </p:cNvPr>
          <p:cNvSpPr>
            <a:spLocks xmlns:a="http://schemas.openxmlformats.org/drawingml/2006/main" noGrp="1"/>
          </p:cNvSpPr>
          <p:nvPr/>
        </p:nvSpPr>
        <p:spPr>
          <a:xfrm xmlns:a="http://schemas.openxmlformats.org/drawingml/2006/main">
            <a:off x="609600" y="2762250"/>
            <a:ext cx="8286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Plan scoped</a:t>
            </a:r>
          </a:p>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containment.</a:t>
            </a:r>
          </a:p>
        </p:txBody>
      </p:sp>
      <p:sp>
        <p:nvSpPr>
          <p:cNvPr id="5" name="Open the sealed update on page 7.&#10;Number actions">
            <a:extLst xmlns:a="http://schemas.openxmlformats.org/drawingml/2006/main">
              <a:ext uri="{FF2B5EF4-FFF2-40B4-BE49-F238E27FC236}">
                <a16:creationId xmlns:a16="http://schemas.microsoft.com/office/drawing/2014/main" id="{4D56F80C-CFDA-4869-A22C-593FFD85703C}"/>
              </a:ext>
            </a:extLst>
          </p:cNvPr>
          <p:cNvSpPr>
            <a:spLocks xmlns:a="http://schemas.openxmlformats.org/drawingml/2006/main" noGrp="1"/>
          </p:cNvSpPr>
          <p:nvPr/>
        </p:nvSpPr>
        <p:spPr>
          <a:xfrm xmlns:a="http://schemas.openxmlformats.org/drawingml/2006/main">
            <a:off x="628650" y="4829175"/>
            <a:ext cx="638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Open the sealed update on page 7.</a:t>
            </a:r>
          </a:p>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Number actions and state the service floor.</a:t>
            </a:r>
          </a:p>
        </p:txBody>
      </p:sp>
      <p:sp>
        <p:nvSpPr>
          <p:cNvPr id="6" name="ISC2 SECURITY CONGRESS 2026 / SC2632">
            <a:extLst xmlns:a="http://schemas.openxmlformats.org/drawingml/2006/main">
              <a:ext uri="{FF2B5EF4-FFF2-40B4-BE49-F238E27FC236}">
                <a16:creationId xmlns:a16="http://schemas.microsoft.com/office/drawing/2014/main" id="{11FD83F8-4697-4F8D-8C1D-829B13A335DE}"/>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7" name="17">
            <a:extLst xmlns:a="http://schemas.openxmlformats.org/drawingml/2006/main">
              <a:ext uri="{FF2B5EF4-FFF2-40B4-BE49-F238E27FC236}">
                <a16:creationId xmlns:a16="http://schemas.microsoft.com/office/drawing/2014/main" id="{86DAED9A-E8E5-42EE-8B43-13ED16153BC0}"/>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17</a:t>
            </a:r>
          </a:p>
        </p:txBody>
      </p:sp>
    </p:spTree>
    <p:extLst>
      <p:ext uri="{BB962C8B-B14F-4D97-AF65-F5344CB8AC3E}">
        <p14:creationId xmlns:p14="http://schemas.microsoft.com/office/powerpoint/2010/main" val="821756790"/>
      </p:ext>
    </p:extLst>
  </p:cSld>
</p:sld>
</file>

<file path=ppt/slides/slide18.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7" name="SECOND INJECT / OPEN THE LATER FINDING">
            <a:extLst xmlns:a="http://schemas.openxmlformats.org/drawingml/2006/main">
              <a:ext uri="{FF2B5EF4-FFF2-40B4-BE49-F238E27FC236}">
                <a16:creationId xmlns:a16="http://schemas.microsoft.com/office/drawing/2014/main" id="{65198D06-E807-43F2-98B3-8F8DDA574DF6}"/>
              </a:ext>
            </a:extLst>
          </p:cNvPr>
          <p:cNvSpPr>
            <a:spLocks xmlns:a="http://schemas.openxmlformats.org/drawingml/2006/main" noGrp="1"/>
          </p:cNvSpPr>
          <p:nvPr/>
        </p:nvSpPr>
        <p:spPr>
          <a:xfrm xmlns:a="http://schemas.openxmlformats.org/drawingml/2006/main">
            <a:off x="609600" y="476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SECOND INJECT / OPEN THE LATER FINDING</a:t>
            </a:r>
          </a:p>
        </p:txBody>
      </p:sp>
      <p:sp>
        <p:nvSpPr>
          <p:cNvPr id="2" name="Reassess with&#10;additional evidence">
            <a:extLst xmlns:a="http://schemas.openxmlformats.org/drawingml/2006/main">
              <a:ext uri="{FF2B5EF4-FFF2-40B4-BE49-F238E27FC236}">
                <a16:creationId xmlns:a16="http://schemas.microsoft.com/office/drawing/2014/main" id="{9F31214D-B6F1-4E51-96AE-35B3A00F1E7F}"/>
              </a:ext>
            </a:extLst>
          </p:cNvPr>
          <p:cNvSpPr>
            <a:spLocks xmlns:a="http://schemas.openxmlformats.org/drawingml/2006/main" noGrp="1"/>
          </p:cNvSpPr>
          <p:nvPr/>
        </p:nvSpPr>
        <p:spPr>
          <a:xfrm xmlns:a="http://schemas.openxmlformats.org/drawingml/2006/main">
            <a:off x="609600" y="1447800"/>
            <a:ext cx="10763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F2EFE7"/>
                </a:solidFill>
                <a:latin typeface="Arial Black"/>
                <a:ea typeface="Arial Black"/>
                <a:cs typeface="Arial Black"/>
              </a:defRPr>
            </a:defPPr>
          </a:lstStyle>
          <a:p xmlns:a="http://schemas.openxmlformats.org/drawingml/2006/main">
            <a:pPr>
              <a:defRPr sz="4875" b="1">
                <a:solidFill>
                  <a:srgbClr val="F2EFE7"/>
                </a:solidFill>
                <a:latin typeface="Arial Black"/>
                <a:ea typeface="Arial Black"/>
                <a:cs typeface="Arial Black"/>
              </a:defRPr>
            </a:pPr>
            <a:r>
              <a:rPr sz="4875" b="1">
                <a:solidFill>
                  <a:srgbClr val="F2EFE7"/>
                </a:solidFill>
                <a:latin typeface="Arial Black"/>
                <a:ea typeface="Arial Black"/>
                <a:cs typeface="Arial Black"/>
              </a:rPr>
              <a:t>Reassess with</a:t>
            </a:r>
          </a:p>
          <a:p xmlns:a="http://schemas.openxmlformats.org/drawingml/2006/main">
            <a:pPr>
              <a:defRPr sz="4875" b="1">
                <a:solidFill>
                  <a:srgbClr val="F2EFE7"/>
                </a:solidFill>
                <a:latin typeface="Arial Black"/>
                <a:ea typeface="Arial Black"/>
                <a:cs typeface="Arial Black"/>
              </a:defRPr>
            </a:pPr>
            <a:r>
              <a:rPr sz="4875" b="1">
                <a:solidFill>
                  <a:srgbClr val="F2EFE7"/>
                </a:solidFill>
                <a:latin typeface="Arial Black"/>
                <a:ea typeface="Arial Black"/>
                <a:cs typeface="Arial Black"/>
              </a:rPr>
              <a:t>additional evidence</a:t>
            </a:r>
          </a:p>
        </p:txBody>
      </p:sp>
      <p:sp>
        <p:nvSpPr>
          <p:cNvPr id="3" name="REVISE THE PLAN / ESCALATE / JUSTIFY NO CHANGE">
            <a:extLst xmlns:a="http://schemas.openxmlformats.org/drawingml/2006/main">
              <a:ext uri="{FF2B5EF4-FFF2-40B4-BE49-F238E27FC236}">
                <a16:creationId xmlns:a16="http://schemas.microsoft.com/office/drawing/2014/main" id="{53B41A44-1F91-4D12-A148-DEA0E289F196}"/>
              </a:ext>
            </a:extLst>
          </p:cNvPr>
          <p:cNvSpPr>
            <a:spLocks xmlns:a="http://schemas.openxmlformats.org/drawingml/2006/main" noGrp="1"/>
          </p:cNvSpPr>
          <p:nvPr/>
        </p:nvSpPr>
        <p:spPr>
          <a:xfrm xmlns:a="http://schemas.openxmlformats.org/drawingml/2006/main">
            <a:off x="628650" y="432435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F795B"/>
                </a:solidFill>
                <a:latin typeface="Arial"/>
                <a:ea typeface="Arial"/>
                <a:cs typeface="Arial"/>
              </a:defRPr>
            </a:defPPr>
          </a:lstStyle>
          <a:p xmlns:a="http://schemas.openxmlformats.org/drawingml/2006/main">
            <a:pPr>
              <a:defRPr sz="2625" b="1">
                <a:solidFill>
                  <a:srgbClr val="FF795B"/>
                </a:solidFill>
                <a:latin typeface="Arial"/>
                <a:ea typeface="Arial"/>
                <a:cs typeface="Arial"/>
              </a:defRPr>
            </a:pPr>
            <a:r>
              <a:rPr sz="2625" b="1">
                <a:solidFill>
                  <a:srgbClr val="FF795B"/>
                </a:solidFill>
                <a:latin typeface="Arial"/>
                <a:ea typeface="Arial"/>
                <a:cs typeface="Arial"/>
              </a:rPr>
              <a:t>REVISE THE PLAN / ESCALATE / JUSTIFY NO CHANGE</a:t>
            </a:r>
          </a:p>
        </p:txBody>
      </p:sp>
      <p:sp>
        <p:nvSpPr>
          <p:cNvPr id="4" name="Record which new evidence changes the scope or a">
            <a:extLst xmlns:a="http://schemas.openxmlformats.org/drawingml/2006/main">
              <a:ext uri="{FF2B5EF4-FFF2-40B4-BE49-F238E27FC236}">
                <a16:creationId xmlns:a16="http://schemas.microsoft.com/office/drawing/2014/main" id="{A81BC9ED-DC5F-4CA1-9601-9485926FA4D0}"/>
              </a:ext>
            </a:extLst>
          </p:cNvPr>
          <p:cNvSpPr>
            <a:spLocks xmlns:a="http://schemas.openxmlformats.org/drawingml/2006/main" noGrp="1"/>
          </p:cNvSpPr>
          <p:nvPr/>
        </p:nvSpPr>
        <p:spPr>
          <a:xfrm xmlns:a="http://schemas.openxmlformats.org/drawingml/2006/main">
            <a:off x="628650" y="53149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Record which new evidence changes the scope or action order.</a:t>
            </a:r>
          </a:p>
        </p:txBody>
      </p:sp>
      <p:sp>
        <p:nvSpPr>
          <p:cNvPr id="5" name="ISC2 SECURITY CONGRESS 2026 / SC2632">
            <a:extLst xmlns:a="http://schemas.openxmlformats.org/drawingml/2006/main">
              <a:ext uri="{FF2B5EF4-FFF2-40B4-BE49-F238E27FC236}">
                <a16:creationId xmlns:a16="http://schemas.microsoft.com/office/drawing/2014/main" id="{19EAB4C9-F4B9-418E-AC9D-1B14BE6E2525}"/>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6" name="18">
            <a:extLst xmlns:a="http://schemas.openxmlformats.org/drawingml/2006/main">
              <a:ext uri="{FF2B5EF4-FFF2-40B4-BE49-F238E27FC236}">
                <a16:creationId xmlns:a16="http://schemas.microsoft.com/office/drawing/2014/main" id="{0C902A1A-FE61-43BD-A785-841F606C84F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18</a:t>
            </a:r>
          </a:p>
        </p:txBody>
      </p:sp>
    </p:spTree>
    <p:extLst>
      <p:ext uri="{BB962C8B-B14F-4D97-AF65-F5344CB8AC3E}">
        <p14:creationId xmlns:p14="http://schemas.microsoft.com/office/powerpoint/2010/main" val="717179961"/>
      </p:ext>
    </p:extLst>
  </p:cSld>
</p:sld>
</file>

<file path=ppt/slides/slide19.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2" name="RECORDED LAB / PREDICT BEFORE THE REVEAL">
            <a:extLst xmlns:a="http://schemas.openxmlformats.org/drawingml/2006/main">
              <a:ext uri="{FF2B5EF4-FFF2-40B4-BE49-F238E27FC236}">
                <a16:creationId xmlns:a16="http://schemas.microsoft.com/office/drawing/2014/main" id="{6D5152B3-8A90-4E33-AC65-960612746B28}"/>
              </a:ext>
            </a:extLst>
          </p:cNvPr>
          <p:cNvSpPr>
            <a:spLocks xmlns:a="http://schemas.openxmlformats.org/drawingml/2006/main" noGrp="1"/>
          </p:cNvSpPr>
          <p:nvPr/>
        </p:nvSpPr>
        <p:spPr>
          <a:xfrm xmlns:a="http://schemas.openxmlformats.org/drawingml/2006/main">
            <a:off x="609600" y="476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RECORDED LAB / PREDICT BEFORE THE REVEAL</a:t>
            </a:r>
          </a:p>
        </p:txBody>
      </p:sp>
      <p:sp>
        <p:nvSpPr>
          <p:cNvPr id="2" name="Validate the&#10;containment assumptions">
            <a:extLst xmlns:a="http://schemas.openxmlformats.org/drawingml/2006/main">
              <a:ext uri="{FF2B5EF4-FFF2-40B4-BE49-F238E27FC236}">
                <a16:creationId xmlns:a16="http://schemas.microsoft.com/office/drawing/2014/main" id="{66C35C96-4427-4114-A742-616EFD740B48}"/>
              </a:ext>
            </a:extLst>
          </p:cNvPr>
          <p:cNvSpPr>
            <a:spLocks xmlns:a="http://schemas.openxmlformats.org/drawingml/2006/main" noGrp="1"/>
          </p:cNvSpPr>
          <p:nvPr/>
        </p:nvSpPr>
        <p:spPr>
          <a:xfrm xmlns:a="http://schemas.openxmlformats.org/drawingml/2006/main">
            <a:off x="609600" y="1362075"/>
            <a:ext cx="108585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2EFE7"/>
                </a:solidFill>
                <a:latin typeface="Arial Black"/>
                <a:ea typeface="Arial Black"/>
                <a:cs typeface="Arial Black"/>
              </a:defRPr>
            </a:defPPr>
          </a:lstStyle>
          <a:p xmlns:a="http://schemas.openxmlformats.org/drawingml/2006/main">
            <a:pPr>
              <a:defRPr sz="4350" b="1">
                <a:solidFill>
                  <a:srgbClr val="F2EFE7"/>
                </a:solidFill>
                <a:latin typeface="Arial Black"/>
                <a:ea typeface="Arial Black"/>
                <a:cs typeface="Arial Black"/>
              </a:defRPr>
            </a:pPr>
            <a:r>
              <a:rPr sz="4350" b="1">
                <a:solidFill>
                  <a:srgbClr val="F2EFE7"/>
                </a:solidFill>
                <a:latin typeface="Arial Black"/>
                <a:ea typeface="Arial Black"/>
                <a:cs typeface="Arial Black"/>
              </a:rPr>
              <a:t>Validate the</a:t>
            </a:r>
          </a:p>
          <a:p xmlns:a="http://schemas.openxmlformats.org/drawingml/2006/main">
            <a:pPr>
              <a:defRPr sz="4350" b="1">
                <a:solidFill>
                  <a:srgbClr val="F2EFE7"/>
                </a:solidFill>
                <a:latin typeface="Arial Black"/>
                <a:ea typeface="Arial Black"/>
                <a:cs typeface="Arial Black"/>
              </a:defRPr>
            </a:pPr>
            <a:r>
              <a:rPr sz="4350" b="1">
                <a:solidFill>
                  <a:srgbClr val="F2EFE7"/>
                </a:solidFill>
                <a:latin typeface="Arial Black"/>
                <a:ea typeface="Arial Black"/>
                <a:cs typeface="Arial Black"/>
              </a:rPr>
              <a:t>containment assumptions</a:t>
            </a:r>
          </a:p>
        </p:txBody>
      </p:sp>
      <p:sp>
        <p:nvSpPr>
          <p:cNvPr id="3" name="NETWORK">
            <a:extLst xmlns:a="http://schemas.openxmlformats.org/drawingml/2006/main">
              <a:ext uri="{FF2B5EF4-FFF2-40B4-BE49-F238E27FC236}">
                <a16:creationId xmlns:a16="http://schemas.microsoft.com/office/drawing/2014/main" id="{7C38B949-D062-401E-98F2-CB6BFDD25432}"/>
              </a:ext>
            </a:extLst>
          </p:cNvPr>
          <p:cNvSpPr>
            <a:spLocks xmlns:a="http://schemas.openxmlformats.org/drawingml/2006/main" noGrp="1"/>
          </p:cNvSpPr>
          <p:nvPr/>
        </p:nvSpPr>
        <p:spPr>
          <a:xfrm xmlns:a="http://schemas.openxmlformats.org/drawingml/2006/main">
            <a:off x="609600" y="3438525"/>
            <a:ext cx="180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NETWORK</a:t>
            </a:r>
          </a:p>
        </p:txBody>
      </p:sp>
      <p:sp>
        <p:nvSpPr>
          <p:cNvPr id="4" name="Does deny-all remove an existing allow?">
            <a:extLst xmlns:a="http://schemas.openxmlformats.org/drawingml/2006/main">
              <a:ext uri="{FF2B5EF4-FFF2-40B4-BE49-F238E27FC236}">
                <a16:creationId xmlns:a16="http://schemas.microsoft.com/office/drawing/2014/main" id="{EB3DDA5A-D0B4-42E8-96DF-3E5A73D2972E}"/>
              </a:ext>
            </a:extLst>
          </p:cNvPr>
          <p:cNvSpPr>
            <a:spLocks xmlns:a="http://schemas.openxmlformats.org/drawingml/2006/main" noGrp="1"/>
          </p:cNvSpPr>
          <p:nvPr/>
        </p:nvSpPr>
        <p:spPr>
          <a:xfrm xmlns:a="http://schemas.openxmlformats.org/drawingml/2006/main">
            <a:off x="2705100" y="3438525"/>
            <a:ext cx="857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Does deny-all remove an existing allow?</a:t>
            </a:r>
          </a:p>
        </p:txBody>
      </p:sp>
      <p:sp>
        <p:nvSpPr>
          <p:cNvPr id="5" name="RECOVERY">
            <a:extLst xmlns:a="http://schemas.openxmlformats.org/drawingml/2006/main">
              <a:ext uri="{FF2B5EF4-FFF2-40B4-BE49-F238E27FC236}">
                <a16:creationId xmlns:a16="http://schemas.microsoft.com/office/drawing/2014/main" id="{55AD17F1-1936-4351-8C85-DCA158001858}"/>
              </a:ext>
            </a:extLst>
          </p:cNvPr>
          <p:cNvSpPr>
            <a:spLocks xmlns:a="http://schemas.openxmlformats.org/drawingml/2006/main" noGrp="1"/>
          </p:cNvSpPr>
          <p:nvPr/>
        </p:nvSpPr>
        <p:spPr>
          <a:xfrm xmlns:a="http://schemas.openxmlformats.org/drawingml/2006/main">
            <a:off x="609600" y="4267200"/>
            <a:ext cx="180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RECOVERY</a:t>
            </a:r>
          </a:p>
        </p:txBody>
      </p:sp>
      <p:sp>
        <p:nvSpPr>
          <p:cNvPr id="6" name="Can eviction preserve evidence and healthy capac">
            <a:extLst xmlns:a="http://schemas.openxmlformats.org/drawingml/2006/main">
              <a:ext uri="{FF2B5EF4-FFF2-40B4-BE49-F238E27FC236}">
                <a16:creationId xmlns:a16="http://schemas.microsoft.com/office/drawing/2014/main" id="{6B9A8B2E-E2B5-46D0-B3CA-0C37B9B570EF}"/>
              </a:ext>
            </a:extLst>
          </p:cNvPr>
          <p:cNvSpPr>
            <a:spLocks xmlns:a="http://schemas.openxmlformats.org/drawingml/2006/main" noGrp="1"/>
          </p:cNvSpPr>
          <p:nvPr/>
        </p:nvSpPr>
        <p:spPr>
          <a:xfrm xmlns:a="http://schemas.openxmlformats.org/drawingml/2006/main">
            <a:off x="2705100" y="4267200"/>
            <a:ext cx="857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Can eviction preserve evidence and healthy capacity?</a:t>
            </a:r>
          </a:p>
        </p:txBody>
      </p:sp>
      <p:sp>
        <p:nvSpPr>
          <p:cNvPr id="7" name="AUTHORITY">
            <a:extLst xmlns:a="http://schemas.openxmlformats.org/drawingml/2006/main">
              <a:ext uri="{FF2B5EF4-FFF2-40B4-BE49-F238E27FC236}">
                <a16:creationId xmlns:a16="http://schemas.microsoft.com/office/drawing/2014/main" id="{0CDDD9EC-5265-4A5D-8296-4AFC3B8FE856}"/>
              </a:ext>
            </a:extLst>
          </p:cNvPr>
          <p:cNvSpPr>
            <a:spLocks xmlns:a="http://schemas.openxmlformats.org/drawingml/2006/main" noGrp="1"/>
          </p:cNvSpPr>
          <p:nvPr/>
        </p:nvSpPr>
        <p:spPr>
          <a:xfrm xmlns:a="http://schemas.openxmlformats.org/drawingml/2006/main">
            <a:off x="609600" y="5095875"/>
            <a:ext cx="180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AUTHORITY</a:t>
            </a:r>
          </a:p>
        </p:txBody>
      </p:sp>
      <p:sp>
        <p:nvSpPr>
          <p:cNvPr id="8" name="Which identity or API path can bypass your plan?">
            <a:extLst xmlns:a="http://schemas.openxmlformats.org/drawingml/2006/main">
              <a:ext uri="{FF2B5EF4-FFF2-40B4-BE49-F238E27FC236}">
                <a16:creationId xmlns:a16="http://schemas.microsoft.com/office/drawing/2014/main" id="{16D71570-6ADD-4ACD-8891-F55BE895EC5B}"/>
              </a:ext>
            </a:extLst>
          </p:cNvPr>
          <p:cNvSpPr>
            <a:spLocks xmlns:a="http://schemas.openxmlformats.org/drawingml/2006/main" noGrp="1"/>
          </p:cNvSpPr>
          <p:nvPr/>
        </p:nvSpPr>
        <p:spPr>
          <a:xfrm xmlns:a="http://schemas.openxmlformats.org/drawingml/2006/main">
            <a:off x="2705100" y="5095875"/>
            <a:ext cx="857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Which identity or API path can bypass your plan?</a:t>
            </a:r>
          </a:p>
        </p:txBody>
      </p:sp>
      <p:sp>
        <p:nvSpPr>
          <p:cNvPr id="9" name="Real k3s observations. Fictional incident. Recor">
            <a:extLst xmlns:a="http://schemas.openxmlformats.org/drawingml/2006/main">
              <a:ext uri="{FF2B5EF4-FFF2-40B4-BE49-F238E27FC236}">
                <a16:creationId xmlns:a16="http://schemas.microsoft.com/office/drawing/2014/main" id="{B7A7FDFB-0F9D-4054-B6E4-23AFE840BB14}"/>
              </a:ext>
            </a:extLst>
          </p:cNvPr>
          <p:cNvSpPr>
            <a:spLocks xmlns:a="http://schemas.openxmlformats.org/drawingml/2006/main" noGrp="1"/>
          </p:cNvSpPr>
          <p:nvPr/>
        </p:nvSpPr>
        <p:spPr>
          <a:xfrm xmlns:a="http://schemas.openxmlformats.org/drawingml/2006/main">
            <a:off x="628650" y="6010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CAEBB"/>
                </a:solidFill>
                <a:latin typeface="Arial"/>
                <a:ea typeface="Arial"/>
                <a:cs typeface="Arial"/>
              </a:defRPr>
            </a:defPPr>
          </a:lstStyle>
          <a:p xmlns:a="http://schemas.openxmlformats.org/drawingml/2006/main">
            <a:pPr>
              <a:defRPr sz="1500" b="0">
                <a:solidFill>
                  <a:srgbClr val="9CAEBB"/>
                </a:solidFill>
                <a:latin typeface="Arial"/>
                <a:ea typeface="Arial"/>
                <a:cs typeface="Arial"/>
              </a:defRPr>
            </a:pPr>
            <a:r>
              <a:rPr sz="1500" b="0">
                <a:solidFill>
                  <a:srgbClr val="9CAEBB"/>
                </a:solidFill>
                <a:latin typeface="Arial"/>
                <a:ea typeface="Arial"/>
                <a:cs typeface="Arial"/>
              </a:rPr>
              <a:t>Real k3s observations. Fictional incident. Recorded, not live.</a:t>
            </a:r>
          </a:p>
        </p:txBody>
      </p:sp>
      <p:sp>
        <p:nvSpPr>
          <p:cNvPr id="10" name="ISC2 SECURITY CONGRESS 2026 / SC2632">
            <a:extLst xmlns:a="http://schemas.openxmlformats.org/drawingml/2006/main">
              <a:ext uri="{FF2B5EF4-FFF2-40B4-BE49-F238E27FC236}">
                <a16:creationId xmlns:a16="http://schemas.microsoft.com/office/drawing/2014/main" id="{DD324726-2F15-4DD1-9A3E-796B6C154B6C}"/>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11" name="19">
            <a:extLst xmlns:a="http://schemas.openxmlformats.org/drawingml/2006/main">
              <a:ext uri="{FF2B5EF4-FFF2-40B4-BE49-F238E27FC236}">
                <a16:creationId xmlns:a16="http://schemas.microsoft.com/office/drawing/2014/main" id="{7A6E4B95-BEF1-464B-9DB7-04B7DA22478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19</a:t>
            </a:r>
          </a:p>
        </p:txBody>
      </p:sp>
    </p:spTree>
    <p:extLst>
      <p:ext uri="{BB962C8B-B14F-4D97-AF65-F5344CB8AC3E}">
        <p14:creationId xmlns:p14="http://schemas.microsoft.com/office/powerpoint/2010/main" val="1071838282"/>
      </p:ext>
    </p:extLst>
  </p:cSld>
</p:sld>
</file>

<file path=ppt/slides/slide20.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1 / PREDICT THEN REVEAL">
            <a:extLst xmlns:a="http://schemas.openxmlformats.org/drawingml/2006/main">
              <a:ext uri="{FF2B5EF4-FFF2-40B4-BE49-F238E27FC236}">
                <a16:creationId xmlns:a16="http://schemas.microsoft.com/office/drawing/2014/main" id="{9317B148-6A17-40F7-9CA7-663F1DC6A0A2}"/>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01 / PREDICT THEN REVEAL</a:t>
            </a:r>
          </a:p>
        </p:txBody>
      </p:sp>
      <p:sp>
        <p:nvSpPr>
          <p:cNvPr id="2" name="What would prove&#10;isolation?">
            <a:extLst xmlns:a="http://schemas.openxmlformats.org/drawingml/2006/main">
              <a:ext uri="{FF2B5EF4-FFF2-40B4-BE49-F238E27FC236}">
                <a16:creationId xmlns:a16="http://schemas.microsoft.com/office/drawing/2014/main" id="{94E94F50-2F9B-4473-9F54-DA266DD28D3F}"/>
              </a:ext>
            </a:extLst>
          </p:cNvPr>
          <p:cNvSpPr>
            <a:spLocks xmlns:a="http://schemas.openxmlformats.org/drawingml/2006/main" noGrp="1"/>
          </p:cNvSpPr>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What would prove</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isolation?</a:t>
            </a:r>
          </a:p>
        </p:txBody>
      </p:sp>
      <p:pic>
        <p:nvPicPr>
          <p:cNvPr id="3" name="">
            <a:extLst xmlns:a="http://schemas.openxmlformats.org/drawingml/2006/main">
              <a:ext uri="{FF2B5EF4-FFF2-40B4-BE49-F238E27FC236}">
                <a16:creationId xmlns:a16="http://schemas.microsoft.com/office/drawing/2014/main" id="{7F5B59BB-3A92-4066-9767-BF7859AC311F}"/>
              </a:ext>
            </a:extLst>
          </p:cNvPr>
          <p:cNvPicPr>
            <a:picLocks xmlns:a="http://schemas.openxmlformats.org/drawingml/2006/main" noChangeAspect="1"/>
          </p:cNvPicPr>
          <p:nvPr/>
        </p:nvPicPr>
        <p:blipFill>
          <a:blip xmlns:r="http://schemas.openxmlformats.org/officeDocument/2006/relationships" xmlns:a="http://schemas.openxmlformats.org/drawingml/2006/main" r:embed="Raacf2b8914ce49e0"/>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Q3 is requested.&#10;An existing rule allows DNS.">
            <a:extLst xmlns:a="http://schemas.openxmlformats.org/drawingml/2006/main">
              <a:ext uri="{FF2B5EF4-FFF2-40B4-BE49-F238E27FC236}">
                <a16:creationId xmlns:a16="http://schemas.microsoft.com/office/drawing/2014/main" id="{AC9D88F8-0BCB-4FC4-8CE3-5C62121BDCD1}"/>
              </a:ext>
            </a:extLst>
          </p:cNvPr>
          <p:cNvSpPr>
            <a:spLocks xmlns:a="http://schemas.openxmlformats.org/drawingml/2006/main" noGrp="1"/>
          </p:cNvSpPr>
          <p:nvPr/>
        </p:nvSpPr>
        <p:spPr>
          <a:xfrm xmlns:a="http://schemas.openxmlformats.org/drawingml/2006/main">
            <a:off x="7667625" y="2571750"/>
            <a:ext cx="371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1822"/>
                </a:solidFill>
                <a:latin typeface="Arial"/>
                <a:ea typeface="Arial"/>
                <a:cs typeface="Arial"/>
              </a:defRPr>
            </a:defPPr>
          </a:lstStyle>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Q3 is requested.</a:t>
            </a:r>
          </a:p>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An existing rule allows DNS.</a:t>
            </a:r>
          </a:p>
        </p:txBody>
      </p:sp>
      <p:sp>
        <p:nvSpPr>
          <p:cNvPr id="5" name="Which allowance must change?&#10;Name the confirming">
            <a:extLst xmlns:a="http://schemas.openxmlformats.org/drawingml/2006/main">
              <a:ext uri="{FF2B5EF4-FFF2-40B4-BE49-F238E27FC236}">
                <a16:creationId xmlns:a16="http://schemas.microsoft.com/office/drawing/2014/main" id="{91986670-DAF4-4218-9A34-4DDAD89C8E36}"/>
              </a:ext>
            </a:extLst>
          </p:cNvPr>
          <p:cNvSpPr>
            <a:spLocks xmlns:a="http://schemas.openxmlformats.org/drawingml/2006/main" noGrp="1"/>
          </p:cNvSpPr>
          <p:nvPr/>
        </p:nvSpPr>
        <p:spPr>
          <a:xfrm xmlns:a="http://schemas.openxmlformats.org/drawingml/2006/main">
            <a:off x="7667625" y="4419600"/>
            <a:ext cx="3714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Which allowance must change?</a:t>
            </a:r>
          </a:p>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Name the confirming test.</a:t>
            </a:r>
          </a:p>
        </p:txBody>
      </p:sp>
      <p:sp>
        <p:nvSpPr>
          <p:cNvPr id="6" name="Recorded k3s observations; simplified workload n">
            <a:extLst xmlns:a="http://schemas.openxmlformats.org/drawingml/2006/main">
              <a:ext uri="{FF2B5EF4-FFF2-40B4-BE49-F238E27FC236}">
                <a16:creationId xmlns:a16="http://schemas.microsoft.com/office/drawing/2014/main" id="{05930136-962D-4CF3-A730-711A6B31B960}"/>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observations; simplified workload names. Scenario context is fictional.</a:t>
            </a:r>
          </a:p>
        </p:txBody>
      </p:sp>
      <p:sp>
        <p:nvSpPr>
          <p:cNvPr id="7" name="ISC2 SECURITY CONGRESS 2026 / SC2632">
            <a:extLst xmlns:a="http://schemas.openxmlformats.org/drawingml/2006/main">
              <a:ext uri="{FF2B5EF4-FFF2-40B4-BE49-F238E27FC236}">
                <a16:creationId xmlns:a16="http://schemas.microsoft.com/office/drawing/2014/main" id="{53715117-758F-4970-BBCD-8F55CCB4F64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0">
            <a:extLst xmlns:a="http://schemas.openxmlformats.org/drawingml/2006/main">
              <a:ext uri="{FF2B5EF4-FFF2-40B4-BE49-F238E27FC236}">
                <a16:creationId xmlns:a16="http://schemas.microsoft.com/office/drawing/2014/main" id="{2CD4BCE5-F274-4EB6-A0BA-BC910234AC63}"/>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20</a:t>
            </a:r>
          </a:p>
        </p:txBody>
      </p:sp>
    </p:spTree>
    <p:extLst>
      <p:ext uri="{BB962C8B-B14F-4D97-AF65-F5344CB8AC3E}">
        <p14:creationId xmlns:p14="http://schemas.microsoft.com/office/powerpoint/2010/main" val="261924149"/>
      </p:ext>
    </p:extLst>
  </p:cSld>
</p:sld>
</file>

<file path=ppt/slides/slide21.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2 / PREDICT THEN REVEAL">
            <a:extLst xmlns:a="http://schemas.openxmlformats.org/drawingml/2006/main">
              <a:ext uri="{FF2B5EF4-FFF2-40B4-BE49-F238E27FC236}">
                <a16:creationId xmlns:a16="http://schemas.microsoft.com/office/drawing/2014/main" id="{80D37A1D-CF0A-42F6-93D5-6773D7D6FBFB}"/>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02 / PREDICT THEN REVEAL</a:t>
            </a:r>
          </a:p>
        </p:txBody>
      </p:sp>
      <p:sp>
        <p:nvSpPr>
          <p:cNvPr id="2" name="What must happen&#10;before removal?">
            <a:extLst xmlns:a="http://schemas.openxmlformats.org/drawingml/2006/main">
              <a:ext uri="{FF2B5EF4-FFF2-40B4-BE49-F238E27FC236}">
                <a16:creationId xmlns:a16="http://schemas.microsoft.com/office/drawing/2014/main" id="{52F04919-CEEF-4F8B-8E70-AAF7867CB2F4}"/>
              </a:ext>
            </a:extLst>
          </p:cNvPr>
          <p:cNvSpPr>
            <a:spLocks xmlns:a="http://schemas.openxmlformats.org/drawingml/2006/main" noGrp="1"/>
          </p:cNvSpPr>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What must happen</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before removal?</a:t>
            </a:r>
          </a:p>
        </p:txBody>
      </p:sp>
      <p:pic>
        <p:nvPicPr>
          <p:cNvPr id="3" name="">
            <a:extLst xmlns:a="http://schemas.openxmlformats.org/drawingml/2006/main">
              <a:ext uri="{FF2B5EF4-FFF2-40B4-BE49-F238E27FC236}">
                <a16:creationId xmlns:a16="http://schemas.microsoft.com/office/drawing/2014/main" id="{E1D94C91-509B-42D4-8425-48FF38B3CC06}"/>
              </a:ext>
            </a:extLst>
          </p:cNvPr>
          <p:cNvPicPr>
            <a:picLocks xmlns:a="http://schemas.openxmlformats.org/drawingml/2006/main" noChangeAspect="1"/>
          </p:cNvPicPr>
          <p:nvPr/>
        </p:nvPicPr>
        <p:blipFill>
          <a:blip xmlns:r="http://schemas.openxmlformats.org/officeDocument/2006/relationships" xmlns:a="http://schemas.openxmlformats.org/drawingml/2006/main" r:embed="Rd80f36d09efe41ae"/>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Three copies run.&#10;Two may be affected.&#10;Q3 blocks">
            <a:extLst xmlns:a="http://schemas.openxmlformats.org/drawingml/2006/main">
              <a:ext uri="{FF2B5EF4-FFF2-40B4-BE49-F238E27FC236}">
                <a16:creationId xmlns:a16="http://schemas.microsoft.com/office/drawing/2014/main" id="{9551D74E-E1ED-4EA4-92A3-2FB2C3DBAB03}"/>
              </a:ext>
            </a:extLst>
          </p:cNvPr>
          <p:cNvSpPr>
            <a:spLocks xmlns:a="http://schemas.openxmlformats.org/drawingml/2006/main" noGrp="1"/>
          </p:cNvSpPr>
          <p:nvPr/>
        </p:nvSpPr>
        <p:spPr>
          <a:xfrm xmlns:a="http://schemas.openxmlformats.org/drawingml/2006/main">
            <a:off x="7667625" y="2571750"/>
            <a:ext cx="371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1822"/>
                </a:solidFill>
                <a:latin typeface="Arial"/>
                <a:ea typeface="Arial"/>
                <a:cs typeface="Arial"/>
              </a:defRPr>
            </a:defPPr>
          </a:lstStyle>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Three copies run.</a:t>
            </a:r>
          </a:p>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Two may be affected.</a:t>
            </a:r>
          </a:p>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Q3 blocks replacements.</a:t>
            </a:r>
          </a:p>
        </p:txBody>
      </p:sp>
      <p:sp>
        <p:nvSpPr>
          <p:cNvPr id="5" name="Keep two healthy copies.&#10;What evidence and capac">
            <a:extLst xmlns:a="http://schemas.openxmlformats.org/drawingml/2006/main">
              <a:ext uri="{FF2B5EF4-FFF2-40B4-BE49-F238E27FC236}">
                <a16:creationId xmlns:a16="http://schemas.microsoft.com/office/drawing/2014/main" id="{749929B1-8123-41A6-A32E-3C1034F30EE5}"/>
              </a:ext>
            </a:extLst>
          </p:cNvPr>
          <p:cNvSpPr>
            <a:spLocks xmlns:a="http://schemas.openxmlformats.org/drawingml/2006/main" noGrp="1"/>
          </p:cNvSpPr>
          <p:nvPr/>
        </p:nvSpPr>
        <p:spPr>
          <a:xfrm xmlns:a="http://schemas.openxmlformats.org/drawingml/2006/main">
            <a:off x="7667625" y="4419600"/>
            <a:ext cx="3714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Keep two healthy copies.</a:t>
            </a:r>
          </a:p>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What evidence and capacity</a:t>
            </a:r>
          </a:p>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do you need before removal?</a:t>
            </a:r>
          </a:p>
        </p:txBody>
      </p:sp>
      <p:sp>
        <p:nvSpPr>
          <p:cNvPr id="6" name="Recorded k3s observations; simplified workload n">
            <a:extLst xmlns:a="http://schemas.openxmlformats.org/drawingml/2006/main">
              <a:ext uri="{FF2B5EF4-FFF2-40B4-BE49-F238E27FC236}">
                <a16:creationId xmlns:a16="http://schemas.microsoft.com/office/drawing/2014/main" id="{AEC62DD4-492A-4A75-97B1-27BB4B62D8F4}"/>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observations; simplified workload names. Scenario context is fictional.</a:t>
            </a:r>
          </a:p>
        </p:txBody>
      </p:sp>
      <p:sp>
        <p:nvSpPr>
          <p:cNvPr id="7" name="ISC2 SECURITY CONGRESS 2026 / SC2632">
            <a:extLst xmlns:a="http://schemas.openxmlformats.org/drawingml/2006/main">
              <a:ext uri="{FF2B5EF4-FFF2-40B4-BE49-F238E27FC236}">
                <a16:creationId xmlns:a16="http://schemas.microsoft.com/office/drawing/2014/main" id="{9545CD88-BB32-4936-87FA-3B3CAB73E17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1">
            <a:extLst xmlns:a="http://schemas.openxmlformats.org/drawingml/2006/main">
              <a:ext uri="{FF2B5EF4-FFF2-40B4-BE49-F238E27FC236}">
                <a16:creationId xmlns:a16="http://schemas.microsoft.com/office/drawing/2014/main" id="{BD648EB6-A1FF-432C-B966-DD65EFBC0AC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21</a:t>
            </a:r>
          </a:p>
        </p:txBody>
      </p:sp>
    </p:spTree>
    <p:extLst>
      <p:ext uri="{BB962C8B-B14F-4D97-AF65-F5344CB8AC3E}">
        <p14:creationId xmlns:p14="http://schemas.microsoft.com/office/powerpoint/2010/main" val="1714113707"/>
      </p:ext>
    </p:extLst>
  </p:cSld>
</p:sld>
</file>

<file path=ppt/slides/slide2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3 / PREDICT THEN REVEAL">
            <a:extLst xmlns:a="http://schemas.openxmlformats.org/drawingml/2006/main">
              <a:ext uri="{FF2B5EF4-FFF2-40B4-BE49-F238E27FC236}">
                <a16:creationId xmlns:a16="http://schemas.microsoft.com/office/drawing/2014/main" id="{D1FA7FF0-AF62-4021-8697-47D155BD568B}"/>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03 / PREDICT THEN REVEAL</a:t>
            </a:r>
          </a:p>
        </p:txBody>
      </p:sp>
      <p:sp>
        <p:nvSpPr>
          <p:cNvPr id="2" name="What would make&#10;debugging safe?">
            <a:extLst xmlns:a="http://schemas.openxmlformats.org/drawingml/2006/main">
              <a:ext uri="{FF2B5EF4-FFF2-40B4-BE49-F238E27FC236}">
                <a16:creationId xmlns:a16="http://schemas.microsoft.com/office/drawing/2014/main" id="{79B8F0AE-6F20-40FF-8066-AE1B530722B9}"/>
              </a:ext>
            </a:extLst>
          </p:cNvPr>
          <p:cNvSpPr>
            <a:spLocks xmlns:a="http://schemas.openxmlformats.org/drawingml/2006/main" noGrp="1"/>
          </p:cNvSpPr>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What would make</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debugging safe?</a:t>
            </a:r>
          </a:p>
        </p:txBody>
      </p:sp>
      <p:pic>
        <p:nvPicPr>
          <p:cNvPr id="3" name="">
            <a:extLst xmlns:a="http://schemas.openxmlformats.org/drawingml/2006/main">
              <a:ext uri="{FF2B5EF4-FFF2-40B4-BE49-F238E27FC236}">
                <a16:creationId xmlns:a16="http://schemas.microsoft.com/office/drawing/2014/main" id="{EBBF27F5-ED65-46D4-ACDB-81A365086C47}"/>
              </a:ext>
            </a:extLst>
          </p:cNvPr>
          <p:cNvPicPr>
            <a:picLocks xmlns:a="http://schemas.openxmlformats.org/drawingml/2006/main" noChangeAspect="1"/>
          </p:cNvPicPr>
          <p:nvPr/>
        </p:nvPicPr>
        <p:blipFill>
          <a:blip xmlns:r="http://schemas.openxmlformats.org/officeDocument/2006/relationships" xmlns:a="http://schemas.openxmlformats.org/drawingml/2006/main" r:embed="R6e895555f9014942"/>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The image rule covers Pods.&#10;Debug uses another A">
            <a:extLst xmlns:a="http://schemas.openxmlformats.org/drawingml/2006/main">
              <a:ext uri="{FF2B5EF4-FFF2-40B4-BE49-F238E27FC236}">
                <a16:creationId xmlns:a16="http://schemas.microsoft.com/office/drawing/2014/main" id="{717583FC-572B-45DF-BF28-917A1B9EB92F}"/>
              </a:ext>
            </a:extLst>
          </p:cNvPr>
          <p:cNvSpPr>
            <a:spLocks xmlns:a="http://schemas.openxmlformats.org/drawingml/2006/main" noGrp="1"/>
          </p:cNvSpPr>
          <p:nvPr/>
        </p:nvSpPr>
        <p:spPr>
          <a:xfrm xmlns:a="http://schemas.openxmlformats.org/drawingml/2006/main">
            <a:off x="7667625" y="2571750"/>
            <a:ext cx="371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1822"/>
                </a:solidFill>
                <a:latin typeface="Arial"/>
                <a:ea typeface="Arial"/>
                <a:cs typeface="Arial"/>
              </a:defRPr>
            </a:defPPr>
          </a:lstStyle>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The image rule covers Pods.</a:t>
            </a:r>
          </a:p>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Debug uses another API path.</a:t>
            </a:r>
          </a:p>
        </p:txBody>
      </p:sp>
      <p:sp>
        <p:nvSpPr>
          <p:cNvPr id="5" name="What request needs testing?&#10;What forensic access">
            <a:extLst xmlns:a="http://schemas.openxmlformats.org/drawingml/2006/main">
              <a:ext uri="{FF2B5EF4-FFF2-40B4-BE49-F238E27FC236}">
                <a16:creationId xmlns:a16="http://schemas.microsoft.com/office/drawing/2014/main" id="{8ECEADBE-EADD-4D34-9D25-F68781A83EB4}"/>
              </a:ext>
            </a:extLst>
          </p:cNvPr>
          <p:cNvSpPr>
            <a:spLocks xmlns:a="http://schemas.openxmlformats.org/drawingml/2006/main" noGrp="1"/>
          </p:cNvSpPr>
          <p:nvPr/>
        </p:nvSpPr>
        <p:spPr>
          <a:xfrm xmlns:a="http://schemas.openxmlformats.org/drawingml/2006/main">
            <a:off x="7667625" y="4419600"/>
            <a:ext cx="3714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What request needs testing?</a:t>
            </a:r>
          </a:p>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What forensic access would you allow?</a:t>
            </a:r>
          </a:p>
        </p:txBody>
      </p:sp>
      <p:sp>
        <p:nvSpPr>
          <p:cNvPr id="6" name="Recorded k3s observations; simplified workload n">
            <a:extLst xmlns:a="http://schemas.openxmlformats.org/drawingml/2006/main">
              <a:ext uri="{FF2B5EF4-FFF2-40B4-BE49-F238E27FC236}">
                <a16:creationId xmlns:a16="http://schemas.microsoft.com/office/drawing/2014/main" id="{6494E4CD-30E0-40D6-AD8B-EDA41826E9C8}"/>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observations; simplified workload names. Scenario context is fictional.</a:t>
            </a:r>
          </a:p>
        </p:txBody>
      </p:sp>
      <p:sp>
        <p:nvSpPr>
          <p:cNvPr id="7" name="ISC2 SECURITY CONGRESS 2026 / SC2632">
            <a:extLst xmlns:a="http://schemas.openxmlformats.org/drawingml/2006/main">
              <a:ext uri="{FF2B5EF4-FFF2-40B4-BE49-F238E27FC236}">
                <a16:creationId xmlns:a16="http://schemas.microsoft.com/office/drawing/2014/main" id="{611518A8-61FB-487B-B60D-3E8E40161812}"/>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2">
            <a:extLst xmlns:a="http://schemas.openxmlformats.org/drawingml/2006/main">
              <a:ext uri="{FF2B5EF4-FFF2-40B4-BE49-F238E27FC236}">
                <a16:creationId xmlns:a16="http://schemas.microsoft.com/office/drawing/2014/main" id="{7999C824-8D19-4BC8-A3EA-AC38FB883033}"/>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22</a:t>
            </a:r>
          </a:p>
        </p:txBody>
      </p:sp>
    </p:spTree>
    <p:extLst>
      <p:ext uri="{BB962C8B-B14F-4D97-AF65-F5344CB8AC3E}">
        <p14:creationId xmlns:p14="http://schemas.microsoft.com/office/powerpoint/2010/main" val="1661546516"/>
      </p:ext>
    </p:extLst>
  </p:cSld>
</p:sld>
</file>

<file path=ppt/slides/slide23.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4 / PREDICT THEN REVEAL">
            <a:extLst xmlns:a="http://schemas.openxmlformats.org/drawingml/2006/main">
              <a:ext uri="{FF2B5EF4-FFF2-40B4-BE49-F238E27FC236}">
                <a16:creationId xmlns:a16="http://schemas.microsoft.com/office/drawing/2014/main" id="{D446F041-9AD2-4D6C-A8B1-337B282E6514}"/>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04 / PREDICT THEN REVEAL</a:t>
            </a:r>
          </a:p>
        </p:txBody>
      </p:sp>
      <p:sp>
        <p:nvSpPr>
          <p:cNvPr id="2" name="Which authority&#10;must change?">
            <a:extLst xmlns:a="http://schemas.openxmlformats.org/drawingml/2006/main">
              <a:ext uri="{FF2B5EF4-FFF2-40B4-BE49-F238E27FC236}">
                <a16:creationId xmlns:a16="http://schemas.microsoft.com/office/drawing/2014/main" id="{A3D8BA54-CAD7-4D09-AB3A-0BD80221AF54}"/>
              </a:ext>
            </a:extLst>
          </p:cNvPr>
          <p:cNvSpPr>
            <a:spLocks xmlns:a="http://schemas.openxmlformats.org/drawingml/2006/main" noGrp="1"/>
          </p:cNvSpPr>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Which authority</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must change?</a:t>
            </a:r>
          </a:p>
        </p:txBody>
      </p:sp>
      <p:pic>
        <p:nvPicPr>
          <p:cNvPr id="3" name="">
            <a:extLst xmlns:a="http://schemas.openxmlformats.org/drawingml/2006/main">
              <a:ext uri="{FF2B5EF4-FFF2-40B4-BE49-F238E27FC236}">
                <a16:creationId xmlns:a16="http://schemas.microsoft.com/office/drawing/2014/main" id="{E6783B57-E856-46BF-A0DF-A9E3962DCE63}"/>
              </a:ext>
            </a:extLst>
          </p:cNvPr>
          <p:cNvPicPr>
            <a:picLocks xmlns:a="http://schemas.openxmlformats.org/drawingml/2006/main" noChangeAspect="1"/>
          </p:cNvPicPr>
          <p:nvPr/>
        </p:nvPicPr>
        <p:blipFill>
          <a:blip xmlns:r="http://schemas.openxmlformats.org/officeDocument/2006/relationships" xmlns:a="http://schemas.openxmlformats.org/drawingml/2006/main" r:embed="R0e1500a7d5dd4ba0"/>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Agent: can scale any Deployment.&#10;Kyverno: runs a">
            <a:extLst xmlns:a="http://schemas.openxmlformats.org/drawingml/2006/main">
              <a:ext uri="{FF2B5EF4-FFF2-40B4-BE49-F238E27FC236}">
                <a16:creationId xmlns:a16="http://schemas.microsoft.com/office/drawing/2014/main" id="{71A67F05-9F70-42CE-A7CF-E8F39DF2B0CD}"/>
              </a:ext>
            </a:extLst>
          </p:cNvPr>
          <p:cNvSpPr>
            <a:spLocks xmlns:a="http://schemas.openxmlformats.org/drawingml/2006/main" noGrp="1"/>
          </p:cNvSpPr>
          <p:nvPr/>
        </p:nvSpPr>
        <p:spPr>
          <a:xfrm xmlns:a="http://schemas.openxmlformats.org/drawingml/2006/main">
            <a:off x="7667625" y="2571750"/>
            <a:ext cx="371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1822"/>
                </a:solidFill>
                <a:latin typeface="Arial"/>
                <a:ea typeface="Arial"/>
                <a:cs typeface="Arial"/>
              </a:defRPr>
            </a:defPPr>
          </a:lstStyle>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Agent: can scale any Deployment.</a:t>
            </a:r>
          </a:p>
          <a:p xmlns:a="http://schemas.openxmlformats.org/drawingml/2006/main">
            <a:pPr>
              <a:defRPr sz="2175" b="1">
                <a:solidFill>
                  <a:srgbClr val="0B1822"/>
                </a:solidFill>
                <a:latin typeface="Arial"/>
                <a:ea typeface="Arial"/>
                <a:cs typeface="Arial"/>
              </a:defRPr>
            </a:pPr>
            <a:r>
              <a:rPr sz="2175" b="1">
                <a:solidFill>
                  <a:srgbClr val="0B1822"/>
                </a:solidFill>
                <a:latin typeface="Arial"/>
                <a:ea typeface="Arial"/>
                <a:cs typeface="Arial"/>
              </a:rPr>
              <a:t>Kyverno: runs as a Deployment.</a:t>
            </a:r>
          </a:p>
        </p:txBody>
      </p:sp>
      <p:sp>
        <p:nvSpPr>
          <p:cNvPr id="5" name="What permission would you remove?&#10;How will you t">
            <a:extLst xmlns:a="http://schemas.openxmlformats.org/drawingml/2006/main">
              <a:ext uri="{FF2B5EF4-FFF2-40B4-BE49-F238E27FC236}">
                <a16:creationId xmlns:a16="http://schemas.microsoft.com/office/drawing/2014/main" id="{7F31E3CE-07F9-4F1F-A700-68B71B726FB1}"/>
              </a:ext>
            </a:extLst>
          </p:cNvPr>
          <p:cNvSpPr>
            <a:spLocks xmlns:a="http://schemas.openxmlformats.org/drawingml/2006/main" noGrp="1"/>
          </p:cNvSpPr>
          <p:nvPr/>
        </p:nvSpPr>
        <p:spPr>
          <a:xfrm xmlns:a="http://schemas.openxmlformats.org/drawingml/2006/main">
            <a:off x="7667625" y="4419600"/>
            <a:ext cx="3714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What permission would you remove?</a:t>
            </a:r>
          </a:p>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How will you test guardrail availability?</a:t>
            </a:r>
          </a:p>
        </p:txBody>
      </p:sp>
      <p:sp>
        <p:nvSpPr>
          <p:cNvPr id="6" name="Recorded k3s observations; simplified workload n">
            <a:extLst xmlns:a="http://schemas.openxmlformats.org/drawingml/2006/main">
              <a:ext uri="{FF2B5EF4-FFF2-40B4-BE49-F238E27FC236}">
                <a16:creationId xmlns:a16="http://schemas.microsoft.com/office/drawing/2014/main" id="{E6A03B5A-9967-4722-A9ED-991EB86CED6B}"/>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observations; simplified workload names. Scenario context is fictional.</a:t>
            </a:r>
          </a:p>
        </p:txBody>
      </p:sp>
      <p:sp>
        <p:nvSpPr>
          <p:cNvPr id="7" name="ISC2 SECURITY CONGRESS 2026 / SC2632">
            <a:extLst xmlns:a="http://schemas.openxmlformats.org/drawingml/2006/main">
              <a:ext uri="{FF2B5EF4-FFF2-40B4-BE49-F238E27FC236}">
                <a16:creationId xmlns:a16="http://schemas.microsoft.com/office/drawing/2014/main" id="{6F8F89A5-29B6-43C3-99DF-17FA3BA1528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3">
            <a:extLst xmlns:a="http://schemas.openxmlformats.org/drawingml/2006/main">
              <a:ext uri="{FF2B5EF4-FFF2-40B4-BE49-F238E27FC236}">
                <a16:creationId xmlns:a16="http://schemas.microsoft.com/office/drawing/2014/main" id="{70A681F3-61FE-42C6-8CBE-2E85DC7E7F36}"/>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23</a:t>
            </a:r>
          </a:p>
        </p:txBody>
      </p:sp>
    </p:spTree>
    <p:extLst>
      <p:ext uri="{BB962C8B-B14F-4D97-AF65-F5344CB8AC3E}">
        <p14:creationId xmlns:p14="http://schemas.microsoft.com/office/powerpoint/2010/main" val="1232862360"/>
      </p:ext>
    </p:extLst>
  </p:cSld>
</p:sld>
</file>

<file path=ppt/slides/slide24.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6" name="44–45 MINUTES / CASE REVIEW">
            <a:extLst xmlns:a="http://schemas.openxmlformats.org/drawingml/2006/main">
              <a:ext uri="{FF2B5EF4-FFF2-40B4-BE49-F238E27FC236}">
                <a16:creationId xmlns:a16="http://schemas.microsoft.com/office/drawing/2014/main" id="{51B41854-18F1-4522-B8D5-B22D27A4B7F8}"/>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44–45 MINUTES / CASE REVIEW</a:t>
            </a:r>
          </a:p>
        </p:txBody>
      </p:sp>
      <p:sp>
        <p:nvSpPr>
          <p:cNvPr id="2" name="Review findings and unresolved requirements">
            <a:extLst xmlns:a="http://schemas.openxmlformats.org/drawingml/2006/main">
              <a:ext uri="{FF2B5EF4-FFF2-40B4-BE49-F238E27FC236}">
                <a16:creationId xmlns:a16="http://schemas.microsoft.com/office/drawing/2014/main" id="{CB45697A-04CC-4C82-97C2-614EA1DC581A}"/>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Review findings and unresolved requirements</a:t>
            </a:r>
          </a:p>
        </p:txBody>
      </p:sp>
      <p:graphicFrame>
        <p:nvGraphicFramePr>
          <p:cNvPr id="3" name="">
            <a:extLst xmlns:a="http://schemas.openxmlformats.org/drawingml/2006/main">
              <a:ext uri="{FF2B5EF4-FFF2-40B4-BE49-F238E27FC236}">
                <a16:creationId xmlns:a16="http://schemas.microsoft.com/office/drawing/2014/main" id="{3EA89676-9D83-4066-AB0B-A65FFE9F9965}"/>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a:tblGrid>
                <a:gridCol w="1619250"/>
                <a:gridCol w="9334500"/>
              </a:tblGrid>
              <a:tr h="676275">
                <a:tc>
                  <a:txBody>
                    <a:bodyPr/>
                    <a:lstStyle/>
                    <a:p>
                      <a:r>
                        <a:rPr sz="2025" b="1">
                          <a:solidFill>
                            <a:srgbClr val="F2EFE7"/>
                          </a:solidFill>
                          <a:latin typeface="Arial"/>
                          <a:ea typeface="Arial"/>
                          <a:cs typeface="Arial"/>
                        </a:rPr>
                        <a:t>Case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2025" b="1">
                          <a:solidFill>
                            <a:srgbClr val="F2EFE7"/>
                          </a:solidFill>
                          <a:latin typeface="Arial"/>
                          <a:ea typeface="Arial"/>
                          <a:cs typeface="Arial"/>
                        </a:rPr>
                        <a:t>What changes the response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76275">
                <a:tc>
                  <a:txBody>
                    <a:bodyPr/>
                    <a:lstStyle/>
                    <a:p>
                      <a:r>
                        <a:rPr sz="2025" b="1">
                          <a:solidFill>
                            <a:srgbClr val="087E79"/>
                          </a:solidFill>
                          <a:latin typeface="Arial"/>
                          <a:ea typeface="Arial"/>
                          <a:cs typeface="Arial"/>
                        </a:rPr>
                        <a:t>A</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The updated image is present on multiple replicas</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B</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The assistant follows injected instructions through tools</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C</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A human executes changes outside the agent identity scope</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D (lab)</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Copied credential still reads Secrets after Pod quarantine</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ISC2 SECURITY CONGRESS 2026 / SC2632">
            <a:extLst xmlns:a="http://schemas.openxmlformats.org/drawingml/2006/main">
              <a:ext uri="{FF2B5EF4-FFF2-40B4-BE49-F238E27FC236}">
                <a16:creationId xmlns:a16="http://schemas.microsoft.com/office/drawing/2014/main" id="{218701D3-F71E-45F3-83A6-ED35821B9E23}"/>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5" name="24">
            <a:extLst xmlns:a="http://schemas.openxmlformats.org/drawingml/2006/main">
              <a:ext uri="{FF2B5EF4-FFF2-40B4-BE49-F238E27FC236}">
                <a16:creationId xmlns:a16="http://schemas.microsoft.com/office/drawing/2014/main" id="{909137B8-F8D2-4827-84FD-466DEDABCF3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24</a:t>
            </a:r>
          </a:p>
        </p:txBody>
      </p:sp>
    </p:spTree>
    <p:extLst>
      <p:ext uri="{BB962C8B-B14F-4D97-AF65-F5344CB8AC3E}">
        <p14:creationId xmlns:p14="http://schemas.microsoft.com/office/powerpoint/2010/main" val="474865772"/>
      </p:ext>
    </p:extLst>
  </p:cSld>
</p:sld>
</file>

<file path=ppt/slides/slide25.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45–48 MINUTES / INDEPENDENT REVIEW">
            <a:extLst xmlns:a="http://schemas.openxmlformats.org/drawingml/2006/main">
              <a:ext uri="{FF2B5EF4-FFF2-40B4-BE49-F238E27FC236}">
                <a16:creationId xmlns:a16="http://schemas.microsoft.com/office/drawing/2014/main" id="{C7DD60A9-D6A3-4DC9-95E6-55BC92BE5400}"/>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45–48 MINUTES / INDEPENDENT REVIEW</a:t>
            </a:r>
          </a:p>
        </p:txBody>
      </p:sp>
      <p:sp>
        <p:nvSpPr>
          <p:cNvPr id="2" name="Trained model proposal">
            <a:extLst xmlns:a="http://schemas.openxmlformats.org/drawingml/2006/main">
              <a:ext uri="{FF2B5EF4-FFF2-40B4-BE49-F238E27FC236}">
                <a16:creationId xmlns:a16="http://schemas.microsoft.com/office/drawing/2014/main" id="{6634704A-0F05-4C44-AE44-3EC42F6932D3}"/>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Trained model proposal</a:t>
            </a:r>
          </a:p>
        </p:txBody>
      </p:sp>
      <p:graphicFrame>
        <p:nvGraphicFramePr>
          <p:cNvPr id="3" name="">
            <a:extLst xmlns:a="http://schemas.openxmlformats.org/drawingml/2006/main">
              <a:ext uri="{FF2B5EF4-FFF2-40B4-BE49-F238E27FC236}">
                <a16:creationId xmlns:a16="http://schemas.microsoft.com/office/drawing/2014/main" id="{35F5F950-D2F3-4247-9342-D5DDC9FEC55C}"/>
              </a:ext>
            </a:extLst>
          </p:cNvPr>
          <p:cNvGraphicFramePr/>
          <p:nvPr/>
        </p:nvGraphicFramePr>
        <p:xfrm>
          <a:off xmlns:a="http://schemas.openxmlformats.org/drawingml/2006/main" x="609600" y="2305050"/>
          <a:ext xmlns:a="http://schemas.openxmlformats.org/drawingml/2006/main" cx="10953750" cy="2905125"/>
        </p:xfrm>
        <a:graphic xmlns:a="http://schemas.openxmlformats.org/drawingml/2006/main">
          <a:graphicData uri="http://schemas.openxmlformats.org/drawingml/2006/table">
            <a:tbl>
              <a:tblPr/>
              <a:tblGrid>
                <a:gridCol w="3905250"/>
                <a:gridCol w="5048250"/>
                <a:gridCol w="2000250"/>
              </a:tblGrid>
              <a:tr h="581025">
                <a:tc>
                  <a:txBody>
                    <a:bodyPr/>
                    <a:lstStyle/>
                    <a:p>
                      <a:r>
                        <a:rPr sz="1950" b="1">
                          <a:solidFill>
                            <a:srgbClr val="F2EFE7"/>
                          </a:solidFill>
                          <a:latin typeface="Arial"/>
                          <a:ea typeface="Arial"/>
                          <a:cs typeface="Arial"/>
                        </a:rPr>
                        <a:t>Requirement</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950" b="1">
                          <a:solidFill>
                            <a:srgbClr val="F2EFE7"/>
                          </a:solidFill>
                          <a:latin typeface="Arial"/>
                          <a:ea typeface="Arial"/>
                          <a:cs typeface="Arial"/>
                        </a:rPr>
                        <a:t>Selected control / routing</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950" b="1">
                          <a:solidFill>
                            <a:srgbClr val="F2EFE7"/>
                          </a:solidFill>
                          <a:latin typeface="Arial"/>
                          <a:ea typeface="Arial"/>
                          <a:cs typeface="Arial"/>
                        </a:rPr>
                        <a:t>Score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81025">
                <a:tc>
                  <a:txBody>
                    <a:bodyPr/>
                    <a:lstStyle/>
                    <a:p>
                      <a:r>
                        <a:rPr sz="1950" b="1">
                          <a:solidFill>
                            <a:srgbClr val="087E79"/>
                          </a:solidFill>
                          <a:latin typeface="Arial"/>
                          <a:ea typeface="Arial"/>
                          <a:cs typeface="Arial"/>
                        </a:rPr>
                        <a:t>Network restriction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Privilege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0.8986</a:t>
                      </a:r>
                    </a:p>
                  </a:txBody>
                  <a:tcPr marL="91440" marR="91440" marT="45720" marB="45720">
                    <a:lnR w="19050">
                      <a:solidFill>
                        <a:srgbClr val="F2EFE7"/>
                      </a:solidFill>
                      <a:prstDash val="solid"/>
                    </a:lnR>
                    <a:lnB w="19050">
                      <a:solidFill>
                        <a:srgbClr val="F2EFE7"/>
                      </a:solidFill>
                      <a:prstDash val="solid"/>
                    </a:lnB>
                    <a:solidFill>
                      <a:srgbClr val="F2EFE7"/>
                    </a:solidFill>
                  </a:tcPr>
                </a:tc>
              </a:tr>
              <a:tr h="581025">
                <a:tc>
                  <a:txBody>
                    <a:bodyPr/>
                    <a:lstStyle/>
                    <a:p>
                      <a:r>
                        <a:rPr sz="1950" b="1">
                          <a:solidFill>
                            <a:srgbClr val="087E79"/>
                          </a:solidFill>
                          <a:latin typeface="Arial"/>
                          <a:ea typeface="Arial"/>
                          <a:cs typeface="Arial"/>
                        </a:rPr>
                        <a:t>Privilege escalation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Privilege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0.8574</a:t>
                      </a:r>
                    </a:p>
                  </a:txBody>
                  <a:tcPr marL="91440" marR="91440" marT="45720" marB="45720">
                    <a:lnR w="19050">
                      <a:solidFill>
                        <a:srgbClr val="F2EFE7"/>
                      </a:solidFill>
                      <a:prstDash val="solid"/>
                    </a:lnR>
                    <a:lnB w="19050">
                      <a:solidFill>
                        <a:srgbClr val="F2EFE7"/>
                      </a:solidFill>
                      <a:prstDash val="solid"/>
                    </a:lnB>
                    <a:solidFill>
                      <a:srgbClr val="F2EFE7"/>
                    </a:solidFill>
                  </a:tcPr>
                </a:tc>
              </a:tr>
              <a:tr h="581025">
                <a:tc>
                  <a:txBody>
                    <a:bodyPr/>
                    <a:lstStyle/>
                    <a:p>
                      <a:r>
                        <a:rPr sz="1950" b="1">
                          <a:solidFill>
                            <a:srgbClr val="087E79"/>
                          </a:solidFill>
                          <a:latin typeface="Arial"/>
                          <a:ea typeface="Arial"/>
                          <a:cs typeface="Arial"/>
                        </a:rPr>
                        <a:t>Kubernetes API access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Human review</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0.5895</a:t>
                      </a:r>
                    </a:p>
                  </a:txBody>
                  <a:tcPr marL="91440" marR="91440" marT="45720" marB="45720">
                    <a:lnR w="19050">
                      <a:solidFill>
                        <a:srgbClr val="F2EFE7"/>
                      </a:solidFill>
                      <a:prstDash val="solid"/>
                    </a:lnR>
                    <a:lnB w="19050">
                      <a:solidFill>
                        <a:srgbClr val="F2EFE7"/>
                      </a:solidFill>
                      <a:prstDash val="solid"/>
                    </a:lnB>
                    <a:solidFill>
                      <a:srgbClr val="F2EFE7"/>
                    </a:solidFill>
                  </a:tcPr>
                </a:tc>
              </a:tr>
              <a:tr h="581025">
                <a:tc>
                  <a:txBody>
                    <a:bodyPr/>
                    <a:lstStyle/>
                    <a:p>
                      <a:r>
                        <a:rPr sz="1950" b="1">
                          <a:solidFill>
                            <a:srgbClr val="087E79"/>
                          </a:solidFill>
                          <a:latin typeface="Arial"/>
                          <a:ea typeface="Arial"/>
                          <a:cs typeface="Arial"/>
                        </a:rPr>
                        <a:t>Rollout and expiry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Privilege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950" b="0">
                          <a:solidFill>
                            <a:srgbClr val="0B1822"/>
                          </a:solidFill>
                          <a:latin typeface="Arial"/>
                          <a:ea typeface="Arial"/>
                          <a:cs typeface="Arial"/>
                        </a:rPr>
                        <a:t>0.9107</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One privilege policy. Six privilege tests pass.">
            <a:extLst xmlns:a="http://schemas.openxmlformats.org/drawingml/2006/main">
              <a:ext uri="{FF2B5EF4-FFF2-40B4-BE49-F238E27FC236}">
                <a16:creationId xmlns:a16="http://schemas.microsoft.com/office/drawing/2014/main" id="{59BE6443-D085-4935-B90E-6321D1C0668D}"/>
              </a:ext>
            </a:extLst>
          </p:cNvPr>
          <p:cNvSpPr>
            <a:spLocks xmlns:a="http://schemas.openxmlformats.org/drawingml/2006/main" noGrp="1"/>
          </p:cNvSpPr>
          <p:nvPr/>
        </p:nvSpPr>
        <p:spPr>
          <a:xfrm xmlns:a="http://schemas.openxmlformats.org/drawingml/2006/main">
            <a:off x="609600" y="54006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1822"/>
                </a:solidFill>
                <a:latin typeface="Arial"/>
                <a:ea typeface="Arial"/>
                <a:cs typeface="Arial"/>
              </a:defRPr>
            </a:defPPr>
          </a:lstStyle>
          <a:p xmlns:a="http://schemas.openxmlformats.org/drawingml/2006/main">
            <a:pPr>
              <a:defRPr sz="2250" b="1">
                <a:solidFill>
                  <a:srgbClr val="0B1822"/>
                </a:solidFill>
                <a:latin typeface="Arial"/>
                <a:ea typeface="Arial"/>
                <a:cs typeface="Arial"/>
              </a:defRPr>
            </a:pPr>
            <a:r>
              <a:rPr sz="2250" b="1">
                <a:solidFill>
                  <a:srgbClr val="0B1822"/>
                </a:solidFill>
                <a:latin typeface="Arial"/>
                <a:ea typeface="Arial"/>
                <a:cs typeface="Arial"/>
              </a:rPr>
              <a:t>One privilege policy. Six privilege tests pass.</a:t>
            </a:r>
          </a:p>
        </p:txBody>
      </p:sp>
      <p:sp>
        <p:nvSpPr>
          <p:cNvPr id="5" name="Which requirements lack enforcement evidence?">
            <a:extLst xmlns:a="http://schemas.openxmlformats.org/drawingml/2006/main">
              <a:ext uri="{FF2B5EF4-FFF2-40B4-BE49-F238E27FC236}">
                <a16:creationId xmlns:a16="http://schemas.microsoft.com/office/drawing/2014/main" id="{FA3B2E67-F870-4137-878D-73BCA27B7706}"/>
              </a:ext>
            </a:extLst>
          </p:cNvPr>
          <p:cNvSpPr>
            <a:spLocks xmlns:a="http://schemas.openxmlformats.org/drawingml/2006/main" noGrp="1"/>
          </p:cNvSpPr>
          <p:nvPr/>
        </p:nvSpPr>
        <p:spPr>
          <a:xfrm xmlns:a="http://schemas.openxmlformats.org/drawingml/2006/main">
            <a:off x="609600" y="5886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79"/>
                </a:solidFill>
                <a:latin typeface="Arial"/>
                <a:ea typeface="Arial"/>
                <a:cs typeface="Arial"/>
              </a:defRPr>
            </a:defPPr>
          </a:lstStyle>
          <a:p xmlns:a="http://schemas.openxmlformats.org/drawingml/2006/main">
            <a:pPr>
              <a:defRPr sz="2025" b="1">
                <a:solidFill>
                  <a:srgbClr val="087E79"/>
                </a:solidFill>
                <a:latin typeface="Arial"/>
                <a:ea typeface="Arial"/>
                <a:cs typeface="Arial"/>
              </a:defRPr>
            </a:pPr>
            <a:r>
              <a:rPr sz="2025" b="1">
                <a:solidFill>
                  <a:srgbClr val="087E79"/>
                </a:solidFill>
                <a:latin typeface="Arial"/>
                <a:ea typeface="Arial"/>
                <a:cs typeface="Arial"/>
              </a:rPr>
              <a:t>Which requirements lack enforcement evidence?</a:t>
            </a:r>
          </a:p>
        </p:txBody>
      </p:sp>
      <p:sp>
        <p:nvSpPr>
          <p:cNvPr id="6" name="ISC2 SECURITY CONGRESS 2026 / SC2632">
            <a:extLst xmlns:a="http://schemas.openxmlformats.org/drawingml/2006/main">
              <a:ext uri="{FF2B5EF4-FFF2-40B4-BE49-F238E27FC236}">
                <a16:creationId xmlns:a16="http://schemas.microsoft.com/office/drawing/2014/main" id="{866F9099-1456-4AB3-858A-8CB859BD93F9}"/>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25">
            <a:extLst xmlns:a="http://schemas.openxmlformats.org/drawingml/2006/main">
              <a:ext uri="{FF2B5EF4-FFF2-40B4-BE49-F238E27FC236}">
                <a16:creationId xmlns:a16="http://schemas.microsoft.com/office/drawing/2014/main" id="{3E73D52D-7F6A-441E-8BF8-3D8F01CC584A}"/>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25</a:t>
            </a:r>
          </a:p>
        </p:txBody>
      </p:sp>
    </p:spTree>
    <p:extLst>
      <p:ext uri="{BB962C8B-B14F-4D97-AF65-F5344CB8AC3E}">
        <p14:creationId xmlns:p14="http://schemas.microsoft.com/office/powerpoint/2010/main" val="1312394037"/>
      </p:ext>
    </p:extLst>
  </p:cSld>
</p:sld>
</file>

<file path=ppt/slides/slide26.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4" name="RECORDED PROPOSAL / REVIEW FINDING">
            <a:extLst xmlns:a="http://schemas.openxmlformats.org/drawingml/2006/main">
              <a:ext uri="{FF2B5EF4-FFF2-40B4-BE49-F238E27FC236}">
                <a16:creationId xmlns:a16="http://schemas.microsoft.com/office/drawing/2014/main" id="{D703CFF4-5D16-438B-9BC0-CDE0245261AA}"/>
              </a:ext>
            </a:extLst>
          </p:cNvPr>
          <p:cNvSpPr>
            <a:spLocks xmlns:a="http://schemas.openxmlformats.org/drawingml/2006/main" noGrp="1"/>
          </p:cNvSpPr>
          <p:nvPr/>
        </p:nvSpPr>
        <p:spPr>
          <a:xfrm xmlns:a="http://schemas.openxmlformats.org/drawingml/2006/main">
            <a:off x="609600" y="476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RECORDED PROPOSAL / REVIEW FINDING</a:t>
            </a:r>
          </a:p>
        </p:txBody>
      </p:sp>
      <p:sp>
        <p:nvSpPr>
          <p:cNvPr id="2" name="Passing privilege tests leave&#10;the proposal incom">
            <a:extLst xmlns:a="http://schemas.openxmlformats.org/drawingml/2006/main">
              <a:ext uri="{FF2B5EF4-FFF2-40B4-BE49-F238E27FC236}">
                <a16:creationId xmlns:a16="http://schemas.microsoft.com/office/drawing/2014/main" id="{B72BA19B-4A28-4D68-BFE6-314E18D13708}"/>
              </a:ext>
            </a:extLst>
          </p:cNvPr>
          <p:cNvSpPr>
            <a:spLocks xmlns:a="http://schemas.openxmlformats.org/drawingml/2006/main" noGrp="1"/>
          </p:cNvSpPr>
          <p:nvPr/>
        </p:nvSpPr>
        <p:spPr>
          <a:xfrm xmlns:a="http://schemas.openxmlformats.org/drawingml/2006/main">
            <a:off x="609600" y="1266825"/>
            <a:ext cx="10953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2EFE7"/>
                </a:solidFill>
                <a:latin typeface="Arial Black"/>
                <a:ea typeface="Arial Black"/>
                <a:cs typeface="Arial Black"/>
              </a:defRPr>
            </a:defPPr>
          </a:lstStyle>
          <a:p xmlns:a="http://schemas.openxmlformats.org/drawingml/2006/main">
            <a:pPr>
              <a:defRPr sz="3825" b="1">
                <a:solidFill>
                  <a:srgbClr val="F2EFE7"/>
                </a:solidFill>
                <a:latin typeface="Arial Black"/>
                <a:ea typeface="Arial Black"/>
                <a:cs typeface="Arial Black"/>
              </a:defRPr>
            </a:pPr>
            <a:r>
              <a:rPr sz="3825" b="1">
                <a:solidFill>
                  <a:srgbClr val="F2EFE7"/>
                </a:solidFill>
                <a:latin typeface="Arial Black"/>
                <a:ea typeface="Arial Black"/>
                <a:cs typeface="Arial Black"/>
              </a:rPr>
              <a:t>Passing privilege tests leave</a:t>
            </a:r>
          </a:p>
          <a:p xmlns:a="http://schemas.openxmlformats.org/drawingml/2006/main">
            <a:pPr>
              <a:defRPr sz="3825" b="1">
                <a:solidFill>
                  <a:srgbClr val="F2EFE7"/>
                </a:solidFill>
                <a:latin typeface="Arial Black"/>
                <a:ea typeface="Arial Black"/>
                <a:cs typeface="Arial Black"/>
              </a:defRPr>
            </a:pPr>
            <a:r>
              <a:rPr sz="3825" b="1">
                <a:solidFill>
                  <a:srgbClr val="F2EFE7"/>
                </a:solidFill>
                <a:latin typeface="Arial Black"/>
                <a:ea typeface="Arial Black"/>
                <a:cs typeface="Arial Black"/>
              </a:rPr>
              <a:t>the proposal incomplete</a:t>
            </a:r>
          </a:p>
        </p:txBody>
      </p:sp>
      <p:sp>
        <p:nvSpPr>
          <p:cNvPr id="3" name="6 / 6">
            <a:extLst xmlns:a="http://schemas.openxmlformats.org/drawingml/2006/main">
              <a:ext uri="{FF2B5EF4-FFF2-40B4-BE49-F238E27FC236}">
                <a16:creationId xmlns:a16="http://schemas.microsoft.com/office/drawing/2014/main" id="{22DF3FF1-7DAC-447A-B376-ADCD1AEFFC06}"/>
              </a:ext>
            </a:extLst>
          </p:cNvPr>
          <p:cNvSpPr>
            <a:spLocks xmlns:a="http://schemas.openxmlformats.org/drawingml/2006/main" noGrp="1"/>
          </p:cNvSpPr>
          <p:nvPr/>
        </p:nvSpPr>
        <p:spPr>
          <a:xfrm xmlns:a="http://schemas.openxmlformats.org/drawingml/2006/main">
            <a:off x="609600" y="3181350"/>
            <a:ext cx="3810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225" b="1">
                <a:solidFill>
                  <a:srgbClr val="25D8BD"/>
                </a:solidFill>
                <a:latin typeface="Arial Black"/>
                <a:ea typeface="Arial Black"/>
                <a:cs typeface="Arial Black"/>
              </a:defRPr>
            </a:defPPr>
          </a:lstStyle>
          <a:p xmlns:a="http://schemas.openxmlformats.org/drawingml/2006/main">
            <a:pPr>
              <a:defRPr sz="6225" b="1">
                <a:solidFill>
                  <a:srgbClr val="25D8BD"/>
                </a:solidFill>
                <a:latin typeface="Arial Black"/>
                <a:ea typeface="Arial Black"/>
                <a:cs typeface="Arial Black"/>
              </a:defRPr>
            </a:pPr>
            <a:r>
              <a:rPr sz="6225" b="1">
                <a:solidFill>
                  <a:srgbClr val="25D8BD"/>
                </a:solidFill>
                <a:latin typeface="Arial Black"/>
                <a:ea typeface="Arial Black"/>
                <a:cs typeface="Arial Black"/>
              </a:rPr>
              <a:t>6 / 6</a:t>
            </a:r>
          </a:p>
        </p:txBody>
      </p:sp>
      <p:sp>
        <p:nvSpPr>
          <p:cNvPr id="4" name="Pod CREATE&#10;privilege tests">
            <a:extLst xmlns:a="http://schemas.openxmlformats.org/drawingml/2006/main">
              <a:ext uri="{FF2B5EF4-FFF2-40B4-BE49-F238E27FC236}">
                <a16:creationId xmlns:a16="http://schemas.microsoft.com/office/drawing/2014/main" id="{5096D337-B72C-4E97-9BE6-8385F212B926}"/>
              </a:ext>
            </a:extLst>
          </p:cNvPr>
          <p:cNvSpPr>
            <a:spLocks xmlns:a="http://schemas.openxmlformats.org/drawingml/2006/main" noGrp="1"/>
          </p:cNvSpPr>
          <p:nvPr/>
        </p:nvSpPr>
        <p:spPr>
          <a:xfrm xmlns:a="http://schemas.openxmlformats.org/drawingml/2006/main">
            <a:off x="628650" y="4495800"/>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2EFE7"/>
                </a:solidFill>
                <a:latin typeface="Arial"/>
                <a:ea typeface="Arial"/>
                <a:cs typeface="Arial"/>
              </a:defRPr>
            </a:defPPr>
          </a:lstStyle>
          <a:p xmlns:a="http://schemas.openxmlformats.org/drawingml/2006/main">
            <a:pPr>
              <a:defRPr sz="2175" b="0">
                <a:solidFill>
                  <a:srgbClr val="F2EFE7"/>
                </a:solidFill>
                <a:latin typeface="Arial"/>
                <a:ea typeface="Arial"/>
                <a:cs typeface="Arial"/>
              </a:defRPr>
            </a:pPr>
            <a:r>
              <a:rPr sz="2175" b="0">
                <a:solidFill>
                  <a:srgbClr val="F2EFE7"/>
                </a:solidFill>
                <a:latin typeface="Arial"/>
                <a:ea typeface="Arial"/>
                <a:cs typeface="Arial"/>
              </a:rPr>
              <a:t>Pod CREATE</a:t>
            </a:r>
          </a:p>
          <a:p xmlns:a="http://schemas.openxmlformats.org/drawingml/2006/main">
            <a:pPr>
              <a:defRPr sz="2175" b="0">
                <a:solidFill>
                  <a:srgbClr val="F2EFE7"/>
                </a:solidFill>
                <a:latin typeface="Arial"/>
                <a:ea typeface="Arial"/>
                <a:cs typeface="Arial"/>
              </a:defRPr>
            </a:pPr>
            <a:r>
              <a:rPr sz="2175" b="0">
                <a:solidFill>
                  <a:srgbClr val="F2EFE7"/>
                </a:solidFill>
                <a:latin typeface="Arial"/>
                <a:ea typeface="Arial"/>
                <a:cs typeface="Arial"/>
              </a:rPr>
              <a:t>privilege tests</a:t>
            </a:r>
          </a:p>
        </p:txBody>
      </p:sp>
      <p:sp>
        <p:nvSpPr>
          <p:cNvPr id="5" name="Network">
            <a:extLst xmlns:a="http://schemas.openxmlformats.org/drawingml/2006/main">
              <a:ext uri="{FF2B5EF4-FFF2-40B4-BE49-F238E27FC236}">
                <a16:creationId xmlns:a16="http://schemas.microsoft.com/office/drawing/2014/main" id="{623A6219-FAAF-4492-B58F-0E36A4EE583F}"/>
              </a:ext>
            </a:extLst>
          </p:cNvPr>
          <p:cNvSpPr>
            <a:spLocks xmlns:a="http://schemas.openxmlformats.org/drawingml/2006/main" noGrp="1"/>
          </p:cNvSpPr>
          <p:nvPr/>
        </p:nvSpPr>
        <p:spPr>
          <a:xfrm xmlns:a="http://schemas.openxmlformats.org/drawingml/2006/main">
            <a:off x="4705350" y="3257550"/>
            <a:ext cx="1790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Network</a:t>
            </a:r>
          </a:p>
        </p:txBody>
      </p:sp>
      <p:sp>
        <p:nvSpPr>
          <p:cNvPr id="6" name="Wrong control selected">
            <a:extLst xmlns:a="http://schemas.openxmlformats.org/drawingml/2006/main">
              <a:ext uri="{FF2B5EF4-FFF2-40B4-BE49-F238E27FC236}">
                <a16:creationId xmlns:a16="http://schemas.microsoft.com/office/drawing/2014/main" id="{C5081E49-E2FB-4D1B-8F7E-7A8A2E47FBDB}"/>
              </a:ext>
            </a:extLst>
          </p:cNvPr>
          <p:cNvSpPr>
            <a:spLocks xmlns:a="http://schemas.openxmlformats.org/drawingml/2006/main" noGrp="1"/>
          </p:cNvSpPr>
          <p:nvPr/>
        </p:nvSpPr>
        <p:spPr>
          <a:xfrm xmlns:a="http://schemas.openxmlformats.org/drawingml/2006/main">
            <a:off x="6781800" y="3257550"/>
            <a:ext cx="4724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Wrong control selected</a:t>
            </a:r>
          </a:p>
        </p:txBody>
      </p:sp>
      <p:sp>
        <p:nvSpPr>
          <p:cNvPr id="7" name="API access">
            <a:extLst xmlns:a="http://schemas.openxmlformats.org/drawingml/2006/main">
              <a:ext uri="{FF2B5EF4-FFF2-40B4-BE49-F238E27FC236}">
                <a16:creationId xmlns:a16="http://schemas.microsoft.com/office/drawing/2014/main" id="{C976A0F3-AF20-42E9-8AE6-CAE46CAD44C9}"/>
              </a:ext>
            </a:extLst>
          </p:cNvPr>
          <p:cNvSpPr>
            <a:spLocks xmlns:a="http://schemas.openxmlformats.org/drawingml/2006/main" noGrp="1"/>
          </p:cNvSpPr>
          <p:nvPr/>
        </p:nvSpPr>
        <p:spPr>
          <a:xfrm xmlns:a="http://schemas.openxmlformats.org/drawingml/2006/main">
            <a:off x="4705350" y="4086225"/>
            <a:ext cx="1790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API access</a:t>
            </a:r>
          </a:p>
        </p:txBody>
      </p:sp>
      <p:sp>
        <p:nvSpPr>
          <p:cNvPr id="8" name="Human disposition required">
            <a:extLst xmlns:a="http://schemas.openxmlformats.org/drawingml/2006/main">
              <a:ext uri="{FF2B5EF4-FFF2-40B4-BE49-F238E27FC236}">
                <a16:creationId xmlns:a16="http://schemas.microsoft.com/office/drawing/2014/main" id="{D6ED7A59-69BB-4172-B3B9-26BB45844B72}"/>
              </a:ext>
            </a:extLst>
          </p:cNvPr>
          <p:cNvSpPr>
            <a:spLocks xmlns:a="http://schemas.openxmlformats.org/drawingml/2006/main" noGrp="1"/>
          </p:cNvSpPr>
          <p:nvPr/>
        </p:nvSpPr>
        <p:spPr>
          <a:xfrm xmlns:a="http://schemas.openxmlformats.org/drawingml/2006/main">
            <a:off x="6781800" y="4086225"/>
            <a:ext cx="4724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Human disposition required</a:t>
            </a:r>
          </a:p>
        </p:txBody>
      </p:sp>
      <p:sp>
        <p:nvSpPr>
          <p:cNvPr id="9" name="Rollout / expiry">
            <a:extLst xmlns:a="http://schemas.openxmlformats.org/drawingml/2006/main">
              <a:ext uri="{FF2B5EF4-FFF2-40B4-BE49-F238E27FC236}">
                <a16:creationId xmlns:a16="http://schemas.microsoft.com/office/drawing/2014/main" id="{6C8ADF45-80B9-4BAC-878F-C0B72704B256}"/>
              </a:ext>
            </a:extLst>
          </p:cNvPr>
          <p:cNvSpPr>
            <a:spLocks xmlns:a="http://schemas.openxmlformats.org/drawingml/2006/main" noGrp="1"/>
          </p:cNvSpPr>
          <p:nvPr/>
        </p:nvSpPr>
        <p:spPr>
          <a:xfrm xmlns:a="http://schemas.openxmlformats.org/drawingml/2006/main">
            <a:off x="4705350" y="4914900"/>
            <a:ext cx="1790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D8BD"/>
                </a:solidFill>
                <a:latin typeface="Arial"/>
                <a:ea typeface="Arial"/>
                <a:cs typeface="Arial"/>
              </a:defRPr>
            </a:defPPr>
          </a:lstStyle>
          <a:p xmlns:a="http://schemas.openxmlformats.org/drawingml/2006/main">
            <a:pPr>
              <a:defRPr sz="2100" b="1">
                <a:solidFill>
                  <a:srgbClr val="25D8BD"/>
                </a:solidFill>
                <a:latin typeface="Arial"/>
                <a:ea typeface="Arial"/>
                <a:cs typeface="Arial"/>
              </a:defRPr>
            </a:pPr>
            <a:r>
              <a:rPr sz="2100" b="1">
                <a:solidFill>
                  <a:srgbClr val="25D8BD"/>
                </a:solidFill>
                <a:latin typeface="Arial"/>
                <a:ea typeface="Arial"/>
                <a:cs typeface="Arial"/>
              </a:rPr>
              <a:t>Rollout / expiry</a:t>
            </a:r>
          </a:p>
        </p:txBody>
      </p:sp>
      <p:sp>
        <p:nvSpPr>
          <p:cNvPr id="10" name="Wrong control selected">
            <a:extLst xmlns:a="http://schemas.openxmlformats.org/drawingml/2006/main">
              <a:ext uri="{FF2B5EF4-FFF2-40B4-BE49-F238E27FC236}">
                <a16:creationId xmlns:a16="http://schemas.microsoft.com/office/drawing/2014/main" id="{A91ADDF3-C77A-46FC-BCB5-370492B072B3}"/>
              </a:ext>
            </a:extLst>
          </p:cNvPr>
          <p:cNvSpPr>
            <a:spLocks xmlns:a="http://schemas.openxmlformats.org/drawingml/2006/main" noGrp="1"/>
          </p:cNvSpPr>
          <p:nvPr/>
        </p:nvSpPr>
        <p:spPr>
          <a:xfrm xmlns:a="http://schemas.openxmlformats.org/drawingml/2006/main">
            <a:off x="6781800" y="4914900"/>
            <a:ext cx="4724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Wrong control selected</a:t>
            </a:r>
          </a:p>
        </p:txBody>
      </p:sp>
      <p:sp>
        <p:nvSpPr>
          <p:cNvPr id="11" name="Record the enforcement owner and the evidence re">
            <a:extLst xmlns:a="http://schemas.openxmlformats.org/drawingml/2006/main">
              <a:ext uri="{FF2B5EF4-FFF2-40B4-BE49-F238E27FC236}">
                <a16:creationId xmlns:a16="http://schemas.microsoft.com/office/drawing/2014/main" id="{9FB84ED7-12E4-4EE3-AE20-A497621E5BAD}"/>
              </a:ext>
            </a:extLst>
          </p:cNvPr>
          <p:cNvSpPr>
            <a:spLocks xmlns:a="http://schemas.openxmlformats.org/drawingml/2006/main" noGrp="1"/>
          </p:cNvSpPr>
          <p:nvPr/>
        </p:nvSpPr>
        <p:spPr>
          <a:xfrm xmlns:a="http://schemas.openxmlformats.org/drawingml/2006/main">
            <a:off x="628650" y="59340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2EFE7"/>
                </a:solidFill>
                <a:latin typeface="Arial"/>
                <a:ea typeface="Arial"/>
                <a:cs typeface="Arial"/>
              </a:defRPr>
            </a:defPPr>
          </a:lstStyle>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Record the enforcement owner and the evidence required to proceed.</a:t>
            </a:r>
          </a:p>
        </p:txBody>
      </p:sp>
      <p:sp>
        <p:nvSpPr>
          <p:cNvPr id="12" name="ISC2 SECURITY CONGRESS 2026 / SC2632">
            <a:extLst xmlns:a="http://schemas.openxmlformats.org/drawingml/2006/main">
              <a:ext uri="{FF2B5EF4-FFF2-40B4-BE49-F238E27FC236}">
                <a16:creationId xmlns:a16="http://schemas.microsoft.com/office/drawing/2014/main" id="{AA7F36E7-9647-4D23-9CC6-BBE56A14585D}"/>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13" name="26">
            <a:extLst xmlns:a="http://schemas.openxmlformats.org/drawingml/2006/main">
              <a:ext uri="{FF2B5EF4-FFF2-40B4-BE49-F238E27FC236}">
                <a16:creationId xmlns:a16="http://schemas.microsoft.com/office/drawing/2014/main" id="{E8900519-6539-4BE9-968E-09AE43DBF5AE}"/>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26</a:t>
            </a:r>
          </a:p>
        </p:txBody>
      </p:sp>
    </p:spTree>
    <p:extLst>
      <p:ext uri="{BB962C8B-B14F-4D97-AF65-F5344CB8AC3E}">
        <p14:creationId xmlns:p14="http://schemas.microsoft.com/office/powerpoint/2010/main" val="1796516721"/>
      </p:ext>
    </p:extLst>
  </p:cSld>
</p:sld>
</file>

<file path=ppt/slides/slide27.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22" name="CANDIDATE SCREENING / THREE-RUN WORKFLOW MEDIANS">
            <a:extLst xmlns:a="http://schemas.openxmlformats.org/drawingml/2006/main">
              <a:ext uri="{FF2B5EF4-FFF2-40B4-BE49-F238E27FC236}">
                <a16:creationId xmlns:a16="http://schemas.microsoft.com/office/drawing/2014/main" id="{8F27B4CB-185D-4A11-84DB-9E5C60A6EFBA}"/>
              </a:ext>
            </a:extLst>
          </p:cNvPr>
          <p:cNvSpPr>
            <a:spLocks xmlns:a="http://schemas.openxmlformats.org/drawingml/2006/main" noGrp="1"/>
          </p:cNvSpPr>
          <p:nvPr/>
        </p:nvSpPr>
        <p:spPr>
          <a:xfrm xmlns:a="http://schemas.openxmlformats.org/drawingml/2006/main">
            <a:off x="609600" y="476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CANDIDATE SCREENING / THREE-RUN WORKFLOW MEDIANS</a:t>
            </a:r>
          </a:p>
        </p:txBody>
      </p:sp>
      <p:sp>
        <p:nvSpPr>
          <p:cNvPr id="2" name="Evidence for model selection">
            <a:extLst xmlns:a="http://schemas.openxmlformats.org/drawingml/2006/main">
              <a:ext uri="{FF2B5EF4-FFF2-40B4-BE49-F238E27FC236}">
                <a16:creationId xmlns:a16="http://schemas.microsoft.com/office/drawing/2014/main" id="{527FC0B4-6E41-4342-8437-8A2766B1FC4F}"/>
              </a:ext>
            </a:extLst>
          </p:cNvPr>
          <p:cNvSpPr>
            <a:spLocks xmlns:a="http://schemas.openxmlformats.org/drawingml/2006/main" noGrp="1"/>
          </p:cNvSpPr>
          <p:nvPr/>
        </p:nvSpPr>
        <p:spPr>
          <a:xfrm xmlns:a="http://schemas.openxmlformats.org/drawingml/2006/main">
            <a:off x="609600" y="1123950"/>
            <a:ext cx="1085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0B1822"/>
                </a:solidFill>
                <a:latin typeface="Arial Black"/>
                <a:ea typeface="Arial Black"/>
                <a:cs typeface="Arial Black"/>
              </a:defRPr>
            </a:defPPr>
          </a:lstStyle>
          <a:p xmlns:a="http://schemas.openxmlformats.org/drawingml/2006/main">
            <a:pPr>
              <a:defRPr sz="4050" b="1">
                <a:solidFill>
                  <a:srgbClr val="0B1822"/>
                </a:solidFill>
                <a:latin typeface="Arial Black"/>
                <a:ea typeface="Arial Black"/>
                <a:cs typeface="Arial Black"/>
              </a:defRPr>
            </a:pPr>
            <a:r>
              <a:rPr sz="4050" b="1">
                <a:solidFill>
                  <a:srgbClr val="0B1822"/>
                </a:solidFill>
                <a:latin typeface="Arial Black"/>
                <a:ea typeface="Arial Black"/>
                <a:cs typeface="Arial Black"/>
              </a:rPr>
              <a:t>Evidence for model selection</a:t>
            </a:r>
          </a:p>
        </p:txBody>
      </p:sp>
      <p:sp>
        <p:nvSpPr>
          <p:cNvPr id="3" name="Compare the work completed and the review still ">
            <a:extLst xmlns:a="http://schemas.openxmlformats.org/drawingml/2006/main">
              <a:ext uri="{FF2B5EF4-FFF2-40B4-BE49-F238E27FC236}">
                <a16:creationId xmlns:a16="http://schemas.microsoft.com/office/drawing/2014/main" id="{CBABF89C-3DDC-4CFE-9BDF-78ED65963E24}"/>
              </a:ext>
            </a:extLst>
          </p:cNvPr>
          <p:cNvSpPr>
            <a:spLocks xmlns:a="http://schemas.openxmlformats.org/drawingml/2006/main" noGrp="1"/>
          </p:cNvSpPr>
          <p:nvPr/>
        </p:nvSpPr>
        <p:spPr>
          <a:xfrm xmlns:a="http://schemas.openxmlformats.org/drawingml/2006/main">
            <a:off x="628650" y="21050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B1822"/>
                </a:solidFill>
                <a:latin typeface="Arial"/>
                <a:ea typeface="Arial"/>
                <a:cs typeface="Arial"/>
              </a:defRPr>
            </a:defPPr>
          </a:lstStyle>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Compare the work completed and the review still required.</a:t>
            </a:r>
          </a:p>
        </p:txBody>
      </p:sp>
      <p:sp>
        <p:nvSpPr>
          <p:cNvPr id="4" name="JEV 1.13">
            <a:extLst xmlns:a="http://schemas.openxmlformats.org/drawingml/2006/main">
              <a:ext uri="{FF2B5EF4-FFF2-40B4-BE49-F238E27FC236}">
                <a16:creationId xmlns:a16="http://schemas.microsoft.com/office/drawing/2014/main" id="{D8B89BD8-6D75-4E2D-8C19-4A6C40DC693C}"/>
              </a:ext>
            </a:extLst>
          </p:cNvPr>
          <p:cNvSpPr>
            <a:spLocks xmlns:a="http://schemas.openxmlformats.org/drawingml/2006/main" noGrp="1"/>
          </p:cNvSpPr>
          <p:nvPr/>
        </p:nvSpPr>
        <p:spPr>
          <a:xfrm xmlns:a="http://schemas.openxmlformats.org/drawingml/2006/main">
            <a:off x="628650" y="25050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E79"/>
                </a:solidFill>
                <a:latin typeface="Arial"/>
                <a:ea typeface="Arial"/>
                <a:cs typeface="Arial"/>
              </a:defRPr>
            </a:defPPr>
          </a:lstStyle>
          <a:p xmlns:a="http://schemas.openxmlformats.org/drawingml/2006/main">
            <a:pPr>
              <a:defRPr sz="1425" b="1">
                <a:solidFill>
                  <a:srgbClr val="087E79"/>
                </a:solidFill>
                <a:latin typeface="Arial"/>
                <a:ea typeface="Arial"/>
                <a:cs typeface="Arial"/>
              </a:defRPr>
            </a:pPr>
            <a:r>
              <a:rPr sz="1425" b="1">
                <a:solidFill>
                  <a:srgbClr val="087E79"/>
                </a:solidFill>
                <a:latin typeface="Arial"/>
                <a:ea typeface="Arial"/>
                <a:cs typeface="Arial"/>
              </a:rPr>
              <a:t>JEV 1.13</a:t>
            </a:r>
          </a:p>
        </p:txBody>
      </p:sp>
      <p:sp>
        <p:nvSpPr>
          <p:cNvPr id="5" name="30/33">
            <a:extLst xmlns:a="http://schemas.openxmlformats.org/drawingml/2006/main">
              <a:ext uri="{FF2B5EF4-FFF2-40B4-BE49-F238E27FC236}">
                <a16:creationId xmlns:a16="http://schemas.microsoft.com/office/drawing/2014/main" id="{62673BA9-E414-48E4-8E98-5CB18BF1C083}"/>
              </a:ext>
            </a:extLst>
          </p:cNvPr>
          <p:cNvSpPr>
            <a:spLocks xmlns:a="http://schemas.openxmlformats.org/drawingml/2006/main" noGrp="1"/>
          </p:cNvSpPr>
          <p:nvPr/>
        </p:nvSpPr>
        <p:spPr>
          <a:xfrm xmlns:a="http://schemas.openxmlformats.org/drawingml/2006/main">
            <a:off x="628650" y="3019425"/>
            <a:ext cx="3667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025" b="1">
                <a:solidFill>
                  <a:srgbClr val="0B1822"/>
                </a:solidFill>
                <a:latin typeface="Arial Black"/>
                <a:ea typeface="Arial Black"/>
                <a:cs typeface="Arial Black"/>
              </a:defRPr>
            </a:defPPr>
          </a:lstStyle>
          <a:p xmlns:a="http://schemas.openxmlformats.org/drawingml/2006/main">
            <a:pPr>
              <a:defRPr sz="5025" b="1">
                <a:solidFill>
                  <a:srgbClr val="0B1822"/>
                </a:solidFill>
                <a:latin typeface="Arial Black"/>
                <a:ea typeface="Arial Black"/>
                <a:cs typeface="Arial Black"/>
              </a:defRPr>
            </a:pPr>
            <a:r>
              <a:rPr sz="5025" b="1">
                <a:solidFill>
                  <a:srgbClr val="0B1822"/>
                </a:solidFill>
                <a:latin typeface="Arial Black"/>
                <a:ea typeface="Arial Black"/>
                <a:cs typeface="Arial Black"/>
              </a:rPr>
              <a:t>30/33</a:t>
            </a:r>
          </a:p>
        </p:txBody>
      </p:sp>
      <p:sp>
        <p:nvSpPr>
          <p:cNvPr id="6" name="1.82 s / run">
            <a:extLst xmlns:a="http://schemas.openxmlformats.org/drawingml/2006/main">
              <a:ext uri="{FF2B5EF4-FFF2-40B4-BE49-F238E27FC236}">
                <a16:creationId xmlns:a16="http://schemas.microsoft.com/office/drawing/2014/main" id="{81E8FF65-553D-4C81-90DB-60A0B1902FF5}"/>
              </a:ext>
            </a:extLst>
          </p:cNvPr>
          <p:cNvSpPr>
            <a:spLocks xmlns:a="http://schemas.openxmlformats.org/drawingml/2006/main" noGrp="1"/>
          </p:cNvSpPr>
          <p:nvPr/>
        </p:nvSpPr>
        <p:spPr>
          <a:xfrm xmlns:a="http://schemas.openxmlformats.org/drawingml/2006/main">
            <a:off x="628650" y="4162425"/>
            <a:ext cx="3629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1822"/>
                </a:solidFill>
                <a:latin typeface="Arial"/>
                <a:ea typeface="Arial"/>
                <a:cs typeface="Arial"/>
              </a:defRPr>
            </a:defPPr>
          </a:lstStyle>
          <a:p xmlns:a="http://schemas.openxmlformats.org/drawingml/2006/main">
            <a:pPr>
              <a:defRPr sz="2550" b="1">
                <a:solidFill>
                  <a:srgbClr val="0B1822"/>
                </a:solidFill>
                <a:latin typeface="Arial"/>
                <a:ea typeface="Arial"/>
                <a:cs typeface="Arial"/>
              </a:defRPr>
            </a:pPr>
            <a:r>
              <a:rPr sz="2550" b="1">
                <a:solidFill>
                  <a:srgbClr val="0B1822"/>
                </a:solidFill>
                <a:latin typeface="Arial"/>
                <a:ea typeface="Arial"/>
                <a:cs typeface="Arial"/>
              </a:rPr>
              <a:t>1.82 s / run</a:t>
            </a:r>
          </a:p>
        </p:txBody>
      </p:sp>
      <p:sp>
        <p:nvSpPr>
          <p:cNvPr id="7" name="$0.00019 / run">
            <a:extLst xmlns:a="http://schemas.openxmlformats.org/drawingml/2006/main">
              <a:ext uri="{FF2B5EF4-FFF2-40B4-BE49-F238E27FC236}">
                <a16:creationId xmlns:a16="http://schemas.microsoft.com/office/drawing/2014/main" id="{39A0884C-8A9C-4929-8FD1-B288245BB96B}"/>
              </a:ext>
            </a:extLst>
          </p:cNvPr>
          <p:cNvSpPr>
            <a:spLocks xmlns:a="http://schemas.openxmlformats.org/drawingml/2006/main" noGrp="1"/>
          </p:cNvSpPr>
          <p:nvPr/>
        </p:nvSpPr>
        <p:spPr>
          <a:xfrm xmlns:a="http://schemas.openxmlformats.org/drawingml/2006/main">
            <a:off x="628650" y="4752975"/>
            <a:ext cx="3629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$0.00019 / run</a:t>
            </a:r>
          </a:p>
        </p:txBody>
      </p:sp>
      <p:sp>
        <p:nvSpPr>
          <p:cNvPr id="8" name="Guardrail generated">
            <a:extLst xmlns:a="http://schemas.openxmlformats.org/drawingml/2006/main">
              <a:ext uri="{FF2B5EF4-FFF2-40B4-BE49-F238E27FC236}">
                <a16:creationId xmlns:a16="http://schemas.microsoft.com/office/drawing/2014/main" id="{B90140A5-4E92-431F-B21C-ECC764A5797F}"/>
              </a:ext>
            </a:extLst>
          </p:cNvPr>
          <p:cNvSpPr>
            <a:spLocks xmlns:a="http://schemas.openxmlformats.org/drawingml/2006/main" noGrp="1"/>
          </p:cNvSpPr>
          <p:nvPr/>
        </p:nvSpPr>
        <p:spPr>
          <a:xfrm xmlns:a="http://schemas.openxmlformats.org/drawingml/2006/main">
            <a:off x="628650" y="5391150"/>
            <a:ext cx="3667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Guardrail generated</a:t>
            </a:r>
          </a:p>
        </p:txBody>
      </p:sp>
      <p:sp>
        <p:nvSpPr>
          <p:cNvPr id="9" name="CLAUDE OPUS 5.5">
            <a:extLst xmlns:a="http://schemas.openxmlformats.org/drawingml/2006/main">
              <a:ext uri="{FF2B5EF4-FFF2-40B4-BE49-F238E27FC236}">
                <a16:creationId xmlns:a16="http://schemas.microsoft.com/office/drawing/2014/main" id="{024EF777-9512-4837-8EE2-0149B7339F6E}"/>
              </a:ext>
            </a:extLst>
          </p:cNvPr>
          <p:cNvSpPr>
            <a:spLocks xmlns:a="http://schemas.openxmlformats.org/drawingml/2006/main" noGrp="1"/>
          </p:cNvSpPr>
          <p:nvPr/>
        </p:nvSpPr>
        <p:spPr>
          <a:xfrm xmlns:a="http://schemas.openxmlformats.org/drawingml/2006/main">
            <a:off x="4457700" y="25050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E79"/>
                </a:solidFill>
                <a:latin typeface="Arial"/>
                <a:ea typeface="Arial"/>
                <a:cs typeface="Arial"/>
              </a:defRPr>
            </a:defPPr>
          </a:lstStyle>
          <a:p xmlns:a="http://schemas.openxmlformats.org/drawingml/2006/main">
            <a:pPr>
              <a:defRPr sz="1425" b="1">
                <a:solidFill>
                  <a:srgbClr val="087E79"/>
                </a:solidFill>
                <a:latin typeface="Arial"/>
                <a:ea typeface="Arial"/>
                <a:cs typeface="Arial"/>
              </a:defRPr>
            </a:pPr>
            <a:r>
              <a:rPr sz="1425" b="1">
                <a:solidFill>
                  <a:srgbClr val="087E79"/>
                </a:solidFill>
                <a:latin typeface="Arial"/>
                <a:ea typeface="Arial"/>
                <a:cs typeface="Arial"/>
              </a:rPr>
              <a:t>CLAUDE OPUS 5.5</a:t>
            </a:r>
          </a:p>
        </p:txBody>
      </p:sp>
      <p:sp>
        <p:nvSpPr>
          <p:cNvPr id="10" name="32/33">
            <a:extLst xmlns:a="http://schemas.openxmlformats.org/drawingml/2006/main">
              <a:ext uri="{FF2B5EF4-FFF2-40B4-BE49-F238E27FC236}">
                <a16:creationId xmlns:a16="http://schemas.microsoft.com/office/drawing/2014/main" id="{20641A49-9F98-4FBB-B0EC-87FE72C2270C}"/>
              </a:ext>
            </a:extLst>
          </p:cNvPr>
          <p:cNvSpPr>
            <a:spLocks xmlns:a="http://schemas.openxmlformats.org/drawingml/2006/main" noGrp="1"/>
          </p:cNvSpPr>
          <p:nvPr/>
        </p:nvSpPr>
        <p:spPr>
          <a:xfrm xmlns:a="http://schemas.openxmlformats.org/drawingml/2006/main">
            <a:off x="4457700" y="3019425"/>
            <a:ext cx="3667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025" b="1">
                <a:solidFill>
                  <a:srgbClr val="0B1822"/>
                </a:solidFill>
                <a:latin typeface="Arial Black"/>
                <a:ea typeface="Arial Black"/>
                <a:cs typeface="Arial Black"/>
              </a:defRPr>
            </a:defPPr>
          </a:lstStyle>
          <a:p xmlns:a="http://schemas.openxmlformats.org/drawingml/2006/main">
            <a:pPr>
              <a:defRPr sz="5025" b="1">
                <a:solidFill>
                  <a:srgbClr val="0B1822"/>
                </a:solidFill>
                <a:latin typeface="Arial Black"/>
                <a:ea typeface="Arial Black"/>
                <a:cs typeface="Arial Black"/>
              </a:defRPr>
            </a:pPr>
            <a:r>
              <a:rPr sz="5025" b="1">
                <a:solidFill>
                  <a:srgbClr val="0B1822"/>
                </a:solidFill>
                <a:latin typeface="Arial Black"/>
                <a:ea typeface="Arial Black"/>
                <a:cs typeface="Arial Black"/>
              </a:rPr>
              <a:t>32/33</a:t>
            </a:r>
          </a:p>
        </p:txBody>
      </p:sp>
      <p:sp>
        <p:nvSpPr>
          <p:cNvPr id="11" name="24.18 s / run">
            <a:extLst xmlns:a="http://schemas.openxmlformats.org/drawingml/2006/main">
              <a:ext uri="{FF2B5EF4-FFF2-40B4-BE49-F238E27FC236}">
                <a16:creationId xmlns:a16="http://schemas.microsoft.com/office/drawing/2014/main" id="{6EB2C1E3-D7AB-466A-AA9F-4A8C09B3C18F}"/>
              </a:ext>
            </a:extLst>
          </p:cNvPr>
          <p:cNvSpPr>
            <a:spLocks xmlns:a="http://schemas.openxmlformats.org/drawingml/2006/main" noGrp="1"/>
          </p:cNvSpPr>
          <p:nvPr/>
        </p:nvSpPr>
        <p:spPr>
          <a:xfrm xmlns:a="http://schemas.openxmlformats.org/drawingml/2006/main">
            <a:off x="4457700" y="4162425"/>
            <a:ext cx="3629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1822"/>
                </a:solidFill>
                <a:latin typeface="Arial"/>
                <a:ea typeface="Arial"/>
                <a:cs typeface="Arial"/>
              </a:defRPr>
            </a:defPPr>
          </a:lstStyle>
          <a:p xmlns:a="http://schemas.openxmlformats.org/drawingml/2006/main">
            <a:pPr>
              <a:defRPr sz="2550" b="1">
                <a:solidFill>
                  <a:srgbClr val="0B1822"/>
                </a:solidFill>
                <a:latin typeface="Arial"/>
                <a:ea typeface="Arial"/>
                <a:cs typeface="Arial"/>
              </a:defRPr>
            </a:pPr>
            <a:r>
              <a:rPr sz="2550" b="1">
                <a:solidFill>
                  <a:srgbClr val="0B1822"/>
                </a:solidFill>
                <a:latin typeface="Arial"/>
                <a:ea typeface="Arial"/>
                <a:cs typeface="Arial"/>
              </a:rPr>
              <a:t>24.18 s / run</a:t>
            </a:r>
          </a:p>
        </p:txBody>
      </p:sp>
      <p:sp>
        <p:nvSpPr>
          <p:cNvPr id="12" name="$0.03795 / run">
            <a:extLst xmlns:a="http://schemas.openxmlformats.org/drawingml/2006/main">
              <a:ext uri="{FF2B5EF4-FFF2-40B4-BE49-F238E27FC236}">
                <a16:creationId xmlns:a16="http://schemas.microsoft.com/office/drawing/2014/main" id="{8D75320F-EFCE-430F-B4D2-89114F4BD0DE}"/>
              </a:ext>
            </a:extLst>
          </p:cNvPr>
          <p:cNvSpPr>
            <a:spLocks xmlns:a="http://schemas.openxmlformats.org/drawingml/2006/main" noGrp="1"/>
          </p:cNvSpPr>
          <p:nvPr/>
        </p:nvSpPr>
        <p:spPr>
          <a:xfrm xmlns:a="http://schemas.openxmlformats.org/drawingml/2006/main">
            <a:off x="4457700" y="4752975"/>
            <a:ext cx="3629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$0.03795 / run</a:t>
            </a:r>
          </a:p>
        </p:txBody>
      </p:sp>
      <p:sp>
        <p:nvSpPr>
          <p:cNvPr id="13" name="Guardrail generated">
            <a:extLst xmlns:a="http://schemas.openxmlformats.org/drawingml/2006/main">
              <a:ext uri="{FF2B5EF4-FFF2-40B4-BE49-F238E27FC236}">
                <a16:creationId xmlns:a16="http://schemas.microsoft.com/office/drawing/2014/main" id="{5023DA62-5330-4D9E-9335-6A41EF8F9E72}"/>
              </a:ext>
            </a:extLst>
          </p:cNvPr>
          <p:cNvSpPr>
            <a:spLocks xmlns:a="http://schemas.openxmlformats.org/drawingml/2006/main" noGrp="1"/>
          </p:cNvSpPr>
          <p:nvPr/>
        </p:nvSpPr>
        <p:spPr>
          <a:xfrm xmlns:a="http://schemas.openxmlformats.org/drawingml/2006/main">
            <a:off x="4457700" y="5391150"/>
            <a:ext cx="3667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Guardrail generated</a:t>
            </a:r>
          </a:p>
        </p:txBody>
      </p:sp>
      <p:sp>
        <p:nvSpPr>
          <p:cNvPr id="14" name="LAYA / ZERO-SHOT">
            <a:extLst xmlns:a="http://schemas.openxmlformats.org/drawingml/2006/main">
              <a:ext uri="{FF2B5EF4-FFF2-40B4-BE49-F238E27FC236}">
                <a16:creationId xmlns:a16="http://schemas.microsoft.com/office/drawing/2014/main" id="{A905C842-641E-42E3-9595-17F02D8E09C1}"/>
              </a:ext>
            </a:extLst>
          </p:cNvPr>
          <p:cNvSpPr>
            <a:spLocks xmlns:a="http://schemas.openxmlformats.org/drawingml/2006/main" noGrp="1"/>
          </p:cNvSpPr>
          <p:nvPr/>
        </p:nvSpPr>
        <p:spPr>
          <a:xfrm xmlns:a="http://schemas.openxmlformats.org/drawingml/2006/main">
            <a:off x="8286750" y="25050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FF795B"/>
                </a:solidFill>
                <a:latin typeface="Arial"/>
                <a:ea typeface="Arial"/>
                <a:cs typeface="Arial"/>
              </a:defRPr>
            </a:defPPr>
          </a:lstStyle>
          <a:p xmlns:a="http://schemas.openxmlformats.org/drawingml/2006/main">
            <a:pPr>
              <a:defRPr sz="1425" b="1">
                <a:solidFill>
                  <a:srgbClr val="FF795B"/>
                </a:solidFill>
                <a:latin typeface="Arial"/>
                <a:ea typeface="Arial"/>
                <a:cs typeface="Arial"/>
              </a:defRPr>
            </a:pPr>
            <a:r>
              <a:rPr sz="1425" b="1">
                <a:solidFill>
                  <a:srgbClr val="FF795B"/>
                </a:solidFill>
                <a:latin typeface="Arial"/>
                <a:ea typeface="Arial"/>
                <a:cs typeface="Arial"/>
              </a:rPr>
              <a:t>LAYA / ZERO-SHOT</a:t>
            </a:r>
          </a:p>
        </p:txBody>
      </p:sp>
      <p:sp>
        <p:nvSpPr>
          <p:cNvPr id="15" name="16/33">
            <a:extLst xmlns:a="http://schemas.openxmlformats.org/drawingml/2006/main">
              <a:ext uri="{FF2B5EF4-FFF2-40B4-BE49-F238E27FC236}">
                <a16:creationId xmlns:a16="http://schemas.microsoft.com/office/drawing/2014/main" id="{AFE3C28E-5D17-4AC7-96B7-B5AE52544D68}"/>
              </a:ext>
            </a:extLst>
          </p:cNvPr>
          <p:cNvSpPr>
            <a:spLocks xmlns:a="http://schemas.openxmlformats.org/drawingml/2006/main" noGrp="1"/>
          </p:cNvSpPr>
          <p:nvPr/>
        </p:nvSpPr>
        <p:spPr>
          <a:xfrm xmlns:a="http://schemas.openxmlformats.org/drawingml/2006/main">
            <a:off x="8286750" y="3019425"/>
            <a:ext cx="3667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025" b="1">
                <a:solidFill>
                  <a:srgbClr val="0B1822"/>
                </a:solidFill>
                <a:latin typeface="Arial Black"/>
                <a:ea typeface="Arial Black"/>
                <a:cs typeface="Arial Black"/>
              </a:defRPr>
            </a:defPPr>
          </a:lstStyle>
          <a:p xmlns:a="http://schemas.openxmlformats.org/drawingml/2006/main">
            <a:pPr>
              <a:defRPr sz="5025" b="1">
                <a:solidFill>
                  <a:srgbClr val="0B1822"/>
                </a:solidFill>
                <a:latin typeface="Arial Black"/>
                <a:ea typeface="Arial Black"/>
                <a:cs typeface="Arial Black"/>
              </a:defRPr>
            </a:pPr>
            <a:r>
              <a:rPr sz="5025" b="1">
                <a:solidFill>
                  <a:srgbClr val="0B1822"/>
                </a:solidFill>
                <a:latin typeface="Arial Black"/>
                <a:ea typeface="Arial Black"/>
                <a:cs typeface="Arial Black"/>
              </a:rPr>
              <a:t>16/33</a:t>
            </a:r>
          </a:p>
        </p:txBody>
      </p:sp>
      <p:sp>
        <p:nvSpPr>
          <p:cNvPr id="16" name="0.41 s / run">
            <a:extLst xmlns:a="http://schemas.openxmlformats.org/drawingml/2006/main">
              <a:ext uri="{FF2B5EF4-FFF2-40B4-BE49-F238E27FC236}">
                <a16:creationId xmlns:a16="http://schemas.microsoft.com/office/drawing/2014/main" id="{5341C48E-723A-4C8C-A79A-6E6964D080C2}"/>
              </a:ext>
            </a:extLst>
          </p:cNvPr>
          <p:cNvSpPr>
            <a:spLocks xmlns:a="http://schemas.openxmlformats.org/drawingml/2006/main" noGrp="1"/>
          </p:cNvSpPr>
          <p:nvPr/>
        </p:nvSpPr>
        <p:spPr>
          <a:xfrm xmlns:a="http://schemas.openxmlformats.org/drawingml/2006/main">
            <a:off x="8286750" y="4162425"/>
            <a:ext cx="3629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1822"/>
                </a:solidFill>
                <a:latin typeface="Arial"/>
                <a:ea typeface="Arial"/>
                <a:cs typeface="Arial"/>
              </a:defRPr>
            </a:defPPr>
          </a:lstStyle>
          <a:p xmlns:a="http://schemas.openxmlformats.org/drawingml/2006/main">
            <a:pPr>
              <a:defRPr sz="2550" b="1">
                <a:solidFill>
                  <a:srgbClr val="0B1822"/>
                </a:solidFill>
                <a:latin typeface="Arial"/>
                <a:ea typeface="Arial"/>
                <a:cs typeface="Arial"/>
              </a:defRPr>
            </a:pPr>
            <a:r>
              <a:rPr sz="2550" b="1">
                <a:solidFill>
                  <a:srgbClr val="0B1822"/>
                </a:solidFill>
                <a:latin typeface="Arial"/>
                <a:ea typeface="Arial"/>
                <a:cs typeface="Arial"/>
              </a:rPr>
              <a:t>0.41 s / run</a:t>
            </a:r>
          </a:p>
        </p:txBody>
      </p:sp>
      <p:sp>
        <p:nvSpPr>
          <p:cNvPr id="17" name="$0 API* / run">
            <a:extLst xmlns:a="http://schemas.openxmlformats.org/drawingml/2006/main">
              <a:ext uri="{FF2B5EF4-FFF2-40B4-BE49-F238E27FC236}">
                <a16:creationId xmlns:a16="http://schemas.microsoft.com/office/drawing/2014/main" id="{57482EC0-C722-46B0-98E6-1104F7F1D897}"/>
              </a:ext>
            </a:extLst>
          </p:cNvPr>
          <p:cNvSpPr>
            <a:spLocks xmlns:a="http://schemas.openxmlformats.org/drawingml/2006/main" noGrp="1"/>
          </p:cNvSpPr>
          <p:nvPr/>
        </p:nvSpPr>
        <p:spPr>
          <a:xfrm xmlns:a="http://schemas.openxmlformats.org/drawingml/2006/main">
            <a:off x="8286750" y="4752975"/>
            <a:ext cx="3629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1822"/>
                </a:solidFill>
                <a:latin typeface="Arial"/>
                <a:ea typeface="Arial"/>
                <a:cs typeface="Arial"/>
              </a:defRPr>
            </a:defPPr>
          </a:lstStyle>
          <a:p xmlns:a="http://schemas.openxmlformats.org/drawingml/2006/main">
            <a:pPr>
              <a:defRPr sz="2025" b="0">
                <a:solidFill>
                  <a:srgbClr val="0B1822"/>
                </a:solidFill>
                <a:latin typeface="Arial"/>
                <a:ea typeface="Arial"/>
                <a:cs typeface="Arial"/>
              </a:defRPr>
            </a:pPr>
            <a:r>
              <a:rPr sz="2025" b="0">
                <a:solidFill>
                  <a:srgbClr val="0B1822"/>
                </a:solidFill>
                <a:latin typeface="Arial"/>
                <a:ea typeface="Arial"/>
                <a:cs typeface="Arial"/>
              </a:rPr>
              <a:t>$0 API* / run</a:t>
            </a:r>
          </a:p>
        </p:txBody>
      </p:sp>
      <p:sp>
        <p:nvSpPr>
          <p:cNvPr id="18" name="No guardrail generated">
            <a:extLst xmlns:a="http://schemas.openxmlformats.org/drawingml/2006/main">
              <a:ext uri="{FF2B5EF4-FFF2-40B4-BE49-F238E27FC236}">
                <a16:creationId xmlns:a16="http://schemas.microsoft.com/office/drawing/2014/main" id="{D6A3AAF0-94B6-409D-9010-215B9D218A2A}"/>
              </a:ext>
            </a:extLst>
          </p:cNvPr>
          <p:cNvSpPr>
            <a:spLocks xmlns:a="http://schemas.openxmlformats.org/drawingml/2006/main" noGrp="1"/>
          </p:cNvSpPr>
          <p:nvPr/>
        </p:nvSpPr>
        <p:spPr>
          <a:xfrm xmlns:a="http://schemas.openxmlformats.org/drawingml/2006/main">
            <a:off x="8286750" y="5391150"/>
            <a:ext cx="3667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795B"/>
                </a:solidFill>
                <a:latin typeface="Arial"/>
                <a:ea typeface="Arial"/>
                <a:cs typeface="Arial"/>
              </a:defRPr>
            </a:defPPr>
          </a:lstStyle>
          <a:p xmlns:a="http://schemas.openxmlformats.org/drawingml/2006/main">
            <a:pPr>
              <a:defRPr sz="1800" b="1">
                <a:solidFill>
                  <a:srgbClr val="FF795B"/>
                </a:solidFill>
                <a:latin typeface="Arial"/>
                <a:ea typeface="Arial"/>
                <a:cs typeface="Arial"/>
              </a:defRPr>
            </a:pPr>
            <a:r>
              <a:rPr sz="1800" b="1">
                <a:solidFill>
                  <a:srgbClr val="FF795B"/>
                </a:solidFill>
                <a:latin typeface="Arial"/>
                <a:ea typeface="Arial"/>
                <a:cs typeface="Arial"/>
              </a:rPr>
              <a:t>No guardrail generated</a:t>
            </a:r>
          </a:p>
        </p:txBody>
      </p:sp>
      <p:sp>
        <p:nvSpPr>
          <p:cNvPr id="19" name="33 authored choices. Review/deployment excluded.">
            <a:extLst xmlns:a="http://schemas.openxmlformats.org/drawingml/2006/main">
              <a:ext uri="{FF2B5EF4-FFF2-40B4-BE49-F238E27FC236}">
                <a16:creationId xmlns:a16="http://schemas.microsoft.com/office/drawing/2014/main" id="{B0B27242-52F0-49F6-A600-E3294F74075D}"/>
              </a:ext>
            </a:extLst>
          </p:cNvPr>
          <p:cNvSpPr>
            <a:spLocks xmlns:a="http://schemas.openxmlformats.org/drawingml/2006/main" noGrp="1"/>
          </p:cNvSpPr>
          <p:nvPr/>
        </p:nvSpPr>
        <p:spPr>
          <a:xfrm xmlns:a="http://schemas.openxmlformats.org/drawingml/2006/main">
            <a:off x="628650" y="59436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56C"/>
                </a:solidFill>
                <a:latin typeface="Arial"/>
                <a:ea typeface="Arial"/>
                <a:cs typeface="Arial"/>
              </a:defRPr>
            </a:defPPr>
          </a:lstStyle>
          <a:p xmlns:a="http://schemas.openxmlformats.org/drawingml/2006/main">
            <a:pPr>
              <a:defRPr sz="1200" b="0">
                <a:solidFill>
                  <a:srgbClr val="56656C"/>
                </a:solidFill>
                <a:latin typeface="Arial"/>
                <a:ea typeface="Arial"/>
                <a:cs typeface="Arial"/>
              </a:defRPr>
            </a:pPr>
            <a:r>
              <a:rPr sz="1200" b="0">
                <a:solidFill>
                  <a:srgbClr val="56656C"/>
                </a:solidFill>
                <a:latin typeface="Arial"/>
                <a:ea typeface="Arial"/>
                <a:cs typeface="Arial"/>
              </a:rPr>
              <a:t>33 authored choices. Review/deployment excluded. *Local compute unpriced; workflow incomplete.</a:t>
            </a:r>
          </a:p>
          <a:p xmlns:a="http://schemas.openxmlformats.org/drawingml/2006/main">
            <a:pPr>
              <a:defRPr sz="1200" b="0">
                <a:solidFill>
                  <a:srgbClr val="56656C"/>
                </a:solidFill>
                <a:latin typeface="Arial"/>
                <a:ea typeface="Arial"/>
                <a:cs typeface="Arial"/>
              </a:defRPr>
            </a:pPr>
            <a:r>
              <a:rPr sz="1200" b="0">
                <a:solidFill>
                  <a:srgbClr val="56656C"/>
                </a:solidFill>
                <a:latin typeface="Arial"/>
                <a:ea typeface="Arial"/>
                <a:cs typeface="Arial"/>
              </a:rPr>
              <a:t>Small pilot; no production winner. Measure error cost and reviewer effort before selecting a model.</a:t>
            </a:r>
          </a:p>
        </p:txBody>
      </p:sp>
      <p:sp>
        <p:nvSpPr>
          <p:cNvPr id="20" name="ISC2 SECURITY CONGRESS 2026 / SC2632">
            <a:extLst xmlns:a="http://schemas.openxmlformats.org/drawingml/2006/main">
              <a:ext uri="{FF2B5EF4-FFF2-40B4-BE49-F238E27FC236}">
                <a16:creationId xmlns:a16="http://schemas.microsoft.com/office/drawing/2014/main" id="{5B9816DE-4748-4307-9F17-38363D0AB62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21" name="27">
            <a:extLst xmlns:a="http://schemas.openxmlformats.org/drawingml/2006/main">
              <a:ext uri="{FF2B5EF4-FFF2-40B4-BE49-F238E27FC236}">
                <a16:creationId xmlns:a16="http://schemas.microsoft.com/office/drawing/2014/main" id="{DC264A18-390F-440B-922D-5B9A435A26C0}"/>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27</a:t>
            </a:r>
          </a:p>
        </p:txBody>
      </p:sp>
    </p:spTree>
    <p:extLst>
      <p:ext uri="{BB962C8B-B14F-4D97-AF65-F5344CB8AC3E}">
        <p14:creationId xmlns:p14="http://schemas.microsoft.com/office/powerpoint/2010/main" val="1240883673"/>
      </p:ext>
    </p:extLst>
  </p:cSld>
</p:sld>
</file>

<file path=ppt/slides/slide28.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7FDAB5B-A143-4119-BF45-FEE6C020BD30}"/>
              </a:ext>
            </a:extLst>
          </p:cNvPr>
          <p:cNvPicPr>
            <a:picLocks xmlns:a="http://schemas.openxmlformats.org/drawingml/2006/main" noChangeAspect="1"/>
          </p:cNvPicPr>
          <p:nvPr/>
        </p:nvPicPr>
        <p:blipFill>
          <a:blip xmlns:r="http://schemas.openxmlformats.org/officeDocument/2006/relationships" xmlns:a="http://schemas.openxmlformats.org/drawingml/2006/main" r:embed="R32d0f8b3cf4e40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4 MINUTES / DOCUMENT RECOVERY">
            <a:extLst xmlns:a="http://schemas.openxmlformats.org/drawingml/2006/main">
              <a:ext uri="{FF2B5EF4-FFF2-40B4-BE49-F238E27FC236}">
                <a16:creationId xmlns:a16="http://schemas.microsoft.com/office/drawing/2014/main" id="{B47482DC-86CA-4E16-B79F-B09E718AB21E}"/>
              </a:ext>
            </a:extLst>
          </p:cNvPr>
          <p:cNvSpPr>
            <a:spLocks xmlns:a="http://schemas.openxmlformats.org/drawingml/2006/main" noGrp="1"/>
          </p:cNvSpPr>
          <p:nvPr/>
        </p:nvSpPr>
        <p:spPr>
          <a:xfrm xmlns:a="http://schemas.openxmlformats.org/drawingml/2006/main">
            <a:off x="609600" y="495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5D8BD"/>
                </a:solidFill>
                <a:latin typeface="Arial"/>
                <a:ea typeface="Arial"/>
                <a:cs typeface="Arial"/>
              </a:defRPr>
            </a:defPPr>
          </a:lstStyle>
          <a:p xmlns:a="http://schemas.openxmlformats.org/drawingml/2006/main">
            <a:pPr>
              <a:defRPr sz="1350" b="1">
                <a:solidFill>
                  <a:srgbClr val="25D8BD"/>
                </a:solidFill>
                <a:latin typeface="Arial"/>
                <a:ea typeface="Arial"/>
                <a:cs typeface="Arial"/>
              </a:defRPr>
            </a:pPr>
            <a:r>
              <a:rPr sz="1350" b="1">
                <a:solidFill>
                  <a:srgbClr val="25D8BD"/>
                </a:solidFill>
                <a:latin typeface="Arial"/>
                <a:ea typeface="Arial"/>
                <a:cs typeface="Arial"/>
              </a:rPr>
              <a:t>4 MINUTES / DOCUMENT RECOVERY</a:t>
            </a:r>
          </a:p>
        </p:txBody>
      </p:sp>
      <p:sp>
        <p:nvSpPr>
          <p:cNvPr id="3" name="04">
            <a:extLst xmlns:a="http://schemas.openxmlformats.org/drawingml/2006/main">
              <a:ext uri="{FF2B5EF4-FFF2-40B4-BE49-F238E27FC236}">
                <a16:creationId xmlns:a16="http://schemas.microsoft.com/office/drawing/2014/main" id="{AAC62BE7-57A6-49F0-BD67-3737A38F2806}"/>
              </a:ext>
            </a:extLst>
          </p:cNvPr>
          <p:cNvSpPr>
            <a:spLocks xmlns:a="http://schemas.openxmlformats.org/drawingml/2006/main" noGrp="1"/>
          </p:cNvSpPr>
          <p:nvPr/>
        </p:nvSpPr>
        <p:spPr>
          <a:xfrm xmlns:a="http://schemas.openxmlformats.org/drawingml/2006/main">
            <a:off x="609600" y="9715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1">
                <a:solidFill>
                  <a:srgbClr val="FF795B"/>
                </a:solidFill>
                <a:latin typeface="Arial Black"/>
                <a:ea typeface="Arial Black"/>
                <a:cs typeface="Arial Black"/>
              </a:defRPr>
            </a:defPPr>
          </a:lstStyle>
          <a:p xmlns:a="http://schemas.openxmlformats.org/drawingml/2006/main">
            <a:pPr>
              <a:defRPr sz="9450" b="1">
                <a:solidFill>
                  <a:srgbClr val="FF795B"/>
                </a:solidFill>
                <a:latin typeface="Arial Black"/>
                <a:ea typeface="Arial Black"/>
                <a:cs typeface="Arial Black"/>
              </a:defRPr>
            </a:pPr>
            <a:r>
              <a:rPr sz="9450" b="1">
                <a:solidFill>
                  <a:srgbClr val="FF795B"/>
                </a:solidFill>
                <a:latin typeface="Arial Black"/>
                <a:ea typeface="Arial Black"/>
                <a:cs typeface="Arial Black"/>
              </a:rPr>
              <a:t>04</a:t>
            </a:r>
          </a:p>
        </p:txBody>
      </p:sp>
      <p:sp>
        <p:nvSpPr>
          <p:cNvPr id="4" name="Define recovery&#10;criteria.">
            <a:extLst xmlns:a="http://schemas.openxmlformats.org/drawingml/2006/main">
              <a:ext uri="{FF2B5EF4-FFF2-40B4-BE49-F238E27FC236}">
                <a16:creationId xmlns:a16="http://schemas.microsoft.com/office/drawing/2014/main" id="{D4F49EB0-7E86-460A-908E-1B55549837A8}"/>
              </a:ext>
            </a:extLst>
          </p:cNvPr>
          <p:cNvSpPr>
            <a:spLocks xmlns:a="http://schemas.openxmlformats.org/drawingml/2006/main" noGrp="1"/>
          </p:cNvSpPr>
          <p:nvPr/>
        </p:nvSpPr>
        <p:spPr>
          <a:xfrm xmlns:a="http://schemas.openxmlformats.org/drawingml/2006/main">
            <a:off x="609600" y="2762250"/>
            <a:ext cx="8286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Define recovery</a:t>
            </a:r>
          </a:p>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criteria.</a:t>
            </a:r>
          </a:p>
        </p:txBody>
      </p:sp>
      <p:sp>
        <p:nvSpPr>
          <p:cNvPr id="5" name="On page 6, name the exit test,&#10;who can lift quar">
            <a:extLst xmlns:a="http://schemas.openxmlformats.org/drawingml/2006/main">
              <a:ext uri="{FF2B5EF4-FFF2-40B4-BE49-F238E27FC236}">
                <a16:creationId xmlns:a16="http://schemas.microsoft.com/office/drawing/2014/main" id="{6EB136DB-AF7D-4B0A-8255-B31017217655}"/>
              </a:ext>
            </a:extLst>
          </p:cNvPr>
          <p:cNvSpPr>
            <a:spLocks xmlns:a="http://schemas.openxmlformats.org/drawingml/2006/main" noGrp="1"/>
          </p:cNvSpPr>
          <p:nvPr/>
        </p:nvSpPr>
        <p:spPr>
          <a:xfrm xmlns:a="http://schemas.openxmlformats.org/drawingml/2006/main">
            <a:off x="628650" y="4829175"/>
            <a:ext cx="638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On page 6, name the exit test,</a:t>
            </a:r>
          </a:p>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who can lift quarantine and the rollback condition.</a:t>
            </a:r>
          </a:p>
        </p:txBody>
      </p:sp>
      <p:sp>
        <p:nvSpPr>
          <p:cNvPr id="6" name="ISC2 SECURITY CONGRESS 2026 / SC2632">
            <a:extLst xmlns:a="http://schemas.openxmlformats.org/drawingml/2006/main">
              <a:ext uri="{FF2B5EF4-FFF2-40B4-BE49-F238E27FC236}">
                <a16:creationId xmlns:a16="http://schemas.microsoft.com/office/drawing/2014/main" id="{C08FEC20-FE3D-4567-82C6-5B511849387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7" name="28">
            <a:extLst xmlns:a="http://schemas.openxmlformats.org/drawingml/2006/main">
              <a:ext uri="{FF2B5EF4-FFF2-40B4-BE49-F238E27FC236}">
                <a16:creationId xmlns:a16="http://schemas.microsoft.com/office/drawing/2014/main" id="{87563E7C-82A6-409C-8F28-83D5F4D649D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28</a:t>
            </a:r>
          </a:p>
        </p:txBody>
      </p:sp>
    </p:spTree>
    <p:extLst>
      <p:ext uri="{BB962C8B-B14F-4D97-AF65-F5344CB8AC3E}">
        <p14:creationId xmlns:p14="http://schemas.microsoft.com/office/powerpoint/2010/main" val="1605820409"/>
      </p:ext>
    </p:extLst>
  </p:cSld>
</p:sld>
</file>

<file path=ppt/slides/slide29.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DEBRIEF / ILLUSTRATIVE CASE A DECISION RECORD">
            <a:extLst xmlns:a="http://schemas.openxmlformats.org/drawingml/2006/main">
              <a:ext uri="{FF2B5EF4-FFF2-40B4-BE49-F238E27FC236}">
                <a16:creationId xmlns:a16="http://schemas.microsoft.com/office/drawing/2014/main" id="{41B75E76-5D6A-43DE-89A1-FF0C31DBCADF}"/>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DEBRIEF / ILLUSTRATIVE CASE A DECISION RECORD</a:t>
            </a:r>
          </a:p>
        </p:txBody>
      </p:sp>
      <p:sp>
        <p:nvSpPr>
          <p:cNvPr id="2" name="How evidence changes a decision">
            <a:extLst xmlns:a="http://schemas.openxmlformats.org/drawingml/2006/main">
              <a:ext uri="{FF2B5EF4-FFF2-40B4-BE49-F238E27FC236}">
                <a16:creationId xmlns:a16="http://schemas.microsoft.com/office/drawing/2014/main" id="{DDD306F4-1308-4F78-9F4D-5A63FE6D6B30}"/>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How evidence changes a decision</a:t>
            </a:r>
          </a:p>
        </p:txBody>
      </p:sp>
      <p:graphicFrame>
        <p:nvGraphicFramePr>
          <p:cNvPr id="3" name="">
            <a:extLst xmlns:a="http://schemas.openxmlformats.org/drawingml/2006/main">
              <a:ext uri="{FF2B5EF4-FFF2-40B4-BE49-F238E27FC236}">
                <a16:creationId xmlns:a16="http://schemas.microsoft.com/office/drawing/2014/main" id="{FC247B64-7CD8-4A12-8758-A581AF986E72}"/>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a:tblGrid>
                <a:gridCol w="2571750"/>
                <a:gridCol w="8382000"/>
              </a:tblGrid>
              <a:tr h="563563">
                <a:tc>
                  <a:txBody>
                    <a:bodyPr/>
                    <a:lstStyle/>
                    <a:p>
                      <a:r>
                        <a:rPr sz="1800" b="1">
                          <a:solidFill>
                            <a:srgbClr val="F2EFE7"/>
                          </a:solidFill>
                          <a:latin typeface="Arial"/>
                          <a:ea typeface="Arial"/>
                          <a:cs typeface="Arial"/>
                        </a:rPr>
                        <a:t>Decision record</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Defensible example, not an executed response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63563">
                <a:tc>
                  <a:txBody>
                    <a:bodyPr/>
                    <a:lstStyle/>
                    <a:p>
                      <a:r>
                        <a:rPr sz="1800" b="1">
                          <a:solidFill>
                            <a:srgbClr val="087E79"/>
                          </a:solidFill>
                          <a:latin typeface="Arial"/>
                          <a:ea typeface="Arial"/>
                          <a:cs typeface="Arial"/>
                        </a:rPr>
                        <a:t>Intent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Stop suspect traffic. Preserve two clean service copies</a:t>
                      </a:r>
                    </a:p>
                  </a:txBody>
                  <a:tcPr marL="91440" marR="91440" marT="45720" marB="45720">
                    <a:lnR w="19050">
                      <a:solidFill>
                        <a:srgbClr val="F2EFE7"/>
                      </a:solidFill>
                      <a:prstDash val="solid"/>
                    </a:lnR>
                    <a:lnB w="19050">
                      <a:solidFill>
                        <a:srgbClr val="F2EFE7"/>
                      </a:solidFill>
                      <a:prstDash val="solid"/>
                    </a:lnB>
                    <a:solidFill>
                      <a:srgbClr val="F2EFE7"/>
                    </a:solidFill>
                  </a:tcPr>
                </a:tc>
              </a:tr>
              <a:tr h="563563">
                <a:tc>
                  <a:txBody>
                    <a:bodyPr/>
                    <a:lstStyle/>
                    <a:p>
                      <a:r>
                        <a:rPr sz="1800" b="1">
                          <a:solidFill>
                            <a:srgbClr val="087E79"/>
                          </a:solidFill>
                          <a:latin typeface="Arial"/>
                          <a:ea typeface="Arial"/>
                          <a:cs typeface="Arial"/>
                        </a:rPr>
                        <a:t>Initial review</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Hold broad approval. Traffic and API evidence missing</a:t>
                      </a:r>
                    </a:p>
                  </a:txBody>
                  <a:tcPr marL="91440" marR="91440" marT="45720" marB="45720">
                    <a:lnR w="19050">
                      <a:solidFill>
                        <a:srgbClr val="F2EFE7"/>
                      </a:solidFill>
                      <a:prstDash val="solid"/>
                    </a:lnR>
                    <a:lnB w="19050">
                      <a:solidFill>
                        <a:srgbClr val="F2EFE7"/>
                      </a:solidFill>
                      <a:prstDash val="solid"/>
                    </a:lnB>
                    <a:solidFill>
                      <a:srgbClr val="F2EFE7"/>
                    </a:solidFill>
                  </a:tcPr>
                </a:tc>
              </a:tr>
              <a:tr h="563563">
                <a:tc>
                  <a:txBody>
                    <a:bodyPr/>
                    <a:lstStyle/>
                    <a:p>
                      <a:r>
                        <a:rPr sz="1800" b="1">
                          <a:solidFill>
                            <a:srgbClr val="087E79"/>
                          </a:solidFill>
                          <a:latin typeface="Arial"/>
                          <a:ea typeface="Arial"/>
                          <a:cs typeface="Arial"/>
                        </a:rPr>
                        <a:t>New evidence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Another copy shares the image. Q3 blocks replacement</a:t>
                      </a:r>
                    </a:p>
                  </a:txBody>
                  <a:tcPr marL="91440" marR="91440" marT="45720" marB="45720">
                    <a:lnR w="19050">
                      <a:solidFill>
                        <a:srgbClr val="F2EFE7"/>
                      </a:solidFill>
                      <a:prstDash val="solid"/>
                    </a:lnR>
                    <a:lnB w="19050">
                      <a:solidFill>
                        <a:srgbClr val="F2EFE7"/>
                      </a:solidFill>
                      <a:prstDash val="solid"/>
                    </a:lnB>
                    <a:solidFill>
                      <a:srgbClr val="F2EFE7"/>
                    </a:solidFill>
                  </a:tcPr>
                </a:tc>
              </a:tr>
              <a:tr h="563563">
                <a:tc>
                  <a:txBody>
                    <a:bodyPr/>
                    <a:lstStyle/>
                    <a:p>
                      <a:r>
                        <a:rPr sz="1800" b="1">
                          <a:solidFill>
                            <a:srgbClr val="087E79"/>
                          </a:solidFill>
                          <a:latin typeface="Arial"/>
                          <a:ea typeface="Arial"/>
                          <a:cs typeface="Arial"/>
                        </a:rPr>
                        <a:t>Revised plan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Preserve evidence. Verify clean capacity before removal</a:t>
                      </a:r>
                    </a:p>
                  </a:txBody>
                  <a:tcPr marL="91440" marR="91440" marT="45720" marB="45720">
                    <a:lnR w="19050">
                      <a:solidFill>
                        <a:srgbClr val="F2EFE7"/>
                      </a:solidFill>
                      <a:prstDash val="solid"/>
                    </a:lnR>
                    <a:lnB w="19050">
                      <a:solidFill>
                        <a:srgbClr val="F2EFE7"/>
                      </a:solidFill>
                      <a:prstDash val="solid"/>
                    </a:lnB>
                    <a:solidFill>
                      <a:srgbClr val="F2EFE7"/>
                    </a:solidFill>
                  </a:tcPr>
                </a:tc>
              </a:tr>
              <a:tr h="563563">
                <a:tc>
                  <a:txBody>
                    <a:bodyPr/>
                    <a:lstStyle/>
                    <a:p>
                      <a:r>
                        <a:rPr sz="1800" b="1">
                          <a:solidFill>
                            <a:srgbClr val="087E79"/>
                          </a:solidFill>
                          <a:latin typeface="Arial"/>
                          <a:ea typeface="Arial"/>
                          <a:cs typeface="Arial"/>
                        </a:rPr>
                        <a:t>Recovery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Require denied suspect paths, working dependencies and authorized lift</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Your environment: name one requirement, its owne">
            <a:extLst xmlns:a="http://schemas.openxmlformats.org/drawingml/2006/main">
              <a:ext uri="{FF2B5EF4-FFF2-40B4-BE49-F238E27FC236}">
                <a16:creationId xmlns:a16="http://schemas.microsoft.com/office/drawing/2014/main" id="{D47837EA-502C-40FF-9FB2-BE39B1F773B2}"/>
              </a:ext>
            </a:extLst>
          </p:cNvPr>
          <p:cNvSpPr>
            <a:spLocks xmlns:a="http://schemas.openxmlformats.org/drawingml/2006/main" noGrp="1"/>
          </p:cNvSpPr>
          <p:nvPr/>
        </p:nvSpPr>
        <p:spPr>
          <a:xfrm xmlns:a="http://schemas.openxmlformats.org/drawingml/2006/main">
            <a:off x="609600" y="5857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7E79"/>
                </a:solidFill>
                <a:latin typeface="Arial"/>
                <a:ea typeface="Arial"/>
                <a:cs typeface="Arial"/>
              </a:defRPr>
            </a:defPPr>
          </a:lstStyle>
          <a:p xmlns:a="http://schemas.openxmlformats.org/drawingml/2006/main">
            <a:pPr>
              <a:defRPr sz="1725" b="1">
                <a:solidFill>
                  <a:srgbClr val="087E79"/>
                </a:solidFill>
                <a:latin typeface="Arial"/>
                <a:ea typeface="Arial"/>
                <a:cs typeface="Arial"/>
              </a:defRPr>
            </a:pPr>
            <a:r>
              <a:rPr sz="1725" b="1">
                <a:solidFill>
                  <a:srgbClr val="087E79"/>
                </a:solidFill>
                <a:latin typeface="Arial"/>
                <a:ea typeface="Arial"/>
                <a:cs typeface="Arial"/>
              </a:rPr>
              <a:t>Your environment: name one requirement, its owner and the evidence needed to proceed.</a:t>
            </a:r>
          </a:p>
        </p:txBody>
      </p:sp>
      <p:sp>
        <p:nvSpPr>
          <p:cNvPr id="5" name="ISC2 SECURITY CONGRESS 2026 / SC2632">
            <a:extLst xmlns:a="http://schemas.openxmlformats.org/drawingml/2006/main">
              <a:ext uri="{FF2B5EF4-FFF2-40B4-BE49-F238E27FC236}">
                <a16:creationId xmlns:a16="http://schemas.microsoft.com/office/drawing/2014/main" id="{F0308690-4AEB-408D-8A4E-AA52C298085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29">
            <a:extLst xmlns:a="http://schemas.openxmlformats.org/drawingml/2006/main">
              <a:ext uri="{FF2B5EF4-FFF2-40B4-BE49-F238E27FC236}">
                <a16:creationId xmlns:a16="http://schemas.microsoft.com/office/drawing/2014/main" id="{FBD364B8-14B6-493B-80CC-585DC531E9C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29</a:t>
            </a:r>
          </a:p>
        </p:txBody>
      </p:sp>
    </p:spTree>
    <p:extLst>
      <p:ext uri="{BB962C8B-B14F-4D97-AF65-F5344CB8AC3E}">
        <p14:creationId xmlns:p14="http://schemas.microsoft.com/office/powerpoint/2010/main" val="1735474401"/>
      </p:ext>
    </p:extLst>
  </p:cSld>
</p:sld>
</file>

<file path=ppt/slides/slide30.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SESSION RESOURCES">
            <a:extLst xmlns:a="http://schemas.openxmlformats.org/drawingml/2006/main">
              <a:ext uri="{FF2B5EF4-FFF2-40B4-BE49-F238E27FC236}">
                <a16:creationId xmlns:a16="http://schemas.microsoft.com/office/drawing/2014/main" id="{ECD12A43-A7C7-4AF4-B2F7-5DB1BE46FCE7}"/>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SESSION RESOURCES</a:t>
            </a:r>
          </a:p>
        </p:txBody>
      </p:sp>
      <p:sp>
        <p:nvSpPr>
          <p:cNvPr id="2" name="Patterns to adapt across Kubernetes">
            <a:extLst xmlns:a="http://schemas.openxmlformats.org/drawingml/2006/main">
              <a:ext uri="{FF2B5EF4-FFF2-40B4-BE49-F238E27FC236}">
                <a16:creationId xmlns:a16="http://schemas.microsoft.com/office/drawing/2014/main" id="{60C1B5FB-D39F-4A3E-872A-EC3BF9585B4B}"/>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Patterns to adapt across Kubernetes</a:t>
            </a:r>
          </a:p>
        </p:txBody>
      </p:sp>
      <p:sp>
        <p:nvSpPr>
          <p:cNvPr id="3" name="github.com/mgunjan/sc2632-tabletop">
            <a:extLst xmlns:a="http://schemas.openxmlformats.org/drawingml/2006/main">
              <a:ext uri="{FF2B5EF4-FFF2-40B4-BE49-F238E27FC236}">
                <a16:creationId xmlns:a16="http://schemas.microsoft.com/office/drawing/2014/main" id="{130F7AD6-6782-4B5F-8044-0F51DDE0C532}"/>
              </a:ext>
            </a:extLst>
          </p:cNvPr>
          <p:cNvSpPr>
            <a:spLocks xmlns:a="http://schemas.openxmlformats.org/drawingml/2006/main" noGrp="1"/>
          </p:cNvSpPr>
          <p:nvPr/>
        </p:nvSpPr>
        <p:spPr>
          <a:xfrm xmlns:a="http://schemas.openxmlformats.org/drawingml/2006/main">
            <a:off x="609600" y="2362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87E79"/>
                </a:solidFill>
                <a:latin typeface="Arial"/>
                <a:ea typeface="Arial"/>
                <a:cs typeface="Arial"/>
              </a:defRPr>
            </a:defPPr>
          </a:lstStyle>
          <a:p xmlns:a="http://schemas.openxmlformats.org/drawingml/2006/main">
            <a:pPr>
              <a:defRPr sz="2625" b="1">
                <a:solidFill>
                  <a:srgbClr val="087E79"/>
                </a:solidFill>
                <a:latin typeface="Arial"/>
                <a:ea typeface="Arial"/>
                <a:cs typeface="Arial"/>
              </a:defRPr>
            </a:pPr>
            <a:r>
              <a:rPr sz="2625" b="1">
                <a:solidFill>
                  <a:srgbClr val="087E79"/>
                </a:solidFill>
                <a:latin typeface="Arial"/>
                <a:ea typeface="Arial"/>
                <a:cs typeface="Arial"/>
              </a:rPr>
              <a:t>github.com/mgunjan/sc2632-tabletop</a:t>
            </a:r>
          </a:p>
        </p:txBody>
      </p:sp>
      <p:sp>
        <p:nvSpPr>
          <p:cNvPr id="4" name="Policy templates and fixture tests&#10;Evidence capt">
            <a:extLst xmlns:a="http://schemas.openxmlformats.org/drawingml/2006/main">
              <a:ext uri="{FF2B5EF4-FFF2-40B4-BE49-F238E27FC236}">
                <a16:creationId xmlns:a16="http://schemas.microsoft.com/office/drawing/2014/main" id="{157E83C7-427D-44B4-80AC-D753E9BA8186}"/>
              </a:ext>
            </a:extLst>
          </p:cNvPr>
          <p:cNvSpPr>
            <a:spLocks xmlns:a="http://schemas.openxmlformats.org/drawingml/2006/main" noGrp="1"/>
          </p:cNvSpPr>
          <p:nvPr/>
        </p:nvSpPr>
        <p:spPr>
          <a:xfrm xmlns:a="http://schemas.openxmlformats.org/drawingml/2006/main">
            <a:off x="609600" y="35052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B1822"/>
                </a:solidFill>
                <a:latin typeface="Arial"/>
                <a:ea typeface="Arial"/>
                <a:cs typeface="Arial"/>
              </a:defRPr>
            </a:defPPr>
          </a:lstStyle>
          <a:p xmlns:a="http://schemas.openxmlformats.org/drawingml/2006/main">
            <a:pPr>
              <a:defRPr sz="2400" b="0">
                <a:solidFill>
                  <a:srgbClr val="0B1822"/>
                </a:solidFill>
                <a:latin typeface="Arial"/>
                <a:ea typeface="Arial"/>
                <a:cs typeface="Arial"/>
              </a:defRPr>
            </a:pPr>
            <a:r>
              <a:rPr sz="2400" b="0">
                <a:solidFill>
                  <a:srgbClr val="0B1822"/>
                </a:solidFill>
                <a:latin typeface="Arial"/>
                <a:ea typeface="Arial"/>
                <a:cs typeface="Arial"/>
              </a:rPr>
              <a:t>Policy templates and fixture tests</a:t>
            </a:r>
          </a:p>
          <a:p xmlns:a="http://schemas.openxmlformats.org/drawingml/2006/main">
            <a:pPr>
              <a:defRPr sz="2400" b="0">
                <a:solidFill>
                  <a:srgbClr val="0B1822"/>
                </a:solidFill>
                <a:latin typeface="Arial"/>
                <a:ea typeface="Arial"/>
                <a:cs typeface="Arial"/>
              </a:defRPr>
            </a:pPr>
            <a:r>
              <a:rPr sz="2400" b="0">
                <a:solidFill>
                  <a:srgbClr val="0B1822"/>
                </a:solidFill>
                <a:latin typeface="Arial"/>
                <a:ea typeface="Arial"/>
                <a:cs typeface="Arial"/>
              </a:rPr>
              <a:t>Evidence capture and Quarantine levels</a:t>
            </a:r>
          </a:p>
          <a:p xmlns:a="http://schemas.openxmlformats.org/drawingml/2006/main">
            <a:pPr>
              <a:defRPr sz="2400" b="0">
                <a:solidFill>
                  <a:srgbClr val="0B1822"/>
                </a:solidFill>
                <a:latin typeface="Arial"/>
                <a:ea typeface="Arial"/>
                <a:cs typeface="Arial"/>
              </a:defRPr>
            </a:pPr>
            <a:r>
              <a:rPr sz="2400" b="0">
                <a:solidFill>
                  <a:srgbClr val="0B1822"/>
                </a:solidFill>
                <a:latin typeface="Arial"/>
                <a:ea typeface="Arial"/>
                <a:cs typeface="Arial"/>
              </a:rPr>
              <a:t>Four incident cases and recorded lab results</a:t>
            </a:r>
          </a:p>
        </p:txBody>
      </p:sp>
      <p:sp>
        <p:nvSpPr>
          <p:cNvPr id="5" name="Apache-2.0 source, public repository.&#10;Validate i">
            <a:extLst xmlns:a="http://schemas.openxmlformats.org/drawingml/2006/main">
              <a:ext uri="{FF2B5EF4-FFF2-40B4-BE49-F238E27FC236}">
                <a16:creationId xmlns:a16="http://schemas.microsoft.com/office/drawing/2014/main" id="{BE80BADA-CF7E-4053-86C4-028C4F4BCDBE}"/>
              </a:ext>
            </a:extLst>
          </p:cNvPr>
          <p:cNvSpPr>
            <a:spLocks xmlns:a="http://schemas.openxmlformats.org/drawingml/2006/main" noGrp="1"/>
          </p:cNvSpPr>
          <p:nvPr/>
        </p:nvSpPr>
        <p:spPr>
          <a:xfrm xmlns:a="http://schemas.openxmlformats.org/drawingml/2006/main">
            <a:off x="60960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17A"/>
                </a:solidFill>
                <a:latin typeface="Arial"/>
                <a:ea typeface="Arial"/>
                <a:cs typeface="Arial"/>
              </a:defRPr>
            </a:defPPr>
          </a:lstStyle>
          <a:p xmlns:a="http://schemas.openxmlformats.org/drawingml/2006/main">
            <a:pPr>
              <a:defRPr sz="1725" b="0">
                <a:solidFill>
                  <a:srgbClr val="60717A"/>
                </a:solidFill>
                <a:latin typeface="Arial"/>
                <a:ea typeface="Arial"/>
                <a:cs typeface="Arial"/>
              </a:defRPr>
            </a:pPr>
            <a:r>
              <a:rPr sz="1725" b="0">
                <a:solidFill>
                  <a:srgbClr val="60717A"/>
                </a:solidFill>
                <a:latin typeface="Arial"/>
                <a:ea typeface="Arial"/>
                <a:cs typeface="Arial"/>
              </a:rPr>
              <a:t>Apache-2.0 source, public repository.</a:t>
            </a:r>
          </a:p>
          <a:p xmlns:a="http://schemas.openxmlformats.org/drawingml/2006/main">
            <a:pPr>
              <a:defRPr sz="1725" b="0">
                <a:solidFill>
                  <a:srgbClr val="60717A"/>
                </a:solidFill>
                <a:latin typeface="Arial"/>
                <a:ea typeface="Arial"/>
                <a:cs typeface="Arial"/>
              </a:defRPr>
            </a:pPr>
            <a:r>
              <a:rPr sz="1725" b="0">
                <a:solidFill>
                  <a:srgbClr val="60717A"/>
                </a:solidFill>
                <a:latin typeface="Arial"/>
                <a:ea typeface="Arial"/>
                <a:cs typeface="Arial"/>
              </a:rPr>
              <a:t>Validate identity, CNI behavior and policy support on your platform.</a:t>
            </a:r>
          </a:p>
        </p:txBody>
      </p:sp>
      <p:sp>
        <p:nvSpPr>
          <p:cNvPr id="6" name="ISC2 SECURITY CONGRESS 2026 / SC2632">
            <a:extLst xmlns:a="http://schemas.openxmlformats.org/drawingml/2006/main">
              <a:ext uri="{FF2B5EF4-FFF2-40B4-BE49-F238E27FC236}">
                <a16:creationId xmlns:a16="http://schemas.microsoft.com/office/drawing/2014/main" id="{F918B393-AF73-4790-8723-1F64DBEC29D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30">
            <a:extLst xmlns:a="http://schemas.openxmlformats.org/drawingml/2006/main">
              <a:ext uri="{FF2B5EF4-FFF2-40B4-BE49-F238E27FC236}">
                <a16:creationId xmlns:a16="http://schemas.microsoft.com/office/drawing/2014/main" id="{60B9DE28-6363-4722-9F55-8BE6AF25361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30</a:t>
            </a:r>
          </a:p>
        </p:txBody>
      </p:sp>
    </p:spTree>
    <p:extLst>
      <p:ext uri="{BB962C8B-B14F-4D97-AF65-F5344CB8AC3E}">
        <p14:creationId xmlns:p14="http://schemas.microsoft.com/office/powerpoint/2010/main" val="2022428031"/>
      </p:ext>
    </p:extLst>
  </p:cSld>
</p:sld>
</file>

<file path=ppt/slides/slide31.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BACKUP / SUPPLIED REFERENCE SPEC">
            <a:extLst xmlns:a="http://schemas.openxmlformats.org/drawingml/2006/main">
              <a:ext uri="{FF2B5EF4-FFF2-40B4-BE49-F238E27FC236}">
                <a16:creationId xmlns:a16="http://schemas.microsoft.com/office/drawing/2014/main" id="{9731799C-E357-4DA0-A3B5-B7F06138D190}"/>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BACKUP / SUPPLIED REFERENCE SPEC</a:t>
            </a:r>
          </a:p>
        </p:txBody>
      </p:sp>
      <p:sp>
        <p:nvSpPr>
          <p:cNvPr id="2" name="Fallback: generated policy excerpt">
            <a:extLst xmlns:a="http://schemas.openxmlformats.org/drawingml/2006/main">
              <a:ext uri="{FF2B5EF4-FFF2-40B4-BE49-F238E27FC236}">
                <a16:creationId xmlns:a16="http://schemas.microsoft.com/office/drawing/2014/main" id="{2A265A26-6DB5-4E6C-93CF-7FF26D97F498}"/>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Fallback: generated policy excerpt</a:t>
            </a:r>
          </a:p>
        </p:txBody>
      </p:sp>
      <p:sp>
        <p:nvSpPr>
          <p:cNvPr id="3" name="kind: ValidatingPolicy&#10;name: deny-privilege-esca">
            <a:extLst xmlns:a="http://schemas.openxmlformats.org/drawingml/2006/main">
              <a:ext uri="{FF2B5EF4-FFF2-40B4-BE49-F238E27FC236}">
                <a16:creationId xmlns:a16="http://schemas.microsoft.com/office/drawing/2014/main" id="{80B45D7A-4D25-4348-A8A1-2C867999A248}"/>
              </a:ext>
            </a:extLst>
          </p:cNvPr>
          <p:cNvSpPr>
            <a:spLocks xmlns:a="http://schemas.openxmlformats.org/drawingml/2006/main" noGrp="1"/>
          </p:cNvSpPr>
          <p:nvPr/>
        </p:nvSpPr>
        <p:spPr>
          <a:xfrm xmlns:a="http://schemas.openxmlformats.org/drawingml/2006/main">
            <a:off x="609600" y="22479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kind: ValidatingPolicy</a:t>
            </a:r>
          </a:p>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name: deny-privilege-escalation</a:t>
            </a:r>
          </a:p>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validationActions: [Deny]</a:t>
            </a:r>
          </a:p>
        </p:txBody>
      </p:sp>
      <p:sp>
        <p:nvSpPr>
          <p:cNvPr id="4" name="The policy rejects privileged containers.&#10;Human ">
            <a:extLst xmlns:a="http://schemas.openxmlformats.org/drawingml/2006/main">
              <a:ext uri="{FF2B5EF4-FFF2-40B4-BE49-F238E27FC236}">
                <a16:creationId xmlns:a16="http://schemas.microsoft.com/office/drawing/2014/main" id="{1C827A40-0F5B-42F4-8B1E-1FA1F7AC718B}"/>
              </a:ext>
            </a:extLst>
          </p:cNvPr>
          <p:cNvSpPr>
            <a:spLocks xmlns:a="http://schemas.openxmlformats.org/drawingml/2006/main" noGrp="1"/>
          </p:cNvSpPr>
          <p:nvPr/>
        </p:nvSpPr>
        <p:spPr>
          <a:xfrm xmlns:a="http://schemas.openxmlformats.org/drawingml/2006/main">
            <a:off x="609600" y="41719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The policy rejects privileged containers.</a:t>
            </a:r>
          </a:p>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Human review approves the generated file before deployment.</a:t>
            </a:r>
          </a:p>
        </p:txBody>
      </p:sp>
      <p:sp>
        <p:nvSpPr>
          <p:cNvPr id="5" name="Provenance: model = none (spec supplied)">
            <a:extLst xmlns:a="http://schemas.openxmlformats.org/drawingml/2006/main">
              <a:ext uri="{FF2B5EF4-FFF2-40B4-BE49-F238E27FC236}">
                <a16:creationId xmlns:a16="http://schemas.microsoft.com/office/drawing/2014/main" id="{9E39601C-3A7C-4F52-9FFF-59F7BFB8BD58}"/>
              </a:ext>
            </a:extLst>
          </p:cNvPr>
          <p:cNvSpPr>
            <a:spLocks xmlns:a="http://schemas.openxmlformats.org/drawingml/2006/main" noGrp="1"/>
          </p:cNvSpPr>
          <p:nvPr/>
        </p:nvSpPr>
        <p:spPr>
          <a:xfrm xmlns:a="http://schemas.openxmlformats.org/drawingml/2006/main">
            <a:off x="609600" y="56388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E79"/>
                </a:solidFill>
                <a:latin typeface="Arial"/>
                <a:ea typeface="Arial"/>
                <a:cs typeface="Arial"/>
              </a:defRPr>
            </a:defPPr>
          </a:lstStyle>
          <a:p xmlns:a="http://schemas.openxmlformats.org/drawingml/2006/main">
            <a:pPr>
              <a:defRPr sz="1875" b="1">
                <a:solidFill>
                  <a:srgbClr val="087E79"/>
                </a:solidFill>
                <a:latin typeface="Arial"/>
                <a:ea typeface="Arial"/>
                <a:cs typeface="Arial"/>
              </a:defRPr>
            </a:pPr>
            <a:r>
              <a:rPr sz="1875" b="1">
                <a:solidFill>
                  <a:srgbClr val="087E79"/>
                </a:solidFill>
                <a:latin typeface="Arial"/>
                <a:ea typeface="Arial"/>
                <a:cs typeface="Arial"/>
              </a:rPr>
              <a:t>Provenance: model = none (spec supplied)</a:t>
            </a:r>
          </a:p>
        </p:txBody>
      </p:sp>
      <p:sp>
        <p:nvSpPr>
          <p:cNvPr id="6" name="ISC2 SECURITY CONGRESS 2026 / SC2632">
            <a:extLst xmlns:a="http://schemas.openxmlformats.org/drawingml/2006/main">
              <a:ext uri="{FF2B5EF4-FFF2-40B4-BE49-F238E27FC236}">
                <a16:creationId xmlns:a16="http://schemas.microsoft.com/office/drawing/2014/main" id="{6D96BFF3-2B96-47F8-A800-F9A251C45769}"/>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31">
            <a:extLst xmlns:a="http://schemas.openxmlformats.org/drawingml/2006/main">
              <a:ext uri="{FF2B5EF4-FFF2-40B4-BE49-F238E27FC236}">
                <a16:creationId xmlns:a16="http://schemas.microsoft.com/office/drawing/2014/main" id="{9970FA4C-6624-4D76-808D-59B698ACDF4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31</a:t>
            </a:r>
          </a:p>
        </p:txBody>
      </p:sp>
    </p:spTree>
    <p:extLst>
      <p:ext uri="{BB962C8B-B14F-4D97-AF65-F5344CB8AC3E}">
        <p14:creationId xmlns:p14="http://schemas.microsoft.com/office/powerpoint/2010/main" val="967162956"/>
      </p:ext>
    </p:extLst>
  </p:cSld>
</p:sld>
</file>

<file path=ppt/slides/slide32.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6" name="BACKUP / REFERENCE SCENARIO A">
            <a:extLst xmlns:a="http://schemas.openxmlformats.org/drawingml/2006/main">
              <a:ext uri="{FF2B5EF4-FFF2-40B4-BE49-F238E27FC236}">
                <a16:creationId xmlns:a16="http://schemas.microsoft.com/office/drawing/2014/main" id="{3FF58308-8037-4CBE-A5C0-E67973D427BA}"/>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BACKUP / REFERENCE SCENARIO A</a:t>
            </a:r>
          </a:p>
        </p:txBody>
      </p:sp>
      <p:sp>
        <p:nvSpPr>
          <p:cNvPr id="2" name="Fallback: fixture admission outcomes">
            <a:extLst xmlns:a="http://schemas.openxmlformats.org/drawingml/2006/main">
              <a:ext uri="{FF2B5EF4-FFF2-40B4-BE49-F238E27FC236}">
                <a16:creationId xmlns:a16="http://schemas.microsoft.com/office/drawing/2014/main" id="{A673448B-0ADA-4F67-AD19-D056A744D97C}"/>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Fallback: fixture admission outcomes</a:t>
            </a:r>
          </a:p>
        </p:txBody>
      </p:sp>
      <p:graphicFrame>
        <p:nvGraphicFramePr>
          <p:cNvPr id="3" name="">
            <a:extLst xmlns:a="http://schemas.openxmlformats.org/drawingml/2006/main">
              <a:ext uri="{FF2B5EF4-FFF2-40B4-BE49-F238E27FC236}">
                <a16:creationId xmlns:a16="http://schemas.microsoft.com/office/drawing/2014/main" id="{5E197D19-9A46-4B25-BD96-7FF61200FE42}"/>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a:tblGrid>
                <a:gridCol w="3714750"/>
                <a:gridCol w="7239000"/>
              </a:tblGrid>
              <a:tr h="676275">
                <a:tc>
                  <a:txBody>
                    <a:bodyPr/>
                    <a:lstStyle/>
                    <a:p>
                      <a:r>
                        <a:rPr sz="2025" b="1">
                          <a:solidFill>
                            <a:srgbClr val="F2EFE7"/>
                          </a:solidFill>
                          <a:latin typeface="Arial"/>
                          <a:ea typeface="Arial"/>
                          <a:cs typeface="Arial"/>
                        </a:rPr>
                        <a:t>Workload</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2025" b="1">
                          <a:solidFill>
                            <a:srgbClr val="F2EFE7"/>
                          </a:solidFill>
                          <a:latin typeface="Arial"/>
                          <a:ea typeface="Arial"/>
                          <a:cs typeface="Arial"/>
                        </a:rPr>
                        <a:t>Policy result</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76275">
                <a:tc>
                  <a:txBody>
                    <a:bodyPr/>
                    <a:lstStyle/>
                    <a:p>
                      <a:r>
                        <a:rPr sz="2025" b="1">
                          <a:solidFill>
                            <a:srgbClr val="087E79"/>
                          </a:solidFill>
                          <a:latin typeface="Arial"/>
                          <a:ea typeface="Arial"/>
                          <a:cs typeface="Arial"/>
                        </a:rPr>
                        <a:t>payments-api</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Passes privilege and egress checks</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backup-job</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Would block under the egress-profile policy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report-runner</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Registry violation at Audit, admitted</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backup-job with exception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Egress check skips the matched exception</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ISC2 SECURITY CONGRESS 2026 / SC2632">
            <a:extLst xmlns:a="http://schemas.openxmlformats.org/drawingml/2006/main">
              <a:ext uri="{FF2B5EF4-FFF2-40B4-BE49-F238E27FC236}">
                <a16:creationId xmlns:a16="http://schemas.microsoft.com/office/drawing/2014/main" id="{721C7BB0-A8BC-4064-9274-21796F96067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5" name="32">
            <a:extLst xmlns:a="http://schemas.openxmlformats.org/drawingml/2006/main">
              <a:ext uri="{FF2B5EF4-FFF2-40B4-BE49-F238E27FC236}">
                <a16:creationId xmlns:a16="http://schemas.microsoft.com/office/drawing/2014/main" id="{06B0C055-57AE-4CBF-AD63-A154E1B3793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32</a:t>
            </a:r>
          </a:p>
        </p:txBody>
      </p:sp>
    </p:spTree>
    <p:extLst>
      <p:ext uri="{BB962C8B-B14F-4D97-AF65-F5344CB8AC3E}">
        <p14:creationId xmlns:p14="http://schemas.microsoft.com/office/powerpoint/2010/main" val="335995818"/>
      </p:ext>
    </p:extLst>
  </p:cSld>
</p:sld>
</file>

<file path=ppt/slides/slide33.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REAL LAB / SYNTHETIC SECRETS">
            <a:extLst xmlns:a="http://schemas.openxmlformats.org/drawingml/2006/main">
              <a:ext uri="{FF2B5EF4-FFF2-40B4-BE49-F238E27FC236}">
                <a16:creationId xmlns:a16="http://schemas.microsoft.com/office/drawing/2014/main" id="{B1E47106-F15C-4D6C-8043-B260EFB4C88D}"/>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BACKUP / REAL LAB / SYNTHETIC SECRETS</a:t>
            </a:r>
          </a:p>
        </p:txBody>
      </p:sp>
      <p:sp>
        <p:nvSpPr>
          <p:cNvPr id="2" name="Case D: copied credential response">
            <a:extLst xmlns:a="http://schemas.openxmlformats.org/drawingml/2006/main">
              <a:ext uri="{FF2B5EF4-FFF2-40B4-BE49-F238E27FC236}">
                <a16:creationId xmlns:a16="http://schemas.microsoft.com/office/drawing/2014/main" id="{CCAFD74C-0554-4754-94CA-D9B88E5D2913}"/>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Case D: copied credential response</a:t>
            </a:r>
          </a:p>
        </p:txBody>
      </p:sp>
      <p:graphicFrame>
        <p:nvGraphicFramePr>
          <p:cNvPr id="3" name="">
            <a:extLst xmlns:a="http://schemas.openxmlformats.org/drawingml/2006/main">
              <a:ext uri="{FF2B5EF4-FFF2-40B4-BE49-F238E27FC236}">
                <a16:creationId xmlns:a16="http://schemas.microsoft.com/office/drawing/2014/main" id="{66589369-9DE5-4EE5-B057-1EA669B95E11}"/>
              </a:ext>
            </a:extLst>
          </p:cNvPr>
          <p:cNvGraphicFramePr/>
          <p:nvPr/>
        </p:nvGraphicFramePr>
        <p:xfrm>
          <a:off xmlns:a="http://schemas.openxmlformats.org/drawingml/2006/main" x="609600" y="2305050"/>
          <a:ext xmlns:a="http://schemas.openxmlformats.org/drawingml/2006/main" cx="10953750" cy="3238500"/>
        </p:xfrm>
        <a:graphic xmlns:a="http://schemas.openxmlformats.org/drawingml/2006/main">
          <a:graphicData uri="http://schemas.openxmlformats.org/drawingml/2006/table">
            <a:tbl>
              <a:tblPr/>
              <a:tblGrid>
                <a:gridCol w="2428875"/>
                <a:gridCol w="4333875"/>
                <a:gridCol w="4191000"/>
              </a:tblGrid>
              <a:tr h="647700">
                <a:tc>
                  <a:txBody>
                    <a:bodyPr/>
                    <a:lstStyle/>
                    <a:p>
                      <a:r>
                        <a:rPr sz="1875" b="1">
                          <a:solidFill>
                            <a:srgbClr val="F2EFE7"/>
                          </a:solidFill>
                          <a:latin typeface="Arial"/>
                          <a:ea typeface="Arial"/>
                          <a:cs typeface="Arial"/>
                        </a:rPr>
                        <a:t>Change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Copied Kubernetes credential</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Preserved access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28650">
                <a:tc>
                  <a:txBody>
                    <a:bodyPr/>
                    <a:lstStyle/>
                    <a:p>
                      <a:r>
                        <a:rPr sz="1875" b="1">
                          <a:solidFill>
                            <a:srgbClr val="087E79"/>
                          </a:solidFill>
                          <a:latin typeface="Arial"/>
                          <a:ea typeface="Arial"/>
                          <a:cs typeface="Arial"/>
                        </a:rPr>
                        <a:t>Broad binding</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Outside Secret GET/LIST: 200</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Named Secret and ConfigMap: 200</a:t>
                      </a:r>
                    </a:p>
                  </a:txBody>
                  <a:tcPr marL="91440" marR="91440" marT="45720" marB="45720">
                    <a:lnR w="19050">
                      <a:solidFill>
                        <a:srgbClr val="F2EFE7"/>
                      </a:solidFill>
                      <a:prstDash val="solid"/>
                    </a:lnR>
                    <a:lnB w="19050">
                      <a:solidFill>
                        <a:srgbClr val="F2EFE7"/>
                      </a:solidFill>
                      <a:prstDash val="solid"/>
                    </a:lnB>
                    <a:solidFill>
                      <a:srgbClr val="F2EFE7"/>
                    </a:solidFill>
                  </a:tcPr>
                </a:tc>
              </a:tr>
              <a:tr h="628650">
                <a:tc>
                  <a:txBody>
                    <a:bodyPr/>
                    <a:lstStyle/>
                    <a:p>
                      <a:r>
                        <a:rPr sz="1875" b="1">
                          <a:solidFill>
                            <a:srgbClr val="087E79"/>
                          </a:solidFill>
                          <a:latin typeface="Arial"/>
                          <a:ea typeface="Arial"/>
                          <a:cs typeface="Arial"/>
                        </a:rPr>
                        <a:t>Pod quarantined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Outside Secret GET/LIST: 200</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Stand-in HTTP health available</a:t>
                      </a:r>
                    </a:p>
                  </a:txBody>
                  <a:tcPr marL="91440" marR="91440" marT="45720" marB="45720">
                    <a:lnR w="19050">
                      <a:solidFill>
                        <a:srgbClr val="F2EFE7"/>
                      </a:solidFill>
                      <a:prstDash val="solid"/>
                    </a:lnR>
                    <a:lnB w="19050">
                      <a:solidFill>
                        <a:srgbClr val="F2EFE7"/>
                      </a:solidFill>
                      <a:prstDash val="solid"/>
                    </a:lnB>
                    <a:solidFill>
                      <a:srgbClr val="F2EFE7"/>
                    </a:solidFill>
                  </a:tcPr>
                </a:tc>
              </a:tr>
              <a:tr h="628650">
                <a:tc>
                  <a:txBody>
                    <a:bodyPr/>
                    <a:lstStyle/>
                    <a:p>
                      <a:r>
                        <a:rPr sz="1875" b="1">
                          <a:solidFill>
                            <a:srgbClr val="087E79"/>
                          </a:solidFill>
                          <a:latin typeface="Arial"/>
                          <a:ea typeface="Arial"/>
                          <a:cs typeface="Arial"/>
                        </a:rPr>
                        <a:t>RBAC narrowed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Outside Secret GET/LIST: 403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Required named GETs: 200</a:t>
                      </a:r>
                    </a:p>
                  </a:txBody>
                  <a:tcPr marL="91440" marR="91440" marT="45720" marB="45720">
                    <a:lnR w="19050">
                      <a:solidFill>
                        <a:srgbClr val="F2EFE7"/>
                      </a:solidFill>
                      <a:prstDash val="solid"/>
                    </a:lnR>
                    <a:lnB w="19050">
                      <a:solidFill>
                        <a:srgbClr val="F2EFE7"/>
                      </a:solidFill>
                      <a:prstDash val="solid"/>
                    </a:lnB>
                    <a:solidFill>
                      <a:srgbClr val="F2EFE7"/>
                    </a:solidFill>
                  </a:tcPr>
                </a:tc>
              </a:tr>
              <a:tr h="704850">
                <a:tc>
                  <a:txBody>
                    <a:bodyPr/>
                    <a:lstStyle/>
                    <a:p>
                      <a:r>
                        <a:rPr sz="1875" b="1">
                          <a:solidFill>
                            <a:srgbClr val="087E79"/>
                          </a:solidFill>
                          <a:latin typeface="Arial"/>
                          <a:ea typeface="Arial"/>
                          <a:cs typeface="Arial"/>
                        </a:rPr>
                        <a:t>Old bound Pod deleted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Old credential: 401</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Replacement credential: 200</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Stand-in health only. External application-key r">
            <a:extLst xmlns:a="http://schemas.openxmlformats.org/drawingml/2006/main">
              <a:ext uri="{FF2B5EF4-FFF2-40B4-BE49-F238E27FC236}">
                <a16:creationId xmlns:a16="http://schemas.microsoft.com/office/drawing/2014/main" id="{789511B7-752F-4F0E-B923-6714D9D2E2B8}"/>
              </a:ext>
            </a:extLst>
          </p:cNvPr>
          <p:cNvSpPr>
            <a:spLocks xmlns:a="http://schemas.openxmlformats.org/drawingml/2006/main" noGrp="1"/>
          </p:cNvSpPr>
          <p:nvPr/>
        </p:nvSpPr>
        <p:spPr>
          <a:xfrm xmlns:a="http://schemas.openxmlformats.org/drawingml/2006/main">
            <a:off x="609600" y="58483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17A"/>
                </a:solidFill>
                <a:latin typeface="Arial"/>
                <a:ea typeface="Arial"/>
                <a:cs typeface="Arial"/>
              </a:defRPr>
            </a:defPPr>
          </a:lstStyle>
          <a:p xmlns:a="http://schemas.openxmlformats.org/drawingml/2006/main">
            <a:pPr>
              <a:defRPr sz="1650" b="0">
                <a:solidFill>
                  <a:srgbClr val="60717A"/>
                </a:solidFill>
                <a:latin typeface="Arial"/>
                <a:ea typeface="Arial"/>
                <a:cs typeface="Arial"/>
              </a:defRPr>
            </a:pPr>
            <a:r>
              <a:rPr sz="1650" b="0">
                <a:solidFill>
                  <a:srgbClr val="60717A"/>
                </a:solidFill>
                <a:latin typeface="Arial"/>
                <a:ea typeface="Arial"/>
                <a:cs typeface="Arial"/>
              </a:rPr>
              <a:t>Stand-in health only. External application-key rotation remains required.</a:t>
            </a:r>
          </a:p>
        </p:txBody>
      </p:sp>
      <p:sp>
        <p:nvSpPr>
          <p:cNvPr id="5" name="ISC2 SECURITY CONGRESS 2026 / SC2632">
            <a:extLst xmlns:a="http://schemas.openxmlformats.org/drawingml/2006/main">
              <a:ext uri="{FF2B5EF4-FFF2-40B4-BE49-F238E27FC236}">
                <a16:creationId xmlns:a16="http://schemas.microsoft.com/office/drawing/2014/main" id="{3CE66271-4901-4FDF-A27C-BC48B8F045D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3">
            <a:extLst xmlns:a="http://schemas.openxmlformats.org/drawingml/2006/main">
              <a:ext uri="{FF2B5EF4-FFF2-40B4-BE49-F238E27FC236}">
                <a16:creationId xmlns:a16="http://schemas.microsoft.com/office/drawing/2014/main" id="{C8C0E598-2A7D-460B-8A72-8D12C225168B}"/>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33</a:t>
            </a:r>
          </a:p>
        </p:txBody>
      </p:sp>
    </p:spTree>
    <p:extLst>
      <p:ext uri="{BB962C8B-B14F-4D97-AF65-F5344CB8AC3E}">
        <p14:creationId xmlns:p14="http://schemas.microsoft.com/office/powerpoint/2010/main" val="1584138726"/>
      </p:ext>
    </p:extLst>
  </p:cSld>
</p:sld>
</file>

<file path=ppt/slides/slide34.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BACKUP / CONTROL SELECTION ONLY">
            <a:extLst xmlns:a="http://schemas.openxmlformats.org/drawingml/2006/main">
              <a:ext uri="{FF2B5EF4-FFF2-40B4-BE49-F238E27FC236}">
                <a16:creationId xmlns:a16="http://schemas.microsoft.com/office/drawing/2014/main" id="{03691AE6-B9A4-4D71-8252-04AD97CDC96F}"/>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BACKUP / CONTROL SELECTION ONLY</a:t>
            </a:r>
          </a:p>
        </p:txBody>
      </p:sp>
      <p:sp>
        <p:nvSpPr>
          <p:cNvPr id="2" name="Training and classical baselines">
            <a:extLst xmlns:a="http://schemas.openxmlformats.org/drawingml/2006/main">
              <a:ext uri="{FF2B5EF4-FFF2-40B4-BE49-F238E27FC236}">
                <a16:creationId xmlns:a16="http://schemas.microsoft.com/office/drawing/2014/main" id="{36832E65-E5FA-43EF-AA3E-7E6AD049A06B}"/>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Training and classical baselines</a:t>
            </a:r>
          </a:p>
        </p:txBody>
      </p:sp>
      <p:graphicFrame>
        <p:nvGraphicFramePr>
          <p:cNvPr id="3" name="">
            <a:extLst xmlns:a="http://schemas.openxmlformats.org/drawingml/2006/main">
              <a:ext uri="{FF2B5EF4-FFF2-40B4-BE49-F238E27FC236}">
                <a16:creationId xmlns:a16="http://schemas.microsoft.com/office/drawing/2014/main" id="{893AF397-21AC-4661-AD67-588E0C9FCEBC}"/>
              </a:ext>
            </a:extLst>
          </p:cNvPr>
          <p:cNvGraphicFramePr/>
          <p:nvPr/>
        </p:nvGraphicFramePr>
        <p:xfrm>
          <a:off xmlns:a="http://schemas.openxmlformats.org/drawingml/2006/main" x="609600" y="2305050"/>
          <a:ext xmlns:a="http://schemas.openxmlformats.org/drawingml/2006/main" cx="10953750" cy="2857500"/>
        </p:xfrm>
        <a:graphic xmlns:a="http://schemas.openxmlformats.org/drawingml/2006/main">
          <a:graphicData uri="http://schemas.openxmlformats.org/drawingml/2006/table">
            <a:tbl>
              <a:tblPr/>
              <a:tblGrid>
                <a:gridCol w="4381500"/>
                <a:gridCol w="2000250"/>
                <a:gridCol w="2190750"/>
                <a:gridCol w="2381250"/>
              </a:tblGrid>
              <a:tr h="714375">
                <a:tc>
                  <a:txBody>
                    <a:bodyPr/>
                    <a:lstStyle/>
                    <a:p>
                      <a:r>
                        <a:rPr sz="1875" b="1">
                          <a:solidFill>
                            <a:srgbClr val="F2EFE7"/>
                          </a:solidFill>
                          <a:latin typeface="Arial"/>
                          <a:ea typeface="Arial"/>
                          <a:cs typeface="Arial"/>
                        </a:rPr>
                        <a:t>Candidate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Correct / 27</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Selected / 27</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Wrong selected</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714375">
                <a:tc>
                  <a:txBody>
                    <a:bodyPr/>
                    <a:lstStyle/>
                    <a:p>
                      <a:r>
                        <a:rPr sz="1875" b="1">
                          <a:solidFill>
                            <a:srgbClr val="087E79"/>
                          </a:solidFill>
                          <a:latin typeface="Arial"/>
                          <a:ea typeface="Arial"/>
                          <a:cs typeface="Arial"/>
                        </a:rPr>
                        <a:t>TF-IDF + logistic regression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20/27</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8/27</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0</a:t>
                      </a:r>
                    </a:p>
                  </a:txBody>
                  <a:tcPr marL="91440" marR="91440" marT="45720" marB="45720">
                    <a:lnR w="19050">
                      <a:solidFill>
                        <a:srgbClr val="F2EFE7"/>
                      </a:solidFill>
                      <a:prstDash val="solid"/>
                    </a:lnR>
                    <a:lnB w="19050">
                      <a:solidFill>
                        <a:srgbClr val="F2EFE7"/>
                      </a:solidFill>
                      <a:prstDash val="solid"/>
                    </a:lnB>
                    <a:solidFill>
                      <a:srgbClr val="F2EFE7"/>
                    </a:solidFill>
                  </a:tcPr>
                </a:tc>
              </a:tr>
              <a:tr h="714375">
                <a:tc>
                  <a:txBody>
                    <a:bodyPr/>
                    <a:lstStyle/>
                    <a:p>
                      <a:r>
                        <a:rPr sz="1875" b="1">
                          <a:solidFill>
                            <a:srgbClr val="087E79"/>
                          </a:solidFill>
                          <a:latin typeface="Arial"/>
                          <a:ea typeface="Arial"/>
                          <a:cs typeface="Arial"/>
                        </a:rPr>
                        <a:t>Base Laya</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12/27</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2/27</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0</a:t>
                      </a:r>
                    </a:p>
                  </a:txBody>
                  <a:tcPr marL="91440" marR="91440" marT="45720" marB="45720">
                    <a:lnR w="19050">
                      <a:solidFill>
                        <a:srgbClr val="F2EFE7"/>
                      </a:solidFill>
                      <a:prstDash val="solid"/>
                    </a:lnR>
                    <a:lnB w="19050">
                      <a:solidFill>
                        <a:srgbClr val="F2EFE7"/>
                      </a:solidFill>
                      <a:prstDash val="solid"/>
                    </a:lnB>
                    <a:solidFill>
                      <a:srgbClr val="F2EFE7"/>
                    </a:solidFill>
                  </a:tcPr>
                </a:tc>
              </a:tr>
              <a:tr h="714375">
                <a:tc>
                  <a:txBody>
                    <a:bodyPr/>
                    <a:lstStyle/>
                    <a:p>
                      <a:r>
                        <a:rPr sz="1875" b="1">
                          <a:solidFill>
                            <a:srgbClr val="087E79"/>
                          </a:solidFill>
                          <a:latin typeface="Arial"/>
                          <a:ea typeface="Arial"/>
                          <a:cs typeface="Arial"/>
                        </a:rPr>
                        <a:t>Trained Laya</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12/27</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16/27</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5</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480 synthetic training states. Same task and run">
            <a:extLst xmlns:a="http://schemas.openxmlformats.org/drawingml/2006/main">
              <a:ext uri="{FF2B5EF4-FFF2-40B4-BE49-F238E27FC236}">
                <a16:creationId xmlns:a16="http://schemas.microsoft.com/office/drawing/2014/main" id="{E7765FE6-A0BD-4F3D-87F0-63A29C30A860}"/>
              </a:ext>
            </a:extLst>
          </p:cNvPr>
          <p:cNvSpPr>
            <a:spLocks xmlns:a="http://schemas.openxmlformats.org/drawingml/2006/main" noGrp="1"/>
          </p:cNvSpPr>
          <p:nvPr/>
        </p:nvSpPr>
        <p:spPr>
          <a:xfrm xmlns:a="http://schemas.openxmlformats.org/drawingml/2006/main">
            <a:off x="609600" y="54483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B1822"/>
                </a:solidFill>
                <a:latin typeface="Arial"/>
                <a:ea typeface="Arial"/>
                <a:cs typeface="Arial"/>
              </a:defRPr>
            </a:defPPr>
          </a:lstStyle>
          <a:p xmlns:a="http://schemas.openxmlformats.org/drawingml/2006/main">
            <a:pPr>
              <a:defRPr sz="1800" b="0">
                <a:solidFill>
                  <a:srgbClr val="0B1822"/>
                </a:solidFill>
                <a:latin typeface="Arial"/>
                <a:ea typeface="Arial"/>
                <a:cs typeface="Arial"/>
              </a:defRPr>
            </a:pPr>
            <a:r>
              <a:rPr sz="1800" b="0">
                <a:solidFill>
                  <a:srgbClr val="0B1822"/>
                </a:solidFill>
                <a:latin typeface="Arial"/>
                <a:ea typeface="Arial"/>
                <a:cs typeface="Arial"/>
              </a:rPr>
              <a:t>480 synthetic training states. Same task and runtime option order.</a:t>
            </a:r>
          </a:p>
        </p:txBody>
      </p:sp>
      <p:sp>
        <p:nvSpPr>
          <p:cNvPr id="5" name="Small author-labelled pilot. Confidence needs in">
            <a:extLst xmlns:a="http://schemas.openxmlformats.org/drawingml/2006/main">
              <a:ext uri="{FF2B5EF4-FFF2-40B4-BE49-F238E27FC236}">
                <a16:creationId xmlns:a16="http://schemas.microsoft.com/office/drawing/2014/main" id="{F28A74C2-F847-43C2-AFF8-AC436E9836B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0717A"/>
                </a:solidFill>
                <a:latin typeface="Arial"/>
                <a:ea typeface="Arial"/>
                <a:cs typeface="Arial"/>
              </a:defRPr>
            </a:defPPr>
          </a:lstStyle>
          <a:p xmlns:a="http://schemas.openxmlformats.org/drawingml/2006/main">
            <a:pPr>
              <a:defRPr sz="1575" b="0">
                <a:solidFill>
                  <a:srgbClr val="60717A"/>
                </a:solidFill>
                <a:latin typeface="Arial"/>
                <a:ea typeface="Arial"/>
                <a:cs typeface="Arial"/>
              </a:defRPr>
            </a:pPr>
            <a:r>
              <a:rPr sz="1575" b="0">
                <a:solidFill>
                  <a:srgbClr val="60717A"/>
                </a:solidFill>
                <a:latin typeface="Arial"/>
                <a:ea typeface="Arial"/>
                <a:cs typeface="Arial"/>
              </a:rPr>
              <a:t>Small author-labelled pilot. Confidence needs independent validation.</a:t>
            </a:r>
          </a:p>
        </p:txBody>
      </p:sp>
      <p:sp>
        <p:nvSpPr>
          <p:cNvPr id="6" name="ISC2 SECURITY CONGRESS 2026 / SC2632">
            <a:extLst xmlns:a="http://schemas.openxmlformats.org/drawingml/2006/main">
              <a:ext uri="{FF2B5EF4-FFF2-40B4-BE49-F238E27FC236}">
                <a16:creationId xmlns:a16="http://schemas.microsoft.com/office/drawing/2014/main" id="{C89EC3BC-E620-45E3-9BB1-4D196D3F6B9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34">
            <a:extLst xmlns:a="http://schemas.openxmlformats.org/drawingml/2006/main">
              <a:ext uri="{FF2B5EF4-FFF2-40B4-BE49-F238E27FC236}">
                <a16:creationId xmlns:a16="http://schemas.microsoft.com/office/drawing/2014/main" id="{4C848A0D-081D-43ED-8C6D-7F7D18CBFB7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34</a:t>
            </a:r>
          </a:p>
        </p:txBody>
      </p:sp>
    </p:spTree>
    <p:extLst>
      <p:ext uri="{BB962C8B-B14F-4D97-AF65-F5344CB8AC3E}">
        <p14:creationId xmlns:p14="http://schemas.microsoft.com/office/powerpoint/2010/main" val="277981109"/>
      </p:ext>
    </p:extLst>
  </p:cSld>
</p:sld>
</file>

<file path=ppt/slides/slide35.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COST ANALYSIS">
            <a:extLst xmlns:a="http://schemas.openxmlformats.org/drawingml/2006/main">
              <a:ext uri="{FF2B5EF4-FFF2-40B4-BE49-F238E27FC236}">
                <a16:creationId xmlns:a16="http://schemas.microsoft.com/office/drawing/2014/main" id="{7DFF8F14-816B-4C16-933B-D699A394CEB4}"/>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BACKUP / COST ANALYSIS</a:t>
            </a:r>
          </a:p>
        </p:txBody>
      </p:sp>
      <p:sp>
        <p:nvSpPr>
          <p:cNvPr id="2" name="Setup and total operating cost">
            <a:extLst xmlns:a="http://schemas.openxmlformats.org/drawingml/2006/main">
              <a:ext uri="{FF2B5EF4-FFF2-40B4-BE49-F238E27FC236}">
                <a16:creationId xmlns:a16="http://schemas.microsoft.com/office/drawing/2014/main" id="{08858ABC-1C7A-4DBC-B523-A5A4239641D8}"/>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Setup and total operating cost</a:t>
            </a:r>
          </a:p>
        </p:txBody>
      </p:sp>
      <p:graphicFrame>
        <p:nvGraphicFramePr>
          <p:cNvPr id="3" name="">
            <a:extLst xmlns:a="http://schemas.openxmlformats.org/drawingml/2006/main">
              <a:ext uri="{FF2B5EF4-FFF2-40B4-BE49-F238E27FC236}">
                <a16:creationId xmlns:a16="http://schemas.microsoft.com/office/drawing/2014/main" id="{66EFA47D-B760-4A0A-B5BA-C20677A036B8}"/>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a:tblGrid>
                <a:gridCol w="2524125"/>
                <a:gridCol w="4210050"/>
                <a:gridCol w="4219575"/>
              </a:tblGrid>
              <a:tr h="676275">
                <a:tc>
                  <a:txBody>
                    <a:bodyPr/>
                    <a:lstStyle/>
                    <a:p>
                      <a:r>
                        <a:rPr sz="1725" b="1">
                          <a:solidFill>
                            <a:srgbClr val="F2EFE7"/>
                          </a:solidFill>
                          <a:latin typeface="Arial"/>
                          <a:ea typeface="Arial"/>
                          <a:cs typeface="Arial"/>
                        </a:rPr>
                        <a:t>Cost component</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Hosted API</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Local model</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76275">
                <a:tc>
                  <a:txBody>
                    <a:bodyPr/>
                    <a:lstStyle/>
                    <a:p>
                      <a:r>
                        <a:rPr sz="1725" b="1">
                          <a:solidFill>
                            <a:srgbClr val="087E79"/>
                          </a:solidFill>
                          <a:latin typeface="Arial"/>
                          <a:ea typeface="Arial"/>
                          <a:cs typeface="Arial"/>
                        </a:rPr>
                        <a:t>Setup</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Keys, billing, network, workspace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Runtime, weights, device and memory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725" b="1">
                          <a:solidFill>
                            <a:srgbClr val="087E79"/>
                          </a:solidFill>
                          <a:latin typeface="Arial"/>
                          <a:ea typeface="Arial"/>
                          <a:cs typeface="Arial"/>
                        </a:rPr>
                        <a:t>Per-run inference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Metered token charges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Owned compute and operations</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725" b="1">
                          <a:solidFill>
                            <a:srgbClr val="087E79"/>
                          </a:solidFill>
                          <a:latin typeface="Arial"/>
                          <a:ea typeface="Arial"/>
                          <a:cs typeface="Arial"/>
                        </a:rPr>
                        <a:t>Shared engineering</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Compiler, tests, credentials and observability</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Compiler, tests, credentials and observability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725" b="1">
                          <a:solidFill>
                            <a:srgbClr val="087E79"/>
                          </a:solidFill>
                          <a:latin typeface="Arial"/>
                          <a:ea typeface="Arial"/>
                          <a:cs typeface="Arial"/>
                        </a:rPr>
                        <a:t>Human review</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Uncertainty and unmet intent</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Uncertainty and unmet intent</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One extra minute of review can exceed the API co">
            <a:extLst xmlns:a="http://schemas.openxmlformats.org/drawingml/2006/main">
              <a:ext uri="{FF2B5EF4-FFF2-40B4-BE49-F238E27FC236}">
                <a16:creationId xmlns:a16="http://schemas.microsoft.com/office/drawing/2014/main" id="{C68F4770-CDA8-464C-81C3-094261A5196C}"/>
              </a:ext>
            </a:extLst>
          </p:cNvPr>
          <p:cNvSpPr>
            <a:spLocks xmlns:a="http://schemas.openxmlformats.org/drawingml/2006/main" noGrp="1"/>
          </p:cNvSpPr>
          <p:nvPr/>
        </p:nvSpPr>
        <p:spPr>
          <a:xfrm xmlns:a="http://schemas.openxmlformats.org/drawingml/2006/main">
            <a:off x="609600"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E79"/>
                </a:solidFill>
                <a:latin typeface="Arial"/>
                <a:ea typeface="Arial"/>
                <a:cs typeface="Arial"/>
              </a:defRPr>
            </a:defPPr>
          </a:lstStyle>
          <a:p xmlns:a="http://schemas.openxmlformats.org/drawingml/2006/main">
            <a:pPr>
              <a:defRPr sz="1875" b="1">
                <a:solidFill>
                  <a:srgbClr val="087E79"/>
                </a:solidFill>
                <a:latin typeface="Arial"/>
                <a:ea typeface="Arial"/>
                <a:cs typeface="Arial"/>
              </a:defRPr>
            </a:pPr>
            <a:r>
              <a:rPr sz="1875" b="1">
                <a:solidFill>
                  <a:srgbClr val="087E79"/>
                </a:solidFill>
                <a:latin typeface="Arial"/>
                <a:ea typeface="Arial"/>
                <a:cs typeface="Arial"/>
              </a:rPr>
              <a:t>One extra minute of review can exceed the API cost savings.</a:t>
            </a:r>
          </a:p>
        </p:txBody>
      </p:sp>
      <p:sp>
        <p:nvSpPr>
          <p:cNvPr id="5" name="ISC2 SECURITY CONGRESS 2026 / SC2632">
            <a:extLst xmlns:a="http://schemas.openxmlformats.org/drawingml/2006/main">
              <a:ext uri="{FF2B5EF4-FFF2-40B4-BE49-F238E27FC236}">
                <a16:creationId xmlns:a16="http://schemas.microsoft.com/office/drawing/2014/main" id="{F79F55A7-1943-40D5-8913-D63AE6043DD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5">
            <a:extLst xmlns:a="http://schemas.openxmlformats.org/drawingml/2006/main">
              <a:ext uri="{FF2B5EF4-FFF2-40B4-BE49-F238E27FC236}">
                <a16:creationId xmlns:a16="http://schemas.microsoft.com/office/drawing/2014/main" id="{6BE65D96-0D2C-4FFF-AE83-FE59E002F6A3}"/>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35</a:t>
            </a:r>
          </a:p>
        </p:txBody>
      </p:sp>
    </p:spTree>
    <p:extLst>
      <p:ext uri="{BB962C8B-B14F-4D97-AF65-F5344CB8AC3E}">
        <p14:creationId xmlns:p14="http://schemas.microsoft.com/office/powerpoint/2010/main" val="930873330"/>
      </p:ext>
    </p:extLst>
  </p:cSld>
</p:sld>
</file>

<file path=ppt/slides/slide36.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EXACT PILOT AND WORKFLOW METRICS">
            <a:extLst xmlns:a="http://schemas.openxmlformats.org/drawingml/2006/main">
              <a:ext uri="{FF2B5EF4-FFF2-40B4-BE49-F238E27FC236}">
                <a16:creationId xmlns:a16="http://schemas.microsoft.com/office/drawing/2014/main" id="{A704FBB9-7987-4994-B566-9125803CCDBB}"/>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BACKUP / EXACT PILOT AND WORKFLOW METRICS</a:t>
            </a:r>
          </a:p>
        </p:txBody>
      </p:sp>
      <p:sp>
        <p:nvSpPr>
          <p:cNvPr id="2" name="Full comparison: quality and confidence">
            <a:extLst xmlns:a="http://schemas.openxmlformats.org/drawingml/2006/main">
              <a:ext uri="{FF2B5EF4-FFF2-40B4-BE49-F238E27FC236}">
                <a16:creationId xmlns:a16="http://schemas.microsoft.com/office/drawing/2014/main" id="{B26FB5B4-E68E-4ADA-B7BF-79D9BDC272B6}"/>
              </a:ext>
            </a:extLst>
          </p:cNvPr>
          <p:cNvSpPr>
            <a:spLocks xmlns:a="http://schemas.openxmlformats.org/drawingml/2006/main" noGrp="1"/>
          </p:cNvSpPr>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Full comparison: quality and confidence</a:t>
            </a:r>
          </a:p>
        </p:txBody>
      </p:sp>
      <p:graphicFrame>
        <p:nvGraphicFramePr>
          <p:cNvPr id="3" name="">
            <a:extLst xmlns:a="http://schemas.openxmlformats.org/drawingml/2006/main">
              <a:ext uri="{FF2B5EF4-FFF2-40B4-BE49-F238E27FC236}">
                <a16:creationId xmlns:a16="http://schemas.microsoft.com/office/drawing/2014/main" id="{162CDE97-8B74-44EF-B8C0-28BAE234AA02}"/>
              </a:ext>
            </a:extLst>
          </p:cNvPr>
          <p:cNvGraphicFramePr/>
          <p:nvPr/>
        </p:nvGraphicFramePr>
        <p:xfrm>
          <a:off xmlns:a="http://schemas.openxmlformats.org/drawingml/2006/main" x="609600" y="2305050"/>
          <a:ext xmlns:a="http://schemas.openxmlformats.org/drawingml/2006/main" cx="10953750" cy="3333750"/>
        </p:xfrm>
        <a:graphic xmlns:a="http://schemas.openxmlformats.org/drawingml/2006/main">
          <a:graphicData uri="http://schemas.openxmlformats.org/drawingml/2006/table">
            <a:tbl>
              <a:tblPr/>
              <a:tblGrid>
                <a:gridCol w="4238625"/>
                <a:gridCol w="2238375"/>
                <a:gridCol w="2238375"/>
                <a:gridCol w="2238375"/>
              </a:tblGrid>
              <a:tr h="476250">
                <a:tc>
                  <a:txBody>
                    <a:bodyPr/>
                    <a:lstStyle/>
                    <a:p>
                      <a:r>
                        <a:rPr sz="1650" b="1">
                          <a:solidFill>
                            <a:srgbClr val="F2EFE7"/>
                          </a:solidFill>
                          <a:latin typeface="Arial"/>
                          <a:ea typeface="Arial"/>
                          <a:cs typeface="Arial"/>
                        </a:rPr>
                        <a:t>Metric</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650" b="1">
                          <a:solidFill>
                            <a:srgbClr val="F2EFE7"/>
                          </a:solidFill>
                          <a:latin typeface="Arial"/>
                          <a:ea typeface="Arial"/>
                          <a:cs typeface="Arial"/>
                        </a:rPr>
                        <a:t>Jev 1.13</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650" b="1">
                          <a:solidFill>
                            <a:srgbClr val="F2EFE7"/>
                          </a:solidFill>
                          <a:latin typeface="Arial"/>
                          <a:ea typeface="Arial"/>
                          <a:cs typeface="Arial"/>
                        </a:rPr>
                        <a:t>Opus 5.5</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650" b="1">
                          <a:solidFill>
                            <a:srgbClr val="F2EFE7"/>
                          </a:solidFill>
                          <a:latin typeface="Arial"/>
                          <a:ea typeface="Arial"/>
                          <a:cs typeface="Arial"/>
                        </a:rPr>
                        <a:t>Laya</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476250">
                <a:tc>
                  <a:txBody>
                    <a:bodyPr/>
                    <a:lstStyle/>
                    <a:p>
                      <a:r>
                        <a:rPr sz="1650" b="1">
                          <a:solidFill>
                            <a:srgbClr val="087E79"/>
                          </a:solidFill>
                          <a:latin typeface="Arial"/>
                          <a:ea typeface="Arial"/>
                          <a:cs typeface="Arial"/>
                        </a:rPr>
                        <a:t>Correct choices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30/33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32/33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16/33</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650" b="1">
                          <a:solidFill>
                            <a:srgbClr val="087E79"/>
                          </a:solidFill>
                          <a:latin typeface="Arial"/>
                          <a:ea typeface="Arial"/>
                          <a:cs typeface="Arial"/>
                        </a:rPr>
                        <a:t>Decision latency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0.17 s HTTP</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2.37 s HTTP</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0.09 s in-process</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650" b="1">
                          <a:solidFill>
                            <a:srgbClr val="087E79"/>
                          </a:solidFill>
                          <a:latin typeface="Arial"/>
                          <a:ea typeface="Arial"/>
                          <a:cs typeface="Arial"/>
                        </a:rPr>
                        <a:t>Selected at score 0.6</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26/33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33/33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1/33</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650" b="1">
                          <a:solidFill>
                            <a:srgbClr val="087E79"/>
                          </a:solidFill>
                          <a:latin typeface="Arial"/>
                          <a:ea typeface="Arial"/>
                          <a:cs typeface="Arial"/>
                        </a:rPr>
                        <a:t>Wrong among selected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0/26</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1/33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0/1</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650" b="1">
                          <a:solidFill>
                            <a:srgbClr val="087E79"/>
                          </a:solidFill>
                          <a:latin typeface="Arial"/>
                          <a:ea typeface="Arial"/>
                          <a:cs typeface="Arial"/>
                        </a:rPr>
                        <a:t>Scenario A time/run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1.82 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24.18 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0.41 s</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650" b="1">
                          <a:solidFill>
                            <a:srgbClr val="087E79"/>
                          </a:solidFill>
                          <a:latin typeface="Arial"/>
                          <a:ea typeface="Arial"/>
                          <a:cs typeface="Arial"/>
                        </a:rPr>
                        <a:t>API cost/run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$0.00019</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$0.03795</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650" b="0">
                          <a:solidFill>
                            <a:srgbClr val="0B1822"/>
                          </a:solidFill>
                          <a:latin typeface="Arial"/>
                          <a:ea typeface="Arial"/>
                          <a:cs typeface="Arial"/>
                        </a:rPr>
                        <a:t>$0 API; compute unpriced</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33 scored labels. Small pilot; confidence defini">
            <a:extLst xmlns:a="http://schemas.openxmlformats.org/drawingml/2006/main">
              <a:ext uri="{FF2B5EF4-FFF2-40B4-BE49-F238E27FC236}">
                <a16:creationId xmlns:a16="http://schemas.microsoft.com/office/drawing/2014/main" id="{BD9E1063-1F29-4604-A4A9-605541C70840}"/>
              </a:ext>
            </a:extLst>
          </p:cNvPr>
          <p:cNvSpPr>
            <a:spLocks xmlns:a="http://schemas.openxmlformats.org/drawingml/2006/main" noGrp="1"/>
          </p:cNvSpPr>
          <p:nvPr/>
        </p:nvSpPr>
        <p:spPr>
          <a:xfrm xmlns:a="http://schemas.openxmlformats.org/drawingml/2006/main">
            <a:off x="609600" y="58578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0717A"/>
                </a:solidFill>
                <a:latin typeface="Arial"/>
                <a:ea typeface="Arial"/>
                <a:cs typeface="Arial"/>
              </a:defRPr>
            </a:defPPr>
          </a:lstStyle>
          <a:p xmlns:a="http://schemas.openxmlformats.org/drawingml/2006/main">
            <a:pPr>
              <a:defRPr sz="1575" b="0">
                <a:solidFill>
                  <a:srgbClr val="60717A"/>
                </a:solidFill>
                <a:latin typeface="Arial"/>
                <a:ea typeface="Arial"/>
                <a:cs typeface="Arial"/>
              </a:defRPr>
            </a:pPr>
            <a:r>
              <a:rPr sz="1575" b="0">
                <a:solidFill>
                  <a:srgbClr val="60717A"/>
                </a:solidFill>
                <a:latin typeface="Arial"/>
                <a:ea typeface="Arial"/>
                <a:cs typeface="Arial"/>
              </a:rPr>
              <a:t>33 scored labels. Small pilot; confidence definitions differ. Laya generated no guardrail.</a:t>
            </a:r>
          </a:p>
        </p:txBody>
      </p:sp>
      <p:sp>
        <p:nvSpPr>
          <p:cNvPr id="5" name="ISC2 SECURITY CONGRESS 2026 / SC2632">
            <a:extLst xmlns:a="http://schemas.openxmlformats.org/drawingml/2006/main">
              <a:ext uri="{FF2B5EF4-FFF2-40B4-BE49-F238E27FC236}">
                <a16:creationId xmlns:a16="http://schemas.microsoft.com/office/drawing/2014/main" id="{797F4CA3-871B-49FA-9B34-B1EF7B01697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6">
            <a:extLst xmlns:a="http://schemas.openxmlformats.org/drawingml/2006/main">
              <a:ext uri="{FF2B5EF4-FFF2-40B4-BE49-F238E27FC236}">
                <a16:creationId xmlns:a16="http://schemas.microsoft.com/office/drawing/2014/main" id="{3A8A7065-76B1-494B-8207-B4C6CB304B1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36</a:t>
            </a:r>
          </a:p>
        </p:txBody>
      </p:sp>
    </p:spTree>
    <p:extLst>
      <p:ext uri="{BB962C8B-B14F-4D97-AF65-F5344CB8AC3E}">
        <p14:creationId xmlns:p14="http://schemas.microsoft.com/office/powerpoint/2010/main" val="1197041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2026-10-16T13:57:07.4410000Z</dcterms:created>
  <dcterms:modified xsi:type="dcterms:W3CDTF">2026-10-16T13:57:07.4410000Z</dcterms:modified>
</coreProperties>
</file>