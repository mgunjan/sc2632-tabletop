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3c89d7c86e463b" /><Relationship Type="http://schemas.openxmlformats.org/officeDocument/2006/relationships/extended-properties" Target="/docProps/app.xml" Id="Rfbbe958d4b7c4f8a" /><Relationship Type="http://schemas.openxmlformats.org/officeDocument/2006/relationships/officeDocument" Target="/ppt/presentation.xml" Id="Ra4791ee2b260464e" /></Relationships>
</file>

<file path=ppt/presentation.xml><?xml version="1.0" encoding="utf-8"?>
<p:presentation xmlns:p="http://schemas.openxmlformats.org/presentationml/2006/main">
  <p:sldMasterIdLst>
    <p:sldMasterId xmlns:r="http://schemas.openxmlformats.org/officeDocument/2006/relationships" id="2147483648" r:id="R7cba5adf90d945b3"/>
  </p:sldMasterIdLst>
  <p:notesMasterIdLst>
    <p:notesMasterId xmlns:r="http://schemas.openxmlformats.org/officeDocument/2006/relationships" r:id="R857dd3b665874d9e"/>
  </p:notesMasterIdLst>
  <p:sldIdLst>
    <p:sldId xmlns:r="http://schemas.openxmlformats.org/officeDocument/2006/relationships" id="256" r:id="R2c19d1f265904769"/>
    <p:sldId xmlns:r="http://schemas.openxmlformats.org/officeDocument/2006/relationships" id="257" r:id="Rfe016321193a4dc6"/>
    <p:sldId xmlns:r="http://schemas.openxmlformats.org/officeDocument/2006/relationships" id="258" r:id="R44f158343cca4ef4"/>
    <p:sldId xmlns:r="http://schemas.openxmlformats.org/officeDocument/2006/relationships" id="259" r:id="R833990a7ffc64d78"/>
    <p:sldId xmlns:r="http://schemas.openxmlformats.org/officeDocument/2006/relationships" id="260" r:id="R3a39e7ddadab4ff8"/>
    <p:sldId xmlns:r="http://schemas.openxmlformats.org/officeDocument/2006/relationships" id="261" r:id="Rd7817230dfb149db"/>
    <p:sldId xmlns:r="http://schemas.openxmlformats.org/officeDocument/2006/relationships" id="262" r:id="R7ede5cd5b8b346a2"/>
    <p:sldId xmlns:r="http://schemas.openxmlformats.org/officeDocument/2006/relationships" id="263" r:id="R15ffa20ded11413e"/>
    <p:sldId xmlns:r="http://schemas.openxmlformats.org/officeDocument/2006/relationships" id="264" r:id="R51aa6ead01d84390"/>
    <p:sldId xmlns:r="http://schemas.openxmlformats.org/officeDocument/2006/relationships" id="265" r:id="R8a08e2b9e4d24b0f"/>
    <p:sldId xmlns:r="http://schemas.openxmlformats.org/officeDocument/2006/relationships" id="266" r:id="Rccce8eae79ea4871"/>
    <p:sldId xmlns:r="http://schemas.openxmlformats.org/officeDocument/2006/relationships" id="267" r:id="R32f5bbf14d5748db"/>
    <p:sldId xmlns:r="http://schemas.openxmlformats.org/officeDocument/2006/relationships" id="268" r:id="R26ab812b54054e15"/>
    <p:sldId xmlns:r="http://schemas.openxmlformats.org/officeDocument/2006/relationships" id="269" r:id="R033885f186254d5e"/>
    <p:sldId xmlns:r="http://schemas.openxmlformats.org/officeDocument/2006/relationships" id="270" r:id="R1089c9001c5547a2"/>
    <p:sldId xmlns:r="http://schemas.openxmlformats.org/officeDocument/2006/relationships" id="271" r:id="Rf793671227494f9d"/>
    <p:sldId xmlns:r="http://schemas.openxmlformats.org/officeDocument/2006/relationships" id="272" r:id="Rb0f735d4e1c84f7d"/>
    <p:sldId xmlns:r="http://schemas.openxmlformats.org/officeDocument/2006/relationships" id="273" r:id="R6dd2da218901491e"/>
    <p:sldId xmlns:r="http://schemas.openxmlformats.org/officeDocument/2006/relationships" id="274" r:id="Rdb2faecec0e24a94"/>
    <p:sldId xmlns:r="http://schemas.openxmlformats.org/officeDocument/2006/relationships" id="275" r:id="Raf65f13a24fa4889"/>
    <p:sldId xmlns:r="http://schemas.openxmlformats.org/officeDocument/2006/relationships" id="276" r:id="R7779adb971fe41b1"/>
    <p:sldId xmlns:r="http://schemas.openxmlformats.org/officeDocument/2006/relationships" id="277" r:id="Rd52a3640b0d3409b"/>
    <p:sldId xmlns:r="http://schemas.openxmlformats.org/officeDocument/2006/relationships" id="278" r:id="R684c526997d740d1"/>
    <p:sldId xmlns:r="http://schemas.openxmlformats.org/officeDocument/2006/relationships" id="279" r:id="R9a872f053e6643a3"/>
    <p:sldId xmlns:r="http://schemas.openxmlformats.org/officeDocument/2006/relationships" id="280" r:id="R01caaf9df73d4cce"/>
    <p:sldId xmlns:r="http://schemas.openxmlformats.org/officeDocument/2006/relationships" id="281" r:id="Rd6066573a5ac4795"/>
    <p:sldId xmlns:r="http://schemas.openxmlformats.org/officeDocument/2006/relationships" id="282" r:id="R04c3ac04efb84226"/>
    <p:sldId xmlns:r="http://schemas.openxmlformats.org/officeDocument/2006/relationships" id="283" r:id="R8ab9827d48354bb9"/>
    <p:sldId xmlns:r="http://schemas.openxmlformats.org/officeDocument/2006/relationships" id="284" r:id="R9e378dcc174e458b"/>
    <p:sldId xmlns:r="http://schemas.openxmlformats.org/officeDocument/2006/relationships" id="285" r:id="R37aa9d66d47a46e9"/>
    <p:sldId xmlns:r="http://schemas.openxmlformats.org/officeDocument/2006/relationships" id="286" r:id="R5bffa970779d4de6"/>
    <p:sldId xmlns:r="http://schemas.openxmlformats.org/officeDocument/2006/relationships" id="287" r:id="R0f78c130ab8b4c21"/>
    <p:sldId xmlns:r="http://schemas.openxmlformats.org/officeDocument/2006/relationships" id="288" r:id="R9ea312fdee594794"/>
    <p:sldId xmlns:r="http://schemas.openxmlformats.org/officeDocument/2006/relationships" id="289" r:id="R851649b6ce3a4bf9"/>
    <p:sldId xmlns:r="http://schemas.openxmlformats.org/officeDocument/2006/relationships" id="290" r:id="Rdd8c8dee8eda4d8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9538d29926f4f60" /><Relationship Type="http://schemas.openxmlformats.org/officeDocument/2006/relationships/slideMaster" Target="/ppt/slideMasters/slideMaster1.xml" Id="R7cba5adf90d945b3" /><Relationship Type="http://schemas.openxmlformats.org/officeDocument/2006/relationships/notesMaster" Target="/ppt/notesMasters/notesMaster1.xml" Id="R857dd3b665874d9e" /><Relationship Type="http://schemas.openxmlformats.org/officeDocument/2006/relationships/presProps" Target="/ppt/presProps.xml" Id="Rd689b78034b54ae2" /><Relationship Type="http://schemas.openxmlformats.org/officeDocument/2006/relationships/tableStyles" Target="/ppt/tableStyles.xml" Id="R75ed719be4304705" /><Relationship Type="http://schemas.openxmlformats.org/officeDocument/2006/relationships/slide" Target="/ppt/slides/slide1.xml" Id="R2c19d1f265904769" /><Relationship Type="http://schemas.openxmlformats.org/officeDocument/2006/relationships/slide" Target="/ppt/slides/slide2.xml" Id="Rfe016321193a4dc6" /><Relationship Type="http://schemas.openxmlformats.org/officeDocument/2006/relationships/slide" Target="/ppt/slides/slide3.xml" Id="R44f158343cca4ef4" /><Relationship Type="http://schemas.openxmlformats.org/officeDocument/2006/relationships/slide" Target="/ppt/slides/slide4.xml" Id="R833990a7ffc64d78" /><Relationship Type="http://schemas.openxmlformats.org/officeDocument/2006/relationships/slide" Target="/ppt/slides/slide5.xml" Id="R3a39e7ddadab4ff8" /><Relationship Type="http://schemas.openxmlformats.org/officeDocument/2006/relationships/slide" Target="/ppt/slides/slide6.xml" Id="Rd7817230dfb149db" /><Relationship Type="http://schemas.openxmlformats.org/officeDocument/2006/relationships/slide" Target="/ppt/slides/slide7.xml" Id="R7ede5cd5b8b346a2" /><Relationship Type="http://schemas.openxmlformats.org/officeDocument/2006/relationships/slide" Target="/ppt/slides/slide8.xml" Id="R15ffa20ded11413e" /><Relationship Type="http://schemas.openxmlformats.org/officeDocument/2006/relationships/slide" Target="/ppt/slides/slide9.xml" Id="R51aa6ead01d84390" /><Relationship Type="http://schemas.openxmlformats.org/officeDocument/2006/relationships/slide" Target="/ppt/slides/slide10.xml" Id="R8a08e2b9e4d24b0f" /><Relationship Type="http://schemas.openxmlformats.org/officeDocument/2006/relationships/slide" Target="/ppt/slides/slide11.xml" Id="Rccce8eae79ea4871" /><Relationship Type="http://schemas.openxmlformats.org/officeDocument/2006/relationships/slide" Target="/ppt/slides/slide12.xml" Id="R32f5bbf14d5748db" /><Relationship Type="http://schemas.openxmlformats.org/officeDocument/2006/relationships/slide" Target="/ppt/slides/slide13.xml" Id="R26ab812b54054e15" /><Relationship Type="http://schemas.openxmlformats.org/officeDocument/2006/relationships/slide" Target="/ppt/slides/slide14.xml" Id="R033885f186254d5e" /><Relationship Type="http://schemas.openxmlformats.org/officeDocument/2006/relationships/slide" Target="/ppt/slides/slide15.xml" Id="R1089c9001c5547a2" /><Relationship Type="http://schemas.openxmlformats.org/officeDocument/2006/relationships/slide" Target="/ppt/slides/slide16.xml" Id="Rf793671227494f9d" /><Relationship Type="http://schemas.openxmlformats.org/officeDocument/2006/relationships/slide" Target="/ppt/slides/slide17.xml" Id="Rb0f735d4e1c84f7d" /><Relationship Type="http://schemas.openxmlformats.org/officeDocument/2006/relationships/slide" Target="/ppt/slides/slide18.xml" Id="R6dd2da218901491e" /><Relationship Type="http://schemas.openxmlformats.org/officeDocument/2006/relationships/slide" Target="/ppt/slides/slide19.xml" Id="Rdb2faecec0e24a94" /><Relationship Type="http://schemas.openxmlformats.org/officeDocument/2006/relationships/slide" Target="/ppt/slides/slide20.xml" Id="Raf65f13a24fa4889" /><Relationship Type="http://schemas.openxmlformats.org/officeDocument/2006/relationships/slide" Target="/ppt/slides/slide21.xml" Id="R7779adb971fe41b1" /><Relationship Type="http://schemas.openxmlformats.org/officeDocument/2006/relationships/slide" Target="/ppt/slides/slide22.xml" Id="Rd52a3640b0d3409b" /><Relationship Type="http://schemas.openxmlformats.org/officeDocument/2006/relationships/slide" Target="/ppt/slides/slide23.xml" Id="R684c526997d740d1" /><Relationship Type="http://schemas.openxmlformats.org/officeDocument/2006/relationships/slide" Target="/ppt/slides/slide24.xml" Id="R9a872f053e6643a3" /><Relationship Type="http://schemas.openxmlformats.org/officeDocument/2006/relationships/slide" Target="/ppt/slides/slide25.xml" Id="R01caaf9df73d4cce" /><Relationship Type="http://schemas.openxmlformats.org/officeDocument/2006/relationships/slide" Target="/ppt/slides/slide26.xml" Id="Rd6066573a5ac4795" /><Relationship Type="http://schemas.openxmlformats.org/officeDocument/2006/relationships/slide" Target="/ppt/slides/slide27.xml" Id="R04c3ac04efb84226" /><Relationship Type="http://schemas.openxmlformats.org/officeDocument/2006/relationships/slide" Target="/ppt/slides/slide28.xml" Id="R8ab9827d48354bb9" /><Relationship Type="http://schemas.openxmlformats.org/officeDocument/2006/relationships/slide" Target="/ppt/slides/slide29.xml" Id="R9e378dcc174e458b" /><Relationship Type="http://schemas.openxmlformats.org/officeDocument/2006/relationships/slide" Target="/ppt/slides/slide30.xml" Id="R37aa9d66d47a46e9" /><Relationship Type="http://schemas.openxmlformats.org/officeDocument/2006/relationships/slide" Target="/ppt/slides/slide31.xml" Id="R5bffa970779d4de6" /><Relationship Type="http://schemas.openxmlformats.org/officeDocument/2006/relationships/slide" Target="/ppt/slides/slide32.xml" Id="R0f78c130ab8b4c21" /><Relationship Type="http://schemas.openxmlformats.org/officeDocument/2006/relationships/slide" Target="/ppt/slides/slide33.xml" Id="R9ea312fdee594794" /><Relationship Type="http://schemas.openxmlformats.org/officeDocument/2006/relationships/slide" Target="/ppt/slides/slide34.xml" Id="R851649b6ce3a4bf9" /><Relationship Type="http://schemas.openxmlformats.org/officeDocument/2006/relationships/slide" Target="/ppt/slides/slide35.xml" Id="Rdd8c8dee8eda4d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2df08c52bc141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c9072df57fb423a" /><Relationship Type="http://schemas.openxmlformats.org/officeDocument/2006/relationships/notesMaster" Target="/ppt/notesMasters/notesMaster1.xml" Id="R342199788da8469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341ab33a0f47ab" /><Relationship Type="http://schemas.openxmlformats.org/officeDocument/2006/relationships/notesMaster" Target="/ppt/notesMasters/notesMaster1.xml" Id="R466acd2b53614f9f" /></Relationships>
</file>

<file path=ppt/notesSlides/_rels/notesSlide3.xml.rels>&#65279;<?xml version="1.0" encoding="utf-8"?><Relationships xmlns="http://schemas.openxmlformats.org/package/2006/relationships"><Relationship Type="http://schemas.openxmlformats.org/officeDocument/2006/relationships/slide" Target="/ppt/slides/slide3.xml" Id="Radecd99e92af4dfd" /><Relationship Type="http://schemas.openxmlformats.org/officeDocument/2006/relationships/notesMaster" Target="/ppt/notesMasters/notesMaster1.xml" Id="R8ca4bd18ea3042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ec5bb528854407" /><Relationship Type="http://schemas.openxmlformats.org/officeDocument/2006/relationships/notesMaster" Target="/ppt/notesMasters/notesMaster1.xml" Id="R61499b5ff9034e53"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4203865c1341c8" /><Relationship Type="http://schemas.openxmlformats.org/officeDocument/2006/relationships/notesMaster" Target="/ppt/notesMasters/notesMaster1.xml" Id="R00a85ea1f4174925"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3b28741a544f3e" /><Relationship Type="http://schemas.openxmlformats.org/officeDocument/2006/relationships/notesMaster" Target="/ppt/notesMasters/notesMaster1.xml" Id="R3de8d637eaa74a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a508c9804b2419e" /><Relationship Type="http://schemas.openxmlformats.org/officeDocument/2006/relationships/notesMaster" Target="/ppt/notesMasters/notesMaster1.xml" Id="R2e58079a7b7b420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8aef7158b24d99" /><Relationship Type="http://schemas.openxmlformats.org/officeDocument/2006/relationships/notesMaster" Target="/ppt/notesMasters/notesMaster1.xml" Id="Ree873cee5c924a2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6d2b19748ef4c5d" /><Relationship Type="http://schemas.openxmlformats.org/officeDocument/2006/relationships/notesMaster" Target="/ppt/notesMasters/notesMaster1.xml" Id="R6743043702e54db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5b5f11824004d34" /><Relationship Type="http://schemas.openxmlformats.org/officeDocument/2006/relationships/notesMaster" Target="/ppt/notesMasters/notesMaster1.xml" Id="R6facaf4a2d3641c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8d052e6d5af4df9" /><Relationship Type="http://schemas.openxmlformats.org/officeDocument/2006/relationships/notesMaster" Target="/ppt/notesMasters/notesMaster1.xml" Id="R6373d89570f64cb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32f8ccc537c4e3c" /><Relationship Type="http://schemas.openxmlformats.org/officeDocument/2006/relationships/notesMaster" Target="/ppt/notesMasters/notesMaster1.xml" Id="Recf7fb0ecbc44b9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a7245c9ca2e4226" /><Relationship Type="http://schemas.openxmlformats.org/officeDocument/2006/relationships/notesMaster" Target="/ppt/notesMasters/notesMaster1.xml" Id="Ree859f811fed48f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1c83d5320f44b9e" /><Relationship Type="http://schemas.openxmlformats.org/officeDocument/2006/relationships/notesMaster" Target="/ppt/notesMasters/notesMaster1.xml" Id="R7c8abe7bcef74e4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18eee06199b4c94" /><Relationship Type="http://schemas.openxmlformats.org/officeDocument/2006/relationships/notesMaster" Target="/ppt/notesMasters/notesMaster1.xml" Id="R4c1b9d9f35bf473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c15d7fbeefd4a61" /><Relationship Type="http://schemas.openxmlformats.org/officeDocument/2006/relationships/notesMaster" Target="/ppt/notesMasters/notesMaster1.xml" Id="R95b5511bcdcc4fc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ceb19eff8c542bd" /><Relationship Type="http://schemas.openxmlformats.org/officeDocument/2006/relationships/notesMaster" Target="/ppt/notesMasters/notesMaster1.xml" Id="Rdd3896824e5542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8f23f25fb2e4bfb" /><Relationship Type="http://schemas.openxmlformats.org/officeDocument/2006/relationships/notesMaster" Target="/ppt/notesMasters/notesMaster1.xml" Id="R3d85b0a4469c4ba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db2ed45d1bd446d" /><Relationship Type="http://schemas.openxmlformats.org/officeDocument/2006/relationships/notesMaster" Target="/ppt/notesMasters/notesMaster1.xml" Id="Raaae5718409e42c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0d5c48d3db547bf" /><Relationship Type="http://schemas.openxmlformats.org/officeDocument/2006/relationships/notesMaster" Target="/ppt/notesMasters/notesMaster1.xml" Id="R24855216d4604f8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8b2e7ad035f40b5" /><Relationship Type="http://schemas.openxmlformats.org/officeDocument/2006/relationships/notesMaster" Target="/ppt/notesMasters/notesMaster1.xml" Id="R4453837fa4034b5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f19416849404f77" /><Relationship Type="http://schemas.openxmlformats.org/officeDocument/2006/relationships/notesMaster" Target="/ppt/notesMasters/notesMaster1.xml" Id="Rdd4f9dbe8841480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8b1ea1f532e4ddb" /><Relationship Type="http://schemas.openxmlformats.org/officeDocument/2006/relationships/notesMaster" Target="/ppt/notesMasters/notesMaster1.xml" Id="R3a1dc895ad07410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bbb63c2abbc4f97" /><Relationship Type="http://schemas.openxmlformats.org/officeDocument/2006/relationships/notesMaster" Target="/ppt/notesMasters/notesMaster1.xml" Id="R3abd5bae23d541f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827a658944245a1" /><Relationship Type="http://schemas.openxmlformats.org/officeDocument/2006/relationships/notesMaster" Target="/ppt/notesMasters/notesMaster1.xml" Id="R6d4705c614f9427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c872adbdc864814" /><Relationship Type="http://schemas.openxmlformats.org/officeDocument/2006/relationships/notesMaster" Target="/ppt/notesMasters/notesMaster1.xml" Id="R3a60892228324a0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67f064993654611" /><Relationship Type="http://schemas.openxmlformats.org/officeDocument/2006/relationships/notesMaster" Target="/ppt/notesMasters/notesMaster1.xml" Id="Ra23a2627824f4a8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cc3b4f07477459b" /><Relationship Type="http://schemas.openxmlformats.org/officeDocument/2006/relationships/notesMaster" Target="/ppt/notesMasters/notesMaster1.xml" Id="Rf93382b75db647f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4ae0a6f1c87464d" /><Relationship Type="http://schemas.openxmlformats.org/officeDocument/2006/relationships/notesMaster" Target="/ppt/notesMasters/notesMaster1.xml" Id="R19a06a87552f462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0a89023fd734ea4" /><Relationship Type="http://schemas.openxmlformats.org/officeDocument/2006/relationships/notesMaster" Target="/ppt/notesMasters/notesMaster1.xml" Id="Rff996398988d411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8460aa5e81a40fb" /><Relationship Type="http://schemas.openxmlformats.org/officeDocument/2006/relationships/notesMaster" Target="/ppt/notesMasters/notesMaster1.xml" Id="R2a1c3590aab24b4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a6bcf2ba8084893" /><Relationship Type="http://schemas.openxmlformats.org/officeDocument/2006/relationships/notesMaster" Target="/ppt/notesMasters/notesMaster1.xml" Id="Rd7dabf6048354a7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7dd58b2fc0d41c4" /><Relationship Type="http://schemas.openxmlformats.org/officeDocument/2006/relationships/notesMaster" Target="/ppt/notesMasters/notesMaster1.xml" Id="Rd20689a1c1344b4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4b8b73e5d00453f" /><Relationship Type="http://schemas.openxmlformats.org/officeDocument/2006/relationships/notesMaster" Target="/ppt/notesMasters/notesMaster1.xml" Id="Rb478e2a478bb40d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a4dc92f372b4e7c" /><Relationship Type="http://schemas.openxmlformats.org/officeDocument/2006/relationships/notesMaster" Target="/ppt/notesMasters/notesMaster1.xml" Id="R149abb69c11840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00:20–01:10. Milind introduces the environment in plain language. A cluster is the shared platform running services and agents; a namespace is a named resource group, not automatic isolation; a Pod is a running unit containing one or more containers; a ServiceAccount is the identity a workload uses to call the Kubernetes API. Replicas are copies of a workload. Point to payments and agents as example groups, with payments-api, support-agent, ops-agent and monitoring-agent appearing only when their case is selected. Services are still operating, unexpected activity has crossed an expected boundary and the extent of exposure is uncertain. Broad isolation may disrupt dependencies; delay may expose other workloads. These are four alternative fictional alerts, not simultaneous confirmed incidents. The recorded enforcement environment is a separate disposable local k3s/Kyverno lab, with synthetic stand-in applications. Definitions: https://kubernetes.io/docs/concepts/workloads/pods/ ; https://kubernetes.io/docs/concepts/overview/working-with-objects/namespaces/ ; https://kubernetes.io/docs/concepts/security/service-accounts/ . Repository source: https://github.com/mgunjan/agentic-k8s-guardrails/blob/main/tabletop/congress-2026/INCIDENT-BRIEF.md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01:10–02:00. Vivek explains Kyverno as the policy checker for proposed Kubernetes resource changes. Admission is the checkpoint before a covered request takes effect. Walk through one example: a request creates a Pod with privilege escalation enabled; the reviewed rule requires it disabled; in Deny mode the covered request is refused. Audit records a violation and Warn warns while admitting; the rollout round revisits those choices. Installing this admission rule does not terminate an existing Pod or revoke a copied credential. NetworkPolicy plus its enforcing network implementation handles covered traffic; RBAC handles Kubernetes API permissions; application controls govern tools and untrusted inputs. Kyverno can do more than validate, but this is the validation role demonstrated here. The model proposes a typed choice and code renders a rule; human review authorizes enforcement. Ask the room: does rejecting a new Pod stop an already running Pod? Answer no, and identify the separate containment action without revealing later case facts. Say that the lab uses isolated local k3s and Kyverno, and the compiler demo uses fixture simulation. Sources: https://kyverno.io/docs/policy-types/validating-policy/ ; https://kubernetes.io/docs/reference/access-authn-authz/admission-controllers/ ; https://kubernetes.io/docs/reference/access-authn-authz/rbac/ ; https://kubernetes.io/docs/concepts/services-networking/network-policies/ .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02:00–03:00. Vivek assigns the incident review role and holds up the actual pack and worksheet. Say: Your table decides what may proceed, what it holds and what evidence must come before enforcement. Record intent, proposal disposition, exception/rollout conditions, ordered containment and recovery on page 6. Work in plain language, without laptops or YAML. Pages 2–5 are the four case cards, page 6 is the shared record, and pages 7/8 stay sealed until their rounds. Keep the CONTROL-REVIEW findings sealed too. State the sequence: discuss, write before the reveal, hear the evidence, and revise beside the first answer. At most two twenty-second table reports. Milind demonstrates the compiler and policy consequences; Vivek leads proposal reviews and evidence reveals; both share round discussions and debrief. Audience prose does not automatically run through a model or deploy. The common demo uses a supplied reference spec. Use the clock to protect writing time. Repository source: https://github.com/mgunjan/agentic-k8s-guardrails/blob/main/tabletop/congress-2026/CO-PRESENTER-CARDS.md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03:00–04:15.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Teams identify the owner and acceptance evidence for API reads before the recorded lab reveal.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04:15–05:00.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05:00–06:00. Allow the table to assign an incident lead, recorder, analyst and independent reviewer. The lead states a decision, the recorder writes page 6, the analyst checks claims against the evidence and the independent reviewer raises a concern before the decision. With fewer than four people, combine lead/recorder or analyst/reviewer. Others defend the operational constraint. Ask each table to record its case, constraint, roles and minimum service before Round 1. Milind and Vivek each check different tables; Vivek records selected cases without assigning them. Six seats maximum and twelve tables maximum. Give the scorecard explanation in one sentence: twelve points reward a complete justified record, with up to three for the independent proposal review. A held or refused request can earn full credit when verification conditions are explicit. Score specified evidence, not invented live success or restriction severity. Use SCORING-ANCHORS.md for detailed calibration. Source: submission/2026-10-13/REVIEW-SCORECARD.pdf.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Give four minutes of quiet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Explain the common typed interface: Jev and local specialists use /v1/systemone, while Claude and OpenAI adapters return the same bounded answer through structured outputs. It does not author free-form YAML. decider_agent maps clauses; policy_agent adds dependency and blocked-workload decisions, with up to three revision rounds. Confidence below 0.6 routes the item to a human. That threshold is an operating choice, not proof of 60% accuracy. The agent can omit required controls or propose insufficient coverage. Human review remains necessary.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Read the missing clause first.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The quote on this slide is a fictional prompt, not verified approval.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Read the levels once.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Q3 refuses a replacement. After one eviction, minAvailable=2 blocks the next. The first eviction also destroys uncaptured evidence. Preserving suspects in place and checking clean capacity are part of the plan.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then show the historical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54:00–57:00. Tally points, recognize one defended tradeoff and compare the review scores and discuss differences in reasoning.  Each participant records an action they own. Ask two volunteers to read theirs. 57:00–60:00: questions and closing. The accepted objectives have observable outputs: R1 intent/map, R2 justified exceptions/modes, R3 containment/recovery playbook. Thank the co-presenter and participants.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82c61c71ad1491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b0221e20f2549f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64a59083eba4c8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2f74ce1ffe478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66fe2214a0457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8375ca2e50940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9736E6-A71F-466C-8CCD-2B76DCB1376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9A7159-FB55-4BEE-9C4C-1D50102E935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46C7B5D-C90C-48C7-8D7A-770E835E1FE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7258EA-1361-440A-B50B-6A579C5261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F3BD0BA-59DF-4F91-8034-0A55957B8EA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0C3C745-9DBD-40D0-8383-B8BCE5D611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97A070-43DB-42AB-897E-53333CA0DF6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41EB8B9-9686-4E02-80A9-9E47FD37324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8CF2B02-2184-4729-8A78-909107EA471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9FA4649-3897-4E80-A53B-1E8D11C153B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1b4900ebe345f5" /><Relationship Type="http://schemas.openxmlformats.org/officeDocument/2006/relationships/slideLayout" Target="/ppt/slideLayouts/slideLayout1.xml" Id="R66a16f1190a44840" /><Relationship Type="http://schemas.openxmlformats.org/officeDocument/2006/relationships/slideLayout" Target="/ppt/slideLayouts/slideLayout2.xml" Id="Rde7ec75f3e574af6" /><Relationship Type="http://schemas.openxmlformats.org/officeDocument/2006/relationships/slideLayout" Target="/ppt/slideLayouts/slideLayout3.xml" Id="Rde7e9a4e82164729" /><Relationship Type="http://schemas.openxmlformats.org/officeDocument/2006/relationships/slideLayout" Target="/ppt/slideLayouts/slideLayout4.xml" Id="R42fe15804a1847d8" /><Relationship Type="http://schemas.openxmlformats.org/officeDocument/2006/relationships/slideLayout" Target="/ppt/slideLayouts/slideLayout5.xml" Id="R96e80d31cdc44543" /><Relationship Type="http://schemas.openxmlformats.org/officeDocument/2006/relationships/slideLayout" Target="/ppt/slideLayouts/slideLayout6.xml" Id="Rce4ddf191cc342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a16f1190a44840"/>
    <p:sldLayoutId xmlns:r="http://schemas.openxmlformats.org/officeDocument/2006/relationships" id="2147483650" r:id="Rde7ec75f3e574af6"/>
    <p:sldLayoutId xmlns:r="http://schemas.openxmlformats.org/officeDocument/2006/relationships" id="2147483651" r:id="Rde7e9a4e82164729"/>
    <p:sldLayoutId xmlns:r="http://schemas.openxmlformats.org/officeDocument/2006/relationships" id="2147483652" r:id="R42fe15804a1847d8"/>
    <p:sldLayoutId xmlns:r="http://schemas.openxmlformats.org/officeDocument/2006/relationships" id="2147483653" r:id="R96e80d31cdc44543"/>
    <p:sldLayoutId xmlns:r="http://schemas.openxmlformats.org/officeDocument/2006/relationships" id="2147483654" r:id="Rce4ddf191cc342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2ee67a8cf4a453d" /><Relationship Type="http://schemas.openxmlformats.org/officeDocument/2006/relationships/image" Target="/ppt/media/image.png" Id="Re2021c9f259b44c0" /><Relationship Type="http://schemas.openxmlformats.org/officeDocument/2006/relationships/notesSlide" Target="/ppt/notesSlides/notesSlide1.xml" Id="R8049fa1072ad44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65d138664674961" /><Relationship Type="http://schemas.openxmlformats.org/officeDocument/2006/relationships/notesSlide" Target="/ppt/notesSlides/notesSlide2.xml" Id="Re9cb746aa0b341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3025fd0d4f14e49" /><Relationship Type="http://schemas.openxmlformats.org/officeDocument/2006/relationships/notesSlide" Target="/ppt/notesSlides/notesSlide3.xml" Id="R6fc0834d72714d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34e920713a4b8d" /><Relationship Type="http://schemas.openxmlformats.org/officeDocument/2006/relationships/notesSlide" Target="/ppt/notesSlides/notesSlide4.xml" Id="R86b8fb9d7e0d47c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cad9875015c4c8b" /><Relationship Type="http://schemas.openxmlformats.org/officeDocument/2006/relationships/notesSlide" Target="/ppt/notesSlides/notesSlide5.xml" Id="Rd57997aa3c83492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bb3d8e1264e484f" /><Relationship Type="http://schemas.openxmlformats.org/officeDocument/2006/relationships/notesSlide" Target="/ppt/notesSlides/notesSlide6.xml" Id="Rc73cee0fb121409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9e8ac23e7ea43ba" /><Relationship Type="http://schemas.openxmlformats.org/officeDocument/2006/relationships/notesSlide" Target="/ppt/notesSlides/notesSlide7.xml" Id="R32df8bfac0c842c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a5556d103994f1d" /><Relationship Type="http://schemas.openxmlformats.org/officeDocument/2006/relationships/image" Target="/ppt/media/image2.png" Id="R2bd548fb46904a35" /><Relationship Type="http://schemas.openxmlformats.org/officeDocument/2006/relationships/notesSlide" Target="/ppt/notesSlides/notesSlide8.xml" Id="R1115c2903b1d43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7fd1f96a2814b82" /><Relationship Type="http://schemas.openxmlformats.org/officeDocument/2006/relationships/notesSlide" Target="/ppt/notesSlides/notesSlide9.xml" Id="R30207b7917f4426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159d98b4d7246cb" /><Relationship Type="http://schemas.openxmlformats.org/officeDocument/2006/relationships/notesSlide" Target="/ppt/notesSlides/notesSlide10.xml" Id="R284575cc58df48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83fa3ab1c154c3c" /><Relationship Type="http://schemas.openxmlformats.org/officeDocument/2006/relationships/notesSlide" Target="/ppt/notesSlides/notesSlide11.xml" Id="Rb316f9c1a909400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33369c1a0d94b2d" /><Relationship Type="http://schemas.openxmlformats.org/officeDocument/2006/relationships/notesSlide" Target="/ppt/notesSlides/notesSlide12.xml" Id="Rb912cdbf7700403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6be68fe47144f55" /><Relationship Type="http://schemas.openxmlformats.org/officeDocument/2006/relationships/notesSlide" Target="/ppt/notesSlides/notesSlide13.xml" Id="Rf8dcd7d79c154f0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49372f470d045e5" /><Relationship Type="http://schemas.openxmlformats.org/officeDocument/2006/relationships/notesSlide" Target="/ppt/notesSlides/notesSlide14.xml" Id="Rc6d03c7c2a5444d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9d3b56faf704763" /><Relationship Type="http://schemas.openxmlformats.org/officeDocument/2006/relationships/notesSlide" Target="/ppt/notesSlides/notesSlide15.xml" Id="R007686fe1d1341f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40b2527e2c745f7" /><Relationship Type="http://schemas.openxmlformats.org/officeDocument/2006/relationships/image" Target="/ppt/media/image3.png" Id="Reda9bc8da05a4709" /><Relationship Type="http://schemas.openxmlformats.org/officeDocument/2006/relationships/notesSlide" Target="/ppt/notesSlides/notesSlide16.xml" Id="R5502f71e50fd43f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26d590b352745a6" /><Relationship Type="http://schemas.openxmlformats.org/officeDocument/2006/relationships/notesSlide" Target="/ppt/notesSlides/notesSlide17.xml" Id="R3a4c9cb57b524e3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f1214d9ce6f441c" /><Relationship Type="http://schemas.openxmlformats.org/officeDocument/2006/relationships/notesSlide" Target="/ppt/notesSlides/notesSlide18.xml" Id="R560ce659df28429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ec4a50a785e4682" /><Relationship Type="http://schemas.openxmlformats.org/officeDocument/2006/relationships/image" Target="/ppt/media/image4.png" Id="Re4d167884d794b08" /><Relationship Type="http://schemas.openxmlformats.org/officeDocument/2006/relationships/notesSlide" Target="/ppt/notesSlides/notesSlide19.xml" Id="R3e3f5613fdb04aa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c20175c85784630" /><Relationship Type="http://schemas.openxmlformats.org/officeDocument/2006/relationships/image" Target="/ppt/media/image5.png" Id="Ra3c7de8a7b7c4186" /><Relationship Type="http://schemas.openxmlformats.org/officeDocument/2006/relationships/notesSlide" Target="/ppt/notesSlides/notesSlide20.xml" Id="Rc8920c9f92ad443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0f6258c9b3549f1" /><Relationship Type="http://schemas.openxmlformats.org/officeDocument/2006/relationships/image" Target="/ppt/media/image6.png" Id="R3d24593d4c2b413b" /><Relationship Type="http://schemas.openxmlformats.org/officeDocument/2006/relationships/notesSlide" Target="/ppt/notesSlides/notesSlide21.xml" Id="R7596c74e863e45b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6e7985694364606" /><Relationship Type="http://schemas.openxmlformats.org/officeDocument/2006/relationships/image" Target="/ppt/media/image7.png" Id="R92fbcd4d7eae489f" /><Relationship Type="http://schemas.openxmlformats.org/officeDocument/2006/relationships/notesSlide" Target="/ppt/notesSlides/notesSlide22.xml" Id="R38a63ef3880c4b1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660c2e686b24311" /><Relationship Type="http://schemas.openxmlformats.org/officeDocument/2006/relationships/notesSlide" Target="/ppt/notesSlides/notesSlide23.xml" Id="R6421ee73d6f14a2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b3d1f933ced4eab" /><Relationship Type="http://schemas.openxmlformats.org/officeDocument/2006/relationships/notesSlide" Target="/ppt/notesSlides/notesSlide24.xml" Id="R2d2f68da8227432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a061817ceeb4b8b" /><Relationship Type="http://schemas.openxmlformats.org/officeDocument/2006/relationships/notesSlide" Target="/ppt/notesSlides/notesSlide25.xml" Id="Rccc5d14624a3497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8c91474952f43a8" /><Relationship Type="http://schemas.openxmlformats.org/officeDocument/2006/relationships/notesSlide" Target="/ppt/notesSlides/notesSlide26.xml" Id="R131c5f29f86b4cc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39945aa6ce1446e" /><Relationship Type="http://schemas.openxmlformats.org/officeDocument/2006/relationships/image" Target="/ppt/media/image8.png" Id="Rc940b9c148404af8" /><Relationship Type="http://schemas.openxmlformats.org/officeDocument/2006/relationships/notesSlide" Target="/ppt/notesSlides/notesSlide27.xml" Id="R89223807b1d4453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9ae860a6f744fae" /><Relationship Type="http://schemas.openxmlformats.org/officeDocument/2006/relationships/notesSlide" Target="/ppt/notesSlides/notesSlide28.xml" Id="Ra05f3fca6a2941c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d75599e429643e8" /><Relationship Type="http://schemas.openxmlformats.org/officeDocument/2006/relationships/notesSlide" Target="/ppt/notesSlides/notesSlide29.xml" Id="Rdeea8525cb7e47d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5f5e95dd9544814" /><Relationship Type="http://schemas.openxmlformats.org/officeDocument/2006/relationships/notesSlide" Target="/ppt/notesSlides/notesSlide30.xml" Id="Re84ba8bdb164442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929c5029b274ef1" /><Relationship Type="http://schemas.openxmlformats.org/officeDocument/2006/relationships/notesSlide" Target="/ppt/notesSlides/notesSlide31.xml" Id="Rea44fd75cf34407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332a973adf44d01" /><Relationship Type="http://schemas.openxmlformats.org/officeDocument/2006/relationships/notesSlide" Target="/ppt/notesSlides/notesSlide32.xml" Id="R467ad22ab3b54f4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cc61c9393b84a93" /><Relationship Type="http://schemas.openxmlformats.org/officeDocument/2006/relationships/notesSlide" Target="/ppt/notesSlides/notesSlide33.xml" Id="R0eabd94530ca47c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7bfa1f11f784174" /><Relationship Type="http://schemas.openxmlformats.org/officeDocument/2006/relationships/notesSlide" Target="/ppt/notesSlides/notesSlide34.xml" Id="R3d4516ee79474af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08f9f98b0454fcf" /><Relationship Type="http://schemas.openxmlformats.org/officeDocument/2006/relationships/notesSlide" Target="/ppt/notesSlides/notesSlide35.xml" Id="R689d6e061e704c88"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AB8B376-50DF-498B-BFDB-0D35E62430A9}"/>
              </a:ext>
            </a:extLst>
          </p:cNvPr>
          <p:cNvPicPr>
            <a:picLocks xmlns:a="http://schemas.openxmlformats.org/drawingml/2006/main" noChangeAspect="1"/>
          </p:cNvPicPr>
          <p:nvPr/>
        </p:nvPicPr>
        <p:blipFill>
          <a:blip xmlns:r="http://schemas.openxmlformats.org/officeDocument/2006/relationships" xmlns:a="http://schemas.openxmlformats.org/drawingml/2006/main" r:embed="Re2021c9f259b44c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88990AFA-DFF1-4ADA-B6F6-AA3FDEA7825E}"/>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AC62F9A8-CA76-4285-9F21-E5735D9B9BC8}"/>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693B08A1-358B-464B-B8FE-BC5D4027F6BD}"/>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509B9F8F-9C2E-41C0-88D5-07D9CF9912A0}"/>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5F4846F9-9056-48A0-A4E7-7F978D095DE7}"/>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4CD3A92D-C353-469B-98B0-BD2EC32E0DB5}"/>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348706AD-FBCE-4639-9FA1-ADFABB63FD2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677D076F-68B0-4F5D-8F43-16FB752B922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960827399"/>
      </p:ext>
    </p:extLst>
  </p:cSld>
</p:sld>
</file>

<file path=ppt/slides/slide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3" name="FICTIONAL INCIDENT / SHARED PRODUCTION PLATFORM">
            <a:extLst xmlns:a="http://schemas.openxmlformats.org/drawingml/2006/main">
              <a:ext uri="{FF2B5EF4-FFF2-40B4-BE49-F238E27FC236}">
                <a16:creationId xmlns:a16="http://schemas.microsoft.com/office/drawing/2014/main" id="{F75C8097-46E3-464D-9278-1AA80C400893}"/>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FICTIONAL INCIDENT / SHARED PRODUCTION PLATFORM</a:t>
            </a:r>
          </a:p>
        </p:txBody>
      </p:sp>
      <p:sp>
        <p:nvSpPr>
          <p:cNvPr id="2" name="Your Kubernetes environment">
            <a:extLst xmlns:a="http://schemas.openxmlformats.org/drawingml/2006/main">
              <a:ext uri="{FF2B5EF4-FFF2-40B4-BE49-F238E27FC236}">
                <a16:creationId xmlns:a16="http://schemas.microsoft.com/office/drawing/2014/main" id="{F09A83B1-6752-4EB3-A465-4172604A9835}"/>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Your Kubernetes environment</a:t>
            </a:r>
          </a:p>
        </p:txBody>
      </p:sp>
      <p:sp>
        <p:nvSpPr>
          <p:cNvPr id="3" name="One cluster runs payments-api, other services an">
            <a:extLst xmlns:a="http://schemas.openxmlformats.org/drawingml/2006/main">
              <a:ext uri="{FF2B5EF4-FFF2-40B4-BE49-F238E27FC236}">
                <a16:creationId xmlns:a16="http://schemas.microsoft.com/office/drawing/2014/main" id="{687FD0BE-C43A-432F-89EE-8843258E78B3}"/>
              </a:ext>
            </a:extLst>
          </p:cNvPr>
          <p:cNvSpPr>
            <a:spLocks xmlns:a="http://schemas.openxmlformats.org/drawingml/2006/main" noGrp="1"/>
          </p:cNvSpPr>
          <p:nvPr/>
        </p:nvSpPr>
        <p:spPr>
          <a:xfrm xmlns:a="http://schemas.openxmlformats.org/drawingml/2006/main">
            <a:off x="628650" y="23526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One cluster runs payments-api, other services and automated agents.</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Namespaces group resources, including payments and agents.</a:t>
            </a:r>
          </a:p>
        </p:txBody>
      </p:sp>
      <p:sp>
        <p:nvSpPr>
          <p:cNvPr id="4" name="Pod">
            <a:extLst xmlns:a="http://schemas.openxmlformats.org/drawingml/2006/main">
              <a:ext uri="{FF2B5EF4-FFF2-40B4-BE49-F238E27FC236}">
                <a16:creationId xmlns:a16="http://schemas.microsoft.com/office/drawing/2014/main" id="{DC8D846D-6253-4BAA-A254-CFD1F8C8BF8B}"/>
              </a:ext>
            </a:extLst>
          </p:cNvPr>
          <p:cNvSpPr>
            <a:spLocks xmlns:a="http://schemas.openxmlformats.org/drawingml/2006/main" noGrp="1"/>
          </p:cNvSpPr>
          <p:nvPr/>
        </p:nvSpPr>
        <p:spPr>
          <a:xfrm xmlns:a="http://schemas.openxmlformats.org/drawingml/2006/main">
            <a:off x="609600" y="340042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Pod</a:t>
            </a:r>
          </a:p>
        </p:txBody>
      </p:sp>
      <p:sp>
        <p:nvSpPr>
          <p:cNvPr id="5" name="A running unit with one or more containers.">
            <a:extLst xmlns:a="http://schemas.openxmlformats.org/drawingml/2006/main">
              <a:ext uri="{FF2B5EF4-FFF2-40B4-BE49-F238E27FC236}">
                <a16:creationId xmlns:a16="http://schemas.microsoft.com/office/drawing/2014/main" id="{681B1519-82ED-434A-90F8-321A7B9AF89A}"/>
              </a:ext>
            </a:extLst>
          </p:cNvPr>
          <p:cNvSpPr>
            <a:spLocks xmlns:a="http://schemas.openxmlformats.org/drawingml/2006/main" noGrp="1"/>
          </p:cNvSpPr>
          <p:nvPr/>
        </p:nvSpPr>
        <p:spPr>
          <a:xfrm xmlns:a="http://schemas.openxmlformats.org/drawingml/2006/main">
            <a:off x="3409950" y="3400425"/>
            <a:ext cx="78676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 running unit with one or more containers.</a:t>
            </a:r>
          </a:p>
        </p:txBody>
      </p:sp>
      <p:sp>
        <p:nvSpPr>
          <p:cNvPr id="6" name="Replicas">
            <a:extLst xmlns:a="http://schemas.openxmlformats.org/drawingml/2006/main">
              <a:ext uri="{FF2B5EF4-FFF2-40B4-BE49-F238E27FC236}">
                <a16:creationId xmlns:a16="http://schemas.microsoft.com/office/drawing/2014/main" id="{79D763E8-8CEE-41BB-9966-86D2885663C4}"/>
              </a:ext>
            </a:extLst>
          </p:cNvPr>
          <p:cNvSpPr>
            <a:spLocks xmlns:a="http://schemas.openxmlformats.org/drawingml/2006/main" noGrp="1"/>
          </p:cNvSpPr>
          <p:nvPr/>
        </p:nvSpPr>
        <p:spPr>
          <a:xfrm xmlns:a="http://schemas.openxmlformats.org/drawingml/2006/main">
            <a:off x="609600" y="4114800"/>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Replicas</a:t>
            </a:r>
          </a:p>
        </p:txBody>
      </p:sp>
      <p:sp>
        <p:nvSpPr>
          <p:cNvPr id="7" name="Copies of a workload that provide serving capaci">
            <a:extLst xmlns:a="http://schemas.openxmlformats.org/drawingml/2006/main">
              <a:ext uri="{FF2B5EF4-FFF2-40B4-BE49-F238E27FC236}">
                <a16:creationId xmlns:a16="http://schemas.microsoft.com/office/drawing/2014/main" id="{77268E1F-303F-4996-BCA0-A47BF2D5789B}"/>
              </a:ext>
            </a:extLst>
          </p:cNvPr>
          <p:cNvSpPr>
            <a:spLocks xmlns:a="http://schemas.openxmlformats.org/drawingml/2006/main" noGrp="1"/>
          </p:cNvSpPr>
          <p:nvPr/>
        </p:nvSpPr>
        <p:spPr>
          <a:xfrm xmlns:a="http://schemas.openxmlformats.org/drawingml/2006/main">
            <a:off x="3409950" y="4114800"/>
            <a:ext cx="78676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Copies of a workload that provide serving capacity.</a:t>
            </a:r>
          </a:p>
        </p:txBody>
      </p:sp>
      <p:sp>
        <p:nvSpPr>
          <p:cNvPr id="8" name="ServiceAccount">
            <a:extLst xmlns:a="http://schemas.openxmlformats.org/drawingml/2006/main">
              <a:ext uri="{FF2B5EF4-FFF2-40B4-BE49-F238E27FC236}">
                <a16:creationId xmlns:a16="http://schemas.microsoft.com/office/drawing/2014/main" id="{FD69D10C-BDB5-46AA-81E0-4823A0786981}"/>
              </a:ext>
            </a:extLst>
          </p:cNvPr>
          <p:cNvSpPr>
            <a:spLocks xmlns:a="http://schemas.openxmlformats.org/drawingml/2006/main" noGrp="1"/>
          </p:cNvSpPr>
          <p:nvPr/>
        </p:nvSpPr>
        <p:spPr>
          <a:xfrm xmlns:a="http://schemas.openxmlformats.org/drawingml/2006/main">
            <a:off x="609600" y="48291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ServiceAccount</a:t>
            </a:r>
          </a:p>
        </p:txBody>
      </p:sp>
      <p:sp>
        <p:nvSpPr>
          <p:cNvPr id="9" name="The identity a workload uses for API requests.">
            <a:extLst xmlns:a="http://schemas.openxmlformats.org/drawingml/2006/main">
              <a:ext uri="{FF2B5EF4-FFF2-40B4-BE49-F238E27FC236}">
                <a16:creationId xmlns:a16="http://schemas.microsoft.com/office/drawing/2014/main" id="{EE34A9E4-84A4-4FC1-88FA-3C2C8C5474B2}"/>
              </a:ext>
            </a:extLst>
          </p:cNvPr>
          <p:cNvSpPr>
            <a:spLocks xmlns:a="http://schemas.openxmlformats.org/drawingml/2006/main" noGrp="1"/>
          </p:cNvSpPr>
          <p:nvPr/>
        </p:nvSpPr>
        <p:spPr>
          <a:xfrm xmlns:a="http://schemas.openxmlformats.org/drawingml/2006/main">
            <a:off x="3409950" y="4829175"/>
            <a:ext cx="78676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The identity a workload uses for API requests.</a:t>
            </a:r>
          </a:p>
        </p:txBody>
      </p:sp>
      <p:sp>
        <p:nvSpPr>
          <p:cNvPr id="10" name="Services are still running. Exposure is uncertai">
            <a:extLst xmlns:a="http://schemas.openxmlformats.org/drawingml/2006/main">
              <a:ext uri="{FF2B5EF4-FFF2-40B4-BE49-F238E27FC236}">
                <a16:creationId xmlns:a16="http://schemas.microsoft.com/office/drawing/2014/main" id="{101C8F18-19D5-4CC7-B069-13D7C3469694}"/>
              </a:ext>
            </a:extLst>
          </p:cNvPr>
          <p:cNvSpPr>
            <a:spLocks xmlns:a="http://schemas.openxmlformats.org/drawingml/2006/main" noGrp="1"/>
          </p:cNvSpPr>
          <p:nvPr/>
        </p:nvSpPr>
        <p:spPr>
          <a:xfrm xmlns:a="http://schemas.openxmlformats.org/drawingml/2006/main">
            <a:off x="6286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2EFE7"/>
                </a:solidFill>
                <a:latin typeface="Arial"/>
                <a:ea typeface="Arial"/>
                <a:cs typeface="Arial"/>
              </a:defRPr>
            </a:defPPr>
          </a:lstStyle>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Services are still running. Exposure is uncertain.</a:t>
            </a:r>
          </a:p>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Broad isolation can interrupt essential dependencies.</a:t>
            </a:r>
          </a:p>
        </p:txBody>
      </p:sp>
      <p:sp>
        <p:nvSpPr>
          <p:cNvPr id="11" name="ISC2 SECURITY CONGRESS 2026 / SC2632">
            <a:extLst xmlns:a="http://schemas.openxmlformats.org/drawingml/2006/main">
              <a:ext uri="{FF2B5EF4-FFF2-40B4-BE49-F238E27FC236}">
                <a16:creationId xmlns:a16="http://schemas.microsoft.com/office/drawing/2014/main" id="{3FC3611F-AD56-4246-B1CC-CF9F3626CCA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2" name="02">
            <a:extLst xmlns:a="http://schemas.openxmlformats.org/drawingml/2006/main">
              <a:ext uri="{FF2B5EF4-FFF2-40B4-BE49-F238E27FC236}">
                <a16:creationId xmlns:a16="http://schemas.microsoft.com/office/drawing/2014/main" id="{15EDA88F-B13F-46AE-876E-E72A708A932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02</a:t>
            </a:r>
          </a:p>
        </p:txBody>
      </p:sp>
    </p:spTree>
    <p:extLst>
      <p:ext uri="{BB962C8B-B14F-4D97-AF65-F5344CB8AC3E}">
        <p14:creationId xmlns:p14="http://schemas.microsoft.com/office/powerpoint/2010/main" val="926314013"/>
      </p:ext>
    </p:extLst>
  </p:cSld>
</p:sld>
</file>

<file path=ppt/slides/slide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3" name="KYVERNO / POLICY CHECK AT THE KUBERNETES API">
            <a:extLst xmlns:a="http://schemas.openxmlformats.org/drawingml/2006/main">
              <a:ext uri="{FF2B5EF4-FFF2-40B4-BE49-F238E27FC236}">
                <a16:creationId xmlns:a16="http://schemas.microsoft.com/office/drawing/2014/main" id="{BE839AE9-E50D-4C62-9980-D3BC4AD2D279}"/>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KYVERNO / POLICY CHECK AT THE KUBERNETES API</a:t>
            </a:r>
          </a:p>
        </p:txBody>
      </p:sp>
      <p:sp>
        <p:nvSpPr>
          <p:cNvPr id="2" name="Kyverno checks proposed changes">
            <a:extLst xmlns:a="http://schemas.openxmlformats.org/drawingml/2006/main">
              <a:ext uri="{FF2B5EF4-FFF2-40B4-BE49-F238E27FC236}">
                <a16:creationId xmlns:a16="http://schemas.microsoft.com/office/drawing/2014/main" id="{CBF4BF5F-541B-4A71-84C7-8F32AD59B4CF}"/>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0B1822"/>
                </a:solidFill>
                <a:latin typeface="Arial Black"/>
                <a:ea typeface="Arial Black"/>
                <a:cs typeface="Arial Black"/>
              </a:defRPr>
            </a:defPPr>
          </a:lstStyle>
          <a:p xmlns:a="http://schemas.openxmlformats.org/drawingml/2006/main">
            <a:pPr>
              <a:defRPr sz="3900" b="1">
                <a:solidFill>
                  <a:srgbClr val="0B1822"/>
                </a:solidFill>
                <a:latin typeface="Arial Black"/>
                <a:ea typeface="Arial Black"/>
                <a:cs typeface="Arial Black"/>
              </a:defRPr>
            </a:pPr>
            <a:r>
              <a:rPr sz="3900" b="1">
                <a:solidFill>
                  <a:srgbClr val="0B1822"/>
                </a:solidFill>
                <a:latin typeface="Arial Black"/>
                <a:ea typeface="Arial Black"/>
                <a:cs typeface="Arial Black"/>
              </a:rPr>
              <a:t>Kyverno checks proposed changes</a:t>
            </a:r>
          </a:p>
        </p:txBody>
      </p:sp>
      <p:sp>
        <p:nvSpPr>
          <p:cNvPr id="3" name="Its admission check decides whether a covered Ku">
            <a:extLst xmlns:a="http://schemas.openxmlformats.org/drawingml/2006/main">
              <a:ext uri="{FF2B5EF4-FFF2-40B4-BE49-F238E27FC236}">
                <a16:creationId xmlns:a16="http://schemas.microsoft.com/office/drawing/2014/main" id="{50DCC52A-E992-4DDE-AD4F-C1098644C345}"/>
              </a:ext>
            </a:extLst>
          </p:cNvPr>
          <p:cNvSpPr>
            <a:spLocks xmlns:a="http://schemas.openxmlformats.org/drawingml/2006/main" noGrp="1"/>
          </p:cNvSpPr>
          <p:nvPr/>
        </p:nvSpPr>
        <p:spPr>
          <a:xfrm xmlns:a="http://schemas.openxmlformats.org/drawingml/2006/main">
            <a:off x="628650" y="23526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Its admission check decides whether a covered Kubernetes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request may proceed.</a:t>
            </a:r>
          </a:p>
        </p:txBody>
      </p:sp>
      <p:sp>
        <p:nvSpPr>
          <p:cNvPr id="4" name="Request">
            <a:extLst xmlns:a="http://schemas.openxmlformats.org/drawingml/2006/main">
              <a:ext uri="{FF2B5EF4-FFF2-40B4-BE49-F238E27FC236}">
                <a16:creationId xmlns:a16="http://schemas.microsoft.com/office/drawing/2014/main" id="{69602C34-9414-4BFA-B499-E13D46361CF5}"/>
              </a:ext>
            </a:extLst>
          </p:cNvPr>
          <p:cNvSpPr>
            <a:spLocks xmlns:a="http://schemas.openxmlformats.org/drawingml/2006/main" noGrp="1"/>
          </p:cNvSpPr>
          <p:nvPr/>
        </p:nvSpPr>
        <p:spPr>
          <a:xfrm xmlns:a="http://schemas.openxmlformats.org/drawingml/2006/main">
            <a:off x="609600" y="346710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Request</a:t>
            </a:r>
          </a:p>
        </p:txBody>
      </p:sp>
      <p:sp>
        <p:nvSpPr>
          <p:cNvPr id="5" name="Create a Pod that allows privilege escalation.">
            <a:extLst xmlns:a="http://schemas.openxmlformats.org/drawingml/2006/main">
              <a:ext uri="{FF2B5EF4-FFF2-40B4-BE49-F238E27FC236}">
                <a16:creationId xmlns:a16="http://schemas.microsoft.com/office/drawing/2014/main" id="{BB73B2F6-4CA5-4045-B96A-A28BE1ACF354}"/>
              </a:ext>
            </a:extLst>
          </p:cNvPr>
          <p:cNvSpPr>
            <a:spLocks xmlns:a="http://schemas.openxmlformats.org/drawingml/2006/main" noGrp="1"/>
          </p:cNvSpPr>
          <p:nvPr/>
        </p:nvSpPr>
        <p:spPr>
          <a:xfrm xmlns:a="http://schemas.openxmlformats.org/drawingml/2006/main">
            <a:off x="2914650" y="346710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Create a Pod that allows privilege escalation.</a:t>
            </a:r>
          </a:p>
        </p:txBody>
      </p:sp>
      <p:sp>
        <p:nvSpPr>
          <p:cNvPr id="6" name="Rule">
            <a:extLst xmlns:a="http://schemas.openxmlformats.org/drawingml/2006/main">
              <a:ext uri="{FF2B5EF4-FFF2-40B4-BE49-F238E27FC236}">
                <a16:creationId xmlns:a16="http://schemas.microsoft.com/office/drawing/2014/main" id="{922B0F3C-595B-4D7D-832D-9631F69CC4D1}"/>
              </a:ext>
            </a:extLst>
          </p:cNvPr>
          <p:cNvSpPr>
            <a:spLocks xmlns:a="http://schemas.openxmlformats.org/drawingml/2006/main" noGrp="1"/>
          </p:cNvSpPr>
          <p:nvPr/>
        </p:nvSpPr>
        <p:spPr>
          <a:xfrm xmlns:a="http://schemas.openxmlformats.org/drawingml/2006/main">
            <a:off x="609600" y="417195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Rule</a:t>
            </a:r>
          </a:p>
        </p:txBody>
      </p:sp>
      <p:sp>
        <p:nvSpPr>
          <p:cNvPr id="7" name="New payments Pods must disallow privilege escala">
            <a:extLst xmlns:a="http://schemas.openxmlformats.org/drawingml/2006/main">
              <a:ext uri="{FF2B5EF4-FFF2-40B4-BE49-F238E27FC236}">
                <a16:creationId xmlns:a16="http://schemas.microsoft.com/office/drawing/2014/main" id="{D6D699FC-74C8-4B41-B208-6BB9CE422B32}"/>
              </a:ext>
            </a:extLst>
          </p:cNvPr>
          <p:cNvSpPr>
            <a:spLocks xmlns:a="http://schemas.openxmlformats.org/drawingml/2006/main" noGrp="1"/>
          </p:cNvSpPr>
          <p:nvPr/>
        </p:nvSpPr>
        <p:spPr>
          <a:xfrm xmlns:a="http://schemas.openxmlformats.org/drawingml/2006/main">
            <a:off x="2914650" y="417195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New payments Pods must disallow privilege escalation.</a:t>
            </a:r>
          </a:p>
        </p:txBody>
      </p:sp>
      <p:sp>
        <p:nvSpPr>
          <p:cNvPr id="8" name="Deny mode">
            <a:extLst xmlns:a="http://schemas.openxmlformats.org/drawingml/2006/main">
              <a:ext uri="{FF2B5EF4-FFF2-40B4-BE49-F238E27FC236}">
                <a16:creationId xmlns:a16="http://schemas.microsoft.com/office/drawing/2014/main" id="{033A99EE-4573-4A78-B29C-004B5E6BA88D}"/>
              </a:ext>
            </a:extLst>
          </p:cNvPr>
          <p:cNvSpPr>
            <a:spLocks xmlns:a="http://schemas.openxmlformats.org/drawingml/2006/main" noGrp="1"/>
          </p:cNvSpPr>
          <p:nvPr/>
        </p:nvSpPr>
        <p:spPr>
          <a:xfrm xmlns:a="http://schemas.openxmlformats.org/drawingml/2006/main">
            <a:off x="609600" y="487680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Deny mode</a:t>
            </a:r>
          </a:p>
        </p:txBody>
      </p:sp>
      <p:sp>
        <p:nvSpPr>
          <p:cNvPr id="9" name="Refuse the covered request.">
            <a:extLst xmlns:a="http://schemas.openxmlformats.org/drawingml/2006/main">
              <a:ext uri="{FF2B5EF4-FFF2-40B4-BE49-F238E27FC236}">
                <a16:creationId xmlns:a16="http://schemas.microsoft.com/office/drawing/2014/main" id="{C5B64E5E-FB38-4AF3-8F69-1889FE944B5C}"/>
              </a:ext>
            </a:extLst>
          </p:cNvPr>
          <p:cNvSpPr>
            <a:spLocks xmlns:a="http://schemas.openxmlformats.org/drawingml/2006/main" noGrp="1"/>
          </p:cNvSpPr>
          <p:nvPr/>
        </p:nvSpPr>
        <p:spPr>
          <a:xfrm xmlns:a="http://schemas.openxmlformats.org/drawingml/2006/main">
            <a:off x="2914650" y="487680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Refuse the covered request.</a:t>
            </a:r>
          </a:p>
        </p:txBody>
      </p:sp>
      <p:sp>
        <p:nvSpPr>
          <p:cNvPr id="10" name="Existing Pods keep running. Network traffic, API">
            <a:extLst xmlns:a="http://schemas.openxmlformats.org/drawingml/2006/main">
              <a:ext uri="{FF2B5EF4-FFF2-40B4-BE49-F238E27FC236}">
                <a16:creationId xmlns:a16="http://schemas.microsoft.com/office/drawing/2014/main" id="{6F4E7067-3184-4837-84F5-0D8C5FDB1964}"/>
              </a:ext>
            </a:extLst>
          </p:cNvPr>
          <p:cNvSpPr>
            <a:spLocks xmlns:a="http://schemas.openxmlformats.org/drawingml/2006/main" noGrp="1"/>
          </p:cNvSpPr>
          <p:nvPr/>
        </p:nvSpPr>
        <p:spPr>
          <a:xfrm xmlns:a="http://schemas.openxmlformats.org/drawingml/2006/main">
            <a:off x="628650" y="56959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B1822"/>
                </a:solidFill>
                <a:latin typeface="Arial"/>
                <a:ea typeface="Arial"/>
                <a:cs typeface="Arial"/>
              </a:defRPr>
            </a:defPPr>
          </a:lstStyle>
          <a:p xmlns:a="http://schemas.openxmlformats.org/drawingml/2006/main">
            <a:pPr>
              <a:defRPr sz="1875" b="1">
                <a:solidFill>
                  <a:srgbClr val="0B1822"/>
                </a:solidFill>
                <a:latin typeface="Arial"/>
                <a:ea typeface="Arial"/>
                <a:cs typeface="Arial"/>
              </a:defRPr>
            </a:pPr>
            <a:r>
              <a:rPr sz="1875" b="1">
                <a:solidFill>
                  <a:srgbClr val="0B1822"/>
                </a:solidFill>
                <a:latin typeface="Arial"/>
                <a:ea typeface="Arial"/>
                <a:cs typeface="Arial"/>
              </a:rPr>
              <a:t>Existing Pods keep running. Network traffic, API reads and agent tool calls</a:t>
            </a:r>
          </a:p>
          <a:p xmlns:a="http://schemas.openxmlformats.org/drawingml/2006/main">
            <a:pPr>
              <a:defRPr sz="1875" b="1">
                <a:solidFill>
                  <a:srgbClr val="0B1822"/>
                </a:solidFill>
                <a:latin typeface="Arial"/>
                <a:ea typeface="Arial"/>
                <a:cs typeface="Arial"/>
              </a:defRPr>
            </a:pPr>
            <a:r>
              <a:rPr sz="1875" b="1">
                <a:solidFill>
                  <a:srgbClr val="0B1822"/>
                </a:solidFill>
                <a:latin typeface="Arial"/>
                <a:ea typeface="Arial"/>
                <a:cs typeface="Arial"/>
              </a:rPr>
              <a:t>require their own controls.</a:t>
            </a:r>
          </a:p>
        </p:txBody>
      </p:sp>
      <p:sp>
        <p:nvSpPr>
          <p:cNvPr id="11" name="ISC2 SECURITY CONGRESS 2026 / SC2632">
            <a:extLst xmlns:a="http://schemas.openxmlformats.org/drawingml/2006/main">
              <a:ext uri="{FF2B5EF4-FFF2-40B4-BE49-F238E27FC236}">
                <a16:creationId xmlns:a16="http://schemas.microsoft.com/office/drawing/2014/main" id="{1B47348E-D29F-4E2B-8DC3-D5AFBB0CDB6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82AEA701-3D38-465B-9ED5-9C3D41DEB16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03</a:t>
            </a:r>
          </a:p>
        </p:txBody>
      </p:sp>
    </p:spTree>
    <p:extLst>
      <p:ext uri="{BB962C8B-B14F-4D97-AF65-F5344CB8AC3E}">
        <p14:creationId xmlns:p14="http://schemas.microsoft.com/office/powerpoint/2010/main" val="699850964"/>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1" name="YOUR TABLE / INCIDENT REVIEW TEAM / NO LAPTOP OR">
            <a:extLst xmlns:a="http://schemas.openxmlformats.org/drawingml/2006/main">
              <a:ext uri="{FF2B5EF4-FFF2-40B4-BE49-F238E27FC236}">
                <a16:creationId xmlns:a16="http://schemas.microsoft.com/office/drawing/2014/main" id="{E5512A4C-AB82-43E0-8828-5C61C360A34E}"/>
              </a:ext>
            </a:extLst>
          </p:cNvPr>
          <p:cNvSpPr>
            <a:spLocks xmlns:a="http://schemas.openxmlformats.org/drawingml/2006/main" noGrp="1"/>
          </p:cNvSpPr>
          <p:nvPr/>
        </p:nvSpPr>
        <p:spPr>
          <a:xfrm xmlns:a="http://schemas.openxmlformats.org/drawingml/2006/main">
            <a:off x="609600" y="476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 / NO LAPTOP OR YAML REQUIRED</a:t>
            </a:r>
          </a:p>
        </p:txBody>
      </p:sp>
      <p:sp>
        <p:nvSpPr>
          <p:cNvPr id="2" name="Your team’s assignment">
            <a:extLst xmlns:a="http://schemas.openxmlformats.org/drawingml/2006/main">
              <a:ext uri="{FF2B5EF4-FFF2-40B4-BE49-F238E27FC236}">
                <a16:creationId xmlns:a16="http://schemas.microsoft.com/office/drawing/2014/main" id="{B77AF818-389B-4D17-991A-AE4EB782B35F}"/>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team’s assignment</a:t>
            </a:r>
          </a:p>
        </p:txBody>
      </p:sp>
      <p:sp>
        <p:nvSpPr>
          <p:cNvPr id="3" name="Review the proposed controls. Record intent, app">
            <a:extLst xmlns:a="http://schemas.openxmlformats.org/drawingml/2006/main">
              <a:ext uri="{FF2B5EF4-FFF2-40B4-BE49-F238E27FC236}">
                <a16:creationId xmlns:a16="http://schemas.microsoft.com/office/drawing/2014/main" id="{27D6524E-3A14-4964-8A9C-6AC62A5548DB}"/>
              </a:ext>
            </a:extLst>
          </p:cNvPr>
          <p:cNvSpPr>
            <a:spLocks xmlns:a="http://schemas.openxmlformats.org/drawingml/2006/main" noGrp="1"/>
          </p:cNvSpPr>
          <p:nvPr/>
        </p:nvSpPr>
        <p:spPr>
          <a:xfrm xmlns:a="http://schemas.openxmlformats.org/drawingml/2006/main">
            <a:off x="628650" y="23526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Review the proposed controls. Record intent, approval conditions,</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containment order and recovery criteria on page 6.</a:t>
            </a:r>
          </a:p>
        </p:txBody>
      </p:sp>
      <p:sp>
        <p:nvSpPr>
          <p:cNvPr id="4" name="YOUR MATERIALS">
            <a:extLst xmlns:a="http://schemas.openxmlformats.org/drawingml/2006/main">
              <a:ext uri="{FF2B5EF4-FFF2-40B4-BE49-F238E27FC236}">
                <a16:creationId xmlns:a16="http://schemas.microsoft.com/office/drawing/2014/main" id="{1C7BA4E1-CAA3-458A-A57C-BD033D9F432A}"/>
              </a:ext>
            </a:extLst>
          </p:cNvPr>
          <p:cNvSpPr>
            <a:spLocks xmlns:a="http://schemas.openxmlformats.org/drawingml/2006/main" noGrp="1"/>
          </p:cNvSpPr>
          <p:nvPr/>
        </p:nvSpPr>
        <p:spPr>
          <a:xfrm xmlns:a="http://schemas.openxmlformats.org/drawingml/2006/main">
            <a:off x="628650" y="3543300"/>
            <a:ext cx="5191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MATERIALS</a:t>
            </a:r>
          </a:p>
        </p:txBody>
      </p:sp>
      <p:sp>
        <p:nvSpPr>
          <p:cNvPr id="5" name="Case cards and proposal excerpts&#10;Page 6: shared ">
            <a:extLst xmlns:a="http://schemas.openxmlformats.org/drawingml/2006/main">
              <a:ext uri="{FF2B5EF4-FFF2-40B4-BE49-F238E27FC236}">
                <a16:creationId xmlns:a16="http://schemas.microsoft.com/office/drawing/2014/main" id="{B1958D7E-CB04-4129-B026-867B303DC463}"/>
              </a:ext>
            </a:extLst>
          </p:cNvPr>
          <p:cNvSpPr>
            <a:spLocks xmlns:a="http://schemas.openxmlformats.org/drawingml/2006/main" noGrp="1"/>
          </p:cNvSpPr>
          <p:nvPr/>
        </p:nvSpPr>
        <p:spPr>
          <a:xfrm xmlns:a="http://schemas.openxmlformats.org/drawingml/2006/main">
            <a:off x="628650" y="4010025"/>
            <a:ext cx="5362575"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stStyle>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Case cards and proposal excerpts</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Page 6: shared decision record</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Sealed updates and review findings</a:t>
            </a:r>
          </a:p>
        </p:txBody>
      </p:sp>
      <p:sp>
        <p:nvSpPr>
          <p:cNvPr id="6" name="IN EACH ROUND">
            <a:extLst xmlns:a="http://schemas.openxmlformats.org/drawingml/2006/main">
              <a:ext uri="{FF2B5EF4-FFF2-40B4-BE49-F238E27FC236}">
                <a16:creationId xmlns:a16="http://schemas.microsoft.com/office/drawing/2014/main" id="{B61EE18A-C624-4D79-BACD-90BD568D417A}"/>
              </a:ext>
            </a:extLst>
          </p:cNvPr>
          <p:cNvSpPr>
            <a:spLocks xmlns:a="http://schemas.openxmlformats.org/drawingml/2006/main" noGrp="1"/>
          </p:cNvSpPr>
          <p:nvPr/>
        </p:nvSpPr>
        <p:spPr>
          <a:xfrm xmlns:a="http://schemas.openxmlformats.org/drawingml/2006/main">
            <a:off x="6686550" y="354330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IN EACH ROUND</a:t>
            </a:r>
          </a:p>
        </p:txBody>
      </p:sp>
      <p:sp>
        <p:nvSpPr>
          <p:cNvPr id="7" name="Discuss. Record before the reveal.&#10;Hear the new ">
            <a:extLst xmlns:a="http://schemas.openxmlformats.org/drawingml/2006/main">
              <a:ext uri="{FF2B5EF4-FFF2-40B4-BE49-F238E27FC236}">
                <a16:creationId xmlns:a16="http://schemas.microsoft.com/office/drawing/2014/main" id="{61951ECC-0554-4E85-A649-678901F7EE74}"/>
              </a:ext>
            </a:extLst>
          </p:cNvPr>
          <p:cNvSpPr>
            <a:spLocks xmlns:a="http://schemas.openxmlformats.org/drawingml/2006/main" noGrp="1"/>
          </p:cNvSpPr>
          <p:nvPr/>
        </p:nvSpPr>
        <p:spPr>
          <a:xfrm xmlns:a="http://schemas.openxmlformats.org/drawingml/2006/main">
            <a:off x="6686550" y="4010025"/>
            <a:ext cx="48196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stStyle>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Discuss. Record before the reveal.</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Hear the new evidence.</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Revise beside the original answer.</a:t>
            </a:r>
          </a:p>
        </p:txBody>
      </p:sp>
      <p:sp>
        <p:nvSpPr>
          <p:cNvPr id="8" name="Milind demonstrates the compiler and policy cons">
            <a:extLst xmlns:a="http://schemas.openxmlformats.org/drawingml/2006/main">
              <a:ext uri="{FF2B5EF4-FFF2-40B4-BE49-F238E27FC236}">
                <a16:creationId xmlns:a16="http://schemas.microsoft.com/office/drawing/2014/main" id="{C9FF9607-8CDF-4F1F-887E-14E67D4E20A6}"/>
              </a:ext>
            </a:extLst>
          </p:cNvPr>
          <p:cNvSpPr>
            <a:spLocks xmlns:a="http://schemas.openxmlformats.org/drawingml/2006/main" noGrp="1"/>
          </p:cNvSpPr>
          <p:nvPr/>
        </p:nvSpPr>
        <p:spPr>
          <a:xfrm xmlns:a="http://schemas.openxmlformats.org/drawingml/2006/main">
            <a:off x="628650" y="5467350"/>
            <a:ext cx="10810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Milind demonstrates the compiler and policy consequences.</a:t>
            </a:r>
          </a:p>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Vivek leads proposal reviews and evidence reveals. Both co-present the debrief.</a:t>
            </a:r>
          </a:p>
        </p:txBody>
      </p:sp>
      <p:sp>
        <p:nvSpPr>
          <p:cNvPr id="9" name="ISC2 SECURITY CONGRESS 2026 / SC2632">
            <a:extLst xmlns:a="http://schemas.openxmlformats.org/drawingml/2006/main">
              <a:ext uri="{FF2B5EF4-FFF2-40B4-BE49-F238E27FC236}">
                <a16:creationId xmlns:a16="http://schemas.microsoft.com/office/drawing/2014/main" id="{604E0D5F-91FB-4CB9-8117-E40CAA236E6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0" name="04">
            <a:extLst xmlns:a="http://schemas.openxmlformats.org/drawingml/2006/main">
              <a:ext uri="{FF2B5EF4-FFF2-40B4-BE49-F238E27FC236}">
                <a16:creationId xmlns:a16="http://schemas.microsoft.com/office/drawing/2014/main" id="{3B6B3C60-6168-4C34-9F2C-8F0B0E2823F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261184546"/>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67BEC292-4AB6-4129-80D5-66B756CAE0F1}"/>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F8D5643C-3A7E-4EA7-84D8-83BE4032838E}"/>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B1229280-7045-4D14-B2C0-8EAA11C46B2C}"/>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49940CE0-9893-42B7-8136-EC0B30ECE3C1}"/>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2F6AD5C8-AC7E-44EE-AC51-8AD78FCB0866}"/>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830042B9-1687-4568-B14B-75BD6BBA723A}"/>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595424AA-F39A-4D63-885F-9907019A6E9F}"/>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F0E0F33E-AC25-4F2E-B840-418FFFC5BBC8}"/>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6C95D87F-A3D2-403B-AC69-F6D653E26037}"/>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approved mutation">
            <a:extLst xmlns:a="http://schemas.openxmlformats.org/drawingml/2006/main">
              <a:ext uri="{FF2B5EF4-FFF2-40B4-BE49-F238E27FC236}">
                <a16:creationId xmlns:a16="http://schemas.microsoft.com/office/drawing/2014/main" id="{BED23850-FFBB-4F28-B966-993106F6AEBC}"/>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Unapproved mutation</a:t>
            </a:r>
          </a:p>
        </p:txBody>
      </p:sp>
      <p:sp>
        <p:nvSpPr>
          <p:cNvPr id="11" name="An ops agent changes replicas without a ticket">
            <a:extLst xmlns:a="http://schemas.openxmlformats.org/drawingml/2006/main">
              <a:ext uri="{FF2B5EF4-FFF2-40B4-BE49-F238E27FC236}">
                <a16:creationId xmlns:a16="http://schemas.microsoft.com/office/drawing/2014/main" id="{CE228756-7900-41EE-A48D-6EA5D654432B}"/>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replicas without a ticket</a:t>
            </a:r>
          </a:p>
        </p:txBody>
      </p:sp>
      <p:sp>
        <p:nvSpPr>
          <p:cNvPr id="12" name="D">
            <a:extLst xmlns:a="http://schemas.openxmlformats.org/drawingml/2006/main">
              <a:ext uri="{FF2B5EF4-FFF2-40B4-BE49-F238E27FC236}">
                <a16:creationId xmlns:a16="http://schemas.microsoft.com/office/drawing/2014/main" id="{17ABF565-7B56-4D1C-B0C2-AD194990F65A}"/>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Secret enumeration">
            <a:extLst xmlns:a="http://schemas.openxmlformats.org/drawingml/2006/main">
              <a:ext uri="{FF2B5EF4-FFF2-40B4-BE49-F238E27FC236}">
                <a16:creationId xmlns:a16="http://schemas.microsoft.com/office/drawing/2014/main" id="{A4FCAFFE-857E-4551-8859-9847ABDC28C2}"/>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Secret enumeration</a:t>
            </a:r>
          </a:p>
        </p:txBody>
      </p:sp>
      <p:sp>
        <p:nvSpPr>
          <p:cNvPr id="14" name="A monitoring identity lists Secrets across names">
            <a:extLst xmlns:a="http://schemas.openxmlformats.org/drawingml/2006/main">
              <a:ext uri="{FF2B5EF4-FFF2-40B4-BE49-F238E27FC236}">
                <a16:creationId xmlns:a16="http://schemas.microsoft.com/office/drawing/2014/main" id="{0603F58B-2653-4B5A-BFEF-089D24DCEF0B}"/>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Secrets across namespaces</a:t>
            </a:r>
          </a:p>
        </p:txBody>
      </p:sp>
      <p:sp>
        <p:nvSpPr>
          <p:cNvPr id="15" name="Choose as a team. Keep the sealed updates closed">
            <a:extLst xmlns:a="http://schemas.openxmlformats.org/drawingml/2006/main">
              <a:ext uri="{FF2B5EF4-FFF2-40B4-BE49-F238E27FC236}">
                <a16:creationId xmlns:a16="http://schemas.microsoft.com/office/drawing/2014/main" id="{7BC8D953-86D1-41D3-BEEB-31CAEE995441}"/>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25402A5A-50B1-4957-B57D-F71271F6EEC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05">
            <a:extLst xmlns:a="http://schemas.openxmlformats.org/drawingml/2006/main">
              <a:ext uri="{FF2B5EF4-FFF2-40B4-BE49-F238E27FC236}">
                <a16:creationId xmlns:a16="http://schemas.microsoft.com/office/drawing/2014/main" id="{278833EC-3692-4A12-B0D4-8F5FE2CB809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236631376"/>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F7CF18F2-182C-4819-98E9-9A48C73E4AAC}"/>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24C0F908-C2AF-49CD-8D27-AABAD6E4EDFE}"/>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44005962-94E4-46B2-8922-B21CD08C3AA4}"/>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service replicas and essential ">
            <a:extLst xmlns:a="http://schemas.openxmlformats.org/drawingml/2006/main">
              <a:ext uri="{FF2B5EF4-FFF2-40B4-BE49-F238E27FC236}">
                <a16:creationId xmlns:a16="http://schemas.microsoft.com/office/drawing/2014/main" id="{FB01A141-2AA2-4950-A7B3-7E4150394B4A}"/>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Keep two healthy service replicas and essential dependency access.</a:t>
            </a:r>
          </a:p>
        </p:txBody>
      </p:sp>
      <p:sp>
        <p:nvSpPr>
          <p:cNvPr id="5" name="Evidence">
            <a:extLst xmlns:a="http://schemas.openxmlformats.org/drawingml/2006/main">
              <a:ext uri="{FF2B5EF4-FFF2-40B4-BE49-F238E27FC236}">
                <a16:creationId xmlns:a16="http://schemas.microsoft.com/office/drawing/2014/main" id="{D2A53372-9F58-4610-91D5-63FA2E3A3111}"/>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006E0E47-0ED6-4A7B-BC53-FC7E15CE5EE1}"/>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70A72830-5EB9-4740-AED2-D7C3E41CBA37}"/>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3AB2CC28-A29E-4AC5-9C87-C18974648857}"/>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9025D322-9B1C-416C-B5BF-5EAFD32B142A}"/>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486767EE-416C-4BC0-83AC-F11B7FC6A56D}"/>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one constraint and a measurable service f">
            <a:extLst xmlns:a="http://schemas.openxmlformats.org/drawingml/2006/main">
              <a:ext uri="{FF2B5EF4-FFF2-40B4-BE49-F238E27FC236}">
                <a16:creationId xmlns:a16="http://schemas.microsoft.com/office/drawing/2014/main" id="{E006DBC8-1A21-473E-BC35-895B9E6F6782}"/>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one constraint and a measurable service floor on page 6.</a:t>
            </a:r>
          </a:p>
        </p:txBody>
      </p:sp>
      <p:sp>
        <p:nvSpPr>
          <p:cNvPr id="12" name="ISC2 SECURITY CONGRESS 2026 / SC2632">
            <a:extLst xmlns:a="http://schemas.openxmlformats.org/drawingml/2006/main">
              <a:ext uri="{FF2B5EF4-FFF2-40B4-BE49-F238E27FC236}">
                <a16:creationId xmlns:a16="http://schemas.microsoft.com/office/drawing/2014/main" id="{178950AA-E92B-4C1E-88B2-9082A4E2BC6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6">
            <a:extLst xmlns:a="http://schemas.openxmlformats.org/drawingml/2006/main">
              <a:ext uri="{FF2B5EF4-FFF2-40B4-BE49-F238E27FC236}">
                <a16:creationId xmlns:a16="http://schemas.microsoft.com/office/drawing/2014/main" id="{9F457874-A5B6-4308-A1AB-CABED3FE404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29529344"/>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6" name="TEAM SETUP / OPEN THE DECISION RECORD ON PAGE 6">
            <a:extLst xmlns:a="http://schemas.openxmlformats.org/drawingml/2006/main">
              <a:ext uri="{FF2B5EF4-FFF2-40B4-BE49-F238E27FC236}">
                <a16:creationId xmlns:a16="http://schemas.microsoft.com/office/drawing/2014/main" id="{94C202D1-E9B5-4BB2-BFE1-2CA9AAABD21C}"/>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TEAM SETUP / OPEN THE DECISION RECORD ON PAGE 6</a:t>
            </a:r>
          </a:p>
        </p:txBody>
      </p:sp>
      <p:sp>
        <p:nvSpPr>
          <p:cNvPr id="2" name="Your team before Round 1">
            <a:extLst xmlns:a="http://schemas.openxmlformats.org/drawingml/2006/main">
              <a:ext uri="{FF2B5EF4-FFF2-40B4-BE49-F238E27FC236}">
                <a16:creationId xmlns:a16="http://schemas.microsoft.com/office/drawing/2014/main" id="{4AF62CF0-09FD-491C-A366-726B673C9E23}"/>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team before Round 1</a:t>
            </a:r>
          </a:p>
        </p:txBody>
      </p:sp>
      <p:sp>
        <p:nvSpPr>
          <p:cNvPr id="3" name="Incident lead">
            <a:extLst xmlns:a="http://schemas.openxmlformats.org/drawingml/2006/main">
              <a:ext uri="{FF2B5EF4-FFF2-40B4-BE49-F238E27FC236}">
                <a16:creationId xmlns:a16="http://schemas.microsoft.com/office/drawing/2014/main" id="{689647F9-A2AC-4DDF-B654-DE067D0E9562}"/>
              </a:ext>
            </a:extLst>
          </p:cNvPr>
          <p:cNvSpPr>
            <a:spLocks xmlns:a="http://schemas.openxmlformats.org/drawingml/2006/main" noGrp="1"/>
          </p:cNvSpPr>
          <p:nvPr/>
        </p:nvSpPr>
        <p:spPr>
          <a:xfrm xmlns:a="http://schemas.openxmlformats.org/drawingml/2006/main">
            <a:off x="628650" y="26003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Incident lead</a:t>
            </a:r>
          </a:p>
        </p:txBody>
      </p:sp>
      <p:sp>
        <p:nvSpPr>
          <p:cNvPr id="4" name="States the decision">
            <a:extLst xmlns:a="http://schemas.openxmlformats.org/drawingml/2006/main">
              <a:ext uri="{FF2B5EF4-FFF2-40B4-BE49-F238E27FC236}">
                <a16:creationId xmlns:a16="http://schemas.microsoft.com/office/drawing/2014/main" id="{F965148C-8DB3-430E-B988-8A8E712FA426}"/>
              </a:ext>
            </a:extLst>
          </p:cNvPr>
          <p:cNvSpPr>
            <a:spLocks xmlns:a="http://schemas.openxmlformats.org/drawingml/2006/main" noGrp="1"/>
          </p:cNvSpPr>
          <p:nvPr/>
        </p:nvSpPr>
        <p:spPr>
          <a:xfrm xmlns:a="http://schemas.openxmlformats.org/drawingml/2006/main">
            <a:off x="628650" y="297180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States the decision</a:t>
            </a:r>
          </a:p>
        </p:txBody>
      </p:sp>
      <p:sp>
        <p:nvSpPr>
          <p:cNvPr id="5" name="Recorder">
            <a:extLst xmlns:a="http://schemas.openxmlformats.org/drawingml/2006/main">
              <a:ext uri="{FF2B5EF4-FFF2-40B4-BE49-F238E27FC236}">
                <a16:creationId xmlns:a16="http://schemas.microsoft.com/office/drawing/2014/main" id="{F9ED52DA-CF28-441E-B7D4-24C956B5B49C}"/>
              </a:ext>
            </a:extLst>
          </p:cNvPr>
          <p:cNvSpPr>
            <a:spLocks xmlns:a="http://schemas.openxmlformats.org/drawingml/2006/main" noGrp="1"/>
          </p:cNvSpPr>
          <p:nvPr/>
        </p:nvSpPr>
        <p:spPr>
          <a:xfrm xmlns:a="http://schemas.openxmlformats.org/drawingml/2006/main">
            <a:off x="628650" y="33432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Recorder</a:t>
            </a:r>
          </a:p>
        </p:txBody>
      </p:sp>
      <p:sp>
        <p:nvSpPr>
          <p:cNvPr id="6" name="Writes the shared record">
            <a:extLst xmlns:a="http://schemas.openxmlformats.org/drawingml/2006/main">
              <a:ext uri="{FF2B5EF4-FFF2-40B4-BE49-F238E27FC236}">
                <a16:creationId xmlns:a16="http://schemas.microsoft.com/office/drawing/2014/main" id="{A147A9D8-CB52-4615-81BA-B0900D2E139C}"/>
              </a:ext>
            </a:extLst>
          </p:cNvPr>
          <p:cNvSpPr>
            <a:spLocks xmlns:a="http://schemas.openxmlformats.org/drawingml/2006/main" noGrp="1"/>
          </p:cNvSpPr>
          <p:nvPr/>
        </p:nvSpPr>
        <p:spPr>
          <a:xfrm xmlns:a="http://schemas.openxmlformats.org/drawingml/2006/main">
            <a:off x="628650" y="371475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Writes the shared record</a:t>
            </a:r>
          </a:p>
        </p:txBody>
      </p:sp>
      <p:sp>
        <p:nvSpPr>
          <p:cNvPr id="7" name="Analyst">
            <a:extLst xmlns:a="http://schemas.openxmlformats.org/drawingml/2006/main">
              <a:ext uri="{FF2B5EF4-FFF2-40B4-BE49-F238E27FC236}">
                <a16:creationId xmlns:a16="http://schemas.microsoft.com/office/drawing/2014/main" id="{816BA0D1-32F0-4E95-AABF-1E351243E01A}"/>
              </a:ext>
            </a:extLst>
          </p:cNvPr>
          <p:cNvSpPr>
            <a:spLocks xmlns:a="http://schemas.openxmlformats.org/drawingml/2006/main" noGrp="1"/>
          </p:cNvSpPr>
          <p:nvPr/>
        </p:nvSpPr>
        <p:spPr>
          <a:xfrm xmlns:a="http://schemas.openxmlformats.org/drawingml/2006/main">
            <a:off x="628650" y="40862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Analyst</a:t>
            </a:r>
          </a:p>
        </p:txBody>
      </p:sp>
      <p:sp>
        <p:nvSpPr>
          <p:cNvPr id="8" name="Checks claims against the evidence">
            <a:extLst xmlns:a="http://schemas.openxmlformats.org/drawingml/2006/main">
              <a:ext uri="{FF2B5EF4-FFF2-40B4-BE49-F238E27FC236}">
                <a16:creationId xmlns:a16="http://schemas.microsoft.com/office/drawing/2014/main" id="{544038CF-4BC9-45C2-B21E-05FCB20E7C10}"/>
              </a:ext>
            </a:extLst>
          </p:cNvPr>
          <p:cNvSpPr>
            <a:spLocks xmlns:a="http://schemas.openxmlformats.org/drawingml/2006/main" noGrp="1"/>
          </p:cNvSpPr>
          <p:nvPr/>
        </p:nvSpPr>
        <p:spPr>
          <a:xfrm xmlns:a="http://schemas.openxmlformats.org/drawingml/2006/main">
            <a:off x="628650" y="445770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Checks claims against the evidence</a:t>
            </a:r>
          </a:p>
        </p:txBody>
      </p:sp>
      <p:sp>
        <p:nvSpPr>
          <p:cNvPr id="9" name="Independent reviewer">
            <a:extLst xmlns:a="http://schemas.openxmlformats.org/drawingml/2006/main">
              <a:ext uri="{FF2B5EF4-FFF2-40B4-BE49-F238E27FC236}">
                <a16:creationId xmlns:a16="http://schemas.microsoft.com/office/drawing/2014/main" id="{026EB765-F550-499F-8C31-248BCBEC8A02}"/>
              </a:ext>
            </a:extLst>
          </p:cNvPr>
          <p:cNvSpPr>
            <a:spLocks xmlns:a="http://schemas.openxmlformats.org/drawingml/2006/main" noGrp="1"/>
          </p:cNvSpPr>
          <p:nvPr/>
        </p:nvSpPr>
        <p:spPr>
          <a:xfrm xmlns:a="http://schemas.openxmlformats.org/drawingml/2006/main">
            <a:off x="628650" y="48291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Independent reviewer</a:t>
            </a:r>
          </a:p>
        </p:txBody>
      </p:sp>
      <p:sp>
        <p:nvSpPr>
          <p:cNvPr id="10" name="Raises a concern before the decision">
            <a:extLst xmlns:a="http://schemas.openxmlformats.org/drawingml/2006/main">
              <a:ext uri="{FF2B5EF4-FFF2-40B4-BE49-F238E27FC236}">
                <a16:creationId xmlns:a16="http://schemas.microsoft.com/office/drawing/2014/main" id="{781358CA-5DF8-4584-BC88-1F997B2FBAB1}"/>
              </a:ext>
            </a:extLst>
          </p:cNvPr>
          <p:cNvSpPr>
            <a:spLocks xmlns:a="http://schemas.openxmlformats.org/drawingml/2006/main" noGrp="1"/>
          </p:cNvSpPr>
          <p:nvPr/>
        </p:nvSpPr>
        <p:spPr>
          <a:xfrm xmlns:a="http://schemas.openxmlformats.org/drawingml/2006/main">
            <a:off x="628650" y="520065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Raises a concern before the decision</a:t>
            </a:r>
          </a:p>
        </p:txBody>
      </p:sp>
      <p:sp>
        <p:nvSpPr>
          <p:cNvPr id="11" name="RECORD NOW">
            <a:extLst xmlns:a="http://schemas.openxmlformats.org/drawingml/2006/main">
              <a:ext uri="{FF2B5EF4-FFF2-40B4-BE49-F238E27FC236}">
                <a16:creationId xmlns:a16="http://schemas.microsoft.com/office/drawing/2014/main" id="{5996ED3A-6431-49B7-9636-09079D595B7C}"/>
              </a:ext>
            </a:extLst>
          </p:cNvPr>
          <p:cNvSpPr>
            <a:spLocks xmlns:a="http://schemas.openxmlformats.org/drawingml/2006/main" noGrp="1"/>
          </p:cNvSpPr>
          <p:nvPr/>
        </p:nvSpPr>
        <p:spPr>
          <a:xfrm xmlns:a="http://schemas.openxmlformats.org/drawingml/2006/main">
            <a:off x="6848475" y="2600325"/>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RECORD NOW</a:t>
            </a:r>
          </a:p>
        </p:txBody>
      </p:sp>
      <p:sp>
        <p:nvSpPr>
          <p:cNvPr id="12" name="Table and selected case&#10;Primary operational cons">
            <a:extLst xmlns:a="http://schemas.openxmlformats.org/drawingml/2006/main">
              <a:ext uri="{FF2B5EF4-FFF2-40B4-BE49-F238E27FC236}">
                <a16:creationId xmlns:a16="http://schemas.microsoft.com/office/drawing/2014/main" id="{2B3A15D1-A4C3-4B5B-A58C-ACE9895845F2}"/>
              </a:ext>
            </a:extLst>
          </p:cNvPr>
          <p:cNvSpPr>
            <a:spLocks xmlns:a="http://schemas.openxmlformats.org/drawingml/2006/main" noGrp="1"/>
          </p:cNvSpPr>
          <p:nvPr/>
        </p:nvSpPr>
        <p:spPr>
          <a:xfrm xmlns:a="http://schemas.openxmlformats.org/drawingml/2006/main">
            <a:off x="6848475" y="3086100"/>
            <a:ext cx="4648200"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Table and selected case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Primary operational constraint</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Who takes each role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Minimum service that must survive</a:t>
            </a:r>
          </a:p>
        </p:txBody>
      </p:sp>
      <p:sp>
        <p:nvSpPr>
          <p:cNvPr id="13" name="The scorecard rewards justified decisions and in">
            <a:extLst xmlns:a="http://schemas.openxmlformats.org/drawingml/2006/main">
              <a:ext uri="{FF2B5EF4-FFF2-40B4-BE49-F238E27FC236}">
                <a16:creationId xmlns:a16="http://schemas.microsoft.com/office/drawing/2014/main" id="{70EBF0AF-4706-4C8B-AAA5-9EC9F102BB94}"/>
              </a:ext>
            </a:extLst>
          </p:cNvPr>
          <p:cNvSpPr>
            <a:spLocks xmlns:a="http://schemas.openxmlformats.org/drawingml/2006/main" noGrp="1"/>
          </p:cNvSpPr>
          <p:nvPr/>
        </p:nvSpPr>
        <p:spPr>
          <a:xfrm xmlns:a="http://schemas.openxmlformats.org/drawingml/2006/main">
            <a:off x="628650" y="5981700"/>
            <a:ext cx="10858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0B1822"/>
                </a:solidFill>
                <a:latin typeface="Arial"/>
                <a:ea typeface="Arial"/>
                <a:cs typeface="Arial"/>
              </a:defRPr>
            </a:defPPr>
          </a:lstStyle>
          <a:p xmlns:a="http://schemas.openxmlformats.org/drawingml/2006/main">
            <a:pPr>
              <a:defRPr sz="1650" b="0">
                <a:solidFill>
                  <a:srgbClr val="0B1822"/>
                </a:solidFill>
                <a:latin typeface="Arial"/>
                <a:ea typeface="Arial"/>
                <a:cs typeface="Arial"/>
              </a:defRPr>
            </a:pPr>
            <a:r>
              <a:rPr sz="1650" b="0">
                <a:solidFill>
                  <a:srgbClr val="0B1822"/>
                </a:solidFill>
                <a:latin typeface="Arial"/>
                <a:ea typeface="Arial"/>
                <a:cs typeface="Arial"/>
              </a:rPr>
              <a:t>The scorecard rewards justified decisions and independent review. 15 points possible.</a:t>
            </a:r>
          </a:p>
        </p:txBody>
      </p:sp>
      <p:sp>
        <p:nvSpPr>
          <p:cNvPr id="14" name="ISC2 SECURITY CONGRESS 2026 / SC2632">
            <a:extLst xmlns:a="http://schemas.openxmlformats.org/drawingml/2006/main">
              <a:ext uri="{FF2B5EF4-FFF2-40B4-BE49-F238E27FC236}">
                <a16:creationId xmlns:a16="http://schemas.microsoft.com/office/drawing/2014/main" id="{E4620EFF-A544-477C-928F-A6796B39032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5" name="07">
            <a:extLst xmlns:a="http://schemas.openxmlformats.org/drawingml/2006/main">
              <a:ext uri="{FF2B5EF4-FFF2-40B4-BE49-F238E27FC236}">
                <a16:creationId xmlns:a16="http://schemas.microsoft.com/office/drawing/2014/main" id="{BD9DB661-EC72-45A9-A00B-F01D0DAF531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299162683"/>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446E0095-D16E-4651-A83E-6DC64021C222}"/>
              </a:ext>
            </a:extLst>
          </p:cNvPr>
          <p:cNvPicPr>
            <a:picLocks xmlns:a="http://schemas.openxmlformats.org/drawingml/2006/main" noChangeAspect="1"/>
          </p:cNvPicPr>
          <p:nvPr/>
        </p:nvPicPr>
        <p:blipFill>
          <a:blip xmlns:r="http://schemas.openxmlformats.org/officeDocument/2006/relationships" xmlns:a="http://schemas.openxmlformats.org/drawingml/2006/main" r:embed="R2bd548fb46904a3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55790CB6-529E-4B6E-AF69-1026AF98AA66}"/>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7D2F3922-6051-4982-807F-B6982D986206}"/>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69B71F1C-9CA1-44C7-BB11-FDFC43E53296}"/>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Write one intent on page 6.&#10;Name the forbidden b">
            <a:extLst xmlns:a="http://schemas.openxmlformats.org/drawingml/2006/main">
              <a:ext uri="{FF2B5EF4-FFF2-40B4-BE49-F238E27FC236}">
                <a16:creationId xmlns:a16="http://schemas.microsoft.com/office/drawing/2014/main" id="{1F3D328B-F1EB-4C4B-84C5-3D281305FB01}"/>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Write one intent on page 6.</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 the forbidden behavior and preserved dependency.</a:t>
            </a:r>
          </a:p>
        </p:txBody>
      </p:sp>
      <p:sp>
        <p:nvSpPr>
          <p:cNvPr id="6" name="ISC2 SECURITY CONGRESS 2026 / SC2632">
            <a:extLst xmlns:a="http://schemas.openxmlformats.org/drawingml/2006/main">
              <a:ext uri="{FF2B5EF4-FFF2-40B4-BE49-F238E27FC236}">
                <a16:creationId xmlns:a16="http://schemas.microsoft.com/office/drawing/2014/main" id="{A205B79B-9F64-4843-8762-654292D61DA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F50E17A4-8BA6-4D45-8268-53A76E05454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737751415"/>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TYPED DECISIONS / HUMAN DEPLOYMENT AUTHORITY">
            <a:extLst xmlns:a="http://schemas.openxmlformats.org/drawingml/2006/main">
              <a:ext uri="{FF2B5EF4-FFF2-40B4-BE49-F238E27FC236}">
                <a16:creationId xmlns:a16="http://schemas.microsoft.com/office/drawing/2014/main" id="{36CBDB6B-CF41-48CB-9D67-636E3E5A5A2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TYPED DECISIONS / HUMAN DEPLOYMENT AUTHORITY</a:t>
            </a:r>
          </a:p>
        </p:txBody>
      </p:sp>
      <p:sp>
        <p:nvSpPr>
          <p:cNvPr id="2" name="Typed decisions and deployment authority">
            <a:extLst xmlns:a="http://schemas.openxmlformats.org/drawingml/2006/main">
              <a:ext uri="{FF2B5EF4-FFF2-40B4-BE49-F238E27FC236}">
                <a16:creationId xmlns:a16="http://schemas.microsoft.com/office/drawing/2014/main" id="{69DF53BA-9064-4DE0-8555-7B156D8D6BB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Typed decisions and deployment authority</a:t>
            </a:r>
          </a:p>
        </p:txBody>
      </p:sp>
      <p:graphicFrame>
        <p:nvGraphicFramePr>
          <p:cNvPr id="3" name="">
            <a:extLst xmlns:a="http://schemas.openxmlformats.org/drawingml/2006/main">
              <a:ext uri="{FF2B5EF4-FFF2-40B4-BE49-F238E27FC236}">
                <a16:creationId xmlns:a16="http://schemas.microsoft.com/office/drawing/2014/main" id="{D3E874A3-774A-4A3C-8B36-322037F36C89}"/>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857500"/>
                <a:gridCol w="8096250"/>
              </a:tblGrid>
              <a:tr h="676275">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Choose a typed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Fill approved values, validate the spec and render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missing controls, approve exceptions and deploy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1FAB1F71-1E61-4AE0-A0B9-35F2D55E4A6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09">
            <a:extLst xmlns:a="http://schemas.openxmlformats.org/drawingml/2006/main">
              <a:ext uri="{FF2B5EF4-FFF2-40B4-BE49-F238E27FC236}">
                <a16:creationId xmlns:a16="http://schemas.microsoft.com/office/drawing/2014/main" id="{271F8C7F-7609-4D59-8756-982B84E488C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483895373"/>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REFERENCE SPEC / LIVE COMPILER IF REHEARSED">
            <a:extLst xmlns:a="http://schemas.openxmlformats.org/drawingml/2006/main">
              <a:ext uri="{FF2B5EF4-FFF2-40B4-BE49-F238E27FC236}">
                <a16:creationId xmlns:a16="http://schemas.microsoft.com/office/drawing/2014/main" id="{96EC751E-1FCD-4A03-BF77-126A6832B5B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SPEC / LIVE COMPILER IF REHEARSED</a:t>
            </a:r>
          </a:p>
        </p:txBody>
      </p:sp>
      <p:sp>
        <p:nvSpPr>
          <p:cNvPr id="2" name="Intent → reviewable proposal">
            <a:extLst xmlns:a="http://schemas.openxmlformats.org/drawingml/2006/main">
              <a:ext uri="{FF2B5EF4-FFF2-40B4-BE49-F238E27FC236}">
                <a16:creationId xmlns:a16="http://schemas.microsoft.com/office/drawing/2014/main" id="{87EA7B14-698D-4C5F-BE21-554B3A9E718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C32352CE-E83E-4268-B0C3-3058E64EB06C}"/>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A2CC676E-AE1A-48D6-8F4F-1404A4C7AC9A}"/>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The real System-1 model failed the current live-">
            <a:extLst xmlns:a="http://schemas.openxmlformats.org/drawingml/2006/main">
              <a:ext uri="{FF2B5EF4-FFF2-40B4-BE49-F238E27FC236}">
                <a16:creationId xmlns:a16="http://schemas.microsoft.com/office/drawing/2014/main" id="{F7D87764-CB75-4E74-8C45-09B888269C0D}"/>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The real System-1 model failed the current live-demo gate.</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This enforcement demonstration uses a supplied reference spec.</a:t>
            </a:r>
          </a:p>
        </p:txBody>
      </p:sp>
      <p:sp>
        <p:nvSpPr>
          <p:cNvPr id="6" name="ISC2 SECURITY CONGRESS 2026 / SC2632">
            <a:extLst xmlns:a="http://schemas.openxmlformats.org/drawingml/2006/main">
              <a:ext uri="{FF2B5EF4-FFF2-40B4-BE49-F238E27FC236}">
                <a16:creationId xmlns:a16="http://schemas.microsoft.com/office/drawing/2014/main" id="{8A6CC710-9463-42DF-94F9-9A1AAB0366F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6E5FC810-F765-4E8B-B8E5-E6E7181DD07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35231082"/>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0723FAF7-6C3A-485C-8704-D46E50ADECB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DF575CF1-5DB1-4278-AC10-729A75523DC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51635E88-6094-4432-81B8-9F0645730DD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7AFAD382-3937-49FB-8F7C-46BC30BF394A}"/>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42777369-5165-473A-A8EC-58C88FEB4C7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EB4370B6-2D05-4D04-87B5-64998293992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97779510"/>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596B4597-43BC-4451-9A06-4B04F95A99ED}"/>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F2EB4A80-B4E8-42B6-B938-E012FE7032AF}"/>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C64079EB-CC4C-4DCB-ADCC-F0CCCEA8B923}"/>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C47ACFA7-8121-47B2-95D4-D2BF96C30886}"/>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87E3408E-6E83-4CE8-91AC-5A028EC7CDC3}"/>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95699CF7-FEFC-414F-87CA-F30694AA56DF}"/>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2B04F6BD-728B-4AAC-B5FE-6F1A87CE15F6}"/>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996BCE72-CD42-4CBC-87F7-88B4D202D6F3}"/>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DB922F6B-4CC7-43DE-A3E2-B4BC219FFC9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4184DCE3-ECD7-4C5F-B228-DF434F03AB7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1897300716"/>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F02F7D10-2B02-4032-A4AF-E855DC4C5948}"/>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Exception approval&#10;is unverified">
            <a:extLst xmlns:a="http://schemas.openxmlformats.org/drawingml/2006/main">
              <a:ext uri="{FF2B5EF4-FFF2-40B4-BE49-F238E27FC236}">
                <a16:creationId xmlns:a16="http://schemas.microsoft.com/office/drawing/2014/main" id="{C6412DB8-3FA6-4FBF-98B4-5DB9D1A7579A}"/>
              </a:ext>
            </a:extLst>
          </p:cNvPr>
          <p:cNvSpPr>
            <a:spLocks xmlns:a="http://schemas.openxmlformats.org/drawingml/2006/main" noGrp="1"/>
          </p:cNvSpPr>
          <p:nvPr/>
        </p:nvSpPr>
        <p:spPr>
          <a:xfrm xmlns:a="http://schemas.openxmlformats.org/drawingml/2006/main">
            <a:off x="609600" y="1400175"/>
            <a:ext cx="10668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Exception approval</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is unverified</a:t>
            </a:r>
          </a:p>
        </p:txBody>
      </p:sp>
      <p:sp>
        <p:nvSpPr>
          <p:cNvPr id="3" name="The request cites operational need but provides ">
            <a:extLst xmlns:a="http://schemas.openxmlformats.org/drawingml/2006/main">
              <a:ext uri="{FF2B5EF4-FFF2-40B4-BE49-F238E27FC236}">
                <a16:creationId xmlns:a16="http://schemas.microsoft.com/office/drawing/2014/main" id="{A2FD39B4-BE1C-4BC9-B8BB-74151EB898DA}"/>
              </a:ext>
            </a:extLst>
          </p:cNvPr>
          <p:cNvSpPr>
            <a:spLocks xmlns:a="http://schemas.openxmlformats.org/drawingml/2006/main" noGrp="1"/>
          </p:cNvSpPr>
          <p:nvPr/>
        </p:nvSpPr>
        <p:spPr>
          <a:xfrm xmlns:a="http://schemas.openxmlformats.org/drawingml/2006/main">
            <a:off x="628650" y="38004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The request cites operational need but provides no verified approver or expiry.</a:t>
            </a:r>
          </a:p>
        </p:txBody>
      </p:sp>
      <p:sp>
        <p:nvSpPr>
          <p:cNvPr id="4" name="VERIFY THE APPROVER.  NARROW THE SCOPE.  SET THE">
            <a:extLst xmlns:a="http://schemas.openxmlformats.org/drawingml/2006/main">
              <a:ext uri="{FF2B5EF4-FFF2-40B4-BE49-F238E27FC236}">
                <a16:creationId xmlns:a16="http://schemas.microsoft.com/office/drawing/2014/main" id="{09B32E13-EC80-4B3A-9094-E9478471CBCD}"/>
              </a:ext>
            </a:extLst>
          </p:cNvPr>
          <p:cNvSpPr>
            <a:spLocks xmlns:a="http://schemas.openxmlformats.org/drawingml/2006/main" noGrp="1"/>
          </p:cNvSpPr>
          <p:nvPr/>
        </p:nvSpPr>
        <p:spPr>
          <a:xfrm xmlns:a="http://schemas.openxmlformats.org/drawingml/2006/main">
            <a:off x="628650" y="5086350"/>
            <a:ext cx="1062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VERIFY THE APPROVER.  NARROW THE SCOPE.  SET THE EXPIRY.</a:t>
            </a:r>
          </a:p>
        </p:txBody>
      </p:sp>
      <p:sp>
        <p:nvSpPr>
          <p:cNvPr id="5" name="ISC2 SECURITY CONGRESS 2026 / SC2632">
            <a:extLst xmlns:a="http://schemas.openxmlformats.org/drawingml/2006/main">
              <a:ext uri="{FF2B5EF4-FFF2-40B4-BE49-F238E27FC236}">
                <a16:creationId xmlns:a16="http://schemas.microsoft.com/office/drawing/2014/main" id="{1D1D1FF3-7A4B-4F89-B1EE-E5F526B16DC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4EF2BAFE-B09C-42DC-B87E-BFF01AEE671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904009857"/>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B6A955F9-AA9C-470F-B4FF-C5EA11F0475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0CCD9B50-2D37-4D7C-A91C-9DFB7CEA27F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DC0A2D35-1AFF-4CEA-A29D-A963C1888353}"/>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CD2EE372-7093-479D-8884-1D9EA9C70119}"/>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28E63060-3D64-431F-98C4-78117BD3C94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E3A0A917-E1BD-4686-9E2C-EE9CE44D321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1669761358"/>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IMPLEMENTED LEVELS / SCOPE MATTERS">
            <a:extLst xmlns:a="http://schemas.openxmlformats.org/drawingml/2006/main">
              <a:ext uri="{FF2B5EF4-FFF2-40B4-BE49-F238E27FC236}">
                <a16:creationId xmlns:a16="http://schemas.microsoft.com/office/drawing/2014/main" id="{031FDF3E-8C19-491D-AEB8-10D97EAAC24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490C6B67-B170-4EAC-A882-C54F7D67262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0393997E-ED8F-462D-B2BC-CB7CFF4CBA83}"/>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B0B16B60-17E4-470F-A427-64A8B2442A9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15">
            <a:extLst xmlns:a="http://schemas.openxmlformats.org/drawingml/2006/main">
              <a:ext uri="{FF2B5EF4-FFF2-40B4-BE49-F238E27FC236}">
                <a16:creationId xmlns:a16="http://schemas.microsoft.com/office/drawing/2014/main" id="{E9221963-A7E8-426B-96A3-361A3D11ABA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1271847994"/>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972AC24-D090-4F5E-A1DD-9030B56176D2}"/>
              </a:ext>
            </a:extLst>
          </p:cNvPr>
          <p:cNvPicPr>
            <a:picLocks xmlns:a="http://schemas.openxmlformats.org/drawingml/2006/main" noChangeAspect="1"/>
          </p:cNvPicPr>
          <p:nvPr/>
        </p:nvPicPr>
        <p:blipFill>
          <a:blip xmlns:r="http://schemas.openxmlformats.org/officeDocument/2006/relationships" xmlns:a="http://schemas.openxmlformats.org/drawingml/2006/main" r:embed="Reda9bc8da05a470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4243ABFE-2563-4675-941A-FD38436F242A}"/>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546D2B0B-FB7E-4EF1-A7F9-5BE1A0ACF8C3}"/>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C3D6D534-02F2-47C3-B03F-D03ECA6B059C}"/>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35936B84-885D-4198-A145-32A6A94F0E74}"/>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Open the sealed update on page 7.</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29F323C7-C52A-4B07-8D85-05190C61C71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2B67E66A-C674-4DA4-A37A-7B0D348CE99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1298155091"/>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FED2DFF8-9F0F-42D1-B468-EE5859082125}"/>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150AC2CE-2CB5-4728-ABA6-199F90977482}"/>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AC781F6A-0788-45CA-B035-64655EF051D5}"/>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E726EF60-F8C8-4F88-9310-97D5ED041436}"/>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25210FCD-3EAE-4091-9577-60963F25B09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0CB3326B-24A0-497E-AA9F-A695D2BAFE3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503003859"/>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5CDF325C-F3F4-4F34-A337-0A12B71629C5}"/>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492B9A0B-B010-4E4E-8C81-40DF52B8E5BD}"/>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4E561C7F-A3D5-4080-A603-ED2348B3BC98}"/>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3E999C34-22CE-47A7-AB4C-E05DCB122BCF}"/>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11DA1826-7DD1-477C-BEED-F0C62A420915}"/>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0B150506-AEB3-40B6-BB74-9CAA16BBAA3F}"/>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62C80BB5-BE89-4229-B9E1-280344D70C0B}"/>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728C8E62-DCCC-42B5-9BAE-7F6EFE6DC9C9}"/>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1D48291E-6097-4621-AA7F-DB34D72A1306}"/>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4AC7E398-79E2-4E69-A4E7-9E1F9BB1118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6537EED0-B497-4036-B19B-DE4ACAB31D7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359205378"/>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EEA02FE8-67E3-43BC-9BD4-17208BEADDC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Is the suspect&#10;isolated?">
            <a:extLst xmlns:a="http://schemas.openxmlformats.org/drawingml/2006/main">
              <a:ext uri="{FF2B5EF4-FFF2-40B4-BE49-F238E27FC236}">
                <a16:creationId xmlns:a16="http://schemas.microsoft.com/office/drawing/2014/main" id="{78E1CCA8-A0E4-41DD-AE43-DC61DCED31EA}"/>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 the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isolated?</a:t>
            </a:r>
          </a:p>
        </p:txBody>
      </p:sp>
      <p:pic>
        <p:nvPicPr>
          <p:cNvPr id="3" name="">
            <a:extLst xmlns:a="http://schemas.openxmlformats.org/drawingml/2006/main">
              <a:ext uri="{FF2B5EF4-FFF2-40B4-BE49-F238E27FC236}">
                <a16:creationId xmlns:a16="http://schemas.microsoft.com/office/drawing/2014/main" id="{E277791E-70E3-4A9F-9529-F55C3C53B09F}"/>
              </a:ext>
            </a:extLst>
          </p:cNvPr>
          <p:cNvPicPr>
            <a:picLocks xmlns:a="http://schemas.openxmlformats.org/drawingml/2006/main" noChangeAspect="1"/>
          </p:cNvPicPr>
          <p:nvPr/>
        </p:nvPicPr>
        <p:blipFill>
          <a:blip xmlns:r="http://schemas.openxmlformats.org/officeDocument/2006/relationships" xmlns:a="http://schemas.openxmlformats.org/drawingml/2006/main" r:embed="Re4d167884d794b08"/>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declared.&#10;Look at the DNS path.">
            <a:extLst xmlns:a="http://schemas.openxmlformats.org/drawingml/2006/main">
              <a:ext uri="{FF2B5EF4-FFF2-40B4-BE49-F238E27FC236}">
                <a16:creationId xmlns:a16="http://schemas.microsoft.com/office/drawing/2014/main" id="{91DDEA06-1A0E-44DA-9A43-316393B98558}"/>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Q3 is declared.</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Look at the DNS path.</a:t>
            </a:r>
          </a:p>
        </p:txBody>
      </p:sp>
      <p:sp>
        <p:nvSpPr>
          <p:cNvPr id="5" name="RECORD YOUR DECISION.&#10;STATE THE SUPPORTING EVIDE">
            <a:extLst xmlns:a="http://schemas.openxmlformats.org/drawingml/2006/main">
              <a:ext uri="{FF2B5EF4-FFF2-40B4-BE49-F238E27FC236}">
                <a16:creationId xmlns:a16="http://schemas.microsoft.com/office/drawing/2014/main" id="{0DE27B51-49BA-471F-A680-246F0031E81C}"/>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BFA72D0B-23B2-46D2-B5F0-35D0F8751059}"/>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1EFA79D5-0FA7-42AC-9CD6-0B7E4BA0AAC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CA65AF41-5265-4F53-BBB2-7BE76C38205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1211896840"/>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CE4AA770-289D-4273-B786-595DF323558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Can both suspect&#10;Pods be evicted?">
            <a:extLst xmlns:a="http://schemas.openxmlformats.org/drawingml/2006/main">
              <a:ext uri="{FF2B5EF4-FFF2-40B4-BE49-F238E27FC236}">
                <a16:creationId xmlns:a16="http://schemas.microsoft.com/office/drawing/2014/main" id="{221A8877-67FA-4EDE-863A-5A4249BD07EB}"/>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both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Pods be evicted?</a:t>
            </a:r>
          </a:p>
        </p:txBody>
      </p:sp>
      <p:pic>
        <p:nvPicPr>
          <p:cNvPr id="3" name="">
            <a:extLst xmlns:a="http://schemas.openxmlformats.org/drawingml/2006/main">
              <a:ext uri="{FF2B5EF4-FFF2-40B4-BE49-F238E27FC236}">
                <a16:creationId xmlns:a16="http://schemas.microsoft.com/office/drawing/2014/main" id="{7B639ED8-E1E2-4B20-A788-F6963F2144BB}"/>
              </a:ext>
            </a:extLst>
          </p:cNvPr>
          <p:cNvPicPr>
            <a:picLocks xmlns:a="http://schemas.openxmlformats.org/drawingml/2006/main" noChangeAspect="1"/>
          </p:cNvPicPr>
          <p:nvPr/>
        </p:nvPicPr>
        <p:blipFill>
          <a:blip xmlns:r="http://schemas.openxmlformats.org/officeDocument/2006/relationships" xmlns:a="http://schemas.openxmlformats.org/drawingml/2006/main" r:embed="Ra3c7de8a7b7c4186"/>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replicas.&#10;The PDB keeps two up.">
            <a:extLst xmlns:a="http://schemas.openxmlformats.org/drawingml/2006/main">
              <a:ext uri="{FF2B5EF4-FFF2-40B4-BE49-F238E27FC236}">
                <a16:creationId xmlns:a16="http://schemas.microsoft.com/office/drawing/2014/main" id="{B3B579A8-BE53-4BC8-A0F7-DC1163252792}"/>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Three replicas.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The PDB keeps two up.</a:t>
            </a:r>
          </a:p>
        </p:txBody>
      </p:sp>
      <p:sp>
        <p:nvSpPr>
          <p:cNvPr id="5" name="RECORD YOUR DECISION.&#10;STATE THE SUPPORTING EVIDE">
            <a:extLst xmlns:a="http://schemas.openxmlformats.org/drawingml/2006/main">
              <a:ext uri="{FF2B5EF4-FFF2-40B4-BE49-F238E27FC236}">
                <a16:creationId xmlns:a16="http://schemas.microsoft.com/office/drawing/2014/main" id="{738D7779-64CE-43C4-993C-6E11BCA3E791}"/>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B1D221D1-B734-473D-93EF-4FA402016EEC}"/>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EF5E0D9F-7857-4327-987F-A9CA9C4CF4D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E5780872-58DB-4FE3-8301-A2D8DAC3AA2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336406956"/>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47AA4619-67EE-4EB9-87FE-9E5334AA7D4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Does Q2 cover&#10;the debug request?">
            <a:extLst xmlns:a="http://schemas.openxmlformats.org/drawingml/2006/main">
              <a:ext uri="{FF2B5EF4-FFF2-40B4-BE49-F238E27FC236}">
                <a16:creationId xmlns:a16="http://schemas.microsoft.com/office/drawing/2014/main" id="{DD528CE7-CC59-425D-B64F-5843840CC677}"/>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Does Q2 cover</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the debug request?</a:t>
            </a:r>
          </a:p>
        </p:txBody>
      </p:sp>
      <p:pic>
        <p:nvPicPr>
          <p:cNvPr id="3" name="">
            <a:extLst xmlns:a="http://schemas.openxmlformats.org/drawingml/2006/main">
              <a:ext uri="{FF2B5EF4-FFF2-40B4-BE49-F238E27FC236}">
                <a16:creationId xmlns:a16="http://schemas.microsoft.com/office/drawing/2014/main" id="{8DC005E7-19F3-406E-9F02-43DB64E226A2}"/>
              </a:ext>
            </a:extLst>
          </p:cNvPr>
          <p:cNvPicPr>
            <a:picLocks xmlns:a="http://schemas.openxmlformats.org/drawingml/2006/main" noChangeAspect="1"/>
          </p:cNvPicPr>
          <p:nvPr/>
        </p:nvPicPr>
        <p:blipFill>
          <a:blip xmlns:r="http://schemas.openxmlformats.org/officeDocument/2006/relationships" xmlns:a="http://schemas.openxmlformats.org/drawingml/2006/main" r:embed="R3d24593d4c2b413b"/>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Only approved images&#10;may start in payments.">
            <a:extLst xmlns:a="http://schemas.openxmlformats.org/drawingml/2006/main">
              <a:ext uri="{FF2B5EF4-FFF2-40B4-BE49-F238E27FC236}">
                <a16:creationId xmlns:a16="http://schemas.microsoft.com/office/drawing/2014/main" id="{AC9FC02B-2C79-400B-B5DC-F2CE8F34F7E6}"/>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Only approved images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may start in payments.</a:t>
            </a:r>
          </a:p>
        </p:txBody>
      </p:sp>
      <p:sp>
        <p:nvSpPr>
          <p:cNvPr id="5" name="RECORD YOUR DECISION.&#10;STATE THE SUPPORTING EVIDE">
            <a:extLst xmlns:a="http://schemas.openxmlformats.org/drawingml/2006/main">
              <a:ext uri="{FF2B5EF4-FFF2-40B4-BE49-F238E27FC236}">
                <a16:creationId xmlns:a16="http://schemas.microsoft.com/office/drawing/2014/main" id="{FEEC454A-3D14-447E-96B0-9E3E7E4BDE06}"/>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C483F4FE-E82A-41ED-8E94-FD8A5E9BD420}"/>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E738C6B7-EA4A-483B-8ABA-F86AB322A0E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C389D0FD-81BC-425D-8F80-D86BD7E78E6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433465148"/>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B8FC9CDE-7E95-4577-B874-EF1E8462B9D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Can this identity&#10;disable admission?">
            <a:extLst xmlns:a="http://schemas.openxmlformats.org/drawingml/2006/main">
              <a:ext uri="{FF2B5EF4-FFF2-40B4-BE49-F238E27FC236}">
                <a16:creationId xmlns:a16="http://schemas.microsoft.com/office/drawing/2014/main" id="{13740CBD-D6B4-4161-8EA7-F8B83DA5CFAC}"/>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this identity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disable admission?</a:t>
            </a:r>
          </a:p>
        </p:txBody>
      </p:sp>
      <p:pic>
        <p:nvPicPr>
          <p:cNvPr id="3" name="">
            <a:extLst xmlns:a="http://schemas.openxmlformats.org/drawingml/2006/main">
              <a:ext uri="{FF2B5EF4-FFF2-40B4-BE49-F238E27FC236}">
                <a16:creationId xmlns:a16="http://schemas.microsoft.com/office/drawing/2014/main" id="{A3E41574-6A04-4AD0-B6EB-64644E0090FD}"/>
              </a:ext>
            </a:extLst>
          </p:cNvPr>
          <p:cNvPicPr>
            <a:picLocks xmlns:a="http://schemas.openxmlformats.org/drawingml/2006/main" noChangeAspect="1"/>
          </p:cNvPicPr>
          <p:nvPr/>
        </p:nvPicPr>
        <p:blipFill>
          <a:blip xmlns:r="http://schemas.openxmlformats.org/officeDocument/2006/relationships" xmlns:a="http://schemas.openxmlformats.org/drawingml/2006/main" r:embed="R92fbcd4d7eae489f"/>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Its role can scale&#10;any Deployment.">
            <a:extLst xmlns:a="http://schemas.openxmlformats.org/drawingml/2006/main">
              <a:ext uri="{FF2B5EF4-FFF2-40B4-BE49-F238E27FC236}">
                <a16:creationId xmlns:a16="http://schemas.microsoft.com/office/drawing/2014/main" id="{C2C7CA73-9B5D-4B2E-910B-28808690C76F}"/>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Its role can scale</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any Deployment.</a:t>
            </a:r>
          </a:p>
        </p:txBody>
      </p:sp>
      <p:sp>
        <p:nvSpPr>
          <p:cNvPr id="5" name="RECORD YOUR DECISION.&#10;STATE THE SUPPORTING EVIDE">
            <a:extLst xmlns:a="http://schemas.openxmlformats.org/drawingml/2006/main">
              <a:ext uri="{FF2B5EF4-FFF2-40B4-BE49-F238E27FC236}">
                <a16:creationId xmlns:a16="http://schemas.microsoft.com/office/drawing/2014/main" id="{1AC237C6-95B2-4BDB-8BDD-0F9A52C53AC3}"/>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6F11B94C-5455-4B1F-A227-E9AD62C3177C}"/>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5FE306AB-B6D8-4ECD-9508-D27F1376DBF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CDE5D78C-15F7-45C3-B462-4A109CDBDF2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540036332"/>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CD870473-B343-465E-BF17-90CE28133A3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3FAF5B21-DE0D-4F83-9202-A9D74545103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D58228DF-785D-4BBB-BB7B-407BE25BA862}"/>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064C634C-20B5-4AFF-BFDD-DC8AEE04EB2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09556B19-6D6A-4F26-B85A-E9C93BC1631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93881464"/>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0F362DB0-8846-41AB-9C0C-306D5F8747C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F3C5B6EC-1BBD-423D-9A12-6DA40A0AEAE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08318D03-A61B-487F-9E84-FBB62AE6089C}"/>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A70081E8-25B8-48F7-91F2-7F8823B80C51}"/>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E35B7820-0C28-4742-AD70-B8BC968E02E1}"/>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4F53A31F-6AED-4EA6-BF9D-FA040E82483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8C880A23-52D5-4653-B72E-72D19A3DC9E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1679153794"/>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A1E004F7-88E2-41EE-8DE4-1A3299A7E67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A8122C5E-5EC3-4921-8158-48895A7F3DCA}"/>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0D14CF91-4BEE-49E5-8AE9-21BB46657C64}"/>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1BBEDC9E-B0AC-48F2-8C11-9CEC9BCA8989}"/>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9CC06945-0E60-4C3C-8487-8286CAE52038}"/>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A9712C78-6885-48B9-8047-B39C2F45C613}"/>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BEA83EE3-7685-4BA8-9BD0-BB039A73E731}"/>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97AE8859-3325-4D62-ABE5-CD6BDE764DB5}"/>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500BF46E-4C1D-43CD-B471-06FE12FA98FE}"/>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652B7600-80ED-4DD1-AE0B-6C8D0DCA9946}"/>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576C104C-2433-4B46-B536-8F5839B2E681}"/>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8B9929CE-C7D7-4014-9DF0-1429DD0F020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43544FE2-9541-47D2-AB56-E92584C49C0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369029096"/>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1" name="MEASURED PILOT / THREE-RUN WORKFLOW MEDIANS">
            <a:extLst xmlns:a="http://schemas.openxmlformats.org/drawingml/2006/main">
              <a:ext uri="{FF2B5EF4-FFF2-40B4-BE49-F238E27FC236}">
                <a16:creationId xmlns:a16="http://schemas.microsoft.com/office/drawing/2014/main" id="{C10A9EFB-2401-4E91-826C-5B8835E23BD0}"/>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MEASURED PILOT / THREE-RUN WORKFLOW MEDIANS</a:t>
            </a:r>
          </a:p>
        </p:txBody>
      </p:sp>
      <p:sp>
        <p:nvSpPr>
          <p:cNvPr id="2" name="Model and workflow evaluation">
            <a:extLst xmlns:a="http://schemas.openxmlformats.org/drawingml/2006/main">
              <a:ext uri="{FF2B5EF4-FFF2-40B4-BE49-F238E27FC236}">
                <a16:creationId xmlns:a16="http://schemas.microsoft.com/office/drawing/2014/main" id="{9ECFE089-C0B7-40A6-BD85-878AAC7F00A7}"/>
              </a:ext>
            </a:extLst>
          </p:cNvPr>
          <p:cNvSpPr>
            <a:spLocks xmlns:a="http://schemas.openxmlformats.org/drawingml/2006/main" noGrp="1"/>
          </p:cNvSpPr>
          <p:nvPr/>
        </p:nvSpPr>
        <p:spPr>
          <a:xfrm xmlns:a="http://schemas.openxmlformats.org/drawingml/2006/main">
            <a:off x="609600" y="1123950"/>
            <a:ext cx="10763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Model and workflow evaluation</a:t>
            </a:r>
          </a:p>
        </p:txBody>
      </p:sp>
      <p:sp>
        <p:nvSpPr>
          <p:cNvPr id="3" name="JEV 1.13">
            <a:extLst xmlns:a="http://schemas.openxmlformats.org/drawingml/2006/main">
              <a:ext uri="{FF2B5EF4-FFF2-40B4-BE49-F238E27FC236}">
                <a16:creationId xmlns:a16="http://schemas.microsoft.com/office/drawing/2014/main" id="{B7B10CB3-9DF1-4964-9347-3DED759D46D6}"/>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4" name="30/33">
            <a:extLst xmlns:a="http://schemas.openxmlformats.org/drawingml/2006/main">
              <a:ext uri="{FF2B5EF4-FFF2-40B4-BE49-F238E27FC236}">
                <a16:creationId xmlns:a16="http://schemas.microsoft.com/office/drawing/2014/main" id="{B7A3153E-FA0F-4CB2-9AC9-DAD40148B8A6}"/>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5" name="1.82 s / run">
            <a:extLst xmlns:a="http://schemas.openxmlformats.org/drawingml/2006/main">
              <a:ext uri="{FF2B5EF4-FFF2-40B4-BE49-F238E27FC236}">
                <a16:creationId xmlns:a16="http://schemas.microsoft.com/office/drawing/2014/main" id="{CDE4F7D5-BA19-4CB3-AB36-8EFCB5928C49}"/>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6" name="$0.00019 / run">
            <a:extLst xmlns:a="http://schemas.openxmlformats.org/drawingml/2006/main">
              <a:ext uri="{FF2B5EF4-FFF2-40B4-BE49-F238E27FC236}">
                <a16:creationId xmlns:a16="http://schemas.microsoft.com/office/drawing/2014/main" id="{10D85B7A-DA3D-4681-91D7-879E861065F9}"/>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7" name="Guardrail generated">
            <a:extLst xmlns:a="http://schemas.openxmlformats.org/drawingml/2006/main">
              <a:ext uri="{FF2B5EF4-FFF2-40B4-BE49-F238E27FC236}">
                <a16:creationId xmlns:a16="http://schemas.microsoft.com/office/drawing/2014/main" id="{C47DB7C2-552E-44DD-9B91-27D030FD17B7}"/>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8" name="CLAUDE OPUS 5.5">
            <a:extLst xmlns:a="http://schemas.openxmlformats.org/drawingml/2006/main">
              <a:ext uri="{FF2B5EF4-FFF2-40B4-BE49-F238E27FC236}">
                <a16:creationId xmlns:a16="http://schemas.microsoft.com/office/drawing/2014/main" id="{805FACFE-BA85-4A93-8F43-270D04859EA0}"/>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9" name="32/33">
            <a:extLst xmlns:a="http://schemas.openxmlformats.org/drawingml/2006/main">
              <a:ext uri="{FF2B5EF4-FFF2-40B4-BE49-F238E27FC236}">
                <a16:creationId xmlns:a16="http://schemas.microsoft.com/office/drawing/2014/main" id="{A59DAFCD-9A03-4B87-980B-511C119D975C}"/>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0" name="24.18 s / run">
            <a:extLst xmlns:a="http://schemas.openxmlformats.org/drawingml/2006/main">
              <a:ext uri="{FF2B5EF4-FFF2-40B4-BE49-F238E27FC236}">
                <a16:creationId xmlns:a16="http://schemas.microsoft.com/office/drawing/2014/main" id="{BFDAFCA7-7E61-43CC-8CBC-ED7071DBCE44}"/>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1" name="$0.03795 / run">
            <a:extLst xmlns:a="http://schemas.openxmlformats.org/drawingml/2006/main">
              <a:ext uri="{FF2B5EF4-FFF2-40B4-BE49-F238E27FC236}">
                <a16:creationId xmlns:a16="http://schemas.microsoft.com/office/drawing/2014/main" id="{6C56F295-6083-4A46-A1F3-2542FCACA4C3}"/>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2" name="Guardrail generated">
            <a:extLst xmlns:a="http://schemas.openxmlformats.org/drawingml/2006/main">
              <a:ext uri="{FF2B5EF4-FFF2-40B4-BE49-F238E27FC236}">
                <a16:creationId xmlns:a16="http://schemas.microsoft.com/office/drawing/2014/main" id="{2E82F49A-4A65-4ECF-A512-94847544E3B1}"/>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3" name="LAYA / ZERO-SHOT">
            <a:extLst xmlns:a="http://schemas.openxmlformats.org/drawingml/2006/main">
              <a:ext uri="{FF2B5EF4-FFF2-40B4-BE49-F238E27FC236}">
                <a16:creationId xmlns:a16="http://schemas.microsoft.com/office/drawing/2014/main" id="{0A4FE9CC-1900-4004-985E-1BA2EDC576C2}"/>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4" name="16/33">
            <a:extLst xmlns:a="http://schemas.openxmlformats.org/drawingml/2006/main">
              <a:ext uri="{FF2B5EF4-FFF2-40B4-BE49-F238E27FC236}">
                <a16:creationId xmlns:a16="http://schemas.microsoft.com/office/drawing/2014/main" id="{85F0E755-02A3-4F74-99B3-956E365959E8}"/>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5" name="0.41 s / run">
            <a:extLst xmlns:a="http://schemas.openxmlformats.org/drawingml/2006/main">
              <a:ext uri="{FF2B5EF4-FFF2-40B4-BE49-F238E27FC236}">
                <a16:creationId xmlns:a16="http://schemas.microsoft.com/office/drawing/2014/main" id="{C15B07A1-FA98-4725-9D12-EB0B742C5015}"/>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6" name="$0 API* / run">
            <a:extLst xmlns:a="http://schemas.openxmlformats.org/drawingml/2006/main">
              <a:ext uri="{FF2B5EF4-FFF2-40B4-BE49-F238E27FC236}">
                <a16:creationId xmlns:a16="http://schemas.microsoft.com/office/drawing/2014/main" id="{9C027121-38F3-40B4-B981-2EFEADC8AE69}"/>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7" name="No guardrail generated">
            <a:extLst xmlns:a="http://schemas.openxmlformats.org/drawingml/2006/main">
              <a:ext uri="{FF2B5EF4-FFF2-40B4-BE49-F238E27FC236}">
                <a16:creationId xmlns:a16="http://schemas.microsoft.com/office/drawing/2014/main" id="{C9B9A962-6C18-4E54-8A94-C7D4D8BBB3EA}"/>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8" name="33 author-labelled choices. Review/deployment ex">
            <a:extLst xmlns:a="http://schemas.openxmlformats.org/drawingml/2006/main">
              <a:ext uri="{FF2B5EF4-FFF2-40B4-BE49-F238E27FC236}">
                <a16:creationId xmlns:a16="http://schemas.microsoft.com/office/drawing/2014/main" id="{472D09F3-9096-42A6-A6E4-246AD1DB4B3D}"/>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author-labelled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confidence definitions differ. No production superiority claim. Full metrics in backup.</a:t>
            </a:r>
          </a:p>
        </p:txBody>
      </p:sp>
      <p:sp>
        <p:nvSpPr>
          <p:cNvPr id="19" name="ISC2 SECURITY CONGRESS 2026 / SC2632">
            <a:extLst xmlns:a="http://schemas.openxmlformats.org/drawingml/2006/main">
              <a:ext uri="{FF2B5EF4-FFF2-40B4-BE49-F238E27FC236}">
                <a16:creationId xmlns:a16="http://schemas.microsoft.com/office/drawing/2014/main" id="{BED2A2E8-0F3E-4884-B4B1-B90FA7F6931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0" name="26">
            <a:extLst xmlns:a="http://schemas.openxmlformats.org/drawingml/2006/main">
              <a:ext uri="{FF2B5EF4-FFF2-40B4-BE49-F238E27FC236}">
                <a16:creationId xmlns:a16="http://schemas.microsoft.com/office/drawing/2014/main" id="{67AF6217-B81D-4E88-973A-17E2EBBE293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691492785"/>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D690BC17-B448-453D-8D3C-D8730FF98925}"/>
              </a:ext>
            </a:extLst>
          </p:cNvPr>
          <p:cNvPicPr>
            <a:picLocks xmlns:a="http://schemas.openxmlformats.org/drawingml/2006/main" noChangeAspect="1"/>
          </p:cNvPicPr>
          <p:nvPr/>
        </p:nvPicPr>
        <p:blipFill>
          <a:blip xmlns:r="http://schemas.openxmlformats.org/officeDocument/2006/relationships" xmlns:a="http://schemas.openxmlformats.org/drawingml/2006/main" r:embed="Rc940b9c148404af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4C028278-E14C-4485-A968-23516DE1A18F}"/>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B5FEB1CA-7641-4F3D-A02E-3754091EB8A5}"/>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85540858-1A33-4027-B392-AF7C2840A75D}"/>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F2267BD5-7531-4551-938E-4D14C1D532FB}"/>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On page 6, name the exit test,</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54CD3B1D-131E-42F0-8424-61B2C3C2604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18800450-10B2-4AFD-821C-09EA3D04C0F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1461361366"/>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6" name="APPLICATION TO YOUR ENVIRONMENT">
            <a:extLst xmlns:a="http://schemas.openxmlformats.org/drawingml/2006/main">
              <a:ext uri="{FF2B5EF4-FFF2-40B4-BE49-F238E27FC236}">
                <a16:creationId xmlns:a16="http://schemas.microsoft.com/office/drawing/2014/main" id="{ECC48ADF-F37A-4A83-9E2C-6B3696EBB2F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APPLICATION TO YOUR ENVIRONMENT</a:t>
            </a:r>
          </a:p>
        </p:txBody>
      </p:sp>
      <p:sp>
        <p:nvSpPr>
          <p:cNvPr id="2" name="Identify a requirement.&#10;Assign its owner.&#10;Specif">
            <a:extLst xmlns:a="http://schemas.openxmlformats.org/drawingml/2006/main">
              <a:ext uri="{FF2B5EF4-FFF2-40B4-BE49-F238E27FC236}">
                <a16:creationId xmlns:a16="http://schemas.microsoft.com/office/drawing/2014/main" id="{E295FFB5-9432-4E49-8954-9B20683DD709}"/>
              </a:ext>
            </a:extLst>
          </p:cNvPr>
          <p:cNvSpPr>
            <a:spLocks xmlns:a="http://schemas.openxmlformats.org/drawingml/2006/main" noGrp="1"/>
          </p:cNvSpPr>
          <p:nvPr/>
        </p:nvSpPr>
        <p:spPr>
          <a:xfrm xmlns:a="http://schemas.openxmlformats.org/drawingml/2006/main">
            <a:off x="609600" y="1400175"/>
            <a:ext cx="106680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F2EFE7"/>
                </a:solidFill>
                <a:latin typeface="Arial Black"/>
                <a:ea typeface="Arial Black"/>
                <a:cs typeface="Arial Black"/>
              </a:defRPr>
            </a:defPPr>
          </a:lstStyle>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Identify a requirement.</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Assign its owner.</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Specify acceptance evidence.</a:t>
            </a:r>
          </a:p>
        </p:txBody>
      </p:sp>
      <p:sp>
        <p:nvSpPr>
          <p:cNvPr id="3" name="Choose one unresolved control boundary in your e">
            <a:extLst xmlns:a="http://schemas.openxmlformats.org/drawingml/2006/main">
              <a:ext uri="{FF2B5EF4-FFF2-40B4-BE49-F238E27FC236}">
                <a16:creationId xmlns:a16="http://schemas.microsoft.com/office/drawing/2014/main" id="{4C72AC48-5455-4888-902A-E865BB61E967}"/>
              </a:ext>
            </a:extLst>
          </p:cNvPr>
          <p:cNvSpPr>
            <a:spLocks xmlns:a="http://schemas.openxmlformats.org/drawingml/2006/main" noGrp="1"/>
          </p:cNvSpPr>
          <p:nvPr/>
        </p:nvSpPr>
        <p:spPr>
          <a:xfrm xmlns:a="http://schemas.openxmlformats.org/drawingml/2006/main">
            <a:off x="628650" y="50577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Choose one unresolved control boundary in your environment.</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Document the evidence needed before approving enforcement.</a:t>
            </a:r>
          </a:p>
        </p:txBody>
      </p:sp>
      <p:sp>
        <p:nvSpPr>
          <p:cNvPr id="4" name="ISC2 SECURITY CONGRESS 2026 / SC2632">
            <a:extLst xmlns:a="http://schemas.openxmlformats.org/drawingml/2006/main">
              <a:ext uri="{FF2B5EF4-FFF2-40B4-BE49-F238E27FC236}">
                <a16:creationId xmlns:a16="http://schemas.microsoft.com/office/drawing/2014/main" id="{19FEF515-000A-4AE5-ACA1-CCD8440CA8C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5" name="28">
            <a:extLst xmlns:a="http://schemas.openxmlformats.org/drawingml/2006/main">
              <a:ext uri="{FF2B5EF4-FFF2-40B4-BE49-F238E27FC236}">
                <a16:creationId xmlns:a16="http://schemas.microsoft.com/office/drawing/2014/main" id="{E5426E5D-C470-439E-8BF0-ED42F02BE89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548535996"/>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7F9CB93A-1A05-4C2E-842B-7E47963819D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2622C9A5-EB3D-4A8C-8C75-FBBF7DC6471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683C340D-BD81-4174-81A0-48C830AEE933}"/>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AAB13CF1-2A28-4BBD-931C-B4522B1A3C29}"/>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EA94DCF5-C319-490F-BC30-1B68E2731D3C}"/>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7D62FF2A-09AA-44FB-8474-C036D3DAD31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0D5972EA-E884-4A6B-BB51-44A63F594F9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946970015"/>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37DE7B76-37BC-4173-A532-56FE3C0BB71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32090392-7565-4520-B6A1-16C438B5248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7EDE5C63-C2B3-4F32-8835-73D7CADFA933}"/>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D91B9A78-12F4-4810-B09B-408DD66BAEF7}"/>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98B5FD9B-AEC5-4380-88CF-7915170D0FB8}"/>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1C379981-F7E8-4801-A2EE-33239284D3A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88159149-7873-44BF-813B-37FA81A6E52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200999206"/>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CED1F5F1-D37C-4094-8AD4-8E7866968BD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FDDC4711-D344-4DA8-BD31-405C166A0F9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63A118A2-B919-418C-A03D-8E1DACAB1CE0}"/>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06301144-1017-43BA-8AA8-B04A6BF6AA0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EB848D20-E451-4E92-B84B-C8CEF61A300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1879766662"/>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D2624E2F-BE94-4288-A109-C031F7677AE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F2BDB90F-8EC1-44F6-9452-5D1E19D357A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7DC6A16E-0A33-4E2E-8829-1CDA262A6E97}"/>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400C4724-816E-4012-ADD0-9DD832BB2827}"/>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3EBA9715-0E03-4D72-B996-BDD0F73DABB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841EB932-0430-4BA0-AED0-5E1E89C5E58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1252669538"/>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401AAB67-85A4-4B45-AF85-A1D8B53A564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1935B991-DE32-4C1A-81EC-2FB689CE59E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F31BD499-EDA4-47C4-B5E0-EF77117BB900}"/>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512921C6-7B07-4DD0-946D-AADB7B108220}"/>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CB3BA128-4F54-41C6-A72A-8CA4A2C8A723}"/>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9A26C518-48BD-4D23-A3B7-DA9F62FA1DB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D8F83446-6B64-443B-A899-7560A37990C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1855364263"/>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C8B8C0AB-DBEC-4BB5-B354-DC135DF4199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BEFAA29A-9925-499C-89C7-487D2FBE91D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B5A2A64E-AA99-4B4B-A4EC-9401B0C17B6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2E679022-4998-42D6-A18A-D51736407A25}"/>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4BD47458-325A-4653-AFE4-5B5244BAAB4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0865EB5C-FDC8-491D-9C08-A89BE69E501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2038475706"/>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CD8FD980-340F-4B16-A08A-99E577C6D56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133237FE-BF8F-459C-BDFD-0CF59F2680A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89E47C31-0AEC-46CE-B7CB-47F35D099469}"/>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23D84F9C-E607-4DC6-A661-F255B750D3D0}"/>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30BDA6D9-ECA3-4E6C-A30D-B9B856CE27F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26A3B357-64C0-43C3-B6FA-AAE7DF1F632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5274240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2026-10-14T14:17:55.2560000Z</dcterms:created>
  <dcterms:modified xsi:type="dcterms:W3CDTF">2026-10-14T14:17:55.2560000Z</dcterms:modified>
</coreProperties>
</file>