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8dd975b72654e3e" /><Relationship Type="http://schemas.openxmlformats.org/officeDocument/2006/relationships/extended-properties" Target="/docProps/app.xml" Id="Rb7d1ddaef55d49e3" /><Relationship Type="http://schemas.openxmlformats.org/officeDocument/2006/relationships/officeDocument" Target="/ppt/presentation.xml" Id="R7d8600a1de154cd2" /></Relationships>
</file>

<file path=ppt/presentation.xml><?xml version="1.0" encoding="utf-8"?>
<p:presentation xmlns:p="http://schemas.openxmlformats.org/presentationml/2006/main">
  <p:sldMasterIdLst>
    <p:sldMasterId xmlns:r="http://schemas.openxmlformats.org/officeDocument/2006/relationships" id="2147483648" r:id="R48d14d463ec54464"/>
  </p:sldMasterIdLst>
  <p:notesMasterIdLst>
    <p:notesMasterId xmlns:r="http://schemas.openxmlformats.org/officeDocument/2006/relationships" r:id="R1591230929e44757"/>
  </p:notesMasterIdLst>
  <p:sldIdLst>
    <p:sldId xmlns:r="http://schemas.openxmlformats.org/officeDocument/2006/relationships" id="256" r:id="Rd5f3c13aed9a446b"/>
    <p:sldId xmlns:r="http://schemas.openxmlformats.org/officeDocument/2006/relationships" id="257" r:id="R536383feb16940c1"/>
    <p:sldId xmlns:r="http://schemas.openxmlformats.org/officeDocument/2006/relationships" id="258" r:id="R70c293fba7644c71"/>
    <p:sldId xmlns:r="http://schemas.openxmlformats.org/officeDocument/2006/relationships" id="259" r:id="R47b88f3118f447b7"/>
    <p:sldId xmlns:r="http://schemas.openxmlformats.org/officeDocument/2006/relationships" id="260" r:id="R1400457709c34ac7"/>
    <p:sldId xmlns:r="http://schemas.openxmlformats.org/officeDocument/2006/relationships" id="261" r:id="Rba6528f0cc414b47"/>
    <p:sldId xmlns:r="http://schemas.openxmlformats.org/officeDocument/2006/relationships" id="262" r:id="Rda1f829ff3054fac"/>
    <p:sldId xmlns:r="http://schemas.openxmlformats.org/officeDocument/2006/relationships" id="263" r:id="R7fdc17de2f204464"/>
    <p:sldId xmlns:r="http://schemas.openxmlformats.org/officeDocument/2006/relationships" id="264" r:id="R3f59b5e00022459d"/>
    <p:sldId xmlns:r="http://schemas.openxmlformats.org/officeDocument/2006/relationships" id="265" r:id="Raa9d7319c1004ad1"/>
    <p:sldId xmlns:r="http://schemas.openxmlformats.org/officeDocument/2006/relationships" id="266" r:id="R46e03472c6cb45ae"/>
    <p:sldId xmlns:r="http://schemas.openxmlformats.org/officeDocument/2006/relationships" id="267" r:id="R680ad153447647d4"/>
    <p:sldId xmlns:r="http://schemas.openxmlformats.org/officeDocument/2006/relationships" id="268" r:id="R067df609e3b5439e"/>
    <p:sldId xmlns:r="http://schemas.openxmlformats.org/officeDocument/2006/relationships" id="269" r:id="R89a0b325b8854297"/>
    <p:sldId xmlns:r="http://schemas.openxmlformats.org/officeDocument/2006/relationships" id="270" r:id="R7972d1bdd60a46f1"/>
    <p:sldId xmlns:r="http://schemas.openxmlformats.org/officeDocument/2006/relationships" id="271" r:id="R823d9dcd42e2415c"/>
    <p:sldId xmlns:r="http://schemas.openxmlformats.org/officeDocument/2006/relationships" id="272" r:id="R7df0f8e109e54019"/>
    <p:sldId xmlns:r="http://schemas.openxmlformats.org/officeDocument/2006/relationships" id="273" r:id="R0fa5f330589a4670"/>
    <p:sldId xmlns:r="http://schemas.openxmlformats.org/officeDocument/2006/relationships" id="274" r:id="R1fd4c152e3fb49e4"/>
    <p:sldId xmlns:r="http://schemas.openxmlformats.org/officeDocument/2006/relationships" id="275" r:id="Reb91fc97a2174ea5"/>
    <p:sldId xmlns:r="http://schemas.openxmlformats.org/officeDocument/2006/relationships" id="276" r:id="R067458d0f62a4c9b"/>
    <p:sldId xmlns:r="http://schemas.openxmlformats.org/officeDocument/2006/relationships" id="277" r:id="Rb6ff5b54467540b6"/>
    <p:sldId xmlns:r="http://schemas.openxmlformats.org/officeDocument/2006/relationships" id="278" r:id="R3fe5a63d0eb247d6"/>
    <p:sldId xmlns:r="http://schemas.openxmlformats.org/officeDocument/2006/relationships" id="279" r:id="R672bba52e3be4bd0"/>
    <p:sldId xmlns:r="http://schemas.openxmlformats.org/officeDocument/2006/relationships" id="280" r:id="R9cd697ce7abc4a79"/>
    <p:sldId xmlns:r="http://schemas.openxmlformats.org/officeDocument/2006/relationships" id="281" r:id="Ra23aaa9af580415b"/>
    <p:sldId xmlns:r="http://schemas.openxmlformats.org/officeDocument/2006/relationships" id="282" r:id="R693bcb8299334f41"/>
    <p:sldId xmlns:r="http://schemas.openxmlformats.org/officeDocument/2006/relationships" id="283" r:id="Rae2aa562049c4e09"/>
    <p:sldId xmlns:r="http://schemas.openxmlformats.org/officeDocument/2006/relationships" id="284" r:id="Rfcc6ee9ea74940dc"/>
    <p:sldId xmlns:r="http://schemas.openxmlformats.org/officeDocument/2006/relationships" id="285" r:id="R88edf480aad74935"/>
    <p:sldId xmlns:r="http://schemas.openxmlformats.org/officeDocument/2006/relationships" id="286" r:id="R50a685585cdf4932"/>
    <p:sldId xmlns:r="http://schemas.openxmlformats.org/officeDocument/2006/relationships" id="287" r:id="R8bf1b06f3c744d5f"/>
    <p:sldId xmlns:r="http://schemas.openxmlformats.org/officeDocument/2006/relationships" id="288" r:id="R1bf9bc013ec747e9"/>
    <p:sldId xmlns:r="http://schemas.openxmlformats.org/officeDocument/2006/relationships" id="289" r:id="R48a9f683f4ce4a48"/>
    <p:sldId xmlns:r="http://schemas.openxmlformats.org/officeDocument/2006/relationships" id="290" r:id="Rf32779ffd73d417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95fcbab74484389" /><Relationship Type="http://schemas.openxmlformats.org/officeDocument/2006/relationships/slideMaster" Target="/ppt/slideMasters/slideMaster1.xml" Id="R48d14d463ec54464" /><Relationship Type="http://schemas.openxmlformats.org/officeDocument/2006/relationships/notesMaster" Target="/ppt/notesMasters/notesMaster1.xml" Id="R1591230929e44757" /><Relationship Type="http://schemas.openxmlformats.org/officeDocument/2006/relationships/presProps" Target="/ppt/presProps.xml" Id="Ra63457354e1745f4" /><Relationship Type="http://schemas.openxmlformats.org/officeDocument/2006/relationships/tableStyles" Target="/ppt/tableStyles.xml" Id="R2abd3f9a8dfa4ead" /><Relationship Type="http://schemas.openxmlformats.org/officeDocument/2006/relationships/slide" Target="/ppt/slides/slide1.xml" Id="Rd5f3c13aed9a446b" /><Relationship Type="http://schemas.openxmlformats.org/officeDocument/2006/relationships/slide" Target="/ppt/slides/slide2.xml" Id="R536383feb16940c1" /><Relationship Type="http://schemas.openxmlformats.org/officeDocument/2006/relationships/slide" Target="/ppt/slides/slide3.xml" Id="R70c293fba7644c71" /><Relationship Type="http://schemas.openxmlformats.org/officeDocument/2006/relationships/slide" Target="/ppt/slides/slide4.xml" Id="R47b88f3118f447b7" /><Relationship Type="http://schemas.openxmlformats.org/officeDocument/2006/relationships/slide" Target="/ppt/slides/slide5.xml" Id="R1400457709c34ac7" /><Relationship Type="http://schemas.openxmlformats.org/officeDocument/2006/relationships/slide" Target="/ppt/slides/slide6.xml" Id="Rba6528f0cc414b47" /><Relationship Type="http://schemas.openxmlformats.org/officeDocument/2006/relationships/slide" Target="/ppt/slides/slide7.xml" Id="Rda1f829ff3054fac" /><Relationship Type="http://schemas.openxmlformats.org/officeDocument/2006/relationships/slide" Target="/ppt/slides/slide8.xml" Id="R7fdc17de2f204464" /><Relationship Type="http://schemas.openxmlformats.org/officeDocument/2006/relationships/slide" Target="/ppt/slides/slide9.xml" Id="R3f59b5e00022459d" /><Relationship Type="http://schemas.openxmlformats.org/officeDocument/2006/relationships/slide" Target="/ppt/slides/slide10.xml" Id="Raa9d7319c1004ad1" /><Relationship Type="http://schemas.openxmlformats.org/officeDocument/2006/relationships/slide" Target="/ppt/slides/slide11.xml" Id="R46e03472c6cb45ae" /><Relationship Type="http://schemas.openxmlformats.org/officeDocument/2006/relationships/slide" Target="/ppt/slides/slide12.xml" Id="R680ad153447647d4" /><Relationship Type="http://schemas.openxmlformats.org/officeDocument/2006/relationships/slide" Target="/ppt/slides/slide13.xml" Id="R067df609e3b5439e" /><Relationship Type="http://schemas.openxmlformats.org/officeDocument/2006/relationships/slide" Target="/ppt/slides/slide14.xml" Id="R89a0b325b8854297" /><Relationship Type="http://schemas.openxmlformats.org/officeDocument/2006/relationships/slide" Target="/ppt/slides/slide15.xml" Id="R7972d1bdd60a46f1" /><Relationship Type="http://schemas.openxmlformats.org/officeDocument/2006/relationships/slide" Target="/ppt/slides/slide16.xml" Id="R823d9dcd42e2415c" /><Relationship Type="http://schemas.openxmlformats.org/officeDocument/2006/relationships/slide" Target="/ppt/slides/slide17.xml" Id="R7df0f8e109e54019" /><Relationship Type="http://schemas.openxmlformats.org/officeDocument/2006/relationships/slide" Target="/ppt/slides/slide18.xml" Id="R0fa5f330589a4670" /><Relationship Type="http://schemas.openxmlformats.org/officeDocument/2006/relationships/slide" Target="/ppt/slides/slide19.xml" Id="R1fd4c152e3fb49e4" /><Relationship Type="http://schemas.openxmlformats.org/officeDocument/2006/relationships/slide" Target="/ppt/slides/slide20.xml" Id="Reb91fc97a2174ea5" /><Relationship Type="http://schemas.openxmlformats.org/officeDocument/2006/relationships/slide" Target="/ppt/slides/slide21.xml" Id="R067458d0f62a4c9b" /><Relationship Type="http://schemas.openxmlformats.org/officeDocument/2006/relationships/slide" Target="/ppt/slides/slide22.xml" Id="Rb6ff5b54467540b6" /><Relationship Type="http://schemas.openxmlformats.org/officeDocument/2006/relationships/slide" Target="/ppt/slides/slide23.xml" Id="R3fe5a63d0eb247d6" /><Relationship Type="http://schemas.openxmlformats.org/officeDocument/2006/relationships/slide" Target="/ppt/slides/slide24.xml" Id="R672bba52e3be4bd0" /><Relationship Type="http://schemas.openxmlformats.org/officeDocument/2006/relationships/slide" Target="/ppt/slides/slide25.xml" Id="R9cd697ce7abc4a79" /><Relationship Type="http://schemas.openxmlformats.org/officeDocument/2006/relationships/slide" Target="/ppt/slides/slide26.xml" Id="Ra23aaa9af580415b" /><Relationship Type="http://schemas.openxmlformats.org/officeDocument/2006/relationships/slide" Target="/ppt/slides/slide27.xml" Id="R693bcb8299334f41" /><Relationship Type="http://schemas.openxmlformats.org/officeDocument/2006/relationships/slide" Target="/ppt/slides/slide28.xml" Id="Rae2aa562049c4e09" /><Relationship Type="http://schemas.openxmlformats.org/officeDocument/2006/relationships/slide" Target="/ppt/slides/slide29.xml" Id="Rfcc6ee9ea74940dc" /><Relationship Type="http://schemas.openxmlformats.org/officeDocument/2006/relationships/slide" Target="/ppt/slides/slide30.xml" Id="R88edf480aad74935" /><Relationship Type="http://schemas.openxmlformats.org/officeDocument/2006/relationships/slide" Target="/ppt/slides/slide31.xml" Id="R50a685585cdf4932" /><Relationship Type="http://schemas.openxmlformats.org/officeDocument/2006/relationships/slide" Target="/ppt/slides/slide32.xml" Id="R8bf1b06f3c744d5f" /><Relationship Type="http://schemas.openxmlformats.org/officeDocument/2006/relationships/slide" Target="/ppt/slides/slide33.xml" Id="R1bf9bc013ec747e9" /><Relationship Type="http://schemas.openxmlformats.org/officeDocument/2006/relationships/slide" Target="/ppt/slides/slide34.xml" Id="R48a9f683f4ce4a48" /><Relationship Type="http://schemas.openxmlformats.org/officeDocument/2006/relationships/slide" Target="/ppt/slides/slide35.xml" Id="Rf32779ffd73d417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1680ec4ef4545b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b3baabe93d34ba6" /><Relationship Type="http://schemas.openxmlformats.org/officeDocument/2006/relationships/notesMaster" Target="/ppt/notesMasters/notesMaster1.xml" Id="R844b3e71919a4533" /></Relationships>
</file>

<file path=ppt/notesSlides/_rels/notesSlide2.xml.rels>&#65279;<?xml version="1.0" encoding="utf-8"?><Relationships xmlns="http://schemas.openxmlformats.org/package/2006/relationships"><Relationship Type="http://schemas.openxmlformats.org/officeDocument/2006/relationships/slide" Target="/ppt/slides/slide2.xml" Id="Rbf23ec4977294f06" /><Relationship Type="http://schemas.openxmlformats.org/officeDocument/2006/relationships/notesMaster" Target="/ppt/notesMasters/notesMaster1.xml" Id="R091560e83f4248f0" /></Relationships>
</file>

<file path=ppt/notesSlides/_rels/notesSlide3.xml.rels>&#65279;<?xml version="1.0" encoding="utf-8"?><Relationships xmlns="http://schemas.openxmlformats.org/package/2006/relationships"><Relationship Type="http://schemas.openxmlformats.org/officeDocument/2006/relationships/slide" Target="/ppt/slides/slide3.xml" Id="R2a83c7c8cff8441a" /><Relationship Type="http://schemas.openxmlformats.org/officeDocument/2006/relationships/notesMaster" Target="/ppt/notesMasters/notesMaster1.xml" Id="Rb62370a5805d4472" /></Relationships>
</file>

<file path=ppt/notesSlides/_rels/notesSlide4.xml.rels>&#65279;<?xml version="1.0" encoding="utf-8"?><Relationships xmlns="http://schemas.openxmlformats.org/package/2006/relationships"><Relationship Type="http://schemas.openxmlformats.org/officeDocument/2006/relationships/slide" Target="/ppt/slides/slide4.xml" Id="R9b3354b2e4864eb5" /><Relationship Type="http://schemas.openxmlformats.org/officeDocument/2006/relationships/notesMaster" Target="/ppt/notesMasters/notesMaster1.xml" Id="R11cb9a6d0e694169" /></Relationships>
</file>

<file path=ppt/notesSlides/_rels/notesSlide5.xml.rels>&#65279;<?xml version="1.0" encoding="utf-8"?><Relationships xmlns="http://schemas.openxmlformats.org/package/2006/relationships"><Relationship Type="http://schemas.openxmlformats.org/officeDocument/2006/relationships/slide" Target="/ppt/slides/slide5.xml" Id="R2ccff24f016449f5" /><Relationship Type="http://schemas.openxmlformats.org/officeDocument/2006/relationships/notesMaster" Target="/ppt/notesMasters/notesMaster1.xml" Id="R7c322c83a2ad4097" /></Relationships>
</file>

<file path=ppt/notesSlides/_rels/notesSlide6.xml.rels>&#65279;<?xml version="1.0" encoding="utf-8"?><Relationships xmlns="http://schemas.openxmlformats.org/package/2006/relationships"><Relationship Type="http://schemas.openxmlformats.org/officeDocument/2006/relationships/slide" Target="/ppt/slides/slide6.xml" Id="Rd6b13a8dcac44701" /><Relationship Type="http://schemas.openxmlformats.org/officeDocument/2006/relationships/notesMaster" Target="/ppt/notesMasters/notesMaster1.xml" Id="R2bb76dad17a746ea" /></Relationships>
</file>

<file path=ppt/notesSlides/_rels/notesSlide7.xml.rels>&#65279;<?xml version="1.0" encoding="utf-8"?><Relationships xmlns="http://schemas.openxmlformats.org/package/2006/relationships"><Relationship Type="http://schemas.openxmlformats.org/officeDocument/2006/relationships/slide" Target="/ppt/slides/slide7.xml" Id="Rcb5af4aeb2ac4f7f" /><Relationship Type="http://schemas.openxmlformats.org/officeDocument/2006/relationships/notesMaster" Target="/ppt/notesMasters/notesMaster1.xml" Id="R9e78ac372b2d4bc9" /></Relationships>
</file>

<file path=ppt/notesSlides/_rels/notesSlide8.xml.rels>&#65279;<?xml version="1.0" encoding="utf-8"?><Relationships xmlns="http://schemas.openxmlformats.org/package/2006/relationships"><Relationship Type="http://schemas.openxmlformats.org/officeDocument/2006/relationships/slide" Target="/ppt/slides/slide8.xml" Id="Rf965ddf57c5a4b06" /><Relationship Type="http://schemas.openxmlformats.org/officeDocument/2006/relationships/notesMaster" Target="/ppt/notesMasters/notesMaster1.xml" Id="R9c475c223be146f5" /></Relationships>
</file>

<file path=ppt/notesSlides/_rels/notesSlide9.xml.rels>&#65279;<?xml version="1.0" encoding="utf-8"?><Relationships xmlns="http://schemas.openxmlformats.org/package/2006/relationships"><Relationship Type="http://schemas.openxmlformats.org/officeDocument/2006/relationships/slide" Target="/ppt/slides/slide9.xml" Id="R4bde0f8baa42497e" /><Relationship Type="http://schemas.openxmlformats.org/officeDocument/2006/relationships/notesMaster" Target="/ppt/notesMasters/notesMaster1.xml" Id="R6fabaabfcaa9452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3c454418dd64cb6" /><Relationship Type="http://schemas.openxmlformats.org/officeDocument/2006/relationships/notesMaster" Target="/ppt/notesMasters/notesMaster1.xml" Id="R89d24dfa2f88488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c93d79640f1487b" /><Relationship Type="http://schemas.openxmlformats.org/officeDocument/2006/relationships/notesMaster" Target="/ppt/notesMasters/notesMaster1.xml" Id="R398bdecbc5664e5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a7870a70c714903" /><Relationship Type="http://schemas.openxmlformats.org/officeDocument/2006/relationships/notesMaster" Target="/ppt/notesMasters/notesMaster1.xml" Id="R053b28ef888f4d1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120783162644f16" /><Relationship Type="http://schemas.openxmlformats.org/officeDocument/2006/relationships/notesMaster" Target="/ppt/notesMasters/notesMaster1.xml" Id="Rc3117d9002344fe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481dd873b924864" /><Relationship Type="http://schemas.openxmlformats.org/officeDocument/2006/relationships/notesMaster" Target="/ppt/notesMasters/notesMaster1.xml" Id="R8da64d117beb412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d4fe17cb072411e" /><Relationship Type="http://schemas.openxmlformats.org/officeDocument/2006/relationships/notesMaster" Target="/ppt/notesMasters/notesMaster1.xml" Id="Rc27eefad673b412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d37b9e3625b4265" /><Relationship Type="http://schemas.openxmlformats.org/officeDocument/2006/relationships/notesMaster" Target="/ppt/notesMasters/notesMaster1.xml" Id="R28f141b50c4548c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eae64a2baa14425" /><Relationship Type="http://schemas.openxmlformats.org/officeDocument/2006/relationships/notesMaster" Target="/ppt/notesMasters/notesMaster1.xml" Id="R6924f675e12745d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48e2f1844e946c9" /><Relationship Type="http://schemas.openxmlformats.org/officeDocument/2006/relationships/notesMaster" Target="/ppt/notesMasters/notesMaster1.xml" Id="R8fe847cbd34f437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986be1dbb194632" /><Relationship Type="http://schemas.openxmlformats.org/officeDocument/2006/relationships/notesMaster" Target="/ppt/notesMasters/notesMaster1.xml" Id="R243937563f6b46a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0f597c5811b4958" /><Relationship Type="http://schemas.openxmlformats.org/officeDocument/2006/relationships/notesMaster" Target="/ppt/notesMasters/notesMaster1.xml" Id="Rc946635160394bc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9e45cd7d64347d7" /><Relationship Type="http://schemas.openxmlformats.org/officeDocument/2006/relationships/notesMaster" Target="/ppt/notesMasters/notesMaster1.xml" Id="Rd051eb4c39484ec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0c6c6b6132146fd" /><Relationship Type="http://schemas.openxmlformats.org/officeDocument/2006/relationships/notesMaster" Target="/ppt/notesMasters/notesMaster1.xml" Id="Rac701bd22cae409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029f2588850471a" /><Relationship Type="http://schemas.openxmlformats.org/officeDocument/2006/relationships/notesMaster" Target="/ppt/notesMasters/notesMaster1.xml" Id="Rb454c2a51f774d4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1fcfeb19f9c407b" /><Relationship Type="http://schemas.openxmlformats.org/officeDocument/2006/relationships/notesMaster" Target="/ppt/notesMasters/notesMaster1.xml" Id="R2dd4548ddaba44f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39f72b4aa3e4ae4" /><Relationship Type="http://schemas.openxmlformats.org/officeDocument/2006/relationships/notesMaster" Target="/ppt/notesMasters/notesMaster1.xml" Id="R7a2a4f52c77b4de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f93c11899c34c40" /><Relationship Type="http://schemas.openxmlformats.org/officeDocument/2006/relationships/notesMaster" Target="/ppt/notesMasters/notesMaster1.xml" Id="R6c12cbde109749c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b41e5b64c1b44e6" /><Relationship Type="http://schemas.openxmlformats.org/officeDocument/2006/relationships/notesMaster" Target="/ppt/notesMasters/notesMaster1.xml" Id="Rb36e29d062e3479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fd0c7b000834511" /><Relationship Type="http://schemas.openxmlformats.org/officeDocument/2006/relationships/notesMaster" Target="/ppt/notesMasters/notesMaster1.xml" Id="R8f46a7dd94de48d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e49405824904f42" /><Relationship Type="http://schemas.openxmlformats.org/officeDocument/2006/relationships/notesMaster" Target="/ppt/notesMasters/notesMaster1.xml" Id="R4b1c2131756c48f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48a4e0e2a0b47fc" /><Relationship Type="http://schemas.openxmlformats.org/officeDocument/2006/relationships/notesMaster" Target="/ppt/notesMasters/notesMaster1.xml" Id="Rb186e6e34427464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6fed16df272405f" /><Relationship Type="http://schemas.openxmlformats.org/officeDocument/2006/relationships/notesMaster" Target="/ppt/notesMasters/notesMaster1.xml" Id="R67eba1aefa6a40b4"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32739fee9a84883" /><Relationship Type="http://schemas.openxmlformats.org/officeDocument/2006/relationships/notesMaster" Target="/ppt/notesMasters/notesMaster1.xml" Id="R9d0a370f2509457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62002f5732d44c1" /><Relationship Type="http://schemas.openxmlformats.org/officeDocument/2006/relationships/notesMaster" Target="/ppt/notesMasters/notesMaster1.xml" Id="R85aeb5b622d642d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e062436a93b4631" /><Relationship Type="http://schemas.openxmlformats.org/officeDocument/2006/relationships/notesMaster" Target="/ppt/notesMasters/notesMaster1.xml" Id="R7f0b69533a3d4ff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689c7470a554005" /><Relationship Type="http://schemas.openxmlformats.org/officeDocument/2006/relationships/notesMaster" Target="/ppt/notesMasters/notesMaster1.xml" Id="R85782a95ef2d4f6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00:00–00:20. Welcome. The audience plays an incident change board. This shared-platform incident is fictional. The lab artifacts are real repository outputs. Milind Gunjan and Vivek Mayuranathan are co-presenters and jointly lead the session. Explain that the policy agent proposes and humans deploy. Repository source: https://github.com/mgunjan/agentic-k8s-guardrails/blob/main/tabletop/STORY.md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00:20–01:10. Milind starts without assuming Kubernetes knowledge: Kubernetes manages application packages, called containers, across a pool of machines. Applications and automated agents share that platform. Explain familiar functions before naming their Kubernetes equivalents: application copies, resource groups and workload identities. A cluster is the shared platform running services and agents; a namespace is a named resource group, not automatic isolation; a Pod is a running unit containing one or more containers; a ServiceAccount is the identity a workload uses to call the Kubernetes API. Replicas are copies of a workload. Point to payments and agents as example groups, with payments-api, support-agent, ops-agent and monitoring-agent appearing only when their case is selected. Services are still operating, unexpected activity has crossed an expected boundary and the extent of exposure is uncertain. Broad isolation may disrupt dependencies; delay may expose other workloads. These are four alternative fictional alerts, not simultaneous confirmed incidents. The recorded enforcement environment is a separate disposable local k3s/Kyverno lab, with synthetic stand-in applications. Definitions: https://kubernetes.io/docs/concepts/overview/ ; https://kubernetes.io/docs/concepts/containers/ ; https://kubernetes.io/docs/concepts/workloads/pods/ ; https://kubernetes.io/docs/concepts/overview/working-with-objects/namespaces/ ; https://kubernetes.io/docs/concepts/security/service-accounts/ . Repository source: https://github.com/mgunjan/agentic-k8s-guardrails/blob/main/tabletop/congress-2026/INCIDENT-BRIEF.md Repository source: https://github.com/mgunjan/agentic-k8s-guardrails/blob/main/lab/README.md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01:10–02:00. Vivek defines the management API as the interface for reading or changing platform resources, then explains Kyverno as the policy checker for proposed Kubernetes resource changes. Admission is the checkpoint before a covered request takes effect. Walk through one example: a request creates a Pod with privilege escalation enabled; the reviewed rule requires it disabled; in Deny mode the covered request is refused. Audit records a violation and Warn warns while admitting; the rollout round revisits those choices. Installing this admission rule does not terminate an existing Pod or revoke a copied credential. NetworkPolicy plus its enforcing network implementation handles covered traffic; RBAC handles Kubernetes API permissions; application controls govern tools and untrusted inputs. Kyverno can do more than validate, but this is the validation role demonstrated here. The model proposes a typed choice and code renders a rule; human review authorizes enforcement. Ask the room: does rejecting a new Pod stop an already running Pod? Answer no, and identify the separate containment action without revealing later case facts. Say that the lab uses isolated local k3s and Kyverno, and the compiler demo uses fixture simulation. Sources: https://kyverno.io/docs/policy-types/validating-policy/ ; https://kubernetes.io/docs/reference/access-authn-authz/admission-controllers/ ; https://kubernetes.io/docs/reference/access-authn-authz/rbac/ ; https://kubernetes.io/docs/concepts/services-networking/network-policies/ . Repository source: https://github.com/mgunjan/agentic-k8s-guardrails/blob/main/lab/README.md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02:00–03:00. Vivek assigns the incident review role and holds up the actual pack and worksheet. Say: Your table decides what may proceed, what it holds and what evidence must come before enforcement. Record intent, proposal disposition, exception/rollout conditions, ordered containment and recovery on page 6. Work in plain language, without laptops or YAML. Pages 2–5 are the four case cards, page 6 is the shared record, and pages 7/8 stay sealed until their rounds. Keep the CONTROL-REVIEW findings sealed too. State the sequence: discuss, write before the reveal, hear the evidence, and revise beside the first answer. At most two twenty-second table reports. Milind demonstrates the compiler and policy consequences; Vivek leads proposal reviews and evidence reveals; both share round discussions and debrief. Audience prose does not automatically run through a model or deploy. The common demo uses a supplied reference spec. Use the clock to protect writing time. Repository source: https://github.com/mgunjan/agentic-k8s-guardrails/blob/main/tabletop/congress-2026/CO-PRESENTER-CARDS.md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03:00–04:15. Give tables 75 seconds to choose and read the initial alert on pages 2–5. Every table has the four-case participant pack and selects one case. Do not disclose causes yet. A/B/C use excerpted reference PRs and fixture simulation results. D extends scenarios/05-secret-enumeration.md into an RBAC boundary exercise. D uses a human RBAC review and a separately executed synthetic read-authorization/network/credential lab. No generator scenario d or model-generated RBAC is claimed. Explain that Secrets are platform records that can contain credentials; listing them is an observed action, not proof that an application key was used. Translate replicas as application copies and namespaces as resource groups. Teams identify the owner and acceptance evidence for API reads before the recorded lab reveal. If teams cluster on one case, invite volunteers to try another, without removing choice. Repository source: https://github.com/mgunjan/agentic-k8s-guardrails/blob/main/scenarios/05-secret-enumeration.md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04:15–05:00. Teams choose their constraint, even if it differs from their real role. The pack offers concrete fictional floors to make choices comparable. Require a measurable floor such as two healthy service replicas and verified dependency access. Avoid treating any fictional notification threshold as legal guidance. Repository source: https://github.com/mgunjan/agentic-k8s-guardrails/blob/main/tabletop/packet/content.yaml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05:00–06:00. Allow the table to assign an incident lead, recorder, analyst and independent reviewer. The lead states a decision, the recorder writes page 6, the analyst checks claims against the evidence and the independent reviewer raises a concern before the decision. With fewer than four people, combine lead/recorder or analyst/reviewer. Others defend the operational constraint. Ask each table to record its case, constraint, roles and minimum service before Round 1. Milind and Vivek each check different tables; Vivek records selected cases without assigning them. Six seats maximum and twelve tables maximum. Give the scorecard explanation in one sentence: twelve points reward a complete justified record, with up to three for the independent proposal review. A held or refused request can earn full credit when verification conditions are explicit. Score specified evidence, not invented live success or restriction severity. Use SCORING-ANCHORS.md for detailed calibration. Source: submission/2026-10-13/REVIEW-SCORECARD.pdf.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06:00–10:00. Give four minutes of quiet team work. The lead reads the first alert, the reader summarizes the environment and the scribe writes an intent and constraint. Vivek collects one sentence from two tables. Do not promise that the unvalidated model will translate arbitrary audience prose on stage. During the common demonstration, compare the audience wording to the reference clause map.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10:00–11:00. Explain the common typed interface: Jev and local specialists use /v1/systemone, while Claude and OpenAI adapters return the same bounded answer through structured outputs. It does not author free-form YAML. decider_agent maps clauses; policy_agent adds dependency and blocked-workload decisions, with up to three revision rounds. Confidence below 0.6 routes the item to a human. That threshold is an operating choice, not proof of 60% accuracy. The agent can omit required controls or propose insufficient coverage. Human review remains necessary. Repository source: https://github.com/mgunjan/agentic-k8s-guardrails/blob/main/generator/policy_agent.py Repository source: https://github.com/mgunjan/agentic-k8s-guardrails/blob/main/generator/decider_agent.py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11:00–12:30. Demonstrate reference compilation in a terminal using the commands in SESSION-RUNBOOK.md. Show the provenance model: none (spec supplied), the generated policy and the admission report. If a venue cluster has been rehearsed, a human applies the reviewed privilege policy and uses server dry-run to show rejection and a positive control. Otherwise show the existing recorded lab or the fallback slides. The hardened launcher uses generator/demo_gate.py to bind passing evaluation evidence to current code, prepared inputs, host, threshold, recording and model identity. The frozen Strands result still fails; hardening has not improved its model score. Use tabletop/congress-2026/demo.py for the bounded reference or authentic replay path. Pre-open the resulting local PR.md, readiness.json and tests/result.txt; ask participants to predict readiness before revealing the RBAC handover. The whole-proposal deadline is 15 seconds by default, and no cluster or GitHub PR is changed.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12:30–13:30. Read the missing clause first. The current demo emits readiness.json: privilege behavior can PASS while the overall proposal remains REVIEW_REQUIRED. The authentic recorded Strands run remains INCOMPLETE_PROPOSAL because privilege coverage is missing. Admission does not enforce Secret GET/LIST. An egress-profile admission label rule also requires the corresponding NetworkPolicy to constrain actual traffic. A handover is visible incompleteness, not completed enforcement. In A, registry restriction was added at Audit although the intent did not request it. Ask whether to keep it.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13:30–18:00. Teams review their case page. Every team writes a decision and one reason. A catches insufficient host protection and the unresolved RBAC clause. B distinguishes a Pod identity from a sidecar identity and tool misuse from admission. C asks whether the requester is the agent or a human and whether RBAC should have granted the action at all. D rejects an admission-only claim for Secret reads. Invite two contrasting votes. The co-presenter asks what evidence would change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18:00–22:00. Read the case-specific request from the pack. The quote on this slide is a fictional prompt, not verified approval. Teams must establish approval independently of the agent’s assertion. A: backup-job/storage may have a legitimate narrow temporary need. B: an exception that restores the suspect’s path can undo containment. C: an ops-agent request to widen access requires human identity verification and scope. D: no admission exception fixes excessive Secret-read RBAC. Record owner, clock time of expiry, exact workload/control and independent approval evidence. If refusing or holding the request, record the verification needed before reconsidering it; do not invent an approver or claim a paper-plan revocation has occurred. Repository source: https://github.com/mgunjan/agentic-k8s-guardrails/blob/main/tabletop/packet/content.yaml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22:00–26:00. Audit/Warn/Deny are Kyverno validationActions. Promotion is a human decision. During a confirmed incident some controls may start at Deny, with an explicit compatibility and availability check. Scheduled exception cleanup requires the controller to be enabled and authorized. The October 13 rehearsal first failed because the cleanup controller lacked deletion permission. The scoped repair grants only PolicyException deletion in payments. Its five-minute schedule allows lag beyond the timestamp; it does not terminate an existing Pod, credential or session. See the separate live expiry evidence before claiming successful revocation. Both current compiler and agent write the staged policy manifests. The agent also writes a requirement ledger, provenance and focused independent privilege tests. Human promotion remains disabled; the new artifacts are runtime remediation, not a rerun of the frozen benchmark. All requirements still need explicit reviewer disposition. Repository source: https://github.com/mgunjan/agentic-k8s-guardrails/blob/main/generator/generate.py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26:00–27:30. Read the levels once. Describe freeze as pausing covered changes, constrain as narrowing access while preserving clean capacity, and isolate as removing remaining suspect network allowances. Participants may use those plain-language descriptions; knowing Kubernetes object syntax is unnecessary. Q1 freezes the identities covered by the native policy; it does not automatically cover a sidecar using a different Pod identity. Q2 leaves DNS in this lab, and leaves kubectl exec/port-forward controlled by RBAC. Q3 requires the isolated label so the Q2 DNS allow does not remain. Identity revocation and tool/input suspension are runbook actions that need separate execution; do not imply the network manifests do them automatically. Repository source: https://github.com/mgunjan/agentic-k8s-guardrails/blob/main/quarantine/quarantine-mode.md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27:30–34:00. Teams open their Round 3 alert, number their actions, choose Q0–Q3 and name the incident commander. Require enough specificity to execute: namespace/workload/identity, evidence source, control delta, availability floor, who declares and who can lift. The lab preserves evidence before relabeling. Evidence collection can itself mutate a Pod by adding a debug container; disclose that footprint. In a real active incident, use authorized response procedures and weigh immediate containment needs, rather than claiming this order universally overrides urgency.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34:00–38:00. A learns a second replica has the same image and a host-mounted helper bypasses the existing set. B learns a debug API path and injected ticket/tool scope matter. C learns the agent supports billing while a human is asked to widen RBAC. D learns credential rotation affects the database proxy. Give four minutes. Scribes keep the original decision visible so change is observable. Vivek records one revised and one held decision for the debrief.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38:00–38:30. These consequences come from stored lab recordings and the October 10 run. Say recorded lab when showing an image or animation. They are not a live attack against a real company and are not a real model run. No score. Teams predict, then revise. Budget at most six minutes for all four.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38:30–40:00. Ask yes/no before revealing. Adding an empty allow list cannot subtract the DNS allow from the Q2 policy. In the lab the isolated label excludes the suspect from that allowance. The Oct 10 log verifies retained DNS before the label and loss after it. Still image redrawn from repository lab recordings. The map is cropped for presentation without changing its connections or labels. Reveal verbally after the vote: NetworkPolicy allows are additive.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40:00–41:30. Define eviction as a voluntary request to remove a running copy, replacement as starting a new copy, and the PodDisruptionBudget as the rule limiting voluntary removal to preserve availability. Q3 refuses a replacement. After one eviction, minAvailable=2 blocks the next. The first eviction also destroys uncaptured evidence. Preserving suspects in place and checking clean capacity are part of the plan. Still image redrawn from repository lab recordings. The map is cropped for presentation without changing its connections or labels. Reveal verbally after the vote: Recovery and evidence can deadlock.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41:30–42:30. A rule matching Pods alone can miss pods/ephemeralcontainers. The fixed lab tests approved and unapproved debug images, including privilege checks. Approve a suitable forensic image before incident use. Still image redrawn from repository lab recordings. The map is cropped for presentation without changing its connections or labels. Reveal verbally after the vote: The subresource changes the boundary.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42:30–44:00. The recorded unguarded agent scales Kyverno to zero; its webhooks disappear, while NetworkPolicies continue. Native Q1 freeze holds during the incident and a native guard protects the engine. The durable fix includes narrower RBAC. Still image redrawn from repository lab recordings. The map is cropped for presentation without changing its connections or labels. Reveal verbally after the vote: The policy engine needs its own guard. Use the standalone situation display only after venue rehearsal. Repository source: https://github.com/mgunjan/agentic-k8s-guardrails/blob/main/lab/RESULTS-live-2026-10-10.txt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44:00–45:00. Reveal causes after the decisions. A investigates a potentially compromised library update; the initial scope is uncertain. B and C are fictional injected-input incidents. D is a fictional overprivileged monitoring identity; its separate synthetic October 13 lab shows copied-token Secret reads still allowed after the suspect Pod is network-quarantined. Read authorization and credential response belong to separate controls. At 44:30 read the prediction a D table locked during Round 3, then compare it with the status-only transcript or backup slide 32 inside this existing minute. If no table chose D, collect a short ungraded prediction before displaying this slide: a copied token is used outside its network-quarantined Pod; does the Pod policy restrict that API request? Do not imply this new room prediction was locked earlier. Do not ask for a first prediction after the result is visible and do not add another demo. Do not cite unverified real-world incident anecdotes from the old deck. Ask neighboring tables to exchange one decision and name the differing constraint during the reveal. Prompt: would your plan still work in the other case, and what dependency or identity assumption would fail? Each table gives one sentence of feedback.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45:00–48:00. Vivek gives each table CONTROL-REVIEW.pdf page 1; keep page 2 sealed. Milind shows the recorded proposal. This is one actual local Laya head fine-tune and fixture workflow, not live model inference or current containment. Tables record a disposition, two unresolved requirements, their owners, and an acceptance test. The existing 0.6 cutoff accepts clauses 1, 2 and 4; clause 3 escalates. Scores come from the recorded answer_confidence signal after temperature fitting on separate synthetic data; deployment calibration is not established. Do not announce the ledger result until choices are locked. Reward a justified revision or request for evidence. The old three-case Jev/Claude challenge remains an optional methodology discussion; do not add it to the hour. Source: submission/2026-10-13/CONTROL-REVIEW-EXERCISE.md; laya-training/workflow-cost/run-1/agent-run.json.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48:00–49:00. Milind reveals readiness.json: INCOMPLETE_PROPOSAL. Six fixed Pod CREATE privilege checks pass, but network and process clauses map to the wrong control and Kubernetes API access remains unresolved. Vivek asks one table to defend its disposition and name the actual enforcement owner. The reference control catalog identifies ACG-NET-001 (admission plus CNI), ACG-IAM-001 (RBAC plus credential response) and ACG-GOV-001 (rollout/expiry governance). Its metadata and tests do not grant approval. A catalog must state exact coverage, test evidence and unresolved requirements. This trained candidate did not improve the 33-choice runtime-order pilot: 16/33 both before and after; selected answers increased from 2 to 21, with six wrong among those 21. Its three complete fixture proposals took median 0.975 s, but all remained incomplete. No API charge; local compute unpriced. Source: submission/2026-10-13/REVIEW.md; workflow-cost/run-1/readiness.json; controls/catalog.json.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49:00–50:00. Close the recorded proposal review, then show the historical model/workflow comparison for one minute. The zero-shot Laya column is the October 12 frozen-pilot result, separate from the trained proposal just reviewed. Its frozen option order differs from the runtime order used for the new trained comparison. This is a screening pilot, not production certification or classifier-class superiority. Claude Opus 5.5 used adaptive thinking with medium effort and strict structured output; Jev returned its typed distribution. Returned IDs were claude-opus-5-5 and jev-1.13.0. Cases and labels unchanged from local pilot; 33 scored and four hostile report-only cases. No unreadable answers. Exact McNemar: two Claude-only correct, zero Jev-only, p=0.50. Decision latency covers 37 warm HTTP requests, excluding warmup. Scenario A time and API price are median of three newly measured complete fixture runs: decisions, compilation, Kyverno simulation and local proposal writing. Jev range 1.69–2.05 seconds; Claude 19.41–28.39 seconds. Jev eight API calls and four escalations each run; Claude eight or nine calls and one escalation. Human review and deployment excluded. Clients were launched concurrently, each sequential internally; Jev completed while the first Claude run was in progress. Three runs cannot establish p95 or load performance. List prices checked October 12: Jev $0.042/M input tokens, outputs free; Claude $4/M input and $20/M output. Scenario A per run: Jev 4,552 input tokens and 634 free output tokens; Claude 6,483–7,222 input and 545–931 output tokens. Model cost is estimated from usage, not an invoice. Setup effort was not timed or priced. Four human escalations versus one can dominate total cost; see RUN-COST-ANALYSIS.md. Zero selected mistakes does not certify a threshold: only 26 selected cases and different score definitions. OpenAI has not run because no OpenAI key was supplied. Laya added as a local comparator: 16/33 pilot, 0.089-second median in-process decision latency on MPS, excluding HTTP. Its Scenario A three-run median was 0.41 seconds, but every clause escalated and no guardrail was generated. Four model calls versus eight or nine hosted calls means it did less work. No API charge; compute, energy and operations unpriced. Model load excluded and reported separately. No throughput or production winner claim. Sources: submission/2026-10-12/HOSTED-COMPARISON.md; https://docs.typesafe.ai/models; https://platform.claude.com/docs/en/models/overview; https://platform.claude.com/docs/en/build-with-claude/structured-outputs.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50:00–54:00. Add a concrete exit criterion to the worksheet. A: reviewed clean image and no ongoing suspect connections. B: ticket/tool boundary repaired and tested. C: scoped RBAC, verified approvals and input source repaired. D: affected credentials rotated or accepted risk documented, least-privilege Role and tested metrics recovery. Descent is Q3, Q2, Q1, Q0 under authorized review. If critical service has no clean serving capacity, record the conflict instead of declaring success. Generated incident-room art is a visual metaphor, not cluster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54:00–57:00. Tally points, recognize one defended tradeoff and compare the review scores and discuss differences in reasoning.  Each participant records an action they own. Ask two volunteers to read theirs. 57:00–60:00: questions and closing. The accepted objectives have observable outputs: R1 intent/map, R2 justified exceptions/modes, R3 containment/recovery playbook. Thank the co-presenter and participants.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resource slide. Public curated repository verified: https://github.com/mgunjan/sc2632-tabletop. Start with its README; the no-key reference demo compiles and tests a supplied spec and retains human review. Share the complete exercise package after the sealed evidence is revealed. Describe cloud agnostic as implementation patterns based on Kubernetes APIs, not a claim that every managed distribution has been tested. The source includes historical single-node k3s and the October 13 presenting-Mac three-node k3d record. These do not establish support across all managed Kubernetes platforms. Repository source: https://github.com/mgunjan/agentic-k8s-guardrails/blob/main/README.md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if terminal compilation is unavailable. This is a summarized excerpt, not verbatim full YAML. Show output/frozen-a/policies/deny-privilege-escalation.yaml for the complete policy. The specification was hand-written and the generator rendered it.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Abridged from the frozen Scenario A admission report. These are offline simulations on fictional fixtures. They do not prove that the admission policy constrains a running connection, reads or internal tool calls. Repository source: https://github.com/mgunjan/agentic-k8s-guardrails/blob/main/output/frozen-a/PR.md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within the existing 44–45 case comparison for a D table or as a Q&amp;A backup. Lock the copied-credential prediction during Round 3 before showing this table. Then compare each state and identify which authority boundary changed. This is the actual October 13 presenting-Mac run on synthetic resources, separate from the fictional incident. The suspect cannot open a new API TCP connection while an unaffected positive control still can. The same bearer token used from outside the Pod continues Secret GET/LIST in two other namespaces. Removing its broad binding gives HTTP 403 while preserving exactly one named in-namespace Secret GET and one ConfigMap GET; in-namespace LIST is also denied. The replacement has its own Pod-bound credential and restored API connectivity. Old-token authentication returns 401 41.2 seconds after bound-Pod deletion; the old token was far from natural expiry. New-token positive reads still return 200, and outside reads remain 403. There are 58 passing observations, including repeated health samples, not independent incident scenarios. No production monitoring delivery, audit export, external application-key revocation or compromise eradication is claimed. RBAC proposal is manually reviewed, not model generated. Source: submission/2026-10-13/live-rehearsal/case-d/result.json; lab/verify-case-d.py; scenarios/d-secret-enumeration/review/PR.md; https://kubernetes.io/docs/reference/access-authn-authz/service-accounts-admin/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Control selection only: 27 states, six dependency/blocked-workload questions excluded from the full workflow. The TF-IDF word/character model trains in 0.101 s on CPU and takes median 0.523 ms per decision. Base and trained Laya take approximately 89 ms in-process on MPS. Synthetic test: classifier 54/60, base 36/60, trained 37/60; only ten held-out templates, not independent enterprise incidents. Classifier control-pilot ECE 0.247. No universal superiority or production readiness claim. Full-state exception features corrected an earlier unfair scope comparison, raising 2/12 to 12/12. The Qwen recording is incomplete against current states. Laya head training took 57 s. Runtime-order full-pilot accuracy stayed 16/33; six wrong among 21 selected after training. Source: submission/2026-10-13/REVIEW.md; laya-training/control-holdout-rescored/summary.json.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Setup duration and engineering costs were not measured, so no setup-cost winner is claimed. Hosted candidates require no locally owned inference GPU but still require billing, credential security, network and provider-failure handling. Local candidates used the existing Apple-silicon Mac with 18 GiB RAM; there is no measured acquisition, energy or operations charge. Shared deterministic tools and testing apply to either. Total cost per accepted change = amortized setup + inference + compute/operations + human review + failure/rework. Illustrative rate only: at $120/hour, one extra minute costs $2, exceeding the approximately $0.0378 API cost difference per Scenario A run. Jev escalated four items versus Claude one in these runs; item count is not measured human time. Do not claim lower total cost from token price alone. Source: submission/2026-10-12/RUN-COST-ANALYSIS.md; benchmark/workflow-cost/.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metrics preserved from the prior deck. Full confidence distributions and recordings are in benchmark/. The 0.6 scores are not matched calibrated risk. Laya in-process timing excludes HTTP; its incomplete workflow did less work. Jev versus Claude paired accuracy p=0.50 is inconclusive. Human review and deployment excluded; costs are usage-based list-price estimates, not invoices. Sources: HOSTED-COMPARISON.md and RUN-COST-ANALYSIS.md.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53f9e667ed8460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7049c4567e3414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fc09f09a8c94bd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346aa3f1f894fc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71bf4dc7efc4ff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95f866f8c49479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EA5FA3A-AEB0-4BB7-AFEA-87246741816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FB3F5D0-7E68-4699-B3B6-7D81A4D746C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E2F25B4-94C2-47FF-8508-A7AA545E449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F45824-6A33-4FBD-84C0-9AAFCE07FE0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8B989CD-6C43-4397-B874-929B5C35663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36B6E15-FE41-459B-BB06-15823472D1B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9F0479-9446-4A72-9045-5F9D6968A6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92A85C2-1863-4564-9455-3E47CB72A64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5511E73-7084-46A0-B253-3FDE51980BF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60C0DD4-1888-425B-AD65-065953B1B11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f070dab6b2946a8" /><Relationship Type="http://schemas.openxmlformats.org/officeDocument/2006/relationships/slideLayout" Target="/ppt/slideLayouts/slideLayout1.xml" Id="R3c12a13b794547d6" /><Relationship Type="http://schemas.openxmlformats.org/officeDocument/2006/relationships/slideLayout" Target="/ppt/slideLayouts/slideLayout2.xml" Id="R0c9e5259309f47f1" /><Relationship Type="http://schemas.openxmlformats.org/officeDocument/2006/relationships/slideLayout" Target="/ppt/slideLayouts/slideLayout3.xml" Id="Rbc24b7af16b94418" /><Relationship Type="http://schemas.openxmlformats.org/officeDocument/2006/relationships/slideLayout" Target="/ppt/slideLayouts/slideLayout4.xml" Id="R734a98b2c77c4438" /><Relationship Type="http://schemas.openxmlformats.org/officeDocument/2006/relationships/slideLayout" Target="/ppt/slideLayouts/slideLayout5.xml" Id="R78a749ac207b46c8" /><Relationship Type="http://schemas.openxmlformats.org/officeDocument/2006/relationships/slideLayout" Target="/ppt/slideLayouts/slideLayout6.xml" Id="R99644ff402fe4c0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c12a13b794547d6"/>
    <p:sldLayoutId xmlns:r="http://schemas.openxmlformats.org/officeDocument/2006/relationships" id="2147483650" r:id="R0c9e5259309f47f1"/>
    <p:sldLayoutId xmlns:r="http://schemas.openxmlformats.org/officeDocument/2006/relationships" id="2147483651" r:id="Rbc24b7af16b94418"/>
    <p:sldLayoutId xmlns:r="http://schemas.openxmlformats.org/officeDocument/2006/relationships" id="2147483652" r:id="R734a98b2c77c4438"/>
    <p:sldLayoutId xmlns:r="http://schemas.openxmlformats.org/officeDocument/2006/relationships" id="2147483653" r:id="R78a749ac207b46c8"/>
    <p:sldLayoutId xmlns:r="http://schemas.openxmlformats.org/officeDocument/2006/relationships" id="2147483654" r:id="R99644ff402fe4c0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53f9ac97c92455c" /><Relationship Type="http://schemas.openxmlformats.org/officeDocument/2006/relationships/image" Target="/ppt/media/image.png" Id="R061554ac24524ddd" /><Relationship Type="http://schemas.openxmlformats.org/officeDocument/2006/relationships/notesSlide" Target="/ppt/notesSlides/notesSlide1.xml" Id="R44874484cc864b7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9a6cea168944179" /><Relationship Type="http://schemas.openxmlformats.org/officeDocument/2006/relationships/notesSlide" Target="/ppt/notesSlides/notesSlide2.xml" Id="R1e2a9ecc61ac4bd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e0fab775c5f4d18" /><Relationship Type="http://schemas.openxmlformats.org/officeDocument/2006/relationships/notesSlide" Target="/ppt/notesSlides/notesSlide3.xml" Id="Rbb8b7c43dd11473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34ad6ef1df04525" /><Relationship Type="http://schemas.openxmlformats.org/officeDocument/2006/relationships/notesSlide" Target="/ppt/notesSlides/notesSlide4.xml" Id="R70d0152c02964f3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0ff8281f74d4291" /><Relationship Type="http://schemas.openxmlformats.org/officeDocument/2006/relationships/notesSlide" Target="/ppt/notesSlides/notesSlide5.xml" Id="Rdf1720bbd55c440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a4bbefe526b4c8b" /><Relationship Type="http://schemas.openxmlformats.org/officeDocument/2006/relationships/notesSlide" Target="/ppt/notesSlides/notesSlide6.xml" Id="Ra1c2b8a21d4f41d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7864b3eaffc4681" /><Relationship Type="http://schemas.openxmlformats.org/officeDocument/2006/relationships/notesSlide" Target="/ppt/notesSlides/notesSlide7.xml" Id="R26190b8d629b45d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41ac9f0673f4626" /><Relationship Type="http://schemas.openxmlformats.org/officeDocument/2006/relationships/image" Target="/ppt/media/image2.png" Id="R82959a7fc3b24f01" /><Relationship Type="http://schemas.openxmlformats.org/officeDocument/2006/relationships/notesSlide" Target="/ppt/notesSlides/notesSlide8.xml" Id="R06576699d4224a9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4b097a795314e5a" /><Relationship Type="http://schemas.openxmlformats.org/officeDocument/2006/relationships/notesSlide" Target="/ppt/notesSlides/notesSlide9.xml" Id="Rb6640e3829fe40c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4eda203d4d041b8" /><Relationship Type="http://schemas.openxmlformats.org/officeDocument/2006/relationships/notesSlide" Target="/ppt/notesSlides/notesSlide10.xml" Id="R6269b9b11bc3483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32512741e8a4ffb" /><Relationship Type="http://schemas.openxmlformats.org/officeDocument/2006/relationships/notesSlide" Target="/ppt/notesSlides/notesSlide11.xml" Id="Rfad3a7cce22d471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0fd152af22343ed" /><Relationship Type="http://schemas.openxmlformats.org/officeDocument/2006/relationships/notesSlide" Target="/ppt/notesSlides/notesSlide12.xml" Id="R3e2a87b54b59498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597ef5d21fc4426" /><Relationship Type="http://schemas.openxmlformats.org/officeDocument/2006/relationships/notesSlide" Target="/ppt/notesSlides/notesSlide13.xml" Id="R8763818d6c6f49b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e39754efae14450" /><Relationship Type="http://schemas.openxmlformats.org/officeDocument/2006/relationships/notesSlide" Target="/ppt/notesSlides/notesSlide14.xml" Id="R53fa44643cad4d6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899bd26018e4cf4" /><Relationship Type="http://schemas.openxmlformats.org/officeDocument/2006/relationships/notesSlide" Target="/ppt/notesSlides/notesSlide15.xml" Id="R043cc92d76b4468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e562ccdcd1443cf" /><Relationship Type="http://schemas.openxmlformats.org/officeDocument/2006/relationships/image" Target="/ppt/media/image3.png" Id="R1933260515fe43ca" /><Relationship Type="http://schemas.openxmlformats.org/officeDocument/2006/relationships/notesSlide" Target="/ppt/notesSlides/notesSlide16.xml" Id="R8c1838b90bcf4f6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eb55ac12a084123" /><Relationship Type="http://schemas.openxmlformats.org/officeDocument/2006/relationships/notesSlide" Target="/ppt/notesSlides/notesSlide17.xml" Id="Rc67ed705f16842e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3ce2559352547bf" /><Relationship Type="http://schemas.openxmlformats.org/officeDocument/2006/relationships/notesSlide" Target="/ppt/notesSlides/notesSlide18.xml" Id="R5e18f1004d98410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e9e89b03575497d" /><Relationship Type="http://schemas.openxmlformats.org/officeDocument/2006/relationships/image" Target="/ppt/media/image4.png" Id="R4681e23aad224143" /><Relationship Type="http://schemas.openxmlformats.org/officeDocument/2006/relationships/notesSlide" Target="/ppt/notesSlides/notesSlide19.xml" Id="R1a8930f98f42406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579eacbb6634425" /><Relationship Type="http://schemas.openxmlformats.org/officeDocument/2006/relationships/image" Target="/ppt/media/image5.png" Id="R7979ab1d961b4f3f" /><Relationship Type="http://schemas.openxmlformats.org/officeDocument/2006/relationships/notesSlide" Target="/ppt/notesSlides/notesSlide20.xml" Id="R50624aa3199b41a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b7540f78141b48b4" /><Relationship Type="http://schemas.openxmlformats.org/officeDocument/2006/relationships/image" Target="/ppt/media/image6.png" Id="R190b89995dec442d" /><Relationship Type="http://schemas.openxmlformats.org/officeDocument/2006/relationships/notesSlide" Target="/ppt/notesSlides/notesSlide21.xml" Id="Reb864527bc7f4a1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0272490a171942de" /><Relationship Type="http://schemas.openxmlformats.org/officeDocument/2006/relationships/image" Target="/ppt/media/image7.png" Id="R3f2b4459e0d94dbc" /><Relationship Type="http://schemas.openxmlformats.org/officeDocument/2006/relationships/notesSlide" Target="/ppt/notesSlides/notesSlide22.xml" Id="Rdc76976123b14a7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34b55e12eb84c4d" /><Relationship Type="http://schemas.openxmlformats.org/officeDocument/2006/relationships/notesSlide" Target="/ppt/notesSlides/notesSlide23.xml" Id="R5b00e9f5800d4e1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59a4dd5f479a4bf2" /><Relationship Type="http://schemas.openxmlformats.org/officeDocument/2006/relationships/notesSlide" Target="/ppt/notesSlides/notesSlide24.xml" Id="R43f3c4dfba8b498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7250b37137414305" /><Relationship Type="http://schemas.openxmlformats.org/officeDocument/2006/relationships/notesSlide" Target="/ppt/notesSlides/notesSlide25.xml" Id="Rc3e0738f5fb1417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fb4806bfa72c4812" /><Relationship Type="http://schemas.openxmlformats.org/officeDocument/2006/relationships/notesSlide" Target="/ppt/notesSlides/notesSlide26.xml" Id="Re196011796dd475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c86d475c43e4df4" /><Relationship Type="http://schemas.openxmlformats.org/officeDocument/2006/relationships/image" Target="/ppt/media/image8.png" Id="Rb10b69c024ab4265" /><Relationship Type="http://schemas.openxmlformats.org/officeDocument/2006/relationships/notesSlide" Target="/ppt/notesSlides/notesSlide27.xml" Id="R493e0a2562ce44d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0891eb2d00bd48ac" /><Relationship Type="http://schemas.openxmlformats.org/officeDocument/2006/relationships/notesSlide" Target="/ppt/notesSlides/notesSlide28.xml" Id="Ra8a5a05f79fc481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2d2cf812ba2d4350" /><Relationship Type="http://schemas.openxmlformats.org/officeDocument/2006/relationships/notesSlide" Target="/ppt/notesSlides/notesSlide29.xml" Id="R27fdd109fca749d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6d17776b619441ee" /><Relationship Type="http://schemas.openxmlformats.org/officeDocument/2006/relationships/notesSlide" Target="/ppt/notesSlides/notesSlide30.xml" Id="R1b57915b9f764a5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2f808c40d27f4e53" /><Relationship Type="http://schemas.openxmlformats.org/officeDocument/2006/relationships/notesSlide" Target="/ppt/notesSlides/notesSlide31.xml" Id="Rece6fb7891c04c5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6487dd1586048ba" /><Relationship Type="http://schemas.openxmlformats.org/officeDocument/2006/relationships/notesSlide" Target="/ppt/notesSlides/notesSlide32.xml" Id="R9bfb6a71253b4f0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645bd829cf2d486d" /><Relationship Type="http://schemas.openxmlformats.org/officeDocument/2006/relationships/notesSlide" Target="/ppt/notesSlides/notesSlide33.xml" Id="R1034f8f3de08449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f3c48c312bae4278" /><Relationship Type="http://schemas.openxmlformats.org/officeDocument/2006/relationships/notesSlide" Target="/ppt/notesSlides/notesSlide34.xml" Id="R7ec67e2606d44fd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e39eb74e4734d43" /><Relationship Type="http://schemas.openxmlformats.org/officeDocument/2006/relationships/notesSlide" Target="/ppt/notesSlides/notesSlide35.xml" Id="R7528d51b2cf34fc0" /></Relationships>
</file>

<file path=ppt/slides/slide1.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2F95980E-6C1B-42BB-A941-9B00AA341F3A}"/>
              </a:ext>
            </a:extLst>
          </p:cNvPr>
          <p:cNvPicPr>
            <a:picLocks xmlns:a="http://schemas.openxmlformats.org/drawingml/2006/main" noChangeAspect="1"/>
          </p:cNvPicPr>
          <p:nvPr/>
        </p:nvPicPr>
        <p:blipFill>
          <a:blip xmlns:r="http://schemas.openxmlformats.org/officeDocument/2006/relationships" xmlns:a="http://schemas.openxmlformats.org/drawingml/2006/main" r:embed="R061554ac24524ddd"/>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TABLETOP / AGENTIC KUBERNETES GUARDRAILS">
            <a:extLst xmlns:a="http://schemas.openxmlformats.org/drawingml/2006/main">
              <a:ext uri="{FF2B5EF4-FFF2-40B4-BE49-F238E27FC236}">
                <a16:creationId xmlns:a16="http://schemas.microsoft.com/office/drawing/2014/main" id="{07D0C431-1DC8-4BC5-BEDB-3C05E1AB05D3}"/>
              </a:ext>
            </a:extLst>
          </p:cNvPr>
          <p:cNvSpPr>
            <a:spLocks xmlns:a="http://schemas.openxmlformats.org/drawingml/2006/main" noGrp="1"/>
          </p:cNvSpPr>
          <p:nvPr/>
        </p:nvSpPr>
        <p:spPr>
          <a:xfrm xmlns:a="http://schemas.openxmlformats.org/drawingml/2006/main">
            <a:off x="609600" y="495300"/>
            <a:ext cx="857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TABLETOP / AGENTIC KUBERNETES GUARDRAILS</a:t>
            </a:r>
          </a:p>
        </p:txBody>
      </p:sp>
      <p:sp>
        <p:nvSpPr>
          <p:cNvPr id="3" name="FROM INTENT&#10;TO ENFORCEMENT">
            <a:extLst xmlns:a="http://schemas.openxmlformats.org/drawingml/2006/main">
              <a:ext uri="{FF2B5EF4-FFF2-40B4-BE49-F238E27FC236}">
                <a16:creationId xmlns:a16="http://schemas.microsoft.com/office/drawing/2014/main" id="{09C46CEF-2B63-44FD-99DE-D9C001BDFC1A}"/>
              </a:ext>
            </a:extLst>
          </p:cNvPr>
          <p:cNvSpPr>
            <a:spLocks xmlns:a="http://schemas.openxmlformats.org/drawingml/2006/main" noGrp="1"/>
          </p:cNvSpPr>
          <p:nvPr/>
        </p:nvSpPr>
        <p:spPr>
          <a:xfrm xmlns:a="http://schemas.openxmlformats.org/drawingml/2006/main">
            <a:off x="609600" y="1504950"/>
            <a:ext cx="7762875"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100" b="1">
                <a:solidFill>
                  <a:srgbClr val="F2EFE7"/>
                </a:solidFill>
                <a:latin typeface="Arial Black"/>
                <a:ea typeface="Arial Black"/>
                <a:cs typeface="Arial Black"/>
              </a:defRPr>
            </a:defPPr>
          </a:lstStyle>
          <a:p xmlns:a="http://schemas.openxmlformats.org/drawingml/2006/main">
            <a:pPr>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FROM INTENT</a:t>
            </a:r>
          </a:p>
          <a:p xmlns:a="http://schemas.openxmlformats.org/drawingml/2006/main">
            <a:pPr>
              <a:defRPr sz="5100" b="1">
                <a:solidFill>
                  <a:srgbClr val="F2EFE7"/>
                </a:solidFill>
                <a:latin typeface="Arial Black"/>
                <a:ea typeface="Arial Black"/>
                <a:cs typeface="Arial Black"/>
              </a:defRPr>
            </a:pPr>
            <a:r>
              <a:rPr sz="5100" b="1">
                <a:solidFill>
                  <a:srgbClr val="F2EFE7"/>
                </a:solidFill>
                <a:latin typeface="Arial Black"/>
                <a:ea typeface="Arial Black"/>
                <a:cs typeface="Arial Black"/>
              </a:rPr>
              <a:t>TO ENFORCEMENT</a:t>
            </a:r>
          </a:p>
        </p:txBody>
      </p:sp>
      <p:sp>
        <p:nvSpPr>
          <p:cNvPr id="4" name="Quarantine Mode">
            <a:extLst xmlns:a="http://schemas.openxmlformats.org/drawingml/2006/main">
              <a:ext uri="{FF2B5EF4-FFF2-40B4-BE49-F238E27FC236}">
                <a16:creationId xmlns:a16="http://schemas.microsoft.com/office/drawing/2014/main" id="{3EAD93F7-7D90-464F-9440-307DBA4C6F8A}"/>
              </a:ext>
            </a:extLst>
          </p:cNvPr>
          <p:cNvSpPr>
            <a:spLocks xmlns:a="http://schemas.openxmlformats.org/drawingml/2006/main" noGrp="1"/>
          </p:cNvSpPr>
          <p:nvPr/>
        </p:nvSpPr>
        <p:spPr>
          <a:xfrm xmlns:a="http://schemas.openxmlformats.org/drawingml/2006/main">
            <a:off x="628650" y="3857625"/>
            <a:ext cx="5810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795B"/>
                </a:solidFill>
                <a:latin typeface="Arial"/>
                <a:ea typeface="Arial"/>
                <a:cs typeface="Arial"/>
              </a:defRPr>
            </a:defPPr>
          </a:lstStyle>
          <a:p xmlns:a="http://schemas.openxmlformats.org/drawingml/2006/main">
            <a:pPr>
              <a:defRPr sz="3150" b="1">
                <a:solidFill>
                  <a:srgbClr val="FF795B"/>
                </a:solidFill>
                <a:latin typeface="Arial"/>
                <a:ea typeface="Arial"/>
                <a:cs typeface="Arial"/>
              </a:defRPr>
            </a:pPr>
            <a:r>
              <a:rPr sz="3150" b="1">
                <a:solidFill>
                  <a:srgbClr val="FF795B"/>
                </a:solidFill>
                <a:latin typeface="Arial"/>
                <a:ea typeface="Arial"/>
                <a:cs typeface="Arial"/>
              </a:rPr>
              <a:t>Quarantine Mode</a:t>
            </a:r>
          </a:p>
        </p:txBody>
      </p:sp>
      <p:sp>
        <p:nvSpPr>
          <p:cNvPr id="5" name="Incident containment on a shared Kubernetes plat">
            <a:extLst xmlns:a="http://schemas.openxmlformats.org/drawingml/2006/main">
              <a:ext uri="{FF2B5EF4-FFF2-40B4-BE49-F238E27FC236}">
                <a16:creationId xmlns:a16="http://schemas.microsoft.com/office/drawing/2014/main" id="{95BE9F5E-BE96-4D56-8256-0486E71CE14A}"/>
              </a:ext>
            </a:extLst>
          </p:cNvPr>
          <p:cNvSpPr>
            <a:spLocks xmlns:a="http://schemas.openxmlformats.org/drawingml/2006/main" noGrp="1"/>
          </p:cNvSpPr>
          <p:nvPr/>
        </p:nvSpPr>
        <p:spPr>
          <a:xfrm xmlns:a="http://schemas.openxmlformats.org/drawingml/2006/main">
            <a:off x="628650" y="4638675"/>
            <a:ext cx="647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F2EFE7"/>
                </a:solidFill>
                <a:latin typeface="Arial"/>
                <a:ea typeface="Arial"/>
                <a:cs typeface="Arial"/>
              </a:defRPr>
            </a:defPPr>
          </a:lstStyle>
          <a:p xmlns:a="http://schemas.openxmlformats.org/drawingml/2006/main">
            <a:pPr>
              <a:defRPr sz="1800" b="0">
                <a:solidFill>
                  <a:srgbClr val="F2EFE7"/>
                </a:solidFill>
                <a:latin typeface="Arial"/>
                <a:ea typeface="Arial"/>
                <a:cs typeface="Arial"/>
              </a:defRPr>
            </a:pPr>
            <a:r>
              <a:rPr sz="1800" b="0">
                <a:solidFill>
                  <a:srgbClr val="F2EFE7"/>
                </a:solidFill>
                <a:latin typeface="Arial"/>
                <a:ea typeface="Arial"/>
                <a:cs typeface="Arial"/>
              </a:rPr>
              <a:t>Incident containment on a shared Kubernetes platform</a:t>
            </a:r>
          </a:p>
        </p:txBody>
      </p:sp>
      <p:sp>
        <p:nvSpPr>
          <p:cNvPr id="6" name="Co-presenters: Milind Gunjan  /  Vivek Mayuranat">
            <a:extLst xmlns:a="http://schemas.openxmlformats.org/drawingml/2006/main">
              <a:ext uri="{FF2B5EF4-FFF2-40B4-BE49-F238E27FC236}">
                <a16:creationId xmlns:a16="http://schemas.microsoft.com/office/drawing/2014/main" id="{E9394548-CD5B-4FB9-8C29-C4987665464A}"/>
              </a:ext>
            </a:extLst>
          </p:cNvPr>
          <p:cNvSpPr>
            <a:spLocks xmlns:a="http://schemas.openxmlformats.org/drawingml/2006/main" noGrp="1"/>
          </p:cNvSpPr>
          <p:nvPr/>
        </p:nvSpPr>
        <p:spPr>
          <a:xfrm xmlns:a="http://schemas.openxmlformats.org/drawingml/2006/main">
            <a:off x="628650" y="576262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B6C5CD"/>
                </a:solidFill>
                <a:latin typeface="Arial"/>
                <a:ea typeface="Arial"/>
                <a:cs typeface="Arial"/>
              </a:defRPr>
            </a:defPPr>
          </a:lstStyle>
          <a:p xmlns:a="http://schemas.openxmlformats.org/drawingml/2006/main">
            <a:pPr>
              <a:defRPr sz="1650" b="0">
                <a:solidFill>
                  <a:srgbClr val="B6C5CD"/>
                </a:solidFill>
                <a:latin typeface="Arial"/>
                <a:ea typeface="Arial"/>
                <a:cs typeface="Arial"/>
              </a:defRPr>
            </a:pPr>
            <a:r>
              <a:rPr sz="1650" b="0">
                <a:solidFill>
                  <a:srgbClr val="B6C5CD"/>
                </a:solidFill>
                <a:latin typeface="Arial"/>
                <a:ea typeface="Arial"/>
                <a:cs typeface="Arial"/>
              </a:rPr>
              <a:t>Co-presenters: Milind Gunjan  /  Vivek Mayuranathan</a:t>
            </a:r>
          </a:p>
        </p:txBody>
      </p:sp>
      <p:sp>
        <p:nvSpPr>
          <p:cNvPr id="7" name="October 26, 2026  ·  4:30–5:30 PM  ·  Views are ">
            <a:extLst xmlns:a="http://schemas.openxmlformats.org/drawingml/2006/main">
              <a:ext uri="{FF2B5EF4-FFF2-40B4-BE49-F238E27FC236}">
                <a16:creationId xmlns:a16="http://schemas.microsoft.com/office/drawing/2014/main" id="{DA883EE1-592F-4F1D-89A0-D87AD30C3DB9}"/>
              </a:ext>
            </a:extLst>
          </p:cNvPr>
          <p:cNvSpPr>
            <a:spLocks xmlns:a="http://schemas.openxmlformats.org/drawingml/2006/main" noGrp="1"/>
          </p:cNvSpPr>
          <p:nvPr/>
        </p:nvSpPr>
        <p:spPr>
          <a:xfrm xmlns:a="http://schemas.openxmlformats.org/drawingml/2006/main">
            <a:off x="628650" y="609600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B6C5CD"/>
                </a:solidFill>
                <a:latin typeface="Arial"/>
                <a:ea typeface="Arial"/>
                <a:cs typeface="Arial"/>
              </a:defRPr>
            </a:defPPr>
          </a:lstStyle>
          <a:p xmlns:a="http://schemas.openxmlformats.org/drawingml/2006/main">
            <a:pPr>
              <a:defRPr sz="1125" b="0">
                <a:solidFill>
                  <a:srgbClr val="B6C5CD"/>
                </a:solidFill>
                <a:latin typeface="Arial"/>
                <a:ea typeface="Arial"/>
                <a:cs typeface="Arial"/>
              </a:defRPr>
            </a:pPr>
            <a:r>
              <a:rPr sz="1125" b="0">
                <a:solidFill>
                  <a:srgbClr val="B6C5CD"/>
                </a:solidFill>
                <a:latin typeface="Arial"/>
                <a:ea typeface="Arial"/>
                <a:cs typeface="Arial"/>
              </a:rPr>
              <a:t>October 26, 2026  ·  4:30–5:30 PM  ·  Views are our own</a:t>
            </a:r>
          </a:p>
        </p:txBody>
      </p:sp>
      <p:sp>
        <p:nvSpPr>
          <p:cNvPr id="8" name="ISC2 SECURITY CONGRESS 2026 / SC2632">
            <a:extLst xmlns:a="http://schemas.openxmlformats.org/drawingml/2006/main">
              <a:ext uri="{FF2B5EF4-FFF2-40B4-BE49-F238E27FC236}">
                <a16:creationId xmlns:a16="http://schemas.microsoft.com/office/drawing/2014/main" id="{3A67176A-D484-498C-8D87-A6246590BC4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9" name="01">
            <a:extLst xmlns:a="http://schemas.openxmlformats.org/drawingml/2006/main">
              <a:ext uri="{FF2B5EF4-FFF2-40B4-BE49-F238E27FC236}">
                <a16:creationId xmlns:a16="http://schemas.microsoft.com/office/drawing/2014/main" id="{C9914D44-CDEE-4E2E-9435-3463A2D68A4E}"/>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01</a:t>
            </a:r>
          </a:p>
        </p:txBody>
      </p:sp>
    </p:spTree>
    <p:extLst>
      <p:ext uri="{BB962C8B-B14F-4D97-AF65-F5344CB8AC3E}">
        <p14:creationId xmlns:p14="http://schemas.microsoft.com/office/powerpoint/2010/main" val="215802825"/>
      </p:ext>
    </p:extLst>
  </p:cSld>
</p:sld>
</file>

<file path=ppt/slides/slide2.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3" name="FICTIONAL INCIDENT / SHARED PRODUCTION PLATFORM">
            <a:extLst xmlns:a="http://schemas.openxmlformats.org/drawingml/2006/main">
              <a:ext uri="{FF2B5EF4-FFF2-40B4-BE49-F238E27FC236}">
                <a16:creationId xmlns:a16="http://schemas.microsoft.com/office/drawing/2014/main" id="{42B0EAF9-00E0-4826-8F5E-073BFB32AEC1}"/>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FICTIONAL INCIDENT / SHARED PRODUCTION PLATFORM</a:t>
            </a:r>
          </a:p>
        </p:txBody>
      </p:sp>
      <p:sp>
        <p:nvSpPr>
          <p:cNvPr id="2" name="The environment in plain language">
            <a:extLst xmlns:a="http://schemas.openxmlformats.org/drawingml/2006/main">
              <a:ext uri="{FF2B5EF4-FFF2-40B4-BE49-F238E27FC236}">
                <a16:creationId xmlns:a16="http://schemas.microsoft.com/office/drawing/2014/main" id="{C2B70590-D4CE-408A-8C3B-6FF05A51239C}"/>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F2EFE7"/>
                </a:solidFill>
                <a:latin typeface="Arial Black"/>
                <a:ea typeface="Arial Black"/>
                <a:cs typeface="Arial Black"/>
              </a:defRPr>
            </a:defPPr>
          </a:lstStyle>
          <a:p xmlns:a="http://schemas.openxmlformats.org/drawingml/2006/main">
            <a:pPr>
              <a:defRPr sz="3600" b="1">
                <a:solidFill>
                  <a:srgbClr val="F2EFE7"/>
                </a:solidFill>
                <a:latin typeface="Arial Black"/>
                <a:ea typeface="Arial Black"/>
                <a:cs typeface="Arial Black"/>
              </a:defRPr>
            </a:pPr>
            <a:r>
              <a:rPr sz="3600" b="1">
                <a:solidFill>
                  <a:srgbClr val="F2EFE7"/>
                </a:solidFill>
                <a:latin typeface="Arial Black"/>
                <a:ea typeface="Arial Black"/>
                <a:cs typeface="Arial Black"/>
              </a:rPr>
              <a:t>The environment in plain language</a:t>
            </a:r>
          </a:p>
        </p:txBody>
      </p:sp>
      <p:sp>
        <p:nvSpPr>
          <p:cNvPr id="3" name="Kubernetes manages application packages, called ">
            <a:extLst xmlns:a="http://schemas.openxmlformats.org/drawingml/2006/main">
              <a:ext uri="{FF2B5EF4-FFF2-40B4-BE49-F238E27FC236}">
                <a16:creationId xmlns:a16="http://schemas.microsoft.com/office/drawing/2014/main" id="{4373CE4E-CB40-4F19-A193-12E83217C96E}"/>
              </a:ext>
            </a:extLst>
          </p:cNvPr>
          <p:cNvSpPr>
            <a:spLocks xmlns:a="http://schemas.openxmlformats.org/drawingml/2006/main" noGrp="1"/>
          </p:cNvSpPr>
          <p:nvPr/>
        </p:nvSpPr>
        <p:spPr>
          <a:xfrm xmlns:a="http://schemas.openxmlformats.org/drawingml/2006/main">
            <a:off x="628650" y="2352675"/>
            <a:ext cx="1076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2EFE7"/>
                </a:solidFill>
                <a:latin typeface="Arial"/>
                <a:ea typeface="Arial"/>
                <a:cs typeface="Arial"/>
              </a:defRPr>
            </a:defPPr>
          </a:lstStyle>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Kubernetes manages application packages, called containers, across machines.</a:t>
            </a:r>
          </a:p>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Payment services and automated agents share this platform.</a:t>
            </a:r>
          </a:p>
        </p:txBody>
      </p:sp>
      <p:sp>
        <p:nvSpPr>
          <p:cNvPr id="4" name="Application copies">
            <a:extLst xmlns:a="http://schemas.openxmlformats.org/drawingml/2006/main">
              <a:ext uri="{FF2B5EF4-FFF2-40B4-BE49-F238E27FC236}">
                <a16:creationId xmlns:a16="http://schemas.microsoft.com/office/drawing/2014/main" id="{9939437F-63A4-4A07-91EC-5628E08039FD}"/>
              </a:ext>
            </a:extLst>
          </p:cNvPr>
          <p:cNvSpPr>
            <a:spLocks xmlns:a="http://schemas.openxmlformats.org/drawingml/2006/main" noGrp="1"/>
          </p:cNvSpPr>
          <p:nvPr/>
        </p:nvSpPr>
        <p:spPr>
          <a:xfrm xmlns:a="http://schemas.openxmlformats.org/drawingml/2006/main">
            <a:off x="609600" y="3400425"/>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Application copies</a:t>
            </a:r>
          </a:p>
        </p:txBody>
      </p:sp>
      <p:sp>
        <p:nvSpPr>
          <p:cNvPr id="5" name="Pods: running units. Replicas: copies.">
            <a:extLst xmlns:a="http://schemas.openxmlformats.org/drawingml/2006/main">
              <a:ext uri="{FF2B5EF4-FFF2-40B4-BE49-F238E27FC236}">
                <a16:creationId xmlns:a16="http://schemas.microsoft.com/office/drawing/2014/main" id="{C41669D9-F0F6-4CEA-ACE0-179A3A22EFBC}"/>
              </a:ext>
            </a:extLst>
          </p:cNvPr>
          <p:cNvSpPr>
            <a:spLocks xmlns:a="http://schemas.openxmlformats.org/drawingml/2006/main" noGrp="1"/>
          </p:cNvSpPr>
          <p:nvPr/>
        </p:nvSpPr>
        <p:spPr>
          <a:xfrm xmlns:a="http://schemas.openxmlformats.org/drawingml/2006/main">
            <a:off x="3562350" y="3400425"/>
            <a:ext cx="7715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Pods: running units. Replicas: copies.</a:t>
            </a:r>
          </a:p>
        </p:txBody>
      </p:sp>
      <p:sp>
        <p:nvSpPr>
          <p:cNvPr id="6" name="Resource groups">
            <a:extLst xmlns:a="http://schemas.openxmlformats.org/drawingml/2006/main">
              <a:ext uri="{FF2B5EF4-FFF2-40B4-BE49-F238E27FC236}">
                <a16:creationId xmlns:a16="http://schemas.microsoft.com/office/drawing/2014/main" id="{F641C74A-F912-4BDE-9BA5-786E361673D2}"/>
              </a:ext>
            </a:extLst>
          </p:cNvPr>
          <p:cNvSpPr>
            <a:spLocks xmlns:a="http://schemas.openxmlformats.org/drawingml/2006/main" noGrp="1"/>
          </p:cNvSpPr>
          <p:nvPr/>
        </p:nvSpPr>
        <p:spPr>
          <a:xfrm xmlns:a="http://schemas.openxmlformats.org/drawingml/2006/main">
            <a:off x="609600" y="4114800"/>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Resource groups</a:t>
            </a:r>
          </a:p>
        </p:txBody>
      </p:sp>
      <p:sp>
        <p:nvSpPr>
          <p:cNvPr id="7" name="Namespaces: named groups, such as payments.">
            <a:extLst xmlns:a="http://schemas.openxmlformats.org/drawingml/2006/main">
              <a:ext uri="{FF2B5EF4-FFF2-40B4-BE49-F238E27FC236}">
                <a16:creationId xmlns:a16="http://schemas.microsoft.com/office/drawing/2014/main" id="{0083FD1B-501A-45FE-B5BF-24C8732C4840}"/>
              </a:ext>
            </a:extLst>
          </p:cNvPr>
          <p:cNvSpPr>
            <a:spLocks xmlns:a="http://schemas.openxmlformats.org/drawingml/2006/main" noGrp="1"/>
          </p:cNvSpPr>
          <p:nvPr/>
        </p:nvSpPr>
        <p:spPr>
          <a:xfrm xmlns:a="http://schemas.openxmlformats.org/drawingml/2006/main">
            <a:off x="3562350" y="4114800"/>
            <a:ext cx="7715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Namespaces: named groups, such as payments.</a:t>
            </a:r>
          </a:p>
        </p:txBody>
      </p:sp>
      <p:sp>
        <p:nvSpPr>
          <p:cNvPr id="8" name="Workload identity">
            <a:extLst xmlns:a="http://schemas.openxmlformats.org/drawingml/2006/main">
              <a:ext uri="{FF2B5EF4-FFF2-40B4-BE49-F238E27FC236}">
                <a16:creationId xmlns:a16="http://schemas.microsoft.com/office/drawing/2014/main" id="{991CDE2A-21A2-4939-B74B-013ADC2AAD39}"/>
              </a:ext>
            </a:extLst>
          </p:cNvPr>
          <p:cNvSpPr>
            <a:spLocks xmlns:a="http://schemas.openxmlformats.org/drawingml/2006/main" noGrp="1"/>
          </p:cNvSpPr>
          <p:nvPr/>
        </p:nvSpPr>
        <p:spPr>
          <a:xfrm xmlns:a="http://schemas.openxmlformats.org/drawingml/2006/main">
            <a:off x="609600" y="4829175"/>
            <a:ext cx="2667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Workload identity</a:t>
            </a:r>
          </a:p>
        </p:txBody>
      </p:sp>
      <p:sp>
        <p:nvSpPr>
          <p:cNvPr id="9" name="ServiceAccount: identity for management API requ">
            <a:extLst xmlns:a="http://schemas.openxmlformats.org/drawingml/2006/main">
              <a:ext uri="{FF2B5EF4-FFF2-40B4-BE49-F238E27FC236}">
                <a16:creationId xmlns:a16="http://schemas.microsoft.com/office/drawing/2014/main" id="{E63C7923-A4BD-4573-B420-FBEB3E7C4FEF}"/>
              </a:ext>
            </a:extLst>
          </p:cNvPr>
          <p:cNvSpPr>
            <a:spLocks xmlns:a="http://schemas.openxmlformats.org/drawingml/2006/main" noGrp="1"/>
          </p:cNvSpPr>
          <p:nvPr/>
        </p:nvSpPr>
        <p:spPr>
          <a:xfrm xmlns:a="http://schemas.openxmlformats.org/drawingml/2006/main">
            <a:off x="3562350" y="4829175"/>
            <a:ext cx="7715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ServiceAccount: identity for management API requests.</a:t>
            </a:r>
          </a:p>
        </p:txBody>
      </p:sp>
      <p:sp>
        <p:nvSpPr>
          <p:cNvPr id="10" name="Services are still running. Exposure is uncertai">
            <a:extLst xmlns:a="http://schemas.openxmlformats.org/drawingml/2006/main">
              <a:ext uri="{FF2B5EF4-FFF2-40B4-BE49-F238E27FC236}">
                <a16:creationId xmlns:a16="http://schemas.microsoft.com/office/drawing/2014/main" id="{D8CD6020-EF10-40F8-B1B7-CBEC54211BA7}"/>
              </a:ext>
            </a:extLst>
          </p:cNvPr>
          <p:cNvSpPr>
            <a:spLocks xmlns:a="http://schemas.openxmlformats.org/drawingml/2006/main" noGrp="1"/>
          </p:cNvSpPr>
          <p:nvPr/>
        </p:nvSpPr>
        <p:spPr>
          <a:xfrm xmlns:a="http://schemas.openxmlformats.org/drawingml/2006/main">
            <a:off x="628650" y="5762625"/>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2EFE7"/>
                </a:solidFill>
                <a:latin typeface="Arial"/>
                <a:ea typeface="Arial"/>
                <a:cs typeface="Arial"/>
              </a:defRPr>
            </a:defPPr>
          </a:lstStyle>
          <a:p xmlns:a="http://schemas.openxmlformats.org/drawingml/2006/main">
            <a:pPr>
              <a:defRPr sz="1875" b="0">
                <a:solidFill>
                  <a:srgbClr val="F2EFE7"/>
                </a:solidFill>
                <a:latin typeface="Arial"/>
                <a:ea typeface="Arial"/>
                <a:cs typeface="Arial"/>
              </a:defRPr>
            </a:pPr>
            <a:r>
              <a:rPr sz="1875" b="0">
                <a:solidFill>
                  <a:srgbClr val="F2EFE7"/>
                </a:solidFill>
                <a:latin typeface="Arial"/>
                <a:ea typeface="Arial"/>
                <a:cs typeface="Arial"/>
              </a:rPr>
              <a:t>Services are still running. Exposure is uncertain.</a:t>
            </a:r>
          </a:p>
          <a:p xmlns:a="http://schemas.openxmlformats.org/drawingml/2006/main">
            <a:pPr>
              <a:defRPr sz="1875" b="0">
                <a:solidFill>
                  <a:srgbClr val="F2EFE7"/>
                </a:solidFill>
                <a:latin typeface="Arial"/>
                <a:ea typeface="Arial"/>
                <a:cs typeface="Arial"/>
              </a:defRPr>
            </a:pPr>
            <a:r>
              <a:rPr sz="1875" b="0">
                <a:solidFill>
                  <a:srgbClr val="F2EFE7"/>
                </a:solidFill>
                <a:latin typeface="Arial"/>
                <a:ea typeface="Arial"/>
                <a:cs typeface="Arial"/>
              </a:rPr>
              <a:t>Broad isolation can interrupt essential dependencies.</a:t>
            </a:r>
          </a:p>
        </p:txBody>
      </p:sp>
      <p:sp>
        <p:nvSpPr>
          <p:cNvPr id="11" name="ISC2 SECURITY CONGRESS 2026 / SC2632">
            <a:extLst xmlns:a="http://schemas.openxmlformats.org/drawingml/2006/main">
              <a:ext uri="{FF2B5EF4-FFF2-40B4-BE49-F238E27FC236}">
                <a16:creationId xmlns:a16="http://schemas.microsoft.com/office/drawing/2014/main" id="{79FD7534-C58E-42CC-A823-5A2EB89911E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2" name="02">
            <a:extLst xmlns:a="http://schemas.openxmlformats.org/drawingml/2006/main">
              <a:ext uri="{FF2B5EF4-FFF2-40B4-BE49-F238E27FC236}">
                <a16:creationId xmlns:a16="http://schemas.microsoft.com/office/drawing/2014/main" id="{073806FA-CF46-4D2B-9F7A-D3750977E1C1}"/>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02</a:t>
            </a:r>
          </a:p>
        </p:txBody>
      </p:sp>
    </p:spTree>
    <p:extLst>
      <p:ext uri="{BB962C8B-B14F-4D97-AF65-F5344CB8AC3E}">
        <p14:creationId xmlns:p14="http://schemas.microsoft.com/office/powerpoint/2010/main" val="390722281"/>
      </p:ext>
    </p:extLst>
  </p:cSld>
</p:sld>
</file>

<file path=ppt/slides/slide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3" name="KYVERNO / POLICY CHECK AT THE KUBERNETES API">
            <a:extLst xmlns:a="http://schemas.openxmlformats.org/drawingml/2006/main">
              <a:ext uri="{FF2B5EF4-FFF2-40B4-BE49-F238E27FC236}">
                <a16:creationId xmlns:a16="http://schemas.microsoft.com/office/drawing/2014/main" id="{F653E6A0-A17F-408C-A25D-56CB853A34A9}"/>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KYVERNO / POLICY CHECK AT THE KUBERNETES API</a:t>
            </a:r>
          </a:p>
        </p:txBody>
      </p:sp>
      <p:sp>
        <p:nvSpPr>
          <p:cNvPr id="2" name="Kyverno checks proposed changes">
            <a:extLst xmlns:a="http://schemas.openxmlformats.org/drawingml/2006/main">
              <a:ext uri="{FF2B5EF4-FFF2-40B4-BE49-F238E27FC236}">
                <a16:creationId xmlns:a16="http://schemas.microsoft.com/office/drawing/2014/main" id="{B254F99F-B670-4811-929C-1E2E32C8FB9A}"/>
              </a:ext>
            </a:extLst>
          </p:cNvPr>
          <p:cNvSpPr>
            <a:spLocks xmlns:a="http://schemas.openxmlformats.org/drawingml/2006/main" noGrp="1"/>
          </p:cNvSpPr>
          <p:nvPr/>
        </p:nvSpPr>
        <p:spPr>
          <a:xfrm xmlns:a="http://schemas.openxmlformats.org/drawingml/2006/main">
            <a:off x="609600" y="1181100"/>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0B1822"/>
                </a:solidFill>
                <a:latin typeface="Arial Black"/>
                <a:ea typeface="Arial Black"/>
                <a:cs typeface="Arial Black"/>
              </a:defRPr>
            </a:defPPr>
          </a:lstStyle>
          <a:p xmlns:a="http://schemas.openxmlformats.org/drawingml/2006/main">
            <a:pPr>
              <a:defRPr sz="3900" b="1">
                <a:solidFill>
                  <a:srgbClr val="0B1822"/>
                </a:solidFill>
                <a:latin typeface="Arial Black"/>
                <a:ea typeface="Arial Black"/>
                <a:cs typeface="Arial Black"/>
              </a:defRPr>
            </a:pPr>
            <a:r>
              <a:rPr sz="3900" b="1">
                <a:solidFill>
                  <a:srgbClr val="0B1822"/>
                </a:solidFill>
                <a:latin typeface="Arial Black"/>
                <a:ea typeface="Arial Black"/>
                <a:cs typeface="Arial Black"/>
              </a:rPr>
              <a:t>Kyverno checks proposed changes</a:t>
            </a:r>
          </a:p>
        </p:txBody>
      </p:sp>
      <p:sp>
        <p:nvSpPr>
          <p:cNvPr id="3" name="Kyverno checks a requested change before it take">
            <a:extLst xmlns:a="http://schemas.openxmlformats.org/drawingml/2006/main">
              <a:ext uri="{FF2B5EF4-FFF2-40B4-BE49-F238E27FC236}">
                <a16:creationId xmlns:a16="http://schemas.microsoft.com/office/drawing/2014/main" id="{2DCAB408-73A1-4C93-9106-A126CE99D5E2}"/>
              </a:ext>
            </a:extLst>
          </p:cNvPr>
          <p:cNvSpPr>
            <a:spLocks xmlns:a="http://schemas.openxmlformats.org/drawingml/2006/main" noGrp="1"/>
          </p:cNvSpPr>
          <p:nvPr/>
        </p:nvSpPr>
        <p:spPr>
          <a:xfrm xmlns:a="http://schemas.openxmlformats.org/drawingml/2006/main">
            <a:off x="628650" y="2352675"/>
            <a:ext cx="107632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Kyverno checks a requested change before it takes effect.</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That checkpoint is called admission.</a:t>
            </a:r>
          </a:p>
        </p:txBody>
      </p:sp>
      <p:sp>
        <p:nvSpPr>
          <p:cNvPr id="4" name="Request">
            <a:extLst xmlns:a="http://schemas.openxmlformats.org/drawingml/2006/main">
              <a:ext uri="{FF2B5EF4-FFF2-40B4-BE49-F238E27FC236}">
                <a16:creationId xmlns:a16="http://schemas.microsoft.com/office/drawing/2014/main" id="{FFDA85D8-2BD7-4AD3-BDEC-63D01CD27C80}"/>
              </a:ext>
            </a:extLst>
          </p:cNvPr>
          <p:cNvSpPr>
            <a:spLocks xmlns:a="http://schemas.openxmlformats.org/drawingml/2006/main" noGrp="1"/>
          </p:cNvSpPr>
          <p:nvPr/>
        </p:nvSpPr>
        <p:spPr>
          <a:xfrm xmlns:a="http://schemas.openxmlformats.org/drawingml/2006/main">
            <a:off x="609600" y="3467100"/>
            <a:ext cx="2019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Request</a:t>
            </a:r>
          </a:p>
        </p:txBody>
      </p:sp>
      <p:sp>
        <p:nvSpPr>
          <p:cNvPr id="5" name="Start an application copy with privilege escalat">
            <a:extLst xmlns:a="http://schemas.openxmlformats.org/drawingml/2006/main">
              <a:ext uri="{FF2B5EF4-FFF2-40B4-BE49-F238E27FC236}">
                <a16:creationId xmlns:a16="http://schemas.microsoft.com/office/drawing/2014/main" id="{74696E18-2C0E-4CC8-877A-B1EB1FF45E69}"/>
              </a:ext>
            </a:extLst>
          </p:cNvPr>
          <p:cNvSpPr>
            <a:spLocks xmlns:a="http://schemas.openxmlformats.org/drawingml/2006/main" noGrp="1"/>
          </p:cNvSpPr>
          <p:nvPr/>
        </p:nvSpPr>
        <p:spPr>
          <a:xfrm xmlns:a="http://schemas.openxmlformats.org/drawingml/2006/main">
            <a:off x="2914650" y="3467100"/>
            <a:ext cx="8362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Start an application copy with privilege escalation.</a:t>
            </a:r>
          </a:p>
        </p:txBody>
      </p:sp>
      <p:sp>
        <p:nvSpPr>
          <p:cNvPr id="6" name="Rule">
            <a:extLst xmlns:a="http://schemas.openxmlformats.org/drawingml/2006/main">
              <a:ext uri="{FF2B5EF4-FFF2-40B4-BE49-F238E27FC236}">
                <a16:creationId xmlns:a16="http://schemas.microsoft.com/office/drawing/2014/main" id="{D070F834-7910-4118-8791-AE2180DA9BD6}"/>
              </a:ext>
            </a:extLst>
          </p:cNvPr>
          <p:cNvSpPr>
            <a:spLocks xmlns:a="http://schemas.openxmlformats.org/drawingml/2006/main" noGrp="1"/>
          </p:cNvSpPr>
          <p:nvPr/>
        </p:nvSpPr>
        <p:spPr>
          <a:xfrm xmlns:a="http://schemas.openxmlformats.org/drawingml/2006/main">
            <a:off x="609600" y="4171950"/>
            <a:ext cx="2019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Rule</a:t>
            </a:r>
          </a:p>
        </p:txBody>
      </p:sp>
      <p:sp>
        <p:nvSpPr>
          <p:cNvPr id="7" name="New application copies must disallow privilege e">
            <a:extLst xmlns:a="http://schemas.openxmlformats.org/drawingml/2006/main">
              <a:ext uri="{FF2B5EF4-FFF2-40B4-BE49-F238E27FC236}">
                <a16:creationId xmlns:a16="http://schemas.microsoft.com/office/drawing/2014/main" id="{C9841A36-606B-405E-8C8E-0B242EE02BC7}"/>
              </a:ext>
            </a:extLst>
          </p:cNvPr>
          <p:cNvSpPr>
            <a:spLocks xmlns:a="http://schemas.openxmlformats.org/drawingml/2006/main" noGrp="1"/>
          </p:cNvSpPr>
          <p:nvPr/>
        </p:nvSpPr>
        <p:spPr>
          <a:xfrm xmlns:a="http://schemas.openxmlformats.org/drawingml/2006/main">
            <a:off x="2914650" y="4171950"/>
            <a:ext cx="8362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New application copies must disallow privilege escalation.</a:t>
            </a:r>
          </a:p>
        </p:txBody>
      </p:sp>
      <p:sp>
        <p:nvSpPr>
          <p:cNvPr id="8" name="Deny mode">
            <a:extLst xmlns:a="http://schemas.openxmlformats.org/drawingml/2006/main">
              <a:ext uri="{FF2B5EF4-FFF2-40B4-BE49-F238E27FC236}">
                <a16:creationId xmlns:a16="http://schemas.microsoft.com/office/drawing/2014/main" id="{CD8D97EE-02D5-4526-8563-00BC89848BEB}"/>
              </a:ext>
            </a:extLst>
          </p:cNvPr>
          <p:cNvSpPr>
            <a:spLocks xmlns:a="http://schemas.openxmlformats.org/drawingml/2006/main" noGrp="1"/>
          </p:cNvSpPr>
          <p:nvPr/>
        </p:nvSpPr>
        <p:spPr>
          <a:xfrm xmlns:a="http://schemas.openxmlformats.org/drawingml/2006/main">
            <a:off x="609600" y="4876800"/>
            <a:ext cx="2019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Deny mode</a:t>
            </a:r>
          </a:p>
        </p:txBody>
      </p:sp>
      <p:sp>
        <p:nvSpPr>
          <p:cNvPr id="9" name="Refuse that covered request.">
            <a:extLst xmlns:a="http://schemas.openxmlformats.org/drawingml/2006/main">
              <a:ext uri="{FF2B5EF4-FFF2-40B4-BE49-F238E27FC236}">
                <a16:creationId xmlns:a16="http://schemas.microsoft.com/office/drawing/2014/main" id="{1C47B0B1-7958-48C2-BFF8-90BDC1395FB4}"/>
              </a:ext>
            </a:extLst>
          </p:cNvPr>
          <p:cNvSpPr>
            <a:spLocks xmlns:a="http://schemas.openxmlformats.org/drawingml/2006/main" noGrp="1"/>
          </p:cNvSpPr>
          <p:nvPr/>
        </p:nvSpPr>
        <p:spPr>
          <a:xfrm xmlns:a="http://schemas.openxmlformats.org/drawingml/2006/main">
            <a:off x="2914650" y="4876800"/>
            <a:ext cx="8362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Refuse that covered request.</a:t>
            </a:r>
          </a:p>
        </p:txBody>
      </p:sp>
      <p:sp>
        <p:nvSpPr>
          <p:cNvPr id="10" name="An application already running keeps running. Tr">
            <a:extLst xmlns:a="http://schemas.openxmlformats.org/drawingml/2006/main">
              <a:ext uri="{FF2B5EF4-FFF2-40B4-BE49-F238E27FC236}">
                <a16:creationId xmlns:a16="http://schemas.microsoft.com/office/drawing/2014/main" id="{1FE98648-CF84-463E-923B-FE364B976320}"/>
              </a:ext>
            </a:extLst>
          </p:cNvPr>
          <p:cNvSpPr>
            <a:spLocks xmlns:a="http://schemas.openxmlformats.org/drawingml/2006/main" noGrp="1"/>
          </p:cNvSpPr>
          <p:nvPr/>
        </p:nvSpPr>
        <p:spPr>
          <a:xfrm xmlns:a="http://schemas.openxmlformats.org/drawingml/2006/main">
            <a:off x="628650" y="5695950"/>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B1822"/>
                </a:solidFill>
                <a:latin typeface="Arial"/>
                <a:ea typeface="Arial"/>
                <a:cs typeface="Arial"/>
              </a:defRPr>
            </a:defPPr>
          </a:lstStyle>
          <a:p xmlns:a="http://schemas.openxmlformats.org/drawingml/2006/main">
            <a:pPr>
              <a:defRPr sz="1875" b="1">
                <a:solidFill>
                  <a:srgbClr val="0B1822"/>
                </a:solidFill>
                <a:latin typeface="Arial"/>
                <a:ea typeface="Arial"/>
                <a:cs typeface="Arial"/>
              </a:defRPr>
            </a:pPr>
            <a:r>
              <a:rPr sz="1875" b="1">
                <a:solidFill>
                  <a:srgbClr val="0B1822"/>
                </a:solidFill>
                <a:latin typeface="Arial"/>
                <a:ea typeface="Arial"/>
                <a:cs typeface="Arial"/>
              </a:rPr>
              <a:t>An application already running keeps running. Traffic, management access</a:t>
            </a:r>
          </a:p>
          <a:p xmlns:a="http://schemas.openxmlformats.org/drawingml/2006/main">
            <a:pPr>
              <a:defRPr sz="1875" b="1">
                <a:solidFill>
                  <a:srgbClr val="0B1822"/>
                </a:solidFill>
                <a:latin typeface="Arial"/>
                <a:ea typeface="Arial"/>
                <a:cs typeface="Arial"/>
              </a:defRPr>
            </a:pPr>
            <a:r>
              <a:rPr sz="1875" b="1">
                <a:solidFill>
                  <a:srgbClr val="0B1822"/>
                </a:solidFill>
                <a:latin typeface="Arial"/>
                <a:ea typeface="Arial"/>
                <a:cs typeface="Arial"/>
              </a:rPr>
              <a:t>and agent tools need their own controls.</a:t>
            </a:r>
          </a:p>
        </p:txBody>
      </p:sp>
      <p:sp>
        <p:nvSpPr>
          <p:cNvPr id="11" name="ISC2 SECURITY CONGRESS 2026 / SC2632">
            <a:extLst xmlns:a="http://schemas.openxmlformats.org/drawingml/2006/main">
              <a:ext uri="{FF2B5EF4-FFF2-40B4-BE49-F238E27FC236}">
                <a16:creationId xmlns:a16="http://schemas.microsoft.com/office/drawing/2014/main" id="{33145D6B-D336-4294-98B5-8071C8FF9EA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2" name="03">
            <a:extLst xmlns:a="http://schemas.openxmlformats.org/drawingml/2006/main">
              <a:ext uri="{FF2B5EF4-FFF2-40B4-BE49-F238E27FC236}">
                <a16:creationId xmlns:a16="http://schemas.microsoft.com/office/drawing/2014/main" id="{C05588B7-E709-44D8-9B85-3F053E128B0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03</a:t>
            </a:r>
          </a:p>
        </p:txBody>
      </p:sp>
    </p:spTree>
    <p:extLst>
      <p:ext uri="{BB962C8B-B14F-4D97-AF65-F5344CB8AC3E}">
        <p14:creationId xmlns:p14="http://schemas.microsoft.com/office/powerpoint/2010/main" val="1183585465"/>
      </p:ext>
    </p:extLst>
  </p:cSld>
</p:sld>
</file>

<file path=ppt/slides/slide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1" name="YOUR TABLE / INCIDENT REVIEW TEAM / PLAIN LANGUA">
            <a:extLst xmlns:a="http://schemas.openxmlformats.org/drawingml/2006/main">
              <a:ext uri="{FF2B5EF4-FFF2-40B4-BE49-F238E27FC236}">
                <a16:creationId xmlns:a16="http://schemas.microsoft.com/office/drawing/2014/main" id="{518751C2-3EE6-4EC9-8B2E-BE8A1889C140}"/>
              </a:ext>
            </a:extLst>
          </p:cNvPr>
          <p:cNvSpPr>
            <a:spLocks xmlns:a="http://schemas.openxmlformats.org/drawingml/2006/main" noGrp="1"/>
          </p:cNvSpPr>
          <p:nvPr/>
        </p:nvSpPr>
        <p:spPr>
          <a:xfrm xmlns:a="http://schemas.openxmlformats.org/drawingml/2006/main">
            <a:off x="609600" y="476250"/>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YOUR TABLE / INCIDENT REVIEW TEAM / PLAIN LANGUAGE / NO LAPTOP REQUIRED</a:t>
            </a:r>
          </a:p>
        </p:txBody>
      </p:sp>
      <p:sp>
        <p:nvSpPr>
          <p:cNvPr id="2" name="Your team’s assignment">
            <a:extLst xmlns:a="http://schemas.openxmlformats.org/drawingml/2006/main">
              <a:ext uri="{FF2B5EF4-FFF2-40B4-BE49-F238E27FC236}">
                <a16:creationId xmlns:a16="http://schemas.microsoft.com/office/drawing/2014/main" id="{0875338D-AAE9-4CB3-996B-329FBA4AEED4}"/>
              </a:ext>
            </a:extLst>
          </p:cNvPr>
          <p:cNvSpPr>
            <a:spLocks xmlns:a="http://schemas.openxmlformats.org/drawingml/2006/main" noGrp="1"/>
          </p:cNvSpPr>
          <p:nvPr/>
        </p:nvSpPr>
        <p:spPr>
          <a:xfrm xmlns:a="http://schemas.openxmlformats.org/drawingml/2006/main">
            <a:off x="609600" y="1181100"/>
            <a:ext cx="10858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0B1822"/>
                </a:solidFill>
                <a:latin typeface="Arial Black"/>
                <a:ea typeface="Arial Black"/>
                <a:cs typeface="Arial Black"/>
              </a:defRPr>
            </a:defPPr>
          </a:lstStyle>
          <a:p xmlns:a="http://schemas.openxmlformats.org/drawingml/2006/main">
            <a:pPr>
              <a:defRPr sz="4425" b="1">
                <a:solidFill>
                  <a:srgbClr val="0B1822"/>
                </a:solidFill>
                <a:latin typeface="Arial Black"/>
                <a:ea typeface="Arial Black"/>
                <a:cs typeface="Arial Black"/>
              </a:defRPr>
            </a:pPr>
            <a:r>
              <a:rPr sz="4425" b="1">
                <a:solidFill>
                  <a:srgbClr val="0B1822"/>
                </a:solidFill>
                <a:latin typeface="Arial Black"/>
                <a:ea typeface="Arial Black"/>
                <a:cs typeface="Arial Black"/>
              </a:rPr>
              <a:t>Your team’s assignment</a:t>
            </a:r>
          </a:p>
        </p:txBody>
      </p:sp>
      <p:sp>
        <p:nvSpPr>
          <p:cNvPr id="3" name="Review the proposed controls. Record intent, app">
            <a:extLst xmlns:a="http://schemas.openxmlformats.org/drawingml/2006/main">
              <a:ext uri="{FF2B5EF4-FFF2-40B4-BE49-F238E27FC236}">
                <a16:creationId xmlns:a16="http://schemas.microsoft.com/office/drawing/2014/main" id="{818A5D73-5440-4A52-BAB8-75A8727CE691}"/>
              </a:ext>
            </a:extLst>
          </p:cNvPr>
          <p:cNvSpPr>
            <a:spLocks xmlns:a="http://schemas.openxmlformats.org/drawingml/2006/main" noGrp="1"/>
          </p:cNvSpPr>
          <p:nvPr/>
        </p:nvSpPr>
        <p:spPr>
          <a:xfrm xmlns:a="http://schemas.openxmlformats.org/drawingml/2006/main">
            <a:off x="628650" y="2352675"/>
            <a:ext cx="1085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B1822"/>
                </a:solidFill>
                <a:latin typeface="Arial"/>
                <a:ea typeface="Arial"/>
                <a:cs typeface="Arial"/>
              </a:defRPr>
            </a:defPPr>
          </a:lstStyle>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Review the proposed controls. Record intent, approval conditions,</a:t>
            </a:r>
          </a:p>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containment order and recovery criteria on page 6.</a:t>
            </a:r>
          </a:p>
        </p:txBody>
      </p:sp>
      <p:sp>
        <p:nvSpPr>
          <p:cNvPr id="4" name="YOUR MATERIALS">
            <a:extLst xmlns:a="http://schemas.openxmlformats.org/drawingml/2006/main">
              <a:ext uri="{FF2B5EF4-FFF2-40B4-BE49-F238E27FC236}">
                <a16:creationId xmlns:a16="http://schemas.microsoft.com/office/drawing/2014/main" id="{4B98CA87-C586-4A8A-B401-A4CDBB2A40EE}"/>
              </a:ext>
            </a:extLst>
          </p:cNvPr>
          <p:cNvSpPr>
            <a:spLocks xmlns:a="http://schemas.openxmlformats.org/drawingml/2006/main" noGrp="1"/>
          </p:cNvSpPr>
          <p:nvPr/>
        </p:nvSpPr>
        <p:spPr>
          <a:xfrm xmlns:a="http://schemas.openxmlformats.org/drawingml/2006/main">
            <a:off x="628650" y="3543300"/>
            <a:ext cx="5191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YOUR MATERIALS</a:t>
            </a:r>
          </a:p>
        </p:txBody>
      </p:sp>
      <p:sp>
        <p:nvSpPr>
          <p:cNvPr id="5" name="Case cards and proposal excerpts&#10;Page 6: shared ">
            <a:extLst xmlns:a="http://schemas.openxmlformats.org/drawingml/2006/main">
              <a:ext uri="{FF2B5EF4-FFF2-40B4-BE49-F238E27FC236}">
                <a16:creationId xmlns:a16="http://schemas.microsoft.com/office/drawing/2014/main" id="{ADFAA50E-B3A1-447F-9EC0-6A58546FF45E}"/>
              </a:ext>
            </a:extLst>
          </p:cNvPr>
          <p:cNvSpPr>
            <a:spLocks xmlns:a="http://schemas.openxmlformats.org/drawingml/2006/main" noGrp="1"/>
          </p:cNvSpPr>
          <p:nvPr/>
        </p:nvSpPr>
        <p:spPr>
          <a:xfrm xmlns:a="http://schemas.openxmlformats.org/drawingml/2006/main">
            <a:off x="628650" y="4010025"/>
            <a:ext cx="5362575"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0B1822"/>
                </a:solidFill>
                <a:latin typeface="Arial"/>
                <a:ea typeface="Arial"/>
                <a:cs typeface="Arial"/>
              </a:defRPr>
            </a:defPPr>
          </a:lstStyle>
          <a:p xmlns:a="http://schemas.openxmlformats.org/drawingml/2006/main">
            <a:pPr>
              <a:defRPr sz="2100" b="0">
                <a:solidFill>
                  <a:srgbClr val="0B1822"/>
                </a:solidFill>
                <a:latin typeface="Arial"/>
                <a:ea typeface="Arial"/>
                <a:cs typeface="Arial"/>
              </a:defRPr>
            </a:pPr>
            <a:r>
              <a:rPr sz="2100" b="0">
                <a:solidFill>
                  <a:srgbClr val="0B1822"/>
                </a:solidFill>
                <a:latin typeface="Arial"/>
                <a:ea typeface="Arial"/>
                <a:cs typeface="Arial"/>
              </a:rPr>
              <a:t>Case cards and proposal excerpts</a:t>
            </a:r>
          </a:p>
          <a:p xmlns:a="http://schemas.openxmlformats.org/drawingml/2006/main">
            <a:pPr>
              <a:defRPr sz="2100" b="0">
                <a:solidFill>
                  <a:srgbClr val="0B1822"/>
                </a:solidFill>
                <a:latin typeface="Arial"/>
                <a:ea typeface="Arial"/>
                <a:cs typeface="Arial"/>
              </a:defRPr>
            </a:pPr>
            <a:r>
              <a:rPr sz="2100" b="0">
                <a:solidFill>
                  <a:srgbClr val="0B1822"/>
                </a:solidFill>
                <a:latin typeface="Arial"/>
                <a:ea typeface="Arial"/>
                <a:cs typeface="Arial"/>
              </a:rPr>
              <a:t>Page 6: shared decision record</a:t>
            </a:r>
          </a:p>
          <a:p xmlns:a="http://schemas.openxmlformats.org/drawingml/2006/main">
            <a:pPr>
              <a:defRPr sz="2100" b="0">
                <a:solidFill>
                  <a:srgbClr val="0B1822"/>
                </a:solidFill>
                <a:latin typeface="Arial"/>
                <a:ea typeface="Arial"/>
                <a:cs typeface="Arial"/>
              </a:defRPr>
            </a:pPr>
            <a:r>
              <a:rPr sz="2100" b="0">
                <a:solidFill>
                  <a:srgbClr val="0B1822"/>
                </a:solidFill>
                <a:latin typeface="Arial"/>
                <a:ea typeface="Arial"/>
                <a:cs typeface="Arial"/>
              </a:rPr>
              <a:t>Sealed updates and review findings</a:t>
            </a:r>
          </a:p>
        </p:txBody>
      </p:sp>
      <p:sp>
        <p:nvSpPr>
          <p:cNvPr id="6" name="IN EACH ROUND">
            <a:extLst xmlns:a="http://schemas.openxmlformats.org/drawingml/2006/main">
              <a:ext uri="{FF2B5EF4-FFF2-40B4-BE49-F238E27FC236}">
                <a16:creationId xmlns:a16="http://schemas.microsoft.com/office/drawing/2014/main" id="{A9014520-A253-4324-8768-4C5D7A8EC3AF}"/>
              </a:ext>
            </a:extLst>
          </p:cNvPr>
          <p:cNvSpPr>
            <a:spLocks xmlns:a="http://schemas.openxmlformats.org/drawingml/2006/main" noGrp="1"/>
          </p:cNvSpPr>
          <p:nvPr/>
        </p:nvSpPr>
        <p:spPr>
          <a:xfrm xmlns:a="http://schemas.openxmlformats.org/drawingml/2006/main">
            <a:off x="6686550" y="3543300"/>
            <a:ext cx="4762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IN EACH ROUND</a:t>
            </a:r>
          </a:p>
        </p:txBody>
      </p:sp>
      <p:sp>
        <p:nvSpPr>
          <p:cNvPr id="7" name="Discuss. Record before the reveal.&#10;Hear the new ">
            <a:extLst xmlns:a="http://schemas.openxmlformats.org/drawingml/2006/main">
              <a:ext uri="{FF2B5EF4-FFF2-40B4-BE49-F238E27FC236}">
                <a16:creationId xmlns:a16="http://schemas.microsoft.com/office/drawing/2014/main" id="{12C0F35D-4EEB-461D-908D-2F3F87FF6814}"/>
              </a:ext>
            </a:extLst>
          </p:cNvPr>
          <p:cNvSpPr>
            <a:spLocks xmlns:a="http://schemas.openxmlformats.org/drawingml/2006/main" noGrp="1"/>
          </p:cNvSpPr>
          <p:nvPr/>
        </p:nvSpPr>
        <p:spPr>
          <a:xfrm xmlns:a="http://schemas.openxmlformats.org/drawingml/2006/main">
            <a:off x="6686550" y="4010025"/>
            <a:ext cx="48196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0B1822"/>
                </a:solidFill>
                <a:latin typeface="Arial"/>
                <a:ea typeface="Arial"/>
                <a:cs typeface="Arial"/>
              </a:defRPr>
            </a:defPPr>
          </a:lstStyle>
          <a:p xmlns:a="http://schemas.openxmlformats.org/drawingml/2006/main">
            <a:pPr>
              <a:defRPr sz="2100" b="0">
                <a:solidFill>
                  <a:srgbClr val="0B1822"/>
                </a:solidFill>
                <a:latin typeface="Arial"/>
                <a:ea typeface="Arial"/>
                <a:cs typeface="Arial"/>
              </a:defRPr>
            </a:pPr>
            <a:r>
              <a:rPr sz="2100" b="0">
                <a:solidFill>
                  <a:srgbClr val="0B1822"/>
                </a:solidFill>
                <a:latin typeface="Arial"/>
                <a:ea typeface="Arial"/>
                <a:cs typeface="Arial"/>
              </a:rPr>
              <a:t>Discuss. Record before the reveal.</a:t>
            </a:r>
          </a:p>
          <a:p xmlns:a="http://schemas.openxmlformats.org/drawingml/2006/main">
            <a:pPr>
              <a:defRPr sz="2100" b="0">
                <a:solidFill>
                  <a:srgbClr val="0B1822"/>
                </a:solidFill>
                <a:latin typeface="Arial"/>
                <a:ea typeface="Arial"/>
                <a:cs typeface="Arial"/>
              </a:defRPr>
            </a:pPr>
            <a:r>
              <a:rPr sz="2100" b="0">
                <a:solidFill>
                  <a:srgbClr val="0B1822"/>
                </a:solidFill>
                <a:latin typeface="Arial"/>
                <a:ea typeface="Arial"/>
                <a:cs typeface="Arial"/>
              </a:rPr>
              <a:t>Hear the new evidence.</a:t>
            </a:r>
          </a:p>
          <a:p xmlns:a="http://schemas.openxmlformats.org/drawingml/2006/main">
            <a:pPr>
              <a:defRPr sz="2100" b="0">
                <a:solidFill>
                  <a:srgbClr val="0B1822"/>
                </a:solidFill>
                <a:latin typeface="Arial"/>
                <a:ea typeface="Arial"/>
                <a:cs typeface="Arial"/>
              </a:defRPr>
            </a:pPr>
            <a:r>
              <a:rPr sz="2100" b="0">
                <a:solidFill>
                  <a:srgbClr val="0B1822"/>
                </a:solidFill>
                <a:latin typeface="Arial"/>
                <a:ea typeface="Arial"/>
                <a:cs typeface="Arial"/>
              </a:rPr>
              <a:t>Revise beside the original answer.</a:t>
            </a:r>
          </a:p>
        </p:txBody>
      </p:sp>
      <p:sp>
        <p:nvSpPr>
          <p:cNvPr id="8" name="Milind demonstrates the compiler and policy cons">
            <a:extLst xmlns:a="http://schemas.openxmlformats.org/drawingml/2006/main">
              <a:ext uri="{FF2B5EF4-FFF2-40B4-BE49-F238E27FC236}">
                <a16:creationId xmlns:a16="http://schemas.microsoft.com/office/drawing/2014/main" id="{41AD96F0-8FED-495D-8B12-71D1AC3BD60E}"/>
              </a:ext>
            </a:extLst>
          </p:cNvPr>
          <p:cNvSpPr>
            <a:spLocks xmlns:a="http://schemas.openxmlformats.org/drawingml/2006/main" noGrp="1"/>
          </p:cNvSpPr>
          <p:nvPr/>
        </p:nvSpPr>
        <p:spPr>
          <a:xfrm xmlns:a="http://schemas.openxmlformats.org/drawingml/2006/main">
            <a:off x="628650" y="5467350"/>
            <a:ext cx="1081087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Milind demonstrates the compiler and policy consequences.</a:t>
            </a:r>
          </a:p>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Vivek leads proposal reviews and evidence reveals. Both co-present the debrief.</a:t>
            </a:r>
          </a:p>
        </p:txBody>
      </p:sp>
      <p:sp>
        <p:nvSpPr>
          <p:cNvPr id="9" name="ISC2 SECURITY CONGRESS 2026 / SC2632">
            <a:extLst xmlns:a="http://schemas.openxmlformats.org/drawingml/2006/main">
              <a:ext uri="{FF2B5EF4-FFF2-40B4-BE49-F238E27FC236}">
                <a16:creationId xmlns:a16="http://schemas.microsoft.com/office/drawing/2014/main" id="{5523614C-A514-4046-9F2F-E6D7409DE83A}"/>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0" name="04">
            <a:extLst xmlns:a="http://schemas.openxmlformats.org/drawingml/2006/main">
              <a:ext uri="{FF2B5EF4-FFF2-40B4-BE49-F238E27FC236}">
                <a16:creationId xmlns:a16="http://schemas.microsoft.com/office/drawing/2014/main" id="{3BC126BA-B29E-46C8-938E-FF40CA2DFC1C}"/>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04</a:t>
            </a:r>
          </a:p>
        </p:txBody>
      </p:sp>
    </p:spTree>
    <p:extLst>
      <p:ext uri="{BB962C8B-B14F-4D97-AF65-F5344CB8AC3E}">
        <p14:creationId xmlns:p14="http://schemas.microsoft.com/office/powerpoint/2010/main" val="2052434774"/>
      </p:ext>
    </p:extLst>
  </p:cSld>
</p:sld>
</file>

<file path=ppt/slides/slide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8" name="CHOOSE ONE CASE / PARTICIPANT PACK PAGES 2–5">
            <a:extLst xmlns:a="http://schemas.openxmlformats.org/drawingml/2006/main">
              <a:ext uri="{FF2B5EF4-FFF2-40B4-BE49-F238E27FC236}">
                <a16:creationId xmlns:a16="http://schemas.microsoft.com/office/drawing/2014/main" id="{ED3BEF47-61A8-4DE4-9AEF-B7594E99F521}"/>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CHOOSE ONE CASE / PARTICIPANT PACK PAGES 2–5</a:t>
            </a:r>
          </a:p>
        </p:txBody>
      </p:sp>
      <p:sp>
        <p:nvSpPr>
          <p:cNvPr id="2" name="Four prepared scenarios">
            <a:extLst xmlns:a="http://schemas.openxmlformats.org/drawingml/2006/main">
              <a:ext uri="{FF2B5EF4-FFF2-40B4-BE49-F238E27FC236}">
                <a16:creationId xmlns:a16="http://schemas.microsoft.com/office/drawing/2014/main" id="{0DF142C8-2024-4218-A4B0-97EFED67388D}"/>
              </a:ext>
            </a:extLst>
          </p:cNvPr>
          <p:cNvSpPr>
            <a:spLocks xmlns:a="http://schemas.openxmlformats.org/drawingml/2006/main" noGrp="1"/>
          </p:cNvSpPr>
          <p:nvPr/>
        </p:nvSpPr>
        <p:spPr>
          <a:xfrm xmlns:a="http://schemas.openxmlformats.org/drawingml/2006/main">
            <a:off x="609600" y="10763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stStyle>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Four prepared scenarios</a:t>
            </a:r>
          </a:p>
        </p:txBody>
      </p:sp>
      <p:sp>
        <p:nvSpPr>
          <p:cNvPr id="3" name="A">
            <a:extLst xmlns:a="http://schemas.openxmlformats.org/drawingml/2006/main">
              <a:ext uri="{FF2B5EF4-FFF2-40B4-BE49-F238E27FC236}">
                <a16:creationId xmlns:a16="http://schemas.microsoft.com/office/drawing/2014/main" id="{E967D340-1EE8-4CBE-9B8A-814A54C36D9D}"/>
              </a:ext>
            </a:extLst>
          </p:cNvPr>
          <p:cNvSpPr>
            <a:spLocks xmlns:a="http://schemas.openxmlformats.org/drawingml/2006/main" noGrp="1"/>
          </p:cNvSpPr>
          <p:nvPr/>
        </p:nvSpPr>
        <p:spPr>
          <a:xfrm xmlns:a="http://schemas.openxmlformats.org/drawingml/2006/main">
            <a:off x="628650" y="23431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A</a:t>
            </a:r>
          </a:p>
        </p:txBody>
      </p:sp>
      <p:sp>
        <p:nvSpPr>
          <p:cNvPr id="4" name="Library update">
            <a:extLst xmlns:a="http://schemas.openxmlformats.org/drawingml/2006/main">
              <a:ext uri="{FF2B5EF4-FFF2-40B4-BE49-F238E27FC236}">
                <a16:creationId xmlns:a16="http://schemas.microsoft.com/office/drawing/2014/main" id="{1BDB993E-8E28-4C0C-BB2F-8FDC1D18BC2E}"/>
              </a:ext>
            </a:extLst>
          </p:cNvPr>
          <p:cNvSpPr>
            <a:spLocks xmlns:a="http://schemas.openxmlformats.org/drawingml/2006/main" noGrp="1"/>
          </p:cNvSpPr>
          <p:nvPr/>
        </p:nvSpPr>
        <p:spPr>
          <a:xfrm xmlns:a="http://schemas.openxmlformats.org/drawingml/2006/main">
            <a:off x="1876425" y="23812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Library update</a:t>
            </a:r>
          </a:p>
        </p:txBody>
      </p:sp>
      <p:sp>
        <p:nvSpPr>
          <p:cNvPr id="5" name="A library update and unexpected payments traffic">
            <a:extLst xmlns:a="http://schemas.openxmlformats.org/drawingml/2006/main">
              <a:ext uri="{FF2B5EF4-FFF2-40B4-BE49-F238E27FC236}">
                <a16:creationId xmlns:a16="http://schemas.microsoft.com/office/drawing/2014/main" id="{8ED0B7D8-ABBA-4689-8B7B-14B99EFE363B}"/>
              </a:ext>
            </a:extLst>
          </p:cNvPr>
          <p:cNvSpPr>
            <a:spLocks xmlns:a="http://schemas.openxmlformats.org/drawingml/2006/main" noGrp="1"/>
          </p:cNvSpPr>
          <p:nvPr/>
        </p:nvSpPr>
        <p:spPr>
          <a:xfrm xmlns:a="http://schemas.openxmlformats.org/drawingml/2006/main">
            <a:off x="6915150" y="23812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library update and unexpected payments traffic</a:t>
            </a:r>
          </a:p>
        </p:txBody>
      </p:sp>
      <p:sp>
        <p:nvSpPr>
          <p:cNvPr id="6" name="B">
            <a:extLst xmlns:a="http://schemas.openxmlformats.org/drawingml/2006/main">
              <a:ext uri="{FF2B5EF4-FFF2-40B4-BE49-F238E27FC236}">
                <a16:creationId xmlns:a16="http://schemas.microsoft.com/office/drawing/2014/main" id="{680E66CE-A075-4DF8-B24D-89F9960C0E0C}"/>
              </a:ext>
            </a:extLst>
          </p:cNvPr>
          <p:cNvSpPr>
            <a:spLocks xmlns:a="http://schemas.openxmlformats.org/drawingml/2006/main" noGrp="1"/>
          </p:cNvSpPr>
          <p:nvPr/>
        </p:nvSpPr>
        <p:spPr>
          <a:xfrm xmlns:a="http://schemas.openxmlformats.org/drawingml/2006/main">
            <a:off x="628650" y="32004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B</a:t>
            </a:r>
          </a:p>
        </p:txBody>
      </p:sp>
      <p:sp>
        <p:nvSpPr>
          <p:cNvPr id="7" name="Support assistant">
            <a:extLst xmlns:a="http://schemas.openxmlformats.org/drawingml/2006/main">
              <a:ext uri="{FF2B5EF4-FFF2-40B4-BE49-F238E27FC236}">
                <a16:creationId xmlns:a16="http://schemas.microsoft.com/office/drawing/2014/main" id="{DE00A931-86C8-4ED9-9A7D-CAF005DFBC89}"/>
              </a:ext>
            </a:extLst>
          </p:cNvPr>
          <p:cNvSpPr>
            <a:spLocks xmlns:a="http://schemas.openxmlformats.org/drawingml/2006/main" noGrp="1"/>
          </p:cNvSpPr>
          <p:nvPr/>
        </p:nvSpPr>
        <p:spPr>
          <a:xfrm xmlns:a="http://schemas.openxmlformats.org/drawingml/2006/main">
            <a:off x="1876425" y="32385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Support assistant</a:t>
            </a:r>
          </a:p>
        </p:txBody>
      </p:sp>
      <p:sp>
        <p:nvSpPr>
          <p:cNvPr id="8" name="A ticket-reading assistant and unexpected tool a">
            <a:extLst xmlns:a="http://schemas.openxmlformats.org/drawingml/2006/main">
              <a:ext uri="{FF2B5EF4-FFF2-40B4-BE49-F238E27FC236}">
                <a16:creationId xmlns:a16="http://schemas.microsoft.com/office/drawing/2014/main" id="{7E34B91A-D7F3-4EF7-846C-C9C731CD8D24}"/>
              </a:ext>
            </a:extLst>
          </p:cNvPr>
          <p:cNvSpPr>
            <a:spLocks xmlns:a="http://schemas.openxmlformats.org/drawingml/2006/main" noGrp="1"/>
          </p:cNvSpPr>
          <p:nvPr/>
        </p:nvSpPr>
        <p:spPr>
          <a:xfrm xmlns:a="http://schemas.openxmlformats.org/drawingml/2006/main">
            <a:off x="6915150" y="32385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ticket-reading assistant and unexpected tool activity</a:t>
            </a:r>
          </a:p>
        </p:txBody>
      </p:sp>
      <p:sp>
        <p:nvSpPr>
          <p:cNvPr id="9" name="C">
            <a:extLst xmlns:a="http://schemas.openxmlformats.org/drawingml/2006/main">
              <a:ext uri="{FF2B5EF4-FFF2-40B4-BE49-F238E27FC236}">
                <a16:creationId xmlns:a16="http://schemas.microsoft.com/office/drawing/2014/main" id="{8CD07569-388D-4E12-B730-5374FF5618B3}"/>
              </a:ext>
            </a:extLst>
          </p:cNvPr>
          <p:cNvSpPr>
            <a:spLocks xmlns:a="http://schemas.openxmlformats.org/drawingml/2006/main" noGrp="1"/>
          </p:cNvSpPr>
          <p:nvPr/>
        </p:nvSpPr>
        <p:spPr>
          <a:xfrm xmlns:a="http://schemas.openxmlformats.org/drawingml/2006/main">
            <a:off x="628650" y="405765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087E79"/>
                </a:solidFill>
                <a:latin typeface="Arial Black"/>
                <a:ea typeface="Arial Black"/>
                <a:cs typeface="Arial Black"/>
              </a:defRPr>
            </a:defPPr>
          </a:lstStyle>
          <a:p xmlns:a="http://schemas.openxmlformats.org/drawingml/2006/main">
            <a:pPr>
              <a:defRPr sz="4725" b="1">
                <a:solidFill>
                  <a:srgbClr val="087E79"/>
                </a:solidFill>
                <a:latin typeface="Arial Black"/>
                <a:ea typeface="Arial Black"/>
                <a:cs typeface="Arial Black"/>
              </a:defRPr>
            </a:pPr>
            <a:r>
              <a:rPr sz="4725" b="1">
                <a:solidFill>
                  <a:srgbClr val="087E79"/>
                </a:solidFill>
                <a:latin typeface="Arial Black"/>
                <a:ea typeface="Arial Black"/>
                <a:cs typeface="Arial Black"/>
              </a:rPr>
              <a:t>C</a:t>
            </a:r>
          </a:p>
        </p:txBody>
      </p:sp>
      <p:sp>
        <p:nvSpPr>
          <p:cNvPr id="10" name="Unexpected changes">
            <a:extLst xmlns:a="http://schemas.openxmlformats.org/drawingml/2006/main">
              <a:ext uri="{FF2B5EF4-FFF2-40B4-BE49-F238E27FC236}">
                <a16:creationId xmlns:a16="http://schemas.microsoft.com/office/drawing/2014/main" id="{4B7E1F81-2748-432D-8A08-09CE62D0F60F}"/>
              </a:ext>
            </a:extLst>
          </p:cNvPr>
          <p:cNvSpPr>
            <a:spLocks xmlns:a="http://schemas.openxmlformats.org/drawingml/2006/main" noGrp="1"/>
          </p:cNvSpPr>
          <p:nvPr/>
        </p:nvSpPr>
        <p:spPr>
          <a:xfrm xmlns:a="http://schemas.openxmlformats.org/drawingml/2006/main">
            <a:off x="1876425" y="409575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Unexpected changes</a:t>
            </a:r>
          </a:p>
        </p:txBody>
      </p:sp>
      <p:sp>
        <p:nvSpPr>
          <p:cNvPr id="11" name="An ops agent changes application copies without ">
            <a:extLst xmlns:a="http://schemas.openxmlformats.org/drawingml/2006/main">
              <a:ext uri="{FF2B5EF4-FFF2-40B4-BE49-F238E27FC236}">
                <a16:creationId xmlns:a16="http://schemas.microsoft.com/office/drawing/2014/main" id="{EC85DDC8-4568-4CB3-A3BD-B42C0F611641}"/>
              </a:ext>
            </a:extLst>
          </p:cNvPr>
          <p:cNvSpPr>
            <a:spLocks xmlns:a="http://schemas.openxmlformats.org/drawingml/2006/main" noGrp="1"/>
          </p:cNvSpPr>
          <p:nvPr/>
        </p:nvSpPr>
        <p:spPr>
          <a:xfrm xmlns:a="http://schemas.openxmlformats.org/drawingml/2006/main">
            <a:off x="6915150" y="409575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An ops agent changes application copies without a ticket</a:t>
            </a:r>
          </a:p>
        </p:txBody>
      </p:sp>
      <p:sp>
        <p:nvSpPr>
          <p:cNvPr id="12" name="D">
            <a:extLst xmlns:a="http://schemas.openxmlformats.org/drawingml/2006/main">
              <a:ext uri="{FF2B5EF4-FFF2-40B4-BE49-F238E27FC236}">
                <a16:creationId xmlns:a16="http://schemas.microsoft.com/office/drawing/2014/main" id="{FEF5EB48-7CD6-4C73-BAD7-E90A42368837}"/>
              </a:ext>
            </a:extLst>
          </p:cNvPr>
          <p:cNvSpPr>
            <a:spLocks xmlns:a="http://schemas.openxmlformats.org/drawingml/2006/main" noGrp="1"/>
          </p:cNvSpPr>
          <p:nvPr/>
        </p:nvSpPr>
        <p:spPr>
          <a:xfrm xmlns:a="http://schemas.openxmlformats.org/drawingml/2006/main">
            <a:off x="628650" y="4914900"/>
            <a:ext cx="857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725" b="1">
                <a:solidFill>
                  <a:srgbClr val="FF795B"/>
                </a:solidFill>
                <a:latin typeface="Arial Black"/>
                <a:ea typeface="Arial Black"/>
                <a:cs typeface="Arial Black"/>
              </a:defRPr>
            </a:defPPr>
          </a:lstStyle>
          <a:p xmlns:a="http://schemas.openxmlformats.org/drawingml/2006/main">
            <a:pPr>
              <a:defRPr sz="4725" b="1">
                <a:solidFill>
                  <a:srgbClr val="FF795B"/>
                </a:solidFill>
                <a:latin typeface="Arial Black"/>
                <a:ea typeface="Arial Black"/>
                <a:cs typeface="Arial Black"/>
              </a:defRPr>
            </a:pPr>
            <a:r>
              <a:rPr sz="4725" b="1">
                <a:solidFill>
                  <a:srgbClr val="FF795B"/>
                </a:solidFill>
                <a:latin typeface="Arial Black"/>
                <a:ea typeface="Arial Black"/>
                <a:cs typeface="Arial Black"/>
              </a:rPr>
              <a:t>D</a:t>
            </a:r>
          </a:p>
        </p:txBody>
      </p:sp>
      <p:sp>
        <p:nvSpPr>
          <p:cNvPr id="13" name="Credential access">
            <a:extLst xmlns:a="http://schemas.openxmlformats.org/drawingml/2006/main">
              <a:ext uri="{FF2B5EF4-FFF2-40B4-BE49-F238E27FC236}">
                <a16:creationId xmlns:a16="http://schemas.microsoft.com/office/drawing/2014/main" id="{4C4BDC75-170A-45E0-B24D-C807007A04D2}"/>
              </a:ext>
            </a:extLst>
          </p:cNvPr>
          <p:cNvSpPr>
            <a:spLocks xmlns:a="http://schemas.openxmlformats.org/drawingml/2006/main" noGrp="1"/>
          </p:cNvSpPr>
          <p:nvPr/>
        </p:nvSpPr>
        <p:spPr>
          <a:xfrm xmlns:a="http://schemas.openxmlformats.org/drawingml/2006/main">
            <a:off x="1876425" y="4953000"/>
            <a:ext cx="4762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Credential access</a:t>
            </a:r>
          </a:p>
        </p:txBody>
      </p:sp>
      <p:sp>
        <p:nvSpPr>
          <p:cNvPr id="14" name="A monitoring identity lists credential records a">
            <a:extLst xmlns:a="http://schemas.openxmlformats.org/drawingml/2006/main">
              <a:ext uri="{FF2B5EF4-FFF2-40B4-BE49-F238E27FC236}">
                <a16:creationId xmlns:a16="http://schemas.microsoft.com/office/drawing/2014/main" id="{076E769C-2164-426F-BBF0-38DD6560BB5D}"/>
              </a:ext>
            </a:extLst>
          </p:cNvPr>
          <p:cNvSpPr>
            <a:spLocks xmlns:a="http://schemas.openxmlformats.org/drawingml/2006/main" noGrp="1"/>
          </p:cNvSpPr>
          <p:nvPr/>
        </p:nvSpPr>
        <p:spPr>
          <a:xfrm xmlns:a="http://schemas.openxmlformats.org/drawingml/2006/main">
            <a:off x="6915150" y="4953000"/>
            <a:ext cx="4572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A monitoring identity lists credential records across groups</a:t>
            </a:r>
          </a:p>
        </p:txBody>
      </p:sp>
      <p:sp>
        <p:nvSpPr>
          <p:cNvPr id="15" name="Choose as a team. Keep the sealed updates closed">
            <a:extLst xmlns:a="http://schemas.openxmlformats.org/drawingml/2006/main">
              <a:ext uri="{FF2B5EF4-FFF2-40B4-BE49-F238E27FC236}">
                <a16:creationId xmlns:a16="http://schemas.microsoft.com/office/drawing/2014/main" id="{E3200476-0FCA-4317-B12D-92FAA89059F7}"/>
              </a:ext>
            </a:extLst>
          </p:cNvPr>
          <p:cNvSpPr>
            <a:spLocks xmlns:a="http://schemas.openxmlformats.org/drawingml/2006/main" noGrp="1"/>
          </p:cNvSpPr>
          <p:nvPr/>
        </p:nvSpPr>
        <p:spPr>
          <a:xfrm xmlns:a="http://schemas.openxmlformats.org/drawingml/2006/main">
            <a:off x="628650" y="59912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87E79"/>
                </a:solidFill>
                <a:latin typeface="Arial"/>
                <a:ea typeface="Arial"/>
                <a:cs typeface="Arial"/>
              </a:defRPr>
            </a:defPPr>
          </a:lstStyle>
          <a:p xmlns:a="http://schemas.openxmlformats.org/drawingml/2006/main">
            <a:pPr>
              <a:defRPr sz="1725" b="1">
                <a:solidFill>
                  <a:srgbClr val="087E79"/>
                </a:solidFill>
                <a:latin typeface="Arial"/>
                <a:ea typeface="Arial"/>
                <a:cs typeface="Arial"/>
              </a:defRPr>
            </a:pPr>
            <a:r>
              <a:rPr sz="1725" b="1">
                <a:solidFill>
                  <a:srgbClr val="087E79"/>
                </a:solidFill>
                <a:latin typeface="Arial"/>
                <a:ea typeface="Arial"/>
                <a:cs typeface="Arial"/>
              </a:rPr>
              <a:t>Choose as a team. Keep the sealed updates closed until the round opens.</a:t>
            </a:r>
          </a:p>
        </p:txBody>
      </p:sp>
      <p:sp>
        <p:nvSpPr>
          <p:cNvPr id="16" name="ISC2 SECURITY CONGRESS 2026 / SC2632">
            <a:extLst xmlns:a="http://schemas.openxmlformats.org/drawingml/2006/main">
              <a:ext uri="{FF2B5EF4-FFF2-40B4-BE49-F238E27FC236}">
                <a16:creationId xmlns:a16="http://schemas.microsoft.com/office/drawing/2014/main" id="{8E3915DB-DF86-4321-899C-101035568FD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7" name="05">
            <a:extLst xmlns:a="http://schemas.openxmlformats.org/drawingml/2006/main">
              <a:ext uri="{FF2B5EF4-FFF2-40B4-BE49-F238E27FC236}">
                <a16:creationId xmlns:a16="http://schemas.microsoft.com/office/drawing/2014/main" id="{4D791DBE-B0F1-4C41-9E4D-63685A566F2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05</a:t>
            </a:r>
          </a:p>
        </p:txBody>
      </p:sp>
    </p:spTree>
    <p:extLst>
      <p:ext uri="{BB962C8B-B14F-4D97-AF65-F5344CB8AC3E}">
        <p14:creationId xmlns:p14="http://schemas.microsoft.com/office/powerpoint/2010/main" val="2109464193"/>
      </p:ext>
    </p:extLst>
  </p:cSld>
</p:sld>
</file>

<file path=ppt/slides/slide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4" name="RECORD THE OPERATIONAL CONSTRAINT">
            <a:extLst xmlns:a="http://schemas.openxmlformats.org/drawingml/2006/main">
              <a:ext uri="{FF2B5EF4-FFF2-40B4-BE49-F238E27FC236}">
                <a16:creationId xmlns:a16="http://schemas.microsoft.com/office/drawing/2014/main" id="{4880DE6C-D613-4EB5-92FE-84DC8DAD89AD}"/>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 THE OPERATIONAL CONSTRAINT</a:t>
            </a:r>
          </a:p>
        </p:txBody>
      </p:sp>
      <p:sp>
        <p:nvSpPr>
          <p:cNvPr id="2" name="Operational constraints">
            <a:extLst xmlns:a="http://schemas.openxmlformats.org/drawingml/2006/main">
              <a:ext uri="{FF2B5EF4-FFF2-40B4-BE49-F238E27FC236}">
                <a16:creationId xmlns:a16="http://schemas.microsoft.com/office/drawing/2014/main" id="{BB6DC624-52A4-4627-8EE4-70E51711F822}"/>
              </a:ext>
            </a:extLst>
          </p:cNvPr>
          <p:cNvSpPr>
            <a:spLocks xmlns:a="http://schemas.openxmlformats.org/drawingml/2006/main" noGrp="1"/>
          </p:cNvSpPr>
          <p:nvPr/>
        </p:nvSpPr>
        <p:spPr>
          <a:xfrm xmlns:a="http://schemas.openxmlformats.org/drawingml/2006/main">
            <a:off x="609600" y="1190625"/>
            <a:ext cx="10668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0B1822"/>
                </a:solidFill>
                <a:latin typeface="Arial Black"/>
                <a:ea typeface="Arial Black"/>
                <a:cs typeface="Arial Black"/>
              </a:defRPr>
            </a:defPPr>
          </a:lstStyle>
          <a:p xmlns:a="http://schemas.openxmlformats.org/drawingml/2006/main">
            <a:pPr>
              <a:defRPr sz="4050" b="1">
                <a:solidFill>
                  <a:srgbClr val="0B1822"/>
                </a:solidFill>
                <a:latin typeface="Arial Black"/>
                <a:ea typeface="Arial Black"/>
                <a:cs typeface="Arial Black"/>
              </a:defRPr>
            </a:pPr>
            <a:r>
              <a:rPr sz="4050" b="1">
                <a:solidFill>
                  <a:srgbClr val="0B1822"/>
                </a:solidFill>
                <a:latin typeface="Arial Black"/>
                <a:ea typeface="Arial Black"/>
                <a:cs typeface="Arial Black"/>
              </a:rPr>
              <a:t>Operational constraints</a:t>
            </a:r>
          </a:p>
        </p:txBody>
      </p:sp>
      <p:sp>
        <p:nvSpPr>
          <p:cNvPr id="3" name="Availability">
            <a:extLst xmlns:a="http://schemas.openxmlformats.org/drawingml/2006/main">
              <a:ext uri="{FF2B5EF4-FFF2-40B4-BE49-F238E27FC236}">
                <a16:creationId xmlns:a16="http://schemas.microsoft.com/office/drawing/2014/main" id="{E323B236-5AEB-45E0-852F-BE54D7EACAE3}"/>
              </a:ext>
            </a:extLst>
          </p:cNvPr>
          <p:cNvSpPr>
            <a:spLocks xmlns:a="http://schemas.openxmlformats.org/drawingml/2006/main" noGrp="1"/>
          </p:cNvSpPr>
          <p:nvPr/>
        </p:nvSpPr>
        <p:spPr>
          <a:xfrm xmlns:a="http://schemas.openxmlformats.org/drawingml/2006/main">
            <a:off x="609600" y="2771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Availability</a:t>
            </a:r>
          </a:p>
        </p:txBody>
      </p:sp>
      <p:sp>
        <p:nvSpPr>
          <p:cNvPr id="4" name="Keep two healthy application copies and required">
            <a:extLst xmlns:a="http://schemas.openxmlformats.org/drawingml/2006/main">
              <a:ext uri="{FF2B5EF4-FFF2-40B4-BE49-F238E27FC236}">
                <a16:creationId xmlns:a16="http://schemas.microsoft.com/office/drawing/2014/main" id="{F36591A1-ACEB-4343-95F9-75C19ED737F9}"/>
              </a:ext>
            </a:extLst>
          </p:cNvPr>
          <p:cNvSpPr>
            <a:spLocks xmlns:a="http://schemas.openxmlformats.org/drawingml/2006/main" noGrp="1"/>
          </p:cNvSpPr>
          <p:nvPr/>
        </p:nvSpPr>
        <p:spPr>
          <a:xfrm xmlns:a="http://schemas.openxmlformats.org/drawingml/2006/main">
            <a:off x="3371850" y="2771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Keep two healthy application copies and required connections.</a:t>
            </a:r>
          </a:p>
        </p:txBody>
      </p:sp>
      <p:sp>
        <p:nvSpPr>
          <p:cNvPr id="5" name="Evidence">
            <a:extLst xmlns:a="http://schemas.openxmlformats.org/drawingml/2006/main">
              <a:ext uri="{FF2B5EF4-FFF2-40B4-BE49-F238E27FC236}">
                <a16:creationId xmlns:a16="http://schemas.microsoft.com/office/drawing/2014/main" id="{B5E2FBD3-CB58-497C-9C63-48323BA6696C}"/>
              </a:ext>
            </a:extLst>
          </p:cNvPr>
          <p:cNvSpPr>
            <a:spLocks xmlns:a="http://schemas.openxmlformats.org/drawingml/2006/main" noGrp="1"/>
          </p:cNvSpPr>
          <p:nvPr/>
        </p:nvSpPr>
        <p:spPr>
          <a:xfrm xmlns:a="http://schemas.openxmlformats.org/drawingml/2006/main">
            <a:off x="609600" y="3533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Evidence</a:t>
            </a:r>
          </a:p>
        </p:txBody>
      </p:sp>
      <p:sp>
        <p:nvSpPr>
          <p:cNvPr id="6" name="Preserve evidence and record every approval.">
            <a:extLst xmlns:a="http://schemas.openxmlformats.org/drawingml/2006/main">
              <a:ext uri="{FF2B5EF4-FFF2-40B4-BE49-F238E27FC236}">
                <a16:creationId xmlns:a16="http://schemas.microsoft.com/office/drawing/2014/main" id="{94F11BCE-5F67-42D5-B15A-810834A7FA47}"/>
              </a:ext>
            </a:extLst>
          </p:cNvPr>
          <p:cNvSpPr>
            <a:spLocks xmlns:a="http://schemas.openxmlformats.org/drawingml/2006/main" noGrp="1"/>
          </p:cNvSpPr>
          <p:nvPr/>
        </p:nvSpPr>
        <p:spPr>
          <a:xfrm xmlns:a="http://schemas.openxmlformats.org/drawingml/2006/main">
            <a:off x="3371850" y="3533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Preserve evidence and record every approval.</a:t>
            </a:r>
          </a:p>
        </p:txBody>
      </p:sp>
      <p:sp>
        <p:nvSpPr>
          <p:cNvPr id="7" name="Velocity">
            <a:extLst xmlns:a="http://schemas.openxmlformats.org/drawingml/2006/main">
              <a:ext uri="{FF2B5EF4-FFF2-40B4-BE49-F238E27FC236}">
                <a16:creationId xmlns:a16="http://schemas.microsoft.com/office/drawing/2014/main" id="{4277EA5F-9A9F-4666-A5FF-40BA8443D8AC}"/>
              </a:ext>
            </a:extLst>
          </p:cNvPr>
          <p:cNvSpPr>
            <a:spLocks xmlns:a="http://schemas.openxmlformats.org/drawingml/2006/main" noGrp="1"/>
          </p:cNvSpPr>
          <p:nvPr/>
        </p:nvSpPr>
        <p:spPr>
          <a:xfrm xmlns:a="http://schemas.openxmlformats.org/drawingml/2006/main">
            <a:off x="609600" y="4295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Velocity</a:t>
            </a:r>
          </a:p>
        </p:txBody>
      </p:sp>
      <p:sp>
        <p:nvSpPr>
          <p:cNvPr id="8" name="Continue safe delivery while affected changes pa">
            <a:extLst xmlns:a="http://schemas.openxmlformats.org/drawingml/2006/main">
              <a:ext uri="{FF2B5EF4-FFF2-40B4-BE49-F238E27FC236}">
                <a16:creationId xmlns:a16="http://schemas.microsoft.com/office/drawing/2014/main" id="{7A981E53-9AEB-48B1-8BAE-E0C706B3001F}"/>
              </a:ext>
            </a:extLst>
          </p:cNvPr>
          <p:cNvSpPr>
            <a:spLocks xmlns:a="http://schemas.openxmlformats.org/drawingml/2006/main" noGrp="1"/>
          </p:cNvSpPr>
          <p:nvPr/>
        </p:nvSpPr>
        <p:spPr>
          <a:xfrm xmlns:a="http://schemas.openxmlformats.org/drawingml/2006/main">
            <a:off x="3371850" y="4295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Continue safe delivery while affected changes pause.</a:t>
            </a:r>
          </a:p>
        </p:txBody>
      </p:sp>
      <p:sp>
        <p:nvSpPr>
          <p:cNvPr id="9" name="Containment">
            <a:extLst xmlns:a="http://schemas.openxmlformats.org/drawingml/2006/main">
              <a:ext uri="{FF2B5EF4-FFF2-40B4-BE49-F238E27FC236}">
                <a16:creationId xmlns:a16="http://schemas.microsoft.com/office/drawing/2014/main" id="{FED328D4-3052-4339-96D6-D9650F70D444}"/>
              </a:ext>
            </a:extLst>
          </p:cNvPr>
          <p:cNvSpPr>
            <a:spLocks xmlns:a="http://schemas.openxmlformats.org/drawingml/2006/main" noGrp="1"/>
          </p:cNvSpPr>
          <p:nvPr/>
        </p:nvSpPr>
        <p:spPr>
          <a:xfrm xmlns:a="http://schemas.openxmlformats.org/drawingml/2006/main">
            <a:off x="609600" y="5057775"/>
            <a:ext cx="2476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Containment</a:t>
            </a:r>
          </a:p>
        </p:txBody>
      </p:sp>
      <p:sp>
        <p:nvSpPr>
          <p:cNvPr id="10" name="Stop suspected exposure and justify the service ">
            <a:extLst xmlns:a="http://schemas.openxmlformats.org/drawingml/2006/main">
              <a:ext uri="{FF2B5EF4-FFF2-40B4-BE49-F238E27FC236}">
                <a16:creationId xmlns:a16="http://schemas.microsoft.com/office/drawing/2014/main" id="{F2370DEF-289E-4F5D-B542-608CDE0489AE}"/>
              </a:ext>
            </a:extLst>
          </p:cNvPr>
          <p:cNvSpPr>
            <a:spLocks xmlns:a="http://schemas.openxmlformats.org/drawingml/2006/main" noGrp="1"/>
          </p:cNvSpPr>
          <p:nvPr/>
        </p:nvSpPr>
        <p:spPr>
          <a:xfrm xmlns:a="http://schemas.openxmlformats.org/drawingml/2006/main">
            <a:off x="3371850" y="5057775"/>
            <a:ext cx="7905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Stop suspected exposure and justify the service cost.</a:t>
            </a:r>
          </a:p>
        </p:txBody>
      </p:sp>
      <p:sp>
        <p:nvSpPr>
          <p:cNvPr id="11" name="Record one constraint and a measurable service f">
            <a:extLst xmlns:a="http://schemas.openxmlformats.org/drawingml/2006/main">
              <a:ext uri="{FF2B5EF4-FFF2-40B4-BE49-F238E27FC236}">
                <a16:creationId xmlns:a16="http://schemas.microsoft.com/office/drawing/2014/main" id="{66843EEE-EC8B-4DDD-8A88-C86B749DF93C}"/>
              </a:ext>
            </a:extLst>
          </p:cNvPr>
          <p:cNvSpPr>
            <a:spLocks xmlns:a="http://schemas.openxmlformats.org/drawingml/2006/main" noGrp="1"/>
          </p:cNvSpPr>
          <p:nvPr/>
        </p:nvSpPr>
        <p:spPr>
          <a:xfrm xmlns:a="http://schemas.openxmlformats.org/drawingml/2006/main">
            <a:off x="628650" y="5962650"/>
            <a:ext cx="10715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one constraint and a measurable service floor on page 6.</a:t>
            </a:r>
          </a:p>
        </p:txBody>
      </p:sp>
      <p:sp>
        <p:nvSpPr>
          <p:cNvPr id="12" name="ISC2 SECURITY CONGRESS 2026 / SC2632">
            <a:extLst xmlns:a="http://schemas.openxmlformats.org/drawingml/2006/main">
              <a:ext uri="{FF2B5EF4-FFF2-40B4-BE49-F238E27FC236}">
                <a16:creationId xmlns:a16="http://schemas.microsoft.com/office/drawing/2014/main" id="{1C594536-2756-4772-814A-A4C93277B23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3" name="06">
            <a:extLst xmlns:a="http://schemas.openxmlformats.org/drawingml/2006/main">
              <a:ext uri="{FF2B5EF4-FFF2-40B4-BE49-F238E27FC236}">
                <a16:creationId xmlns:a16="http://schemas.microsoft.com/office/drawing/2014/main" id="{FC5C5DC7-F5B3-420E-B382-7E636A2983A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06</a:t>
            </a:r>
          </a:p>
        </p:txBody>
      </p:sp>
    </p:spTree>
    <p:extLst>
      <p:ext uri="{BB962C8B-B14F-4D97-AF65-F5344CB8AC3E}">
        <p14:creationId xmlns:p14="http://schemas.microsoft.com/office/powerpoint/2010/main" val="839399531"/>
      </p:ext>
    </p:extLst>
  </p:cSld>
</p:sld>
</file>

<file path=ppt/slides/slide7.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16" name="TEAM SETUP / OPEN THE DECISION RECORD ON PAGE 6">
            <a:extLst xmlns:a="http://schemas.openxmlformats.org/drawingml/2006/main">
              <a:ext uri="{FF2B5EF4-FFF2-40B4-BE49-F238E27FC236}">
                <a16:creationId xmlns:a16="http://schemas.microsoft.com/office/drawing/2014/main" id="{5A4775F1-0591-4CEF-8281-3B3CB9DF3884}"/>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TEAM SETUP / OPEN THE DECISION RECORD ON PAGE 6</a:t>
            </a:r>
          </a:p>
        </p:txBody>
      </p:sp>
      <p:sp>
        <p:nvSpPr>
          <p:cNvPr id="2" name="Your team before Round 1">
            <a:extLst xmlns:a="http://schemas.openxmlformats.org/drawingml/2006/main">
              <a:ext uri="{FF2B5EF4-FFF2-40B4-BE49-F238E27FC236}">
                <a16:creationId xmlns:a16="http://schemas.microsoft.com/office/drawing/2014/main" id="{32DF757C-ACD4-4809-8D24-BEAD571D3E34}"/>
              </a:ext>
            </a:extLst>
          </p:cNvPr>
          <p:cNvSpPr>
            <a:spLocks xmlns:a="http://schemas.openxmlformats.org/drawingml/2006/main" noGrp="1"/>
          </p:cNvSpPr>
          <p:nvPr/>
        </p:nvSpPr>
        <p:spPr>
          <a:xfrm xmlns:a="http://schemas.openxmlformats.org/drawingml/2006/main">
            <a:off x="609600" y="1181100"/>
            <a:ext cx="10858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0B1822"/>
                </a:solidFill>
                <a:latin typeface="Arial Black"/>
                <a:ea typeface="Arial Black"/>
                <a:cs typeface="Arial Black"/>
              </a:defRPr>
            </a:defPPr>
          </a:lstStyle>
          <a:p xmlns:a="http://schemas.openxmlformats.org/drawingml/2006/main">
            <a:pPr>
              <a:defRPr sz="4425" b="1">
                <a:solidFill>
                  <a:srgbClr val="0B1822"/>
                </a:solidFill>
                <a:latin typeface="Arial Black"/>
                <a:ea typeface="Arial Black"/>
                <a:cs typeface="Arial Black"/>
              </a:defRPr>
            </a:pPr>
            <a:r>
              <a:rPr sz="4425" b="1">
                <a:solidFill>
                  <a:srgbClr val="0B1822"/>
                </a:solidFill>
                <a:latin typeface="Arial Black"/>
                <a:ea typeface="Arial Black"/>
                <a:cs typeface="Arial Black"/>
              </a:rPr>
              <a:t>Your team before Round 1</a:t>
            </a:r>
          </a:p>
        </p:txBody>
      </p:sp>
      <p:sp>
        <p:nvSpPr>
          <p:cNvPr id="3" name="Incident lead">
            <a:extLst xmlns:a="http://schemas.openxmlformats.org/drawingml/2006/main">
              <a:ext uri="{FF2B5EF4-FFF2-40B4-BE49-F238E27FC236}">
                <a16:creationId xmlns:a16="http://schemas.microsoft.com/office/drawing/2014/main" id="{72A2FF06-359A-4ACE-9A41-E8E9DE975AB0}"/>
              </a:ext>
            </a:extLst>
          </p:cNvPr>
          <p:cNvSpPr>
            <a:spLocks xmlns:a="http://schemas.openxmlformats.org/drawingml/2006/main" noGrp="1"/>
          </p:cNvSpPr>
          <p:nvPr/>
        </p:nvSpPr>
        <p:spPr>
          <a:xfrm xmlns:a="http://schemas.openxmlformats.org/drawingml/2006/main">
            <a:off x="628650" y="260032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87E79"/>
                </a:solidFill>
                <a:latin typeface="Arial"/>
                <a:ea typeface="Arial"/>
                <a:cs typeface="Arial"/>
              </a:defRPr>
            </a:defPPr>
          </a:lstStyle>
          <a:p xmlns:a="http://schemas.openxmlformats.org/drawingml/2006/main">
            <a:pPr>
              <a:defRPr sz="1950" b="1">
                <a:solidFill>
                  <a:srgbClr val="087E79"/>
                </a:solidFill>
                <a:latin typeface="Arial"/>
                <a:ea typeface="Arial"/>
                <a:cs typeface="Arial"/>
              </a:defRPr>
            </a:pPr>
            <a:r>
              <a:rPr sz="1950" b="1">
                <a:solidFill>
                  <a:srgbClr val="087E79"/>
                </a:solidFill>
                <a:latin typeface="Arial"/>
                <a:ea typeface="Arial"/>
                <a:cs typeface="Arial"/>
              </a:rPr>
              <a:t>Incident lead</a:t>
            </a:r>
          </a:p>
        </p:txBody>
      </p:sp>
      <p:sp>
        <p:nvSpPr>
          <p:cNvPr id="4" name="States the decision">
            <a:extLst xmlns:a="http://schemas.openxmlformats.org/drawingml/2006/main">
              <a:ext uri="{FF2B5EF4-FFF2-40B4-BE49-F238E27FC236}">
                <a16:creationId xmlns:a16="http://schemas.microsoft.com/office/drawing/2014/main" id="{E0FB8290-1225-4069-AD0E-8C6511BC5D93}"/>
              </a:ext>
            </a:extLst>
          </p:cNvPr>
          <p:cNvSpPr>
            <a:spLocks xmlns:a="http://schemas.openxmlformats.org/drawingml/2006/main" noGrp="1"/>
          </p:cNvSpPr>
          <p:nvPr/>
        </p:nvSpPr>
        <p:spPr>
          <a:xfrm xmlns:a="http://schemas.openxmlformats.org/drawingml/2006/main">
            <a:off x="628650" y="2971800"/>
            <a:ext cx="5334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States the decision</a:t>
            </a:r>
          </a:p>
        </p:txBody>
      </p:sp>
      <p:sp>
        <p:nvSpPr>
          <p:cNvPr id="5" name="Recorder">
            <a:extLst xmlns:a="http://schemas.openxmlformats.org/drawingml/2006/main">
              <a:ext uri="{FF2B5EF4-FFF2-40B4-BE49-F238E27FC236}">
                <a16:creationId xmlns:a16="http://schemas.microsoft.com/office/drawing/2014/main" id="{72D1D952-DF9B-4862-B15C-41C66D008AC7}"/>
              </a:ext>
            </a:extLst>
          </p:cNvPr>
          <p:cNvSpPr>
            <a:spLocks xmlns:a="http://schemas.openxmlformats.org/drawingml/2006/main" noGrp="1"/>
          </p:cNvSpPr>
          <p:nvPr/>
        </p:nvSpPr>
        <p:spPr>
          <a:xfrm xmlns:a="http://schemas.openxmlformats.org/drawingml/2006/main">
            <a:off x="628650" y="334327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87E79"/>
                </a:solidFill>
                <a:latin typeface="Arial"/>
                <a:ea typeface="Arial"/>
                <a:cs typeface="Arial"/>
              </a:defRPr>
            </a:defPPr>
          </a:lstStyle>
          <a:p xmlns:a="http://schemas.openxmlformats.org/drawingml/2006/main">
            <a:pPr>
              <a:defRPr sz="1950" b="1">
                <a:solidFill>
                  <a:srgbClr val="087E79"/>
                </a:solidFill>
                <a:latin typeface="Arial"/>
                <a:ea typeface="Arial"/>
                <a:cs typeface="Arial"/>
              </a:defRPr>
            </a:pPr>
            <a:r>
              <a:rPr sz="1950" b="1">
                <a:solidFill>
                  <a:srgbClr val="087E79"/>
                </a:solidFill>
                <a:latin typeface="Arial"/>
                <a:ea typeface="Arial"/>
                <a:cs typeface="Arial"/>
              </a:rPr>
              <a:t>Recorder</a:t>
            </a:r>
          </a:p>
        </p:txBody>
      </p:sp>
      <p:sp>
        <p:nvSpPr>
          <p:cNvPr id="6" name="Writes the shared record">
            <a:extLst xmlns:a="http://schemas.openxmlformats.org/drawingml/2006/main">
              <a:ext uri="{FF2B5EF4-FFF2-40B4-BE49-F238E27FC236}">
                <a16:creationId xmlns:a16="http://schemas.microsoft.com/office/drawing/2014/main" id="{9C2E4273-F342-4B10-BC3E-3EF4AA3761FC}"/>
              </a:ext>
            </a:extLst>
          </p:cNvPr>
          <p:cNvSpPr>
            <a:spLocks xmlns:a="http://schemas.openxmlformats.org/drawingml/2006/main" noGrp="1"/>
          </p:cNvSpPr>
          <p:nvPr/>
        </p:nvSpPr>
        <p:spPr>
          <a:xfrm xmlns:a="http://schemas.openxmlformats.org/drawingml/2006/main">
            <a:off x="628650" y="3714750"/>
            <a:ext cx="5334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Writes the shared record</a:t>
            </a:r>
          </a:p>
        </p:txBody>
      </p:sp>
      <p:sp>
        <p:nvSpPr>
          <p:cNvPr id="7" name="Analyst">
            <a:extLst xmlns:a="http://schemas.openxmlformats.org/drawingml/2006/main">
              <a:ext uri="{FF2B5EF4-FFF2-40B4-BE49-F238E27FC236}">
                <a16:creationId xmlns:a16="http://schemas.microsoft.com/office/drawing/2014/main" id="{830D9449-B45C-42C7-8834-172D6F31C51D}"/>
              </a:ext>
            </a:extLst>
          </p:cNvPr>
          <p:cNvSpPr>
            <a:spLocks xmlns:a="http://schemas.openxmlformats.org/drawingml/2006/main" noGrp="1"/>
          </p:cNvSpPr>
          <p:nvPr/>
        </p:nvSpPr>
        <p:spPr>
          <a:xfrm xmlns:a="http://schemas.openxmlformats.org/drawingml/2006/main">
            <a:off x="628650" y="408622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87E79"/>
                </a:solidFill>
                <a:latin typeface="Arial"/>
                <a:ea typeface="Arial"/>
                <a:cs typeface="Arial"/>
              </a:defRPr>
            </a:defPPr>
          </a:lstStyle>
          <a:p xmlns:a="http://schemas.openxmlformats.org/drawingml/2006/main">
            <a:pPr>
              <a:defRPr sz="1950" b="1">
                <a:solidFill>
                  <a:srgbClr val="087E79"/>
                </a:solidFill>
                <a:latin typeface="Arial"/>
                <a:ea typeface="Arial"/>
                <a:cs typeface="Arial"/>
              </a:defRPr>
            </a:pPr>
            <a:r>
              <a:rPr sz="1950" b="1">
                <a:solidFill>
                  <a:srgbClr val="087E79"/>
                </a:solidFill>
                <a:latin typeface="Arial"/>
                <a:ea typeface="Arial"/>
                <a:cs typeface="Arial"/>
              </a:rPr>
              <a:t>Analyst</a:t>
            </a:r>
          </a:p>
        </p:txBody>
      </p:sp>
      <p:sp>
        <p:nvSpPr>
          <p:cNvPr id="8" name="Checks claims against the evidence">
            <a:extLst xmlns:a="http://schemas.openxmlformats.org/drawingml/2006/main">
              <a:ext uri="{FF2B5EF4-FFF2-40B4-BE49-F238E27FC236}">
                <a16:creationId xmlns:a16="http://schemas.microsoft.com/office/drawing/2014/main" id="{E2FC02D1-6C5D-4DA6-B974-216B92541378}"/>
              </a:ext>
            </a:extLst>
          </p:cNvPr>
          <p:cNvSpPr>
            <a:spLocks xmlns:a="http://schemas.openxmlformats.org/drawingml/2006/main" noGrp="1"/>
          </p:cNvSpPr>
          <p:nvPr/>
        </p:nvSpPr>
        <p:spPr>
          <a:xfrm xmlns:a="http://schemas.openxmlformats.org/drawingml/2006/main">
            <a:off x="628650" y="4457700"/>
            <a:ext cx="5334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Checks claims against the evidence</a:t>
            </a:r>
          </a:p>
        </p:txBody>
      </p:sp>
      <p:sp>
        <p:nvSpPr>
          <p:cNvPr id="9" name="Independent reviewer">
            <a:extLst xmlns:a="http://schemas.openxmlformats.org/drawingml/2006/main">
              <a:ext uri="{FF2B5EF4-FFF2-40B4-BE49-F238E27FC236}">
                <a16:creationId xmlns:a16="http://schemas.microsoft.com/office/drawing/2014/main" id="{D990A0B3-8E96-4D69-BA69-297BBCB10CFE}"/>
              </a:ext>
            </a:extLst>
          </p:cNvPr>
          <p:cNvSpPr>
            <a:spLocks xmlns:a="http://schemas.openxmlformats.org/drawingml/2006/main" noGrp="1"/>
          </p:cNvSpPr>
          <p:nvPr/>
        </p:nvSpPr>
        <p:spPr>
          <a:xfrm xmlns:a="http://schemas.openxmlformats.org/drawingml/2006/main">
            <a:off x="628650" y="4829175"/>
            <a:ext cx="5191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87E79"/>
                </a:solidFill>
                <a:latin typeface="Arial"/>
                <a:ea typeface="Arial"/>
                <a:cs typeface="Arial"/>
              </a:defRPr>
            </a:defPPr>
          </a:lstStyle>
          <a:p xmlns:a="http://schemas.openxmlformats.org/drawingml/2006/main">
            <a:pPr>
              <a:defRPr sz="1950" b="1">
                <a:solidFill>
                  <a:srgbClr val="087E79"/>
                </a:solidFill>
                <a:latin typeface="Arial"/>
                <a:ea typeface="Arial"/>
                <a:cs typeface="Arial"/>
              </a:defRPr>
            </a:pPr>
            <a:r>
              <a:rPr sz="1950" b="1">
                <a:solidFill>
                  <a:srgbClr val="087E79"/>
                </a:solidFill>
                <a:latin typeface="Arial"/>
                <a:ea typeface="Arial"/>
                <a:cs typeface="Arial"/>
              </a:rPr>
              <a:t>Independent reviewer</a:t>
            </a:r>
          </a:p>
        </p:txBody>
      </p:sp>
      <p:sp>
        <p:nvSpPr>
          <p:cNvPr id="10" name="Raises a concern before the decision">
            <a:extLst xmlns:a="http://schemas.openxmlformats.org/drawingml/2006/main">
              <a:ext uri="{FF2B5EF4-FFF2-40B4-BE49-F238E27FC236}">
                <a16:creationId xmlns:a16="http://schemas.microsoft.com/office/drawing/2014/main" id="{675EC2E4-7320-4288-8000-428B48452C48}"/>
              </a:ext>
            </a:extLst>
          </p:cNvPr>
          <p:cNvSpPr>
            <a:spLocks xmlns:a="http://schemas.openxmlformats.org/drawingml/2006/main" noGrp="1"/>
          </p:cNvSpPr>
          <p:nvPr/>
        </p:nvSpPr>
        <p:spPr>
          <a:xfrm xmlns:a="http://schemas.openxmlformats.org/drawingml/2006/main">
            <a:off x="628650" y="5200650"/>
            <a:ext cx="5334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0B1822"/>
                </a:solidFill>
                <a:latin typeface="Arial"/>
                <a:ea typeface="Arial"/>
                <a:cs typeface="Arial"/>
              </a:defRPr>
            </a:defPPr>
          </a:lstStyle>
          <a:p xmlns:a="http://schemas.openxmlformats.org/drawingml/2006/main">
            <a:pPr>
              <a:defRPr sz="1875" b="0">
                <a:solidFill>
                  <a:srgbClr val="0B1822"/>
                </a:solidFill>
                <a:latin typeface="Arial"/>
                <a:ea typeface="Arial"/>
                <a:cs typeface="Arial"/>
              </a:defRPr>
            </a:pPr>
            <a:r>
              <a:rPr sz="1875" b="0">
                <a:solidFill>
                  <a:srgbClr val="0B1822"/>
                </a:solidFill>
                <a:latin typeface="Arial"/>
                <a:ea typeface="Arial"/>
                <a:cs typeface="Arial"/>
              </a:rPr>
              <a:t>Raises a concern before the decision</a:t>
            </a:r>
          </a:p>
        </p:txBody>
      </p:sp>
      <p:sp>
        <p:nvSpPr>
          <p:cNvPr id="11" name="RECORD NOW">
            <a:extLst xmlns:a="http://schemas.openxmlformats.org/drawingml/2006/main">
              <a:ext uri="{FF2B5EF4-FFF2-40B4-BE49-F238E27FC236}">
                <a16:creationId xmlns:a16="http://schemas.microsoft.com/office/drawing/2014/main" id="{B735DE5F-A877-463A-BF22-527971420505}"/>
              </a:ext>
            </a:extLst>
          </p:cNvPr>
          <p:cNvSpPr>
            <a:spLocks xmlns:a="http://schemas.openxmlformats.org/drawingml/2006/main" noGrp="1"/>
          </p:cNvSpPr>
          <p:nvPr/>
        </p:nvSpPr>
        <p:spPr>
          <a:xfrm xmlns:a="http://schemas.openxmlformats.org/drawingml/2006/main">
            <a:off x="6848475" y="2600325"/>
            <a:ext cx="4619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87E79"/>
                </a:solidFill>
                <a:latin typeface="Arial"/>
                <a:ea typeface="Arial"/>
                <a:cs typeface="Arial"/>
              </a:defRPr>
            </a:defPPr>
          </a:lstStyle>
          <a:p xmlns:a="http://schemas.openxmlformats.org/drawingml/2006/main">
            <a:pPr>
              <a:defRPr sz="1575" b="1">
                <a:solidFill>
                  <a:srgbClr val="087E79"/>
                </a:solidFill>
                <a:latin typeface="Arial"/>
                <a:ea typeface="Arial"/>
                <a:cs typeface="Arial"/>
              </a:defRPr>
            </a:pPr>
            <a:r>
              <a:rPr sz="1575" b="1">
                <a:solidFill>
                  <a:srgbClr val="087E79"/>
                </a:solidFill>
                <a:latin typeface="Arial"/>
                <a:ea typeface="Arial"/>
                <a:cs typeface="Arial"/>
              </a:rPr>
              <a:t>RECORD NOW</a:t>
            </a:r>
          </a:p>
        </p:txBody>
      </p:sp>
      <p:sp>
        <p:nvSpPr>
          <p:cNvPr id="12" name="Table and selected case&#10;Primary operational cons">
            <a:extLst xmlns:a="http://schemas.openxmlformats.org/drawingml/2006/main">
              <a:ext uri="{FF2B5EF4-FFF2-40B4-BE49-F238E27FC236}">
                <a16:creationId xmlns:a16="http://schemas.microsoft.com/office/drawing/2014/main" id="{BF9F865A-61DB-485B-B4FE-C07BC6622A6C}"/>
              </a:ext>
            </a:extLst>
          </p:cNvPr>
          <p:cNvSpPr>
            <a:spLocks xmlns:a="http://schemas.openxmlformats.org/drawingml/2006/main" noGrp="1"/>
          </p:cNvSpPr>
          <p:nvPr/>
        </p:nvSpPr>
        <p:spPr>
          <a:xfrm xmlns:a="http://schemas.openxmlformats.org/drawingml/2006/main">
            <a:off x="6848475" y="3086100"/>
            <a:ext cx="4648200" cy="2038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0B1822"/>
                </a:solidFill>
                <a:latin typeface="Arial"/>
                <a:ea typeface="Arial"/>
                <a:cs typeface="Arial"/>
              </a:defRPr>
            </a:defPPr>
          </a:lstStyle>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Table and selected case</a:t>
            </a:r>
          </a:p>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Primary operational constraint</a:t>
            </a:r>
          </a:p>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Who takes each role</a:t>
            </a:r>
          </a:p>
          <a:p xmlns:a="http://schemas.openxmlformats.org/drawingml/2006/main">
            <a:pPr>
              <a:defRPr sz="2175" b="0">
                <a:solidFill>
                  <a:srgbClr val="0B1822"/>
                </a:solidFill>
                <a:latin typeface="Arial"/>
                <a:ea typeface="Arial"/>
                <a:cs typeface="Arial"/>
              </a:defRPr>
            </a:pPr>
            <a:r>
              <a:rPr sz="2175" b="0">
                <a:solidFill>
                  <a:srgbClr val="0B1822"/>
                </a:solidFill>
                <a:latin typeface="Arial"/>
                <a:ea typeface="Arial"/>
                <a:cs typeface="Arial"/>
              </a:rPr>
              <a:t>Minimum service that must survive</a:t>
            </a:r>
          </a:p>
        </p:txBody>
      </p:sp>
      <p:sp>
        <p:nvSpPr>
          <p:cNvPr id="13" name="The scorecard rewards justified decisions and in">
            <a:extLst xmlns:a="http://schemas.openxmlformats.org/drawingml/2006/main">
              <a:ext uri="{FF2B5EF4-FFF2-40B4-BE49-F238E27FC236}">
                <a16:creationId xmlns:a16="http://schemas.microsoft.com/office/drawing/2014/main" id="{DD6462D5-D181-458B-A6C4-ADD5AF3D493E}"/>
              </a:ext>
            </a:extLst>
          </p:cNvPr>
          <p:cNvSpPr>
            <a:spLocks xmlns:a="http://schemas.openxmlformats.org/drawingml/2006/main" noGrp="1"/>
          </p:cNvSpPr>
          <p:nvPr/>
        </p:nvSpPr>
        <p:spPr>
          <a:xfrm xmlns:a="http://schemas.openxmlformats.org/drawingml/2006/main">
            <a:off x="628650" y="5981700"/>
            <a:ext cx="10858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0B1822"/>
                </a:solidFill>
                <a:latin typeface="Arial"/>
                <a:ea typeface="Arial"/>
                <a:cs typeface="Arial"/>
              </a:defRPr>
            </a:defPPr>
          </a:lstStyle>
          <a:p xmlns:a="http://schemas.openxmlformats.org/drawingml/2006/main">
            <a:pPr>
              <a:defRPr sz="1650" b="0">
                <a:solidFill>
                  <a:srgbClr val="0B1822"/>
                </a:solidFill>
                <a:latin typeface="Arial"/>
                <a:ea typeface="Arial"/>
                <a:cs typeface="Arial"/>
              </a:defRPr>
            </a:pPr>
            <a:r>
              <a:rPr sz="1650" b="0">
                <a:solidFill>
                  <a:srgbClr val="0B1822"/>
                </a:solidFill>
                <a:latin typeface="Arial"/>
                <a:ea typeface="Arial"/>
                <a:cs typeface="Arial"/>
              </a:rPr>
              <a:t>The scorecard rewards justified decisions and independent review. 15 points possible.</a:t>
            </a:r>
          </a:p>
        </p:txBody>
      </p:sp>
      <p:sp>
        <p:nvSpPr>
          <p:cNvPr id="14" name="ISC2 SECURITY CONGRESS 2026 / SC2632">
            <a:extLst xmlns:a="http://schemas.openxmlformats.org/drawingml/2006/main">
              <a:ext uri="{FF2B5EF4-FFF2-40B4-BE49-F238E27FC236}">
                <a16:creationId xmlns:a16="http://schemas.microsoft.com/office/drawing/2014/main" id="{6DE59182-0675-4C0E-A63B-CEC987E9843D}"/>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15" name="07">
            <a:extLst xmlns:a="http://schemas.openxmlformats.org/drawingml/2006/main">
              <a:ext uri="{FF2B5EF4-FFF2-40B4-BE49-F238E27FC236}">
                <a16:creationId xmlns:a16="http://schemas.microsoft.com/office/drawing/2014/main" id="{9A17D1EE-0615-4372-8CBA-77C3C601EA4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07</a:t>
            </a:r>
          </a:p>
        </p:txBody>
      </p:sp>
    </p:spTree>
    <p:extLst>
      <p:ext uri="{BB962C8B-B14F-4D97-AF65-F5344CB8AC3E}">
        <p14:creationId xmlns:p14="http://schemas.microsoft.com/office/powerpoint/2010/main" val="2140362847"/>
      </p:ext>
    </p:extLst>
  </p:cSld>
</p:sld>
</file>

<file path=ppt/slides/slide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D76A8E3C-6F8F-4105-9FA4-3BD82CE0972B}"/>
              </a:ext>
            </a:extLst>
          </p:cNvPr>
          <p:cNvPicPr>
            <a:picLocks xmlns:a="http://schemas.openxmlformats.org/drawingml/2006/main" noChangeAspect="1"/>
          </p:cNvPicPr>
          <p:nvPr/>
        </p:nvPicPr>
        <p:blipFill>
          <a:blip xmlns:r="http://schemas.openxmlformats.org/officeDocument/2006/relationships" xmlns:a="http://schemas.openxmlformats.org/drawingml/2006/main" r:embed="R82959a7fc3b24f01"/>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RAFT AND MAP THE INTENT">
            <a:extLst xmlns:a="http://schemas.openxmlformats.org/drawingml/2006/main">
              <a:ext uri="{FF2B5EF4-FFF2-40B4-BE49-F238E27FC236}">
                <a16:creationId xmlns:a16="http://schemas.microsoft.com/office/drawing/2014/main" id="{33DEDABC-B3CF-4FF4-AEEB-AF89E4F6FB00}"/>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4 MINUTES / DRAFT AND MAP THE INTENT</a:t>
            </a:r>
          </a:p>
        </p:txBody>
      </p:sp>
      <p:sp>
        <p:nvSpPr>
          <p:cNvPr id="3" name="01">
            <a:extLst xmlns:a="http://schemas.openxmlformats.org/drawingml/2006/main">
              <a:ext uri="{FF2B5EF4-FFF2-40B4-BE49-F238E27FC236}">
                <a16:creationId xmlns:a16="http://schemas.microsoft.com/office/drawing/2014/main" id="{8689455A-79F5-4A2D-88E8-93BCCE296BCE}"/>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01</a:t>
            </a:r>
          </a:p>
        </p:txBody>
      </p:sp>
      <p:sp>
        <p:nvSpPr>
          <p:cNvPr id="4" name="Define the&#10;security requirement.">
            <a:extLst xmlns:a="http://schemas.openxmlformats.org/drawingml/2006/main">
              <a:ext uri="{FF2B5EF4-FFF2-40B4-BE49-F238E27FC236}">
                <a16:creationId xmlns:a16="http://schemas.microsoft.com/office/drawing/2014/main" id="{50335016-1AF5-4DC6-B121-124BB0C3A6F5}"/>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the</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security requirement.</a:t>
            </a:r>
          </a:p>
        </p:txBody>
      </p:sp>
      <p:sp>
        <p:nvSpPr>
          <p:cNvPr id="5" name="Write one intent on page 6.&#10;Name the forbidden b">
            <a:extLst xmlns:a="http://schemas.openxmlformats.org/drawingml/2006/main">
              <a:ext uri="{FF2B5EF4-FFF2-40B4-BE49-F238E27FC236}">
                <a16:creationId xmlns:a16="http://schemas.microsoft.com/office/drawing/2014/main" id="{C4AC0F3A-51ED-4A15-B588-91B9AA4D70B3}"/>
              </a:ext>
            </a:extLst>
          </p:cNvPr>
          <p:cNvSpPr>
            <a:spLocks xmlns:a="http://schemas.openxmlformats.org/drawingml/2006/main" noGrp="1"/>
          </p:cNvSpPr>
          <p:nvPr/>
        </p:nvSpPr>
        <p:spPr>
          <a:xfrm xmlns:a="http://schemas.openxmlformats.org/drawingml/2006/main">
            <a:off x="628650" y="4829175"/>
            <a:ext cx="6381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Write one intent on page 6.</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Name the forbidden behavior and preserved dependency.</a:t>
            </a:r>
          </a:p>
        </p:txBody>
      </p:sp>
      <p:sp>
        <p:nvSpPr>
          <p:cNvPr id="6" name="ISC2 SECURITY CONGRESS 2026 / SC2632">
            <a:extLst xmlns:a="http://schemas.openxmlformats.org/drawingml/2006/main">
              <a:ext uri="{FF2B5EF4-FFF2-40B4-BE49-F238E27FC236}">
                <a16:creationId xmlns:a16="http://schemas.microsoft.com/office/drawing/2014/main" id="{4D1C2F22-DF75-4D32-BD41-F7639F11FD4A}"/>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08">
            <a:extLst xmlns:a="http://schemas.openxmlformats.org/drawingml/2006/main">
              <a:ext uri="{FF2B5EF4-FFF2-40B4-BE49-F238E27FC236}">
                <a16:creationId xmlns:a16="http://schemas.microsoft.com/office/drawing/2014/main" id="{4F428346-E3B8-4E1C-AAE7-B7522EE9907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08</a:t>
            </a:r>
          </a:p>
        </p:txBody>
      </p:sp>
    </p:spTree>
    <p:extLst>
      <p:ext uri="{BB962C8B-B14F-4D97-AF65-F5344CB8AC3E}">
        <p14:creationId xmlns:p14="http://schemas.microsoft.com/office/powerpoint/2010/main" val="454266028"/>
      </p:ext>
    </p:extLst>
  </p:cSld>
</p:sld>
</file>

<file path=ppt/slides/slide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TYPED DECISIONS / HUMAN DEPLOYMENT AUTHORITY">
            <a:extLst xmlns:a="http://schemas.openxmlformats.org/drawingml/2006/main">
              <a:ext uri="{FF2B5EF4-FFF2-40B4-BE49-F238E27FC236}">
                <a16:creationId xmlns:a16="http://schemas.microsoft.com/office/drawing/2014/main" id="{E325C210-1C71-4968-BB47-12E64E53BB1A}"/>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TYPED DECISIONS / HUMAN DEPLOYMENT AUTHORITY</a:t>
            </a:r>
          </a:p>
        </p:txBody>
      </p:sp>
      <p:sp>
        <p:nvSpPr>
          <p:cNvPr id="2" name="Typed decisions and deployment authority">
            <a:extLst xmlns:a="http://schemas.openxmlformats.org/drawingml/2006/main">
              <a:ext uri="{FF2B5EF4-FFF2-40B4-BE49-F238E27FC236}">
                <a16:creationId xmlns:a16="http://schemas.microsoft.com/office/drawing/2014/main" id="{233DA9D2-9CE9-4C4F-B500-52D2FA9DBA9B}"/>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Typed decisions and deployment authority</a:t>
            </a:r>
          </a:p>
        </p:txBody>
      </p:sp>
      <p:graphicFrame>
        <p:nvGraphicFramePr>
          <p:cNvPr id="3" name="">
            <a:extLst xmlns:a="http://schemas.openxmlformats.org/drawingml/2006/main">
              <a:ext uri="{FF2B5EF4-FFF2-40B4-BE49-F238E27FC236}">
                <a16:creationId xmlns:a16="http://schemas.microsoft.com/office/drawing/2014/main" id="{2A2C6995-9DF9-4472-B3FC-428D901EDEF0}"/>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857500"/>
                <a:gridCol w="8096250"/>
              </a:tblGrid>
              <a:tr h="676275">
                <a:tc>
                  <a:txBody>
                    <a:bodyPr/>
                    <a:lstStyle/>
                    <a:p>
                      <a:r>
                        <a:rPr sz="1875" b="1">
                          <a:solidFill>
                            <a:srgbClr val="F2EFE7"/>
                          </a:solidFill>
                          <a:latin typeface="Arial"/>
                          <a:ea typeface="Arial"/>
                          <a:cs typeface="Arial"/>
                        </a:rPr>
                        <a:t>Owner</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Responsibility</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75" b="1">
                          <a:solidFill>
                            <a:srgbClr val="087E79"/>
                          </a:solidFill>
                          <a:latin typeface="Arial"/>
                          <a:ea typeface="Arial"/>
                          <a:cs typeface="Arial"/>
                        </a:rPr>
                        <a:t>Decision provider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Choose a typed control, dependency or next action</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Code and templates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Fill approved values, validate the spec and render YAML</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Tools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Observe workloads and simulate admission outcomes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Human reviewer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Resolve missing controls, approve exceptions and deploy</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4776665E-213C-4E3F-AAD8-7F4288099B0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09">
            <a:extLst xmlns:a="http://schemas.openxmlformats.org/drawingml/2006/main">
              <a:ext uri="{FF2B5EF4-FFF2-40B4-BE49-F238E27FC236}">
                <a16:creationId xmlns:a16="http://schemas.microsoft.com/office/drawing/2014/main" id="{815365AC-B6CB-4482-9F98-445E0297FC7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09</a:t>
            </a:r>
          </a:p>
        </p:txBody>
      </p:sp>
    </p:spTree>
    <p:extLst>
      <p:ext uri="{BB962C8B-B14F-4D97-AF65-F5344CB8AC3E}">
        <p14:creationId xmlns:p14="http://schemas.microsoft.com/office/powerpoint/2010/main" val="54150863"/>
      </p:ext>
    </p:extLst>
  </p:cSld>
</p:sld>
</file>

<file path=ppt/slides/slide1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REFERENCE SPEC / LIVE COMPILER IF REHEARSED">
            <a:extLst xmlns:a="http://schemas.openxmlformats.org/drawingml/2006/main">
              <a:ext uri="{FF2B5EF4-FFF2-40B4-BE49-F238E27FC236}">
                <a16:creationId xmlns:a16="http://schemas.microsoft.com/office/drawing/2014/main" id="{A768940F-84B6-437C-925D-094C4684C20A}"/>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REFERENCE SPEC / LIVE COMPILER IF REHEARSED</a:t>
            </a:r>
          </a:p>
        </p:txBody>
      </p:sp>
      <p:sp>
        <p:nvSpPr>
          <p:cNvPr id="2" name="Intent → reviewable proposal">
            <a:extLst xmlns:a="http://schemas.openxmlformats.org/drawingml/2006/main">
              <a:ext uri="{FF2B5EF4-FFF2-40B4-BE49-F238E27FC236}">
                <a16:creationId xmlns:a16="http://schemas.microsoft.com/office/drawing/2014/main" id="{77D24C85-74A9-4794-A25D-2389973C3F42}"/>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Intent → reviewable proposal</a:t>
            </a:r>
          </a:p>
        </p:txBody>
      </p:sp>
      <p:sp>
        <p:nvSpPr>
          <p:cNvPr id="3" name="“Prevent privilege escalation by workloads&#10;in th">
            <a:extLst xmlns:a="http://schemas.openxmlformats.org/drawingml/2006/main">
              <a:ext uri="{FF2B5EF4-FFF2-40B4-BE49-F238E27FC236}">
                <a16:creationId xmlns:a16="http://schemas.microsoft.com/office/drawing/2014/main" id="{83FCCF0C-992D-4B67-AF0A-46E90B87C8B7}"/>
              </a:ext>
            </a:extLst>
          </p:cNvPr>
          <p:cNvSpPr>
            <a:spLocks xmlns:a="http://schemas.openxmlformats.org/drawingml/2006/main" noGrp="1"/>
          </p:cNvSpPr>
          <p:nvPr/>
        </p:nvSpPr>
        <p:spPr>
          <a:xfrm xmlns:a="http://schemas.openxmlformats.org/drawingml/2006/main">
            <a:off x="609600" y="230505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B1822"/>
                </a:solidFill>
                <a:latin typeface="Arial"/>
                <a:ea typeface="Arial"/>
                <a:cs typeface="Arial"/>
              </a:defRPr>
            </a:defPPr>
          </a:lstStyle>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“Prevent privilege escalation by workloads</a:t>
            </a:r>
          </a:p>
          <a:p xmlns:a="http://schemas.openxmlformats.org/drawingml/2006/main">
            <a:pPr>
              <a:defRPr sz="2625" b="1">
                <a:solidFill>
                  <a:srgbClr val="0B1822"/>
                </a:solidFill>
                <a:latin typeface="Arial"/>
                <a:ea typeface="Arial"/>
                <a:cs typeface="Arial"/>
              </a:defRPr>
            </a:pPr>
            <a:r>
              <a:rPr sz="2625" b="1">
                <a:solidFill>
                  <a:srgbClr val="0B1822"/>
                </a:solidFill>
                <a:latin typeface="Arial"/>
                <a:ea typeface="Arial"/>
                <a:cs typeface="Arial"/>
              </a:rPr>
              <a:t>in the payments namespace.”</a:t>
            </a:r>
          </a:p>
        </p:txBody>
      </p:sp>
      <p:sp>
        <p:nvSpPr>
          <p:cNvPr id="4" name="Control: deny_privilege_escalation&#10;Templates pro">
            <a:extLst xmlns:a="http://schemas.openxmlformats.org/drawingml/2006/main">
              <a:ext uri="{FF2B5EF4-FFF2-40B4-BE49-F238E27FC236}">
                <a16:creationId xmlns:a16="http://schemas.microsoft.com/office/drawing/2014/main" id="{0D697E88-E7B9-4C15-9BE1-1F6A97DB95FE}"/>
              </a:ext>
            </a:extLst>
          </p:cNvPr>
          <p:cNvSpPr>
            <a:spLocks xmlns:a="http://schemas.openxmlformats.org/drawingml/2006/main" noGrp="1"/>
          </p:cNvSpPr>
          <p:nvPr/>
        </p:nvSpPr>
        <p:spPr>
          <a:xfrm xmlns:a="http://schemas.openxmlformats.org/drawingml/2006/main">
            <a:off x="609600" y="3743325"/>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Control: deny_privilege_escalation</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Templates produce a Kyverno policy. Fixtures show its effect.</a:t>
            </a:r>
          </a:p>
        </p:txBody>
      </p:sp>
      <p:sp>
        <p:nvSpPr>
          <p:cNvPr id="5" name="The real System-1 model failed the current live-">
            <a:extLst xmlns:a="http://schemas.openxmlformats.org/drawingml/2006/main">
              <a:ext uri="{FF2B5EF4-FFF2-40B4-BE49-F238E27FC236}">
                <a16:creationId xmlns:a16="http://schemas.microsoft.com/office/drawing/2014/main" id="{EFEDD862-A640-4A18-9733-2740B6B301DE}"/>
              </a:ext>
            </a:extLst>
          </p:cNvPr>
          <p:cNvSpPr>
            <a:spLocks xmlns:a="http://schemas.openxmlformats.org/drawingml/2006/main" noGrp="1"/>
          </p:cNvSpPr>
          <p:nvPr/>
        </p:nvSpPr>
        <p:spPr>
          <a:xfrm xmlns:a="http://schemas.openxmlformats.org/drawingml/2006/main">
            <a:off x="609600" y="5372100"/>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17A"/>
                </a:solidFill>
                <a:latin typeface="Arial"/>
                <a:ea typeface="Arial"/>
                <a:cs typeface="Arial"/>
              </a:defRPr>
            </a:defPPr>
          </a:lstStyle>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The real System-1 model failed the current live-demo gate.</a:t>
            </a:r>
          </a:p>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This enforcement demonstration uses a supplied reference spec.</a:t>
            </a:r>
          </a:p>
        </p:txBody>
      </p:sp>
      <p:sp>
        <p:nvSpPr>
          <p:cNvPr id="6" name="ISC2 SECURITY CONGRESS 2026 / SC2632">
            <a:extLst xmlns:a="http://schemas.openxmlformats.org/drawingml/2006/main">
              <a:ext uri="{FF2B5EF4-FFF2-40B4-BE49-F238E27FC236}">
                <a16:creationId xmlns:a16="http://schemas.microsoft.com/office/drawing/2014/main" id="{C00B17F4-3C31-47C8-93BC-F873E68A2BD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10">
            <a:extLst xmlns:a="http://schemas.openxmlformats.org/drawingml/2006/main">
              <a:ext uri="{FF2B5EF4-FFF2-40B4-BE49-F238E27FC236}">
                <a16:creationId xmlns:a16="http://schemas.microsoft.com/office/drawing/2014/main" id="{6CD16277-F11F-41D8-AA8F-EE60BE42AFC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10</a:t>
            </a:r>
          </a:p>
        </p:txBody>
      </p:sp>
    </p:spTree>
    <p:extLst>
      <p:ext uri="{BB962C8B-B14F-4D97-AF65-F5344CB8AC3E}">
        <p14:creationId xmlns:p14="http://schemas.microsoft.com/office/powerpoint/2010/main" val="519117069"/>
      </p:ext>
    </p:extLst>
  </p:cSld>
</p:sld>
</file>

<file path=ppt/slides/slide1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REFERENCE PR / SCENARIO A">
            <a:extLst xmlns:a="http://schemas.openxmlformats.org/drawingml/2006/main">
              <a:ext uri="{FF2B5EF4-FFF2-40B4-BE49-F238E27FC236}">
                <a16:creationId xmlns:a16="http://schemas.microsoft.com/office/drawing/2014/main" id="{467DE976-1386-4E7A-B8F5-428C34C4FCC0}"/>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REFERENCE PR / SCENARIO A</a:t>
            </a:r>
          </a:p>
        </p:txBody>
      </p:sp>
      <p:sp>
        <p:nvSpPr>
          <p:cNvPr id="2" name="Unresolved enforcement requirements">
            <a:extLst xmlns:a="http://schemas.openxmlformats.org/drawingml/2006/main">
              <a:ext uri="{FF2B5EF4-FFF2-40B4-BE49-F238E27FC236}">
                <a16:creationId xmlns:a16="http://schemas.microsoft.com/office/drawing/2014/main" id="{3EC83208-E7EB-4F57-B3D6-8D8037E8B047}"/>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Unresolved enforcement requirements</a:t>
            </a:r>
          </a:p>
        </p:txBody>
      </p:sp>
      <p:graphicFrame>
        <p:nvGraphicFramePr>
          <p:cNvPr id="3" name="">
            <a:extLst xmlns:a="http://schemas.openxmlformats.org/drawingml/2006/main">
              <a:ext uri="{FF2B5EF4-FFF2-40B4-BE49-F238E27FC236}">
                <a16:creationId xmlns:a16="http://schemas.microsoft.com/office/drawing/2014/main" id="{9EDAA130-3C6E-492D-9A44-D449F853AC1B}"/>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4857750"/>
                <a:gridCol w="6096000"/>
              </a:tblGrid>
              <a:tr h="676275">
                <a:tc>
                  <a:txBody>
                    <a:bodyPr/>
                    <a:lstStyle/>
                    <a:p>
                      <a:r>
                        <a:rPr sz="1875" b="1">
                          <a:solidFill>
                            <a:srgbClr val="F2EFE7"/>
                          </a:solidFill>
                          <a:latin typeface="Arial"/>
                          <a:ea typeface="Arial"/>
                          <a:cs typeface="Arial"/>
                        </a:rPr>
                        <a:t>Intent clause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Proposal status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75" b="1">
                          <a:solidFill>
                            <a:srgbClr val="087E79"/>
                          </a:solidFill>
                          <a:latin typeface="Arial"/>
                          <a:ea typeface="Arial"/>
                          <a:cs typeface="Arial"/>
                        </a:rPr>
                        <a:t>Limit east-west communication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Prevent 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Privilege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Restrict 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Unimplemented. RBAC handover required.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75" b="1">
                          <a:solidFill>
                            <a:srgbClr val="087E79"/>
                          </a:solidFill>
                          <a:latin typeface="Arial"/>
                          <a:ea typeface="Arial"/>
                          <a:cs typeface="Arial"/>
                        </a:rPr>
                        <a:t>Avoid disruption and expire exceptions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Rollout and exception 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imulation evidence is limited to the fixtures e">
            <a:extLst xmlns:a="http://schemas.openxmlformats.org/drawingml/2006/main">
              <a:ext uri="{FF2B5EF4-FFF2-40B4-BE49-F238E27FC236}">
                <a16:creationId xmlns:a16="http://schemas.microsoft.com/office/drawing/2014/main" id="{F54E56BB-45F1-4249-BD66-84DD379B60CA}"/>
              </a:ext>
            </a:extLst>
          </p:cNvPr>
          <p:cNvSpPr>
            <a:spLocks xmlns:a="http://schemas.openxmlformats.org/drawingml/2006/main" noGrp="1"/>
          </p:cNvSpPr>
          <p:nvPr/>
        </p:nvSpPr>
        <p:spPr>
          <a:xfrm xmlns:a="http://schemas.openxmlformats.org/drawingml/2006/main">
            <a:off x="60960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Simulation evidence is limited to the fixtures exercised.</a:t>
            </a:r>
          </a:p>
        </p:txBody>
      </p:sp>
      <p:sp>
        <p:nvSpPr>
          <p:cNvPr id="5" name="ISC2 SECURITY CONGRESS 2026 / SC2632">
            <a:extLst xmlns:a="http://schemas.openxmlformats.org/drawingml/2006/main">
              <a:ext uri="{FF2B5EF4-FFF2-40B4-BE49-F238E27FC236}">
                <a16:creationId xmlns:a16="http://schemas.microsoft.com/office/drawing/2014/main" id="{BA1062DC-F768-46BE-AB32-E8B199BEE0D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1">
            <a:extLst xmlns:a="http://schemas.openxmlformats.org/drawingml/2006/main">
              <a:ext uri="{FF2B5EF4-FFF2-40B4-BE49-F238E27FC236}">
                <a16:creationId xmlns:a16="http://schemas.microsoft.com/office/drawing/2014/main" id="{E8022EC1-0201-4219-B8C8-8AC60196FD8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11</a:t>
            </a:r>
          </a:p>
        </p:txBody>
      </p:sp>
    </p:spTree>
    <p:extLst>
      <p:ext uri="{BB962C8B-B14F-4D97-AF65-F5344CB8AC3E}">
        <p14:creationId xmlns:p14="http://schemas.microsoft.com/office/powerpoint/2010/main" val="415761673"/>
      </p:ext>
    </p:extLst>
  </p:cSld>
</p:sld>
</file>

<file path=ppt/slides/slide12.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1" name="PR REVIEW / YOUR DECISION">
            <a:extLst xmlns:a="http://schemas.openxmlformats.org/drawingml/2006/main">
              <a:ext uri="{FF2B5EF4-FFF2-40B4-BE49-F238E27FC236}">
                <a16:creationId xmlns:a16="http://schemas.microsoft.com/office/drawing/2014/main" id="{AE85173F-49AD-4C29-B028-6BDC4278B8CA}"/>
              </a:ext>
            </a:extLst>
          </p:cNvPr>
          <p:cNvSpPr>
            <a:spLocks xmlns:a="http://schemas.openxmlformats.org/drawingml/2006/main" noGrp="1"/>
          </p:cNvSpPr>
          <p:nvPr/>
        </p:nvSpPr>
        <p:spPr>
          <a:xfrm xmlns:a="http://schemas.openxmlformats.org/drawingml/2006/main">
            <a:off x="609600" y="4762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PR REVIEW / YOUR DECISION</a:t>
            </a:r>
          </a:p>
        </p:txBody>
      </p:sp>
      <p:sp>
        <p:nvSpPr>
          <p:cNvPr id="2" name="Record your review decision">
            <a:extLst xmlns:a="http://schemas.openxmlformats.org/drawingml/2006/main">
              <a:ext uri="{FF2B5EF4-FFF2-40B4-BE49-F238E27FC236}">
                <a16:creationId xmlns:a16="http://schemas.microsoft.com/office/drawing/2014/main" id="{A2269D4E-A00F-4B81-8D75-B3E85A4C96F3}"/>
              </a:ext>
            </a:extLst>
          </p:cNvPr>
          <p:cNvSpPr>
            <a:spLocks xmlns:a="http://schemas.openxmlformats.org/drawingml/2006/main" noGrp="1"/>
          </p:cNvSpPr>
          <p:nvPr/>
        </p:nvSpPr>
        <p:spPr>
          <a:xfrm xmlns:a="http://schemas.openxmlformats.org/drawingml/2006/main">
            <a:off x="609600" y="11239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Record your review decision</a:t>
            </a:r>
          </a:p>
        </p:txBody>
      </p:sp>
      <p:sp>
        <p:nvSpPr>
          <p:cNvPr id="3" name="APPROVE">
            <a:extLst xmlns:a="http://schemas.openxmlformats.org/drawingml/2006/main">
              <a:ext uri="{FF2B5EF4-FFF2-40B4-BE49-F238E27FC236}">
                <a16:creationId xmlns:a16="http://schemas.microsoft.com/office/drawing/2014/main" id="{19C6E1E5-CE50-41A0-9235-EA08F5F1A33F}"/>
              </a:ext>
            </a:extLst>
          </p:cNvPr>
          <p:cNvSpPr>
            <a:spLocks xmlns:a="http://schemas.openxmlformats.org/drawingml/2006/main" noGrp="1"/>
          </p:cNvSpPr>
          <p:nvPr/>
        </p:nvSpPr>
        <p:spPr>
          <a:xfrm xmlns:a="http://schemas.openxmlformats.org/drawingml/2006/main">
            <a:off x="628650" y="240030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stStyle>
          <a:p xmlns:a="http://schemas.openxmlformats.org/drawingml/2006/main">
            <a:pPr>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APPROVE</a:t>
            </a:r>
          </a:p>
        </p:txBody>
      </p:sp>
      <p:sp>
        <p:nvSpPr>
          <p:cNvPr id="4" name="MODIFY">
            <a:extLst xmlns:a="http://schemas.openxmlformats.org/drawingml/2006/main">
              <a:ext uri="{FF2B5EF4-FFF2-40B4-BE49-F238E27FC236}">
                <a16:creationId xmlns:a16="http://schemas.microsoft.com/office/drawing/2014/main" id="{6AA19D60-7E98-4166-965D-102BBB90EB0B}"/>
              </a:ext>
            </a:extLst>
          </p:cNvPr>
          <p:cNvSpPr>
            <a:spLocks xmlns:a="http://schemas.openxmlformats.org/drawingml/2006/main" noGrp="1"/>
          </p:cNvSpPr>
          <p:nvPr/>
        </p:nvSpPr>
        <p:spPr>
          <a:xfrm xmlns:a="http://schemas.openxmlformats.org/drawingml/2006/main">
            <a:off x="628650" y="322897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25D8BD"/>
                </a:solidFill>
                <a:latin typeface="Arial Black"/>
                <a:ea typeface="Arial Black"/>
                <a:cs typeface="Arial Black"/>
              </a:defRPr>
            </a:defPPr>
          </a:lstStyle>
          <a:p xmlns:a="http://schemas.openxmlformats.org/drawingml/2006/main">
            <a:pPr>
              <a:defRPr sz="3900" b="1">
                <a:solidFill>
                  <a:srgbClr val="25D8BD"/>
                </a:solidFill>
                <a:latin typeface="Arial Black"/>
                <a:ea typeface="Arial Black"/>
                <a:cs typeface="Arial Black"/>
              </a:defRPr>
            </a:pPr>
            <a:r>
              <a:rPr sz="3900" b="1">
                <a:solidFill>
                  <a:srgbClr val="25D8BD"/>
                </a:solidFill>
                <a:latin typeface="Arial Black"/>
                <a:ea typeface="Arial Black"/>
                <a:cs typeface="Arial Black"/>
              </a:rPr>
              <a:t>MODIFY</a:t>
            </a:r>
          </a:p>
        </p:txBody>
      </p:sp>
      <p:sp>
        <p:nvSpPr>
          <p:cNvPr id="5" name="REJECT">
            <a:extLst xmlns:a="http://schemas.openxmlformats.org/drawingml/2006/main">
              <a:ext uri="{FF2B5EF4-FFF2-40B4-BE49-F238E27FC236}">
                <a16:creationId xmlns:a16="http://schemas.microsoft.com/office/drawing/2014/main" id="{7DCD3880-BEF9-4F80-B404-C6CD008B7F5E}"/>
              </a:ext>
            </a:extLst>
          </p:cNvPr>
          <p:cNvSpPr>
            <a:spLocks xmlns:a="http://schemas.openxmlformats.org/drawingml/2006/main" noGrp="1"/>
          </p:cNvSpPr>
          <p:nvPr/>
        </p:nvSpPr>
        <p:spPr>
          <a:xfrm xmlns:a="http://schemas.openxmlformats.org/drawingml/2006/main">
            <a:off x="628650" y="4057650"/>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F795B"/>
                </a:solidFill>
                <a:latin typeface="Arial Black"/>
                <a:ea typeface="Arial Black"/>
                <a:cs typeface="Arial Black"/>
              </a:defRPr>
            </a:defPPr>
          </a:lstStyle>
          <a:p xmlns:a="http://schemas.openxmlformats.org/drawingml/2006/main">
            <a:pPr>
              <a:defRPr sz="3900" b="1">
                <a:solidFill>
                  <a:srgbClr val="FF795B"/>
                </a:solidFill>
                <a:latin typeface="Arial Black"/>
                <a:ea typeface="Arial Black"/>
                <a:cs typeface="Arial Black"/>
              </a:defRPr>
            </a:pPr>
            <a:r>
              <a:rPr sz="3900" b="1">
                <a:solidFill>
                  <a:srgbClr val="FF795B"/>
                </a:solidFill>
                <a:latin typeface="Arial Black"/>
                <a:ea typeface="Arial Black"/>
                <a:cs typeface="Arial Black"/>
              </a:rPr>
              <a:t>REJECT</a:t>
            </a:r>
          </a:p>
        </p:txBody>
      </p:sp>
      <p:sp>
        <p:nvSpPr>
          <p:cNvPr id="6" name="ESCALATE">
            <a:extLst xmlns:a="http://schemas.openxmlformats.org/drawingml/2006/main">
              <a:ext uri="{FF2B5EF4-FFF2-40B4-BE49-F238E27FC236}">
                <a16:creationId xmlns:a16="http://schemas.microsoft.com/office/drawing/2014/main" id="{D445EE94-F219-4D1C-A205-6F630295F531}"/>
              </a:ext>
            </a:extLst>
          </p:cNvPr>
          <p:cNvSpPr>
            <a:spLocks xmlns:a="http://schemas.openxmlformats.org/drawingml/2006/main" noGrp="1"/>
          </p:cNvSpPr>
          <p:nvPr/>
        </p:nvSpPr>
        <p:spPr>
          <a:xfrm xmlns:a="http://schemas.openxmlformats.org/drawingml/2006/main">
            <a:off x="628650" y="4886325"/>
            <a:ext cx="5715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2EFE7"/>
                </a:solidFill>
                <a:latin typeface="Arial Black"/>
                <a:ea typeface="Arial Black"/>
                <a:cs typeface="Arial Black"/>
              </a:defRPr>
            </a:defPPr>
          </a:lstStyle>
          <a:p xmlns:a="http://schemas.openxmlformats.org/drawingml/2006/main">
            <a:pPr>
              <a:defRPr sz="3900" b="1">
                <a:solidFill>
                  <a:srgbClr val="F2EFE7"/>
                </a:solidFill>
                <a:latin typeface="Arial Black"/>
                <a:ea typeface="Arial Black"/>
                <a:cs typeface="Arial Black"/>
              </a:defRPr>
            </a:pPr>
            <a:r>
              <a:rPr sz="3900" b="1">
                <a:solidFill>
                  <a:srgbClr val="F2EFE7"/>
                </a:solidFill>
                <a:latin typeface="Arial Black"/>
                <a:ea typeface="Arial Black"/>
                <a:cs typeface="Arial Black"/>
              </a:rPr>
              <a:t>ESCALATE</a:t>
            </a:r>
          </a:p>
        </p:txBody>
      </p:sp>
      <p:sp>
        <p:nvSpPr>
          <p:cNvPr id="7" name="One control to keep&#10;or change.">
            <a:extLst xmlns:a="http://schemas.openxmlformats.org/drawingml/2006/main">
              <a:ext uri="{FF2B5EF4-FFF2-40B4-BE49-F238E27FC236}">
                <a16:creationId xmlns:a16="http://schemas.microsoft.com/office/drawing/2014/main" id="{D758BF1F-10BA-4E81-AF4E-A56353712FBC}"/>
              </a:ext>
            </a:extLst>
          </p:cNvPr>
          <p:cNvSpPr>
            <a:spLocks xmlns:a="http://schemas.openxmlformats.org/drawingml/2006/main" noGrp="1"/>
          </p:cNvSpPr>
          <p:nvPr/>
        </p:nvSpPr>
        <p:spPr>
          <a:xfrm xmlns:a="http://schemas.openxmlformats.org/drawingml/2006/main">
            <a:off x="7553325" y="2686050"/>
            <a:ext cx="3810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F2EFE7"/>
                </a:solidFill>
                <a:latin typeface="Arial"/>
                <a:ea typeface="Arial"/>
                <a:cs typeface="Arial"/>
              </a:defRPr>
            </a:defPPr>
          </a:lstStyle>
          <a:p xmlns:a="http://schemas.openxmlformats.org/drawingml/2006/main">
            <a:pPr>
              <a:defRPr sz="2550" b="1">
                <a:solidFill>
                  <a:srgbClr val="F2EFE7"/>
                </a:solidFill>
                <a:latin typeface="Arial"/>
                <a:ea typeface="Arial"/>
                <a:cs typeface="Arial"/>
              </a:defRPr>
            </a:pPr>
            <a:r>
              <a:rPr sz="2550" b="1">
                <a:solidFill>
                  <a:srgbClr val="F2EFE7"/>
                </a:solidFill>
                <a:latin typeface="Arial"/>
                <a:ea typeface="Arial"/>
                <a:cs typeface="Arial"/>
              </a:rPr>
              <a:t>One control to keep</a:t>
            </a:r>
          </a:p>
          <a:p xmlns:a="http://schemas.openxmlformats.org/drawingml/2006/main">
            <a:pPr>
              <a:defRPr sz="2550" b="1">
                <a:solidFill>
                  <a:srgbClr val="F2EFE7"/>
                </a:solidFill>
                <a:latin typeface="Arial"/>
                <a:ea typeface="Arial"/>
                <a:cs typeface="Arial"/>
              </a:defRPr>
            </a:pPr>
            <a:r>
              <a:rPr sz="2550" b="1">
                <a:solidFill>
                  <a:srgbClr val="F2EFE7"/>
                </a:solidFill>
                <a:latin typeface="Arial"/>
                <a:ea typeface="Arial"/>
                <a:cs typeface="Arial"/>
              </a:rPr>
              <a:t>or change.</a:t>
            </a:r>
          </a:p>
        </p:txBody>
      </p:sp>
      <p:sp>
        <p:nvSpPr>
          <p:cNvPr id="8" name="One missing test&#10;that could change&#10;your decision">
            <a:extLst xmlns:a="http://schemas.openxmlformats.org/drawingml/2006/main">
              <a:ext uri="{FF2B5EF4-FFF2-40B4-BE49-F238E27FC236}">
                <a16:creationId xmlns:a16="http://schemas.microsoft.com/office/drawing/2014/main" id="{347B18B2-8FCD-4A8F-AAB9-63C771CE4896}"/>
              </a:ext>
            </a:extLst>
          </p:cNvPr>
          <p:cNvSpPr>
            <a:spLocks xmlns:a="http://schemas.openxmlformats.org/drawingml/2006/main" noGrp="1"/>
          </p:cNvSpPr>
          <p:nvPr/>
        </p:nvSpPr>
        <p:spPr>
          <a:xfrm xmlns:a="http://schemas.openxmlformats.org/drawingml/2006/main">
            <a:off x="7553325" y="4295775"/>
            <a:ext cx="381000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0">
                <a:solidFill>
                  <a:srgbClr val="F2EFE7"/>
                </a:solidFill>
                <a:latin typeface="Arial"/>
                <a:ea typeface="Arial"/>
                <a:cs typeface="Arial"/>
              </a:defRPr>
            </a:defPPr>
          </a:lstStyle>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One missing test</a:t>
            </a:r>
          </a:p>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that could change</a:t>
            </a:r>
          </a:p>
          <a:p xmlns:a="http://schemas.openxmlformats.org/drawingml/2006/main">
            <a:pPr>
              <a:defRPr sz="2475" b="0">
                <a:solidFill>
                  <a:srgbClr val="F2EFE7"/>
                </a:solidFill>
                <a:latin typeface="Arial"/>
                <a:ea typeface="Arial"/>
                <a:cs typeface="Arial"/>
              </a:defRPr>
            </a:pPr>
            <a:r>
              <a:rPr sz="2475" b="0">
                <a:solidFill>
                  <a:srgbClr val="F2EFE7"/>
                </a:solidFill>
                <a:latin typeface="Arial"/>
                <a:ea typeface="Arial"/>
                <a:cs typeface="Arial"/>
              </a:rPr>
              <a:t>your decision.</a:t>
            </a:r>
          </a:p>
        </p:txBody>
      </p:sp>
      <p:sp>
        <p:nvSpPr>
          <p:cNvPr id="9" name="ISC2 SECURITY CONGRESS 2026 / SC2632">
            <a:extLst xmlns:a="http://schemas.openxmlformats.org/drawingml/2006/main">
              <a:ext uri="{FF2B5EF4-FFF2-40B4-BE49-F238E27FC236}">
                <a16:creationId xmlns:a16="http://schemas.microsoft.com/office/drawing/2014/main" id="{2E8223DF-C0A1-4C41-91B3-3056BD53B66D}"/>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0" name="12">
            <a:extLst xmlns:a="http://schemas.openxmlformats.org/drawingml/2006/main">
              <a:ext uri="{FF2B5EF4-FFF2-40B4-BE49-F238E27FC236}">
                <a16:creationId xmlns:a16="http://schemas.microsoft.com/office/drawing/2014/main" id="{9BE2B020-A8F1-4441-AE14-2E6D6B6C753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12</a:t>
            </a:r>
          </a:p>
        </p:txBody>
      </p:sp>
    </p:spTree>
    <p:extLst>
      <p:ext uri="{BB962C8B-B14F-4D97-AF65-F5344CB8AC3E}">
        <p14:creationId xmlns:p14="http://schemas.microsoft.com/office/powerpoint/2010/main" val="1373123503"/>
      </p:ext>
    </p:extLst>
  </p:cSld>
</p:sld>
</file>

<file path=ppt/slides/slide1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ROUND 02 / EXCEPTION REQUEST / FICTIONAL INJECT">
            <a:extLst xmlns:a="http://schemas.openxmlformats.org/drawingml/2006/main">
              <a:ext uri="{FF2B5EF4-FFF2-40B4-BE49-F238E27FC236}">
                <a16:creationId xmlns:a16="http://schemas.microsoft.com/office/drawing/2014/main" id="{C8CF5AA6-21A2-44A6-AD7B-817528689AB7}"/>
              </a:ext>
            </a:extLst>
          </p:cNvPr>
          <p:cNvSpPr>
            <a:spLocks xmlns:a="http://schemas.openxmlformats.org/drawingml/2006/main" noGrp="1"/>
          </p:cNvSpPr>
          <p:nvPr/>
        </p:nvSpPr>
        <p:spPr>
          <a:xfrm xmlns:a="http://schemas.openxmlformats.org/drawingml/2006/main">
            <a:off x="609600" y="476250"/>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ROUND 02 / EXCEPTION REQUEST / FICTIONAL INJECT</a:t>
            </a:r>
          </a:p>
        </p:txBody>
      </p:sp>
      <p:sp>
        <p:nvSpPr>
          <p:cNvPr id="2" name="Exception approval&#10;is unverified">
            <a:extLst xmlns:a="http://schemas.openxmlformats.org/drawingml/2006/main">
              <a:ext uri="{FF2B5EF4-FFF2-40B4-BE49-F238E27FC236}">
                <a16:creationId xmlns:a16="http://schemas.microsoft.com/office/drawing/2014/main" id="{25E116F4-05CE-4BAF-9E88-482774449E50}"/>
              </a:ext>
            </a:extLst>
          </p:cNvPr>
          <p:cNvSpPr>
            <a:spLocks xmlns:a="http://schemas.openxmlformats.org/drawingml/2006/main" noGrp="1"/>
          </p:cNvSpPr>
          <p:nvPr/>
        </p:nvSpPr>
        <p:spPr>
          <a:xfrm xmlns:a="http://schemas.openxmlformats.org/drawingml/2006/main">
            <a:off x="609600" y="1400175"/>
            <a:ext cx="1066800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0B1822"/>
                </a:solidFill>
                <a:latin typeface="Arial Black"/>
                <a:ea typeface="Arial Black"/>
                <a:cs typeface="Arial Black"/>
              </a:defRPr>
            </a:defPPr>
          </a:lstStyle>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Exception approval</a:t>
            </a:r>
          </a:p>
          <a:p xmlns:a="http://schemas.openxmlformats.org/drawingml/2006/main">
            <a:pPr>
              <a:defRPr sz="4875" b="1">
                <a:solidFill>
                  <a:srgbClr val="0B1822"/>
                </a:solidFill>
                <a:latin typeface="Arial Black"/>
                <a:ea typeface="Arial Black"/>
                <a:cs typeface="Arial Black"/>
              </a:defRPr>
            </a:pPr>
            <a:r>
              <a:rPr sz="4875" b="1">
                <a:solidFill>
                  <a:srgbClr val="0B1822"/>
                </a:solidFill>
                <a:latin typeface="Arial Black"/>
                <a:ea typeface="Arial Black"/>
                <a:cs typeface="Arial Black"/>
              </a:rPr>
              <a:t>is unverified</a:t>
            </a:r>
          </a:p>
        </p:txBody>
      </p:sp>
      <p:sp>
        <p:nvSpPr>
          <p:cNvPr id="3" name="The request cites operational need but provides ">
            <a:extLst xmlns:a="http://schemas.openxmlformats.org/drawingml/2006/main">
              <a:ext uri="{FF2B5EF4-FFF2-40B4-BE49-F238E27FC236}">
                <a16:creationId xmlns:a16="http://schemas.microsoft.com/office/drawing/2014/main" id="{CDDA3A3A-92F5-4C92-8994-AED31A41E298}"/>
              </a:ext>
            </a:extLst>
          </p:cNvPr>
          <p:cNvSpPr>
            <a:spLocks xmlns:a="http://schemas.openxmlformats.org/drawingml/2006/main" noGrp="1"/>
          </p:cNvSpPr>
          <p:nvPr/>
        </p:nvSpPr>
        <p:spPr>
          <a:xfrm xmlns:a="http://schemas.openxmlformats.org/drawingml/2006/main">
            <a:off x="628650" y="3800475"/>
            <a:ext cx="10668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0B1822"/>
                </a:solidFill>
                <a:latin typeface="Arial"/>
                <a:ea typeface="Arial"/>
                <a:cs typeface="Arial"/>
              </a:defRPr>
            </a:defPPr>
          </a:lstStyle>
          <a:p xmlns:a="http://schemas.openxmlformats.org/drawingml/2006/main">
            <a:pPr>
              <a:defRPr sz="2325" b="0">
                <a:solidFill>
                  <a:srgbClr val="0B1822"/>
                </a:solidFill>
                <a:latin typeface="Arial"/>
                <a:ea typeface="Arial"/>
                <a:cs typeface="Arial"/>
              </a:defRPr>
            </a:pPr>
            <a:r>
              <a:rPr sz="2325" b="0">
                <a:solidFill>
                  <a:srgbClr val="0B1822"/>
                </a:solidFill>
                <a:latin typeface="Arial"/>
                <a:ea typeface="Arial"/>
                <a:cs typeface="Arial"/>
              </a:rPr>
              <a:t>The request cites operational need but provides no verified approver or expiry.</a:t>
            </a:r>
          </a:p>
        </p:txBody>
      </p:sp>
      <p:sp>
        <p:nvSpPr>
          <p:cNvPr id="4" name="VERIFY THE APPROVER.  NARROW THE SCOPE.  SET THE">
            <a:extLst xmlns:a="http://schemas.openxmlformats.org/drawingml/2006/main">
              <a:ext uri="{FF2B5EF4-FFF2-40B4-BE49-F238E27FC236}">
                <a16:creationId xmlns:a16="http://schemas.microsoft.com/office/drawing/2014/main" id="{8376199A-D2E1-4620-8205-142ED012CC0F}"/>
              </a:ext>
            </a:extLst>
          </p:cNvPr>
          <p:cNvSpPr>
            <a:spLocks xmlns:a="http://schemas.openxmlformats.org/drawingml/2006/main" noGrp="1"/>
          </p:cNvSpPr>
          <p:nvPr/>
        </p:nvSpPr>
        <p:spPr>
          <a:xfrm xmlns:a="http://schemas.openxmlformats.org/drawingml/2006/main">
            <a:off x="628650" y="5086350"/>
            <a:ext cx="106203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VERIFY THE APPROVER.  NARROW THE SCOPE.  SET THE EXPIRY.</a:t>
            </a:r>
          </a:p>
        </p:txBody>
      </p:sp>
      <p:sp>
        <p:nvSpPr>
          <p:cNvPr id="5" name="ISC2 SECURITY CONGRESS 2026 / SC2632">
            <a:extLst xmlns:a="http://schemas.openxmlformats.org/drawingml/2006/main">
              <a:ext uri="{FF2B5EF4-FFF2-40B4-BE49-F238E27FC236}">
                <a16:creationId xmlns:a16="http://schemas.microsoft.com/office/drawing/2014/main" id="{518DD6C6-8F9B-43E5-A32D-153098AA0BA8}"/>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3">
            <a:extLst xmlns:a="http://schemas.openxmlformats.org/drawingml/2006/main">
              <a:ext uri="{FF2B5EF4-FFF2-40B4-BE49-F238E27FC236}">
                <a16:creationId xmlns:a16="http://schemas.microsoft.com/office/drawing/2014/main" id="{D470BC37-4F05-45C0-814B-745E820AB948}"/>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13</a:t>
            </a:r>
          </a:p>
        </p:txBody>
      </p:sp>
    </p:spTree>
    <p:extLst>
      <p:ext uri="{BB962C8B-B14F-4D97-AF65-F5344CB8AC3E}">
        <p14:creationId xmlns:p14="http://schemas.microsoft.com/office/powerpoint/2010/main" val="339919546"/>
      </p:ext>
    </p:extLst>
  </p:cSld>
</p:sld>
</file>

<file path=ppt/slides/slide1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22–26 MINUTES / TEAM TASK">
            <a:extLst xmlns:a="http://schemas.openxmlformats.org/drawingml/2006/main">
              <a:ext uri="{FF2B5EF4-FFF2-40B4-BE49-F238E27FC236}">
                <a16:creationId xmlns:a16="http://schemas.microsoft.com/office/drawing/2014/main" id="{BB2749F8-5190-4C1C-8147-8583C8CEFD09}"/>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22–26 MINUTES / TEAM TASK</a:t>
            </a:r>
          </a:p>
        </p:txBody>
      </p:sp>
      <p:sp>
        <p:nvSpPr>
          <p:cNvPr id="2" name="Audit. Warn. Deny.">
            <a:extLst xmlns:a="http://schemas.openxmlformats.org/drawingml/2006/main">
              <a:ext uri="{FF2B5EF4-FFF2-40B4-BE49-F238E27FC236}">
                <a16:creationId xmlns:a16="http://schemas.microsoft.com/office/drawing/2014/main" id="{6302C075-3ABA-4FE2-9F5C-209D1D25AC0D}"/>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Audit. Warn. Deny.</a:t>
            </a:r>
          </a:p>
        </p:txBody>
      </p:sp>
      <p:graphicFrame>
        <p:nvGraphicFramePr>
          <p:cNvPr id="3" name="">
            <a:extLst xmlns:a="http://schemas.openxmlformats.org/drawingml/2006/main">
              <a:ext uri="{FF2B5EF4-FFF2-40B4-BE49-F238E27FC236}">
                <a16:creationId xmlns:a16="http://schemas.microsoft.com/office/drawing/2014/main" id="{54BE851D-2913-41F4-B6B3-3509096A21C8}"/>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1524000"/>
                <a:gridCol w="3905250"/>
                <a:gridCol w="5524500"/>
              </a:tblGrid>
              <a:tr h="714375">
                <a:tc>
                  <a:txBody>
                    <a:bodyPr/>
                    <a:lstStyle/>
                    <a:p>
                      <a:r>
                        <a:rPr sz="1875" b="1">
                          <a:solidFill>
                            <a:srgbClr val="F2EFE7"/>
                          </a:solidFill>
                          <a:latin typeface="Arial"/>
                          <a:ea typeface="Arial"/>
                          <a:cs typeface="Arial"/>
                        </a:rPr>
                        <a:t>Mode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Admission behavior</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Review question</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Audit</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Allow and record</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Is exposure acceptable while we observe?</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Warn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Allow and warn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Who will act on the warning?</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Deny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Refuse the change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What legitimate workload could break?</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Choose a mode per control and write promotion cr">
            <a:extLst xmlns:a="http://schemas.openxmlformats.org/drawingml/2006/main">
              <a:ext uri="{FF2B5EF4-FFF2-40B4-BE49-F238E27FC236}">
                <a16:creationId xmlns:a16="http://schemas.microsoft.com/office/drawing/2014/main" id="{0F2461B8-AF6C-413E-A180-F18B7813FC47}"/>
              </a:ext>
            </a:extLst>
          </p:cNvPr>
          <p:cNvSpPr>
            <a:spLocks xmlns:a="http://schemas.openxmlformats.org/drawingml/2006/main" noGrp="1"/>
          </p:cNvSpPr>
          <p:nvPr/>
        </p:nvSpPr>
        <p:spPr>
          <a:xfrm xmlns:a="http://schemas.openxmlformats.org/drawingml/2006/main">
            <a:off x="609600" y="557212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87E79"/>
                </a:solidFill>
                <a:latin typeface="Arial"/>
                <a:ea typeface="Arial"/>
                <a:cs typeface="Arial"/>
              </a:defRPr>
            </a:defPPr>
          </a:lstStyle>
          <a:p xmlns:a="http://schemas.openxmlformats.org/drawingml/2006/main">
            <a:pPr>
              <a:defRPr sz="2100" b="1">
                <a:solidFill>
                  <a:srgbClr val="087E79"/>
                </a:solidFill>
                <a:latin typeface="Arial"/>
                <a:ea typeface="Arial"/>
                <a:cs typeface="Arial"/>
              </a:defRPr>
            </a:pPr>
            <a:r>
              <a:rPr sz="2100" b="1">
                <a:solidFill>
                  <a:srgbClr val="087E79"/>
                </a:solidFill>
                <a:latin typeface="Arial"/>
                <a:ea typeface="Arial"/>
                <a:cs typeface="Arial"/>
              </a:rPr>
              <a:t>Choose a mode per control and write promotion criteria.</a:t>
            </a:r>
          </a:p>
        </p:txBody>
      </p:sp>
      <p:sp>
        <p:nvSpPr>
          <p:cNvPr id="5" name="ISC2 SECURITY CONGRESS 2026 / SC2632">
            <a:extLst xmlns:a="http://schemas.openxmlformats.org/drawingml/2006/main">
              <a:ext uri="{FF2B5EF4-FFF2-40B4-BE49-F238E27FC236}">
                <a16:creationId xmlns:a16="http://schemas.microsoft.com/office/drawing/2014/main" id="{A156FA59-F57D-4BA4-A290-C30BE345C848}"/>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14">
            <a:extLst xmlns:a="http://schemas.openxmlformats.org/drawingml/2006/main">
              <a:ext uri="{FF2B5EF4-FFF2-40B4-BE49-F238E27FC236}">
                <a16:creationId xmlns:a16="http://schemas.microsoft.com/office/drawing/2014/main" id="{CBEA007F-E886-45DE-9AD6-2902411CCDB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14</a:t>
            </a:r>
          </a:p>
        </p:txBody>
      </p:sp>
    </p:spTree>
    <p:extLst>
      <p:ext uri="{BB962C8B-B14F-4D97-AF65-F5344CB8AC3E}">
        <p14:creationId xmlns:p14="http://schemas.microsoft.com/office/powerpoint/2010/main" val="998260987"/>
      </p:ext>
    </p:extLst>
  </p:cSld>
</p:sld>
</file>

<file path=ppt/slides/slide15.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IMPLEMENTED LEVELS / SCOPE MATTERS">
            <a:extLst xmlns:a="http://schemas.openxmlformats.org/drawingml/2006/main">
              <a:ext uri="{FF2B5EF4-FFF2-40B4-BE49-F238E27FC236}">
                <a16:creationId xmlns:a16="http://schemas.microsoft.com/office/drawing/2014/main" id="{650267AF-3A4A-4B4F-B8BA-FCC5E4B71B7A}"/>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IMPLEMENTED LEVELS / SCOPE MATTERS</a:t>
            </a:r>
          </a:p>
        </p:txBody>
      </p:sp>
      <p:sp>
        <p:nvSpPr>
          <p:cNvPr id="2" name="Quarantine Mode">
            <a:extLst xmlns:a="http://schemas.openxmlformats.org/drawingml/2006/main">
              <a:ext uri="{FF2B5EF4-FFF2-40B4-BE49-F238E27FC236}">
                <a16:creationId xmlns:a16="http://schemas.microsoft.com/office/drawing/2014/main" id="{E9E7938E-0A1B-48C5-8872-50AFEF854877}"/>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Quarantine Mode</a:t>
            </a:r>
          </a:p>
        </p:txBody>
      </p:sp>
      <p:graphicFrame>
        <p:nvGraphicFramePr>
          <p:cNvPr id="3" name="">
            <a:extLst xmlns:a="http://schemas.openxmlformats.org/drawingml/2006/main">
              <a:ext uri="{FF2B5EF4-FFF2-40B4-BE49-F238E27FC236}">
                <a16:creationId xmlns:a16="http://schemas.microsoft.com/office/drawing/2014/main" id="{E112CB53-094A-4BCD-AD6E-BFDF3FC5EB06}"/>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095500"/>
                <a:gridCol w="5429250"/>
                <a:gridCol w="3429000"/>
              </a:tblGrid>
              <a:tr h="676275">
                <a:tc>
                  <a:txBody>
                    <a:bodyPr/>
                    <a:lstStyle/>
                    <a:p>
                      <a:r>
                        <a:rPr sz="1800" b="1">
                          <a:solidFill>
                            <a:srgbClr val="F2EFE7"/>
                          </a:solidFill>
                          <a:latin typeface="Arial"/>
                          <a:ea typeface="Arial"/>
                          <a:cs typeface="Arial"/>
                        </a:rPr>
                        <a:t>Level</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Control change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00" b="1">
                          <a:solidFill>
                            <a:srgbClr val="F2EFE7"/>
                          </a:solidFill>
                          <a:latin typeface="Arial"/>
                          <a:ea typeface="Arial"/>
                          <a:cs typeface="Arial"/>
                        </a:rPr>
                        <a:t>Operational effect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800" b="1">
                          <a:solidFill>
                            <a:srgbClr val="087E79"/>
                          </a:solidFill>
                          <a:latin typeface="Arial"/>
                          <a:ea typeface="Arial"/>
                          <a:cs typeface="Arial"/>
                        </a:rPr>
                        <a:t>Q0 Normal</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Baseline guardrails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Normal service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Q1 Freeze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Freeze covered agent writes and new exceptions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Running Pods remain</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Q2 Constrain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Capture evidence, constrain suspect network and rotation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Clean capacity can serve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800" b="1">
                          <a:solidFill>
                            <a:srgbClr val="087E79"/>
                          </a:solidFill>
                          <a:latin typeface="Arial"/>
                          <a:ea typeface="Arial"/>
                          <a:cs typeface="Arial"/>
                        </a:rPr>
                        <a:t>Q3 Isolate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Remove remaining suspect network allowances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00" b="0">
                          <a:solidFill>
                            <a:srgbClr val="0B1822"/>
                          </a:solidFill>
                          <a:latin typeface="Arial"/>
                          <a:ea typeface="Arial"/>
                          <a:cs typeface="Arial"/>
                        </a:rPr>
                        <a:t>Degraded service may follow</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555A9AAD-F172-4762-ABB9-B79FC3AB6C9D}"/>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15">
            <a:extLst xmlns:a="http://schemas.openxmlformats.org/drawingml/2006/main">
              <a:ext uri="{FF2B5EF4-FFF2-40B4-BE49-F238E27FC236}">
                <a16:creationId xmlns:a16="http://schemas.microsoft.com/office/drawing/2014/main" id="{DC519A1F-EC7D-44FB-AF15-9351B5F485C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15</a:t>
            </a:r>
          </a:p>
        </p:txBody>
      </p:sp>
    </p:spTree>
    <p:extLst>
      <p:ext uri="{BB962C8B-B14F-4D97-AF65-F5344CB8AC3E}">
        <p14:creationId xmlns:p14="http://schemas.microsoft.com/office/powerpoint/2010/main" val="47084634"/>
      </p:ext>
    </p:extLst>
  </p:cSld>
</p:sld>
</file>

<file path=ppt/slides/slide16.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A5E0046F-4573-4728-92E6-BFE13518B3F5}"/>
              </a:ext>
            </a:extLst>
          </p:cNvPr>
          <p:cNvPicPr>
            <a:picLocks xmlns:a="http://schemas.openxmlformats.org/drawingml/2006/main" noChangeAspect="1"/>
          </p:cNvPicPr>
          <p:nvPr/>
        </p:nvPicPr>
        <p:blipFill>
          <a:blip xmlns:r="http://schemas.openxmlformats.org/officeDocument/2006/relationships" xmlns:a="http://schemas.openxmlformats.org/drawingml/2006/main" r:embed="R1933260515fe43ca"/>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7 MINUTES / JUSTIFY THE ACTION ORDER">
            <a:extLst xmlns:a="http://schemas.openxmlformats.org/drawingml/2006/main">
              <a:ext uri="{FF2B5EF4-FFF2-40B4-BE49-F238E27FC236}">
                <a16:creationId xmlns:a16="http://schemas.microsoft.com/office/drawing/2014/main" id="{135D1D20-1118-4A64-A89A-2DAC168E2803}"/>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7 MINUTES / JUSTIFY THE ACTION ORDER</a:t>
            </a:r>
          </a:p>
        </p:txBody>
      </p:sp>
      <p:sp>
        <p:nvSpPr>
          <p:cNvPr id="3" name="03">
            <a:extLst xmlns:a="http://schemas.openxmlformats.org/drawingml/2006/main">
              <a:ext uri="{FF2B5EF4-FFF2-40B4-BE49-F238E27FC236}">
                <a16:creationId xmlns:a16="http://schemas.microsoft.com/office/drawing/2014/main" id="{FB5EF060-28A9-430B-9560-33CA79B6832D}"/>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03</a:t>
            </a:r>
          </a:p>
        </p:txBody>
      </p:sp>
      <p:sp>
        <p:nvSpPr>
          <p:cNvPr id="4" name="Plan scoped&#10;containment.">
            <a:extLst xmlns:a="http://schemas.openxmlformats.org/drawingml/2006/main">
              <a:ext uri="{FF2B5EF4-FFF2-40B4-BE49-F238E27FC236}">
                <a16:creationId xmlns:a16="http://schemas.microsoft.com/office/drawing/2014/main" id="{574758E8-6AE3-4CFE-ACCF-FE7428384125}"/>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Plan scoped</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containment.</a:t>
            </a:r>
          </a:p>
        </p:txBody>
      </p:sp>
      <p:sp>
        <p:nvSpPr>
          <p:cNvPr id="5" name="Open the sealed update on page 7.&#10;Number actions">
            <a:extLst xmlns:a="http://schemas.openxmlformats.org/drawingml/2006/main">
              <a:ext uri="{FF2B5EF4-FFF2-40B4-BE49-F238E27FC236}">
                <a16:creationId xmlns:a16="http://schemas.microsoft.com/office/drawing/2014/main" id="{6CDEB9E9-982C-4D80-BF86-1C677A37A6BB}"/>
              </a:ext>
            </a:extLst>
          </p:cNvPr>
          <p:cNvSpPr>
            <a:spLocks xmlns:a="http://schemas.openxmlformats.org/drawingml/2006/main" noGrp="1"/>
          </p:cNvSpPr>
          <p:nvPr/>
        </p:nvSpPr>
        <p:spPr>
          <a:xfrm xmlns:a="http://schemas.openxmlformats.org/drawingml/2006/main">
            <a:off x="628650" y="4829175"/>
            <a:ext cx="6381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Open the sealed update on page 7.</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Number actions and state the service floor.</a:t>
            </a:r>
          </a:p>
        </p:txBody>
      </p:sp>
      <p:sp>
        <p:nvSpPr>
          <p:cNvPr id="6" name="ISC2 SECURITY CONGRESS 2026 / SC2632">
            <a:extLst xmlns:a="http://schemas.openxmlformats.org/drawingml/2006/main">
              <a:ext uri="{FF2B5EF4-FFF2-40B4-BE49-F238E27FC236}">
                <a16:creationId xmlns:a16="http://schemas.microsoft.com/office/drawing/2014/main" id="{1B0A1E9E-9347-4226-AEFB-11F712762E9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16">
            <a:extLst xmlns:a="http://schemas.openxmlformats.org/drawingml/2006/main">
              <a:ext uri="{FF2B5EF4-FFF2-40B4-BE49-F238E27FC236}">
                <a16:creationId xmlns:a16="http://schemas.microsoft.com/office/drawing/2014/main" id="{D4F2131E-33FD-4FC0-9EFD-CB7EC53B4F15}"/>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16</a:t>
            </a:r>
          </a:p>
        </p:txBody>
      </p:sp>
    </p:spTree>
    <p:extLst>
      <p:ext uri="{BB962C8B-B14F-4D97-AF65-F5344CB8AC3E}">
        <p14:creationId xmlns:p14="http://schemas.microsoft.com/office/powerpoint/2010/main" val="1669659640"/>
      </p:ext>
    </p:extLst>
  </p:cSld>
</p:sld>
</file>

<file path=ppt/slides/slide17.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7" name="SECOND INJECT / OPEN THE LATER FINDING">
            <a:extLst xmlns:a="http://schemas.openxmlformats.org/drawingml/2006/main">
              <a:ext uri="{FF2B5EF4-FFF2-40B4-BE49-F238E27FC236}">
                <a16:creationId xmlns:a16="http://schemas.microsoft.com/office/drawing/2014/main" id="{A9FD8B48-A317-4C34-A7C8-99DB268B5D66}"/>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SECOND INJECT / OPEN THE LATER FINDING</a:t>
            </a:r>
          </a:p>
        </p:txBody>
      </p:sp>
      <p:sp>
        <p:nvSpPr>
          <p:cNvPr id="2" name="Reassess with&#10;additional evidence">
            <a:extLst xmlns:a="http://schemas.openxmlformats.org/drawingml/2006/main">
              <a:ext uri="{FF2B5EF4-FFF2-40B4-BE49-F238E27FC236}">
                <a16:creationId xmlns:a16="http://schemas.microsoft.com/office/drawing/2014/main" id="{9DAC89BB-91D6-4239-BA27-30720A8434EB}"/>
              </a:ext>
            </a:extLst>
          </p:cNvPr>
          <p:cNvSpPr>
            <a:spLocks xmlns:a="http://schemas.openxmlformats.org/drawingml/2006/main" noGrp="1"/>
          </p:cNvSpPr>
          <p:nvPr/>
        </p:nvSpPr>
        <p:spPr>
          <a:xfrm xmlns:a="http://schemas.openxmlformats.org/drawingml/2006/main">
            <a:off x="609600" y="1447800"/>
            <a:ext cx="1076325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F2EFE7"/>
                </a:solidFill>
                <a:latin typeface="Arial Black"/>
                <a:ea typeface="Arial Black"/>
                <a:cs typeface="Arial Black"/>
              </a:defRPr>
            </a:defPPr>
          </a:lstStyle>
          <a:p xmlns:a="http://schemas.openxmlformats.org/drawingml/2006/main">
            <a:pPr>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Reassess with</a:t>
            </a:r>
          </a:p>
          <a:p xmlns:a="http://schemas.openxmlformats.org/drawingml/2006/main">
            <a:pPr>
              <a:defRPr sz="4875" b="1">
                <a:solidFill>
                  <a:srgbClr val="F2EFE7"/>
                </a:solidFill>
                <a:latin typeface="Arial Black"/>
                <a:ea typeface="Arial Black"/>
                <a:cs typeface="Arial Black"/>
              </a:defRPr>
            </a:pPr>
            <a:r>
              <a:rPr sz="4875" b="1">
                <a:solidFill>
                  <a:srgbClr val="F2EFE7"/>
                </a:solidFill>
                <a:latin typeface="Arial Black"/>
                <a:ea typeface="Arial Black"/>
                <a:cs typeface="Arial Black"/>
              </a:rPr>
              <a:t>additional evidence</a:t>
            </a:r>
          </a:p>
        </p:txBody>
      </p:sp>
      <p:sp>
        <p:nvSpPr>
          <p:cNvPr id="3" name="REVISE THE PLAN / ESCALATE / JUSTIFY NO CHANGE">
            <a:extLst xmlns:a="http://schemas.openxmlformats.org/drawingml/2006/main">
              <a:ext uri="{FF2B5EF4-FFF2-40B4-BE49-F238E27FC236}">
                <a16:creationId xmlns:a16="http://schemas.microsoft.com/office/drawing/2014/main" id="{11EA4331-1F05-497D-8C6A-A4F8BAE3BAC9}"/>
              </a:ext>
            </a:extLst>
          </p:cNvPr>
          <p:cNvSpPr>
            <a:spLocks xmlns:a="http://schemas.openxmlformats.org/drawingml/2006/main" noGrp="1"/>
          </p:cNvSpPr>
          <p:nvPr/>
        </p:nvSpPr>
        <p:spPr>
          <a:xfrm xmlns:a="http://schemas.openxmlformats.org/drawingml/2006/main">
            <a:off x="628650" y="4324350"/>
            <a:ext cx="10763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FF795B"/>
                </a:solidFill>
                <a:latin typeface="Arial"/>
                <a:ea typeface="Arial"/>
                <a:cs typeface="Arial"/>
              </a:defRPr>
            </a:defPPr>
          </a:lstStyle>
          <a:p xmlns:a="http://schemas.openxmlformats.org/drawingml/2006/main">
            <a:pPr>
              <a:defRPr sz="2625" b="1">
                <a:solidFill>
                  <a:srgbClr val="FF795B"/>
                </a:solidFill>
                <a:latin typeface="Arial"/>
                <a:ea typeface="Arial"/>
                <a:cs typeface="Arial"/>
              </a:defRPr>
            </a:pPr>
            <a:r>
              <a:rPr sz="2625" b="1">
                <a:solidFill>
                  <a:srgbClr val="FF795B"/>
                </a:solidFill>
                <a:latin typeface="Arial"/>
                <a:ea typeface="Arial"/>
                <a:cs typeface="Arial"/>
              </a:rPr>
              <a:t>REVISE THE PLAN / ESCALATE / JUSTIFY NO CHANGE</a:t>
            </a:r>
          </a:p>
        </p:txBody>
      </p:sp>
      <p:sp>
        <p:nvSpPr>
          <p:cNvPr id="4" name="Record which new evidence changes the scope or a">
            <a:extLst xmlns:a="http://schemas.openxmlformats.org/drawingml/2006/main">
              <a:ext uri="{FF2B5EF4-FFF2-40B4-BE49-F238E27FC236}">
                <a16:creationId xmlns:a16="http://schemas.microsoft.com/office/drawing/2014/main" id="{319C168F-C2A1-4CEF-A6B6-34B72E6BD025}"/>
              </a:ext>
            </a:extLst>
          </p:cNvPr>
          <p:cNvSpPr>
            <a:spLocks xmlns:a="http://schemas.openxmlformats.org/drawingml/2006/main" noGrp="1"/>
          </p:cNvSpPr>
          <p:nvPr/>
        </p:nvSpPr>
        <p:spPr>
          <a:xfrm xmlns:a="http://schemas.openxmlformats.org/drawingml/2006/main">
            <a:off x="628650" y="5314950"/>
            <a:ext cx="10763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Record which new evidence changes the scope or action order.</a:t>
            </a:r>
          </a:p>
        </p:txBody>
      </p:sp>
      <p:sp>
        <p:nvSpPr>
          <p:cNvPr id="5" name="ISC2 SECURITY CONGRESS 2026 / SC2632">
            <a:extLst xmlns:a="http://schemas.openxmlformats.org/drawingml/2006/main">
              <a:ext uri="{FF2B5EF4-FFF2-40B4-BE49-F238E27FC236}">
                <a16:creationId xmlns:a16="http://schemas.microsoft.com/office/drawing/2014/main" id="{1DEE7091-D7DD-4AE9-9140-83E39834F1F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6" name="17">
            <a:extLst xmlns:a="http://schemas.openxmlformats.org/drawingml/2006/main">
              <a:ext uri="{FF2B5EF4-FFF2-40B4-BE49-F238E27FC236}">
                <a16:creationId xmlns:a16="http://schemas.microsoft.com/office/drawing/2014/main" id="{3FC3EBF6-A202-4B2C-82F1-63009628BC4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17</a:t>
            </a:r>
          </a:p>
        </p:txBody>
      </p:sp>
    </p:spTree>
    <p:extLst>
      <p:ext uri="{BB962C8B-B14F-4D97-AF65-F5344CB8AC3E}">
        <p14:creationId xmlns:p14="http://schemas.microsoft.com/office/powerpoint/2010/main" val="1351765201"/>
      </p:ext>
    </p:extLst>
  </p:cSld>
</p:sld>
</file>

<file path=ppt/slides/slide1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2" name="RECORDED LAB / PREDICT BEFORE THE REVEAL">
            <a:extLst xmlns:a="http://schemas.openxmlformats.org/drawingml/2006/main">
              <a:ext uri="{FF2B5EF4-FFF2-40B4-BE49-F238E27FC236}">
                <a16:creationId xmlns:a16="http://schemas.microsoft.com/office/drawing/2014/main" id="{982EAD4C-A322-47D1-9C42-45B9021B04A1}"/>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RECORDED LAB / PREDICT BEFORE THE REVEAL</a:t>
            </a:r>
          </a:p>
        </p:txBody>
      </p:sp>
      <p:sp>
        <p:nvSpPr>
          <p:cNvPr id="2" name="Validate the&#10;containment assumptions">
            <a:extLst xmlns:a="http://schemas.openxmlformats.org/drawingml/2006/main">
              <a:ext uri="{FF2B5EF4-FFF2-40B4-BE49-F238E27FC236}">
                <a16:creationId xmlns:a16="http://schemas.microsoft.com/office/drawing/2014/main" id="{19C6D2AF-4FCE-4ACF-B7E4-2F824134D7C5}"/>
              </a:ext>
            </a:extLst>
          </p:cNvPr>
          <p:cNvSpPr>
            <a:spLocks xmlns:a="http://schemas.openxmlformats.org/drawingml/2006/main" noGrp="1"/>
          </p:cNvSpPr>
          <p:nvPr/>
        </p:nvSpPr>
        <p:spPr>
          <a:xfrm xmlns:a="http://schemas.openxmlformats.org/drawingml/2006/main">
            <a:off x="609600" y="1362075"/>
            <a:ext cx="108585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350" b="1">
                <a:solidFill>
                  <a:srgbClr val="F2EFE7"/>
                </a:solidFill>
                <a:latin typeface="Arial Black"/>
                <a:ea typeface="Arial Black"/>
                <a:cs typeface="Arial Black"/>
              </a:defRPr>
            </a:defPPr>
          </a:lstStyle>
          <a:p xmlns:a="http://schemas.openxmlformats.org/drawingml/2006/main">
            <a:pPr>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Validate the</a:t>
            </a:r>
          </a:p>
          <a:p xmlns:a="http://schemas.openxmlformats.org/drawingml/2006/main">
            <a:pPr>
              <a:defRPr sz="4350" b="1">
                <a:solidFill>
                  <a:srgbClr val="F2EFE7"/>
                </a:solidFill>
                <a:latin typeface="Arial Black"/>
                <a:ea typeface="Arial Black"/>
                <a:cs typeface="Arial Black"/>
              </a:defRPr>
            </a:pPr>
            <a:r>
              <a:rPr sz="4350" b="1">
                <a:solidFill>
                  <a:srgbClr val="F2EFE7"/>
                </a:solidFill>
                <a:latin typeface="Arial Black"/>
                <a:ea typeface="Arial Black"/>
                <a:cs typeface="Arial Black"/>
              </a:rPr>
              <a:t>containment assumptions</a:t>
            </a:r>
          </a:p>
        </p:txBody>
      </p:sp>
      <p:sp>
        <p:nvSpPr>
          <p:cNvPr id="3" name="NETWORK">
            <a:extLst xmlns:a="http://schemas.openxmlformats.org/drawingml/2006/main">
              <a:ext uri="{FF2B5EF4-FFF2-40B4-BE49-F238E27FC236}">
                <a16:creationId xmlns:a16="http://schemas.microsoft.com/office/drawing/2014/main" id="{F7DAB922-8159-404C-99C7-A7144A11D469}"/>
              </a:ext>
            </a:extLst>
          </p:cNvPr>
          <p:cNvSpPr>
            <a:spLocks xmlns:a="http://schemas.openxmlformats.org/drawingml/2006/main" noGrp="1"/>
          </p:cNvSpPr>
          <p:nvPr/>
        </p:nvSpPr>
        <p:spPr>
          <a:xfrm xmlns:a="http://schemas.openxmlformats.org/drawingml/2006/main">
            <a:off x="609600" y="343852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4" name="Does deny-all remove an existing allow?">
            <a:extLst xmlns:a="http://schemas.openxmlformats.org/drawingml/2006/main">
              <a:ext uri="{FF2B5EF4-FFF2-40B4-BE49-F238E27FC236}">
                <a16:creationId xmlns:a16="http://schemas.microsoft.com/office/drawing/2014/main" id="{79C3EC0A-B450-44FD-832A-262B3277918B}"/>
              </a:ext>
            </a:extLst>
          </p:cNvPr>
          <p:cNvSpPr>
            <a:spLocks xmlns:a="http://schemas.openxmlformats.org/drawingml/2006/main" noGrp="1"/>
          </p:cNvSpPr>
          <p:nvPr/>
        </p:nvSpPr>
        <p:spPr>
          <a:xfrm xmlns:a="http://schemas.openxmlformats.org/drawingml/2006/main">
            <a:off x="2705100" y="343852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Does deny-all remove an existing allow?</a:t>
            </a:r>
          </a:p>
        </p:txBody>
      </p:sp>
      <p:sp>
        <p:nvSpPr>
          <p:cNvPr id="5" name="RECOVERY">
            <a:extLst xmlns:a="http://schemas.openxmlformats.org/drawingml/2006/main">
              <a:ext uri="{FF2B5EF4-FFF2-40B4-BE49-F238E27FC236}">
                <a16:creationId xmlns:a16="http://schemas.microsoft.com/office/drawing/2014/main" id="{BA4B3C0F-870C-4AE8-BDD3-CF0B19AEE1DE}"/>
              </a:ext>
            </a:extLst>
          </p:cNvPr>
          <p:cNvSpPr>
            <a:spLocks xmlns:a="http://schemas.openxmlformats.org/drawingml/2006/main" noGrp="1"/>
          </p:cNvSpPr>
          <p:nvPr/>
        </p:nvSpPr>
        <p:spPr>
          <a:xfrm xmlns:a="http://schemas.openxmlformats.org/drawingml/2006/main">
            <a:off x="609600" y="4267200"/>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RECOVERY</a:t>
            </a:r>
          </a:p>
        </p:txBody>
      </p:sp>
      <p:sp>
        <p:nvSpPr>
          <p:cNvPr id="6" name="Can eviction preserve evidence and healthy capac">
            <a:extLst xmlns:a="http://schemas.openxmlformats.org/drawingml/2006/main">
              <a:ext uri="{FF2B5EF4-FFF2-40B4-BE49-F238E27FC236}">
                <a16:creationId xmlns:a16="http://schemas.microsoft.com/office/drawing/2014/main" id="{0F2CA297-6C6C-4701-893F-4796AD933504}"/>
              </a:ext>
            </a:extLst>
          </p:cNvPr>
          <p:cNvSpPr>
            <a:spLocks xmlns:a="http://schemas.openxmlformats.org/drawingml/2006/main" noGrp="1"/>
          </p:cNvSpPr>
          <p:nvPr/>
        </p:nvSpPr>
        <p:spPr>
          <a:xfrm xmlns:a="http://schemas.openxmlformats.org/drawingml/2006/main">
            <a:off x="2705100" y="4267200"/>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Can eviction preserve evidence and healthy capacity?</a:t>
            </a:r>
          </a:p>
        </p:txBody>
      </p:sp>
      <p:sp>
        <p:nvSpPr>
          <p:cNvPr id="7" name="AUTHORITY">
            <a:extLst xmlns:a="http://schemas.openxmlformats.org/drawingml/2006/main">
              <a:ext uri="{FF2B5EF4-FFF2-40B4-BE49-F238E27FC236}">
                <a16:creationId xmlns:a16="http://schemas.microsoft.com/office/drawing/2014/main" id="{256C6972-020E-4640-9CE3-356D741973D4}"/>
              </a:ext>
            </a:extLst>
          </p:cNvPr>
          <p:cNvSpPr>
            <a:spLocks xmlns:a="http://schemas.openxmlformats.org/drawingml/2006/main" noGrp="1"/>
          </p:cNvSpPr>
          <p:nvPr/>
        </p:nvSpPr>
        <p:spPr>
          <a:xfrm xmlns:a="http://schemas.openxmlformats.org/drawingml/2006/main">
            <a:off x="609600" y="5095875"/>
            <a:ext cx="1809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AUTHORITY</a:t>
            </a:r>
          </a:p>
        </p:txBody>
      </p:sp>
      <p:sp>
        <p:nvSpPr>
          <p:cNvPr id="8" name="Which identity or API path can bypass your plan?">
            <a:extLst xmlns:a="http://schemas.openxmlformats.org/drawingml/2006/main">
              <a:ext uri="{FF2B5EF4-FFF2-40B4-BE49-F238E27FC236}">
                <a16:creationId xmlns:a16="http://schemas.microsoft.com/office/drawing/2014/main" id="{ED884B63-89C3-43F3-882E-DEEFD4553A94}"/>
              </a:ext>
            </a:extLst>
          </p:cNvPr>
          <p:cNvSpPr>
            <a:spLocks xmlns:a="http://schemas.openxmlformats.org/drawingml/2006/main" noGrp="1"/>
          </p:cNvSpPr>
          <p:nvPr/>
        </p:nvSpPr>
        <p:spPr>
          <a:xfrm xmlns:a="http://schemas.openxmlformats.org/drawingml/2006/main">
            <a:off x="2705100" y="5095875"/>
            <a:ext cx="8572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Which identity or API path can bypass your plan?</a:t>
            </a:r>
          </a:p>
        </p:txBody>
      </p:sp>
      <p:sp>
        <p:nvSpPr>
          <p:cNvPr id="9" name="Real k3s observations. Fictional incident. Recor">
            <a:extLst xmlns:a="http://schemas.openxmlformats.org/drawingml/2006/main">
              <a:ext uri="{FF2B5EF4-FFF2-40B4-BE49-F238E27FC236}">
                <a16:creationId xmlns:a16="http://schemas.microsoft.com/office/drawing/2014/main" id="{41BC0D1B-43E6-4E9C-A223-F1A01350759B}"/>
              </a:ext>
            </a:extLst>
          </p:cNvPr>
          <p:cNvSpPr>
            <a:spLocks xmlns:a="http://schemas.openxmlformats.org/drawingml/2006/main" noGrp="1"/>
          </p:cNvSpPr>
          <p:nvPr/>
        </p:nvSpPr>
        <p:spPr>
          <a:xfrm xmlns:a="http://schemas.openxmlformats.org/drawingml/2006/main">
            <a:off x="628650" y="601027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9CAEBB"/>
                </a:solidFill>
                <a:latin typeface="Arial"/>
                <a:ea typeface="Arial"/>
                <a:cs typeface="Arial"/>
              </a:defRPr>
            </a:defPPr>
          </a:lstStyle>
          <a:p xmlns:a="http://schemas.openxmlformats.org/drawingml/2006/main">
            <a:pPr>
              <a:defRPr sz="1500" b="0">
                <a:solidFill>
                  <a:srgbClr val="9CAEBB"/>
                </a:solidFill>
                <a:latin typeface="Arial"/>
                <a:ea typeface="Arial"/>
                <a:cs typeface="Arial"/>
              </a:defRPr>
            </a:pPr>
            <a:r>
              <a:rPr sz="1500" b="0">
                <a:solidFill>
                  <a:srgbClr val="9CAEBB"/>
                </a:solidFill>
                <a:latin typeface="Arial"/>
                <a:ea typeface="Arial"/>
                <a:cs typeface="Arial"/>
              </a:rPr>
              <a:t>Real k3s observations. Fictional incident. Recorded, not live.</a:t>
            </a:r>
          </a:p>
        </p:txBody>
      </p:sp>
      <p:sp>
        <p:nvSpPr>
          <p:cNvPr id="10" name="ISC2 SECURITY CONGRESS 2026 / SC2632">
            <a:extLst xmlns:a="http://schemas.openxmlformats.org/drawingml/2006/main">
              <a:ext uri="{FF2B5EF4-FFF2-40B4-BE49-F238E27FC236}">
                <a16:creationId xmlns:a16="http://schemas.microsoft.com/office/drawing/2014/main" id="{E02E5362-1DAA-4CBE-BF33-E10F29AE4099}"/>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1" name="18">
            <a:extLst xmlns:a="http://schemas.openxmlformats.org/drawingml/2006/main">
              <a:ext uri="{FF2B5EF4-FFF2-40B4-BE49-F238E27FC236}">
                <a16:creationId xmlns:a16="http://schemas.microsoft.com/office/drawing/2014/main" id="{EBCA4023-3A30-4ED9-B7A0-F61A893E194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18</a:t>
            </a:r>
          </a:p>
        </p:txBody>
      </p:sp>
    </p:spTree>
    <p:extLst>
      <p:ext uri="{BB962C8B-B14F-4D97-AF65-F5344CB8AC3E}">
        <p14:creationId xmlns:p14="http://schemas.microsoft.com/office/powerpoint/2010/main" val="242352250"/>
      </p:ext>
    </p:extLst>
  </p:cSld>
</p:sld>
</file>

<file path=ppt/slides/slide1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1 / PREDICT THEN REVEAL">
            <a:extLst xmlns:a="http://schemas.openxmlformats.org/drawingml/2006/main">
              <a:ext uri="{FF2B5EF4-FFF2-40B4-BE49-F238E27FC236}">
                <a16:creationId xmlns:a16="http://schemas.microsoft.com/office/drawing/2014/main" id="{BB29D588-B48F-4992-B353-B8631A972843}"/>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01 / PREDICT THEN REVEAL</a:t>
            </a:r>
          </a:p>
        </p:txBody>
      </p:sp>
      <p:sp>
        <p:nvSpPr>
          <p:cNvPr id="2" name="Is the suspect&#10;isolated?">
            <a:extLst xmlns:a="http://schemas.openxmlformats.org/drawingml/2006/main">
              <a:ext uri="{FF2B5EF4-FFF2-40B4-BE49-F238E27FC236}">
                <a16:creationId xmlns:a16="http://schemas.microsoft.com/office/drawing/2014/main" id="{12211EEB-9EF3-4213-85F9-4816128774A4}"/>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Is the suspect</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isolated?</a:t>
            </a:r>
          </a:p>
        </p:txBody>
      </p:sp>
      <p:pic>
        <p:nvPicPr>
          <p:cNvPr id="3" name="">
            <a:extLst xmlns:a="http://schemas.openxmlformats.org/drawingml/2006/main">
              <a:ext uri="{FF2B5EF4-FFF2-40B4-BE49-F238E27FC236}">
                <a16:creationId xmlns:a16="http://schemas.microsoft.com/office/drawing/2014/main" id="{2D998A98-8938-45D0-9DD7-52645F9BC8BB}"/>
              </a:ext>
            </a:extLst>
          </p:cNvPr>
          <p:cNvPicPr>
            <a:picLocks xmlns:a="http://schemas.openxmlformats.org/drawingml/2006/main" noChangeAspect="1"/>
          </p:cNvPicPr>
          <p:nvPr/>
        </p:nvPicPr>
        <p:blipFill>
          <a:blip xmlns:r="http://schemas.openxmlformats.org/officeDocument/2006/relationships" xmlns:a="http://schemas.openxmlformats.org/drawingml/2006/main" r:embed="R4681e23aad224143"/>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Q3 is declared.&#10;Look at the DNS path.">
            <a:extLst xmlns:a="http://schemas.openxmlformats.org/drawingml/2006/main">
              <a:ext uri="{FF2B5EF4-FFF2-40B4-BE49-F238E27FC236}">
                <a16:creationId xmlns:a16="http://schemas.microsoft.com/office/drawing/2014/main" id="{140E42BB-9389-49D1-9F30-8C3674143EC5}"/>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Q3 is declared.</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Look at the DNS path.</a:t>
            </a:r>
          </a:p>
        </p:txBody>
      </p:sp>
      <p:sp>
        <p:nvSpPr>
          <p:cNvPr id="5" name="RECORD YOUR DECISION.&#10;STATE THE SUPPORTING EVIDE">
            <a:extLst xmlns:a="http://schemas.openxmlformats.org/drawingml/2006/main">
              <a:ext uri="{FF2B5EF4-FFF2-40B4-BE49-F238E27FC236}">
                <a16:creationId xmlns:a16="http://schemas.microsoft.com/office/drawing/2014/main" id="{3AF9AE5C-977B-4687-BA24-3DDD1E1CA2B2}"/>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BA59367F-30BB-4147-8B26-6F637ECFE5DA}"/>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B618E289-4010-4C14-945F-1E334659547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19">
            <a:extLst xmlns:a="http://schemas.openxmlformats.org/drawingml/2006/main">
              <a:ext uri="{FF2B5EF4-FFF2-40B4-BE49-F238E27FC236}">
                <a16:creationId xmlns:a16="http://schemas.microsoft.com/office/drawing/2014/main" id="{CD8B290A-497D-4466-92A3-F6C5C052246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19</a:t>
            </a:r>
          </a:p>
        </p:txBody>
      </p:sp>
    </p:spTree>
    <p:extLst>
      <p:ext uri="{BB962C8B-B14F-4D97-AF65-F5344CB8AC3E}">
        <p14:creationId xmlns:p14="http://schemas.microsoft.com/office/powerpoint/2010/main" val="2141960513"/>
      </p:ext>
    </p:extLst>
  </p:cSld>
</p:sld>
</file>

<file path=ppt/slides/slide20.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2 / PREDICT THEN REVEAL">
            <a:extLst xmlns:a="http://schemas.openxmlformats.org/drawingml/2006/main">
              <a:ext uri="{FF2B5EF4-FFF2-40B4-BE49-F238E27FC236}">
                <a16:creationId xmlns:a16="http://schemas.microsoft.com/office/drawing/2014/main" id="{9D774439-EA78-42CB-9023-93B7FFAC126E}"/>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02 / PREDICT THEN REVEAL</a:t>
            </a:r>
          </a:p>
        </p:txBody>
      </p:sp>
      <p:sp>
        <p:nvSpPr>
          <p:cNvPr id="2" name="Can both suspect&#10;application copies be removed?">
            <a:extLst xmlns:a="http://schemas.openxmlformats.org/drawingml/2006/main">
              <a:ext uri="{FF2B5EF4-FFF2-40B4-BE49-F238E27FC236}">
                <a16:creationId xmlns:a16="http://schemas.microsoft.com/office/drawing/2014/main" id="{271D605E-B173-4445-90BC-4F9FF5383F77}"/>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Can both suspect</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application copies be removed?</a:t>
            </a:r>
          </a:p>
        </p:txBody>
      </p:sp>
      <p:pic>
        <p:nvPicPr>
          <p:cNvPr id="3" name="">
            <a:extLst xmlns:a="http://schemas.openxmlformats.org/drawingml/2006/main">
              <a:ext uri="{FF2B5EF4-FFF2-40B4-BE49-F238E27FC236}">
                <a16:creationId xmlns:a16="http://schemas.microsoft.com/office/drawing/2014/main" id="{88D757AA-B442-4F99-A67F-F2598A502F0C}"/>
              </a:ext>
            </a:extLst>
          </p:cNvPr>
          <p:cNvPicPr>
            <a:picLocks xmlns:a="http://schemas.openxmlformats.org/drawingml/2006/main" noChangeAspect="1"/>
          </p:cNvPicPr>
          <p:nvPr/>
        </p:nvPicPr>
        <p:blipFill>
          <a:blip xmlns:r="http://schemas.openxmlformats.org/officeDocument/2006/relationships" xmlns:a="http://schemas.openxmlformats.org/drawingml/2006/main" r:embed="R7979ab1d961b4f3f"/>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Three serving copies.&#10;Keep two available.">
            <a:extLst xmlns:a="http://schemas.openxmlformats.org/drawingml/2006/main">
              <a:ext uri="{FF2B5EF4-FFF2-40B4-BE49-F238E27FC236}">
                <a16:creationId xmlns:a16="http://schemas.microsoft.com/office/drawing/2014/main" id="{CEC99252-93E2-454A-B299-B81B9A265498}"/>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Three serving copies.</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Keep two available.</a:t>
            </a:r>
          </a:p>
        </p:txBody>
      </p:sp>
      <p:sp>
        <p:nvSpPr>
          <p:cNvPr id="5" name="RECORD YOUR DECISION.&#10;STATE THE SUPPORTING EVIDE">
            <a:extLst xmlns:a="http://schemas.openxmlformats.org/drawingml/2006/main">
              <a:ext uri="{FF2B5EF4-FFF2-40B4-BE49-F238E27FC236}">
                <a16:creationId xmlns:a16="http://schemas.microsoft.com/office/drawing/2014/main" id="{51AE9191-3471-4EA9-BE92-D64BCE1311DB}"/>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7A87C914-634E-483D-B48E-24DFA454F56F}"/>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FAEF35F8-DF8B-4581-97E8-72CF5A3847A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0">
            <a:extLst xmlns:a="http://schemas.openxmlformats.org/drawingml/2006/main">
              <a:ext uri="{FF2B5EF4-FFF2-40B4-BE49-F238E27FC236}">
                <a16:creationId xmlns:a16="http://schemas.microsoft.com/office/drawing/2014/main" id="{32837BDE-B374-4A97-ABD9-6C906D0E8123}"/>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20</a:t>
            </a:r>
          </a:p>
        </p:txBody>
      </p:sp>
    </p:spTree>
    <p:extLst>
      <p:ext uri="{BB962C8B-B14F-4D97-AF65-F5344CB8AC3E}">
        <p14:creationId xmlns:p14="http://schemas.microsoft.com/office/powerpoint/2010/main" val="1165512808"/>
      </p:ext>
    </p:extLst>
  </p:cSld>
</p:sld>
</file>

<file path=ppt/slides/slide21.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3 / PREDICT THEN REVEAL">
            <a:extLst xmlns:a="http://schemas.openxmlformats.org/drawingml/2006/main">
              <a:ext uri="{FF2B5EF4-FFF2-40B4-BE49-F238E27FC236}">
                <a16:creationId xmlns:a16="http://schemas.microsoft.com/office/drawing/2014/main" id="{6D6E4134-CC68-440D-9797-4030D64920A9}"/>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03 / PREDICT THEN REVEAL</a:t>
            </a:r>
          </a:p>
        </p:txBody>
      </p:sp>
      <p:sp>
        <p:nvSpPr>
          <p:cNvPr id="2" name="Does Q2 cover&#10;the debug request?">
            <a:extLst xmlns:a="http://schemas.openxmlformats.org/drawingml/2006/main">
              <a:ext uri="{FF2B5EF4-FFF2-40B4-BE49-F238E27FC236}">
                <a16:creationId xmlns:a16="http://schemas.microsoft.com/office/drawing/2014/main" id="{6671D200-1F02-44F1-B902-9D63EE2BF4A2}"/>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Does Q2 cover</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the debug request?</a:t>
            </a:r>
          </a:p>
        </p:txBody>
      </p:sp>
      <p:pic>
        <p:nvPicPr>
          <p:cNvPr id="3" name="">
            <a:extLst xmlns:a="http://schemas.openxmlformats.org/drawingml/2006/main">
              <a:ext uri="{FF2B5EF4-FFF2-40B4-BE49-F238E27FC236}">
                <a16:creationId xmlns:a16="http://schemas.microsoft.com/office/drawing/2014/main" id="{175C6624-E6EF-4572-8324-7D024F2681A9}"/>
              </a:ext>
            </a:extLst>
          </p:cNvPr>
          <p:cNvPicPr>
            <a:picLocks xmlns:a="http://schemas.openxmlformats.org/drawingml/2006/main" noChangeAspect="1"/>
          </p:cNvPicPr>
          <p:nvPr/>
        </p:nvPicPr>
        <p:blipFill>
          <a:blip xmlns:r="http://schemas.openxmlformats.org/officeDocument/2006/relationships" xmlns:a="http://schemas.openxmlformats.org/drawingml/2006/main" r:embed="R190b89995dec442d"/>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Only approved images&#10;may start in payments.">
            <a:extLst xmlns:a="http://schemas.openxmlformats.org/drawingml/2006/main">
              <a:ext uri="{FF2B5EF4-FFF2-40B4-BE49-F238E27FC236}">
                <a16:creationId xmlns:a16="http://schemas.microsoft.com/office/drawing/2014/main" id="{8E55F4D9-193F-4847-82BD-6B4FF77FE782}"/>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Only approved images</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may start in payments.</a:t>
            </a:r>
          </a:p>
        </p:txBody>
      </p:sp>
      <p:sp>
        <p:nvSpPr>
          <p:cNvPr id="5" name="RECORD YOUR DECISION.&#10;STATE THE SUPPORTING EVIDE">
            <a:extLst xmlns:a="http://schemas.openxmlformats.org/drawingml/2006/main">
              <a:ext uri="{FF2B5EF4-FFF2-40B4-BE49-F238E27FC236}">
                <a16:creationId xmlns:a16="http://schemas.microsoft.com/office/drawing/2014/main" id="{89C91DA7-9486-45E2-B46F-D464DD7D00F0}"/>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A4E3E608-CD11-4484-B19C-7B6BDA9E443D}"/>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F1BA6795-0769-4010-995D-CB7B6C42C1D7}"/>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1">
            <a:extLst xmlns:a="http://schemas.openxmlformats.org/drawingml/2006/main">
              <a:ext uri="{FF2B5EF4-FFF2-40B4-BE49-F238E27FC236}">
                <a16:creationId xmlns:a16="http://schemas.microsoft.com/office/drawing/2014/main" id="{0D82BE1A-66CE-4236-9848-3D181E01A08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21</a:t>
            </a:r>
          </a:p>
        </p:txBody>
      </p:sp>
    </p:spTree>
    <p:extLst>
      <p:ext uri="{BB962C8B-B14F-4D97-AF65-F5344CB8AC3E}">
        <p14:creationId xmlns:p14="http://schemas.microsoft.com/office/powerpoint/2010/main" val="1717453240"/>
      </p:ext>
    </p:extLst>
  </p:cSld>
</p:sld>
</file>

<file path=ppt/slides/slide22.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9" name="RECORDED LAB 04 / PREDICT THEN REVEAL">
            <a:extLst xmlns:a="http://schemas.openxmlformats.org/drawingml/2006/main">
              <a:ext uri="{FF2B5EF4-FFF2-40B4-BE49-F238E27FC236}">
                <a16:creationId xmlns:a16="http://schemas.microsoft.com/office/drawing/2014/main" id="{1922FF6A-8885-4024-8E28-4C27BC5372CB}"/>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RECORDED LAB 04 / PREDICT THEN REVEAL</a:t>
            </a:r>
          </a:p>
        </p:txBody>
      </p:sp>
      <p:sp>
        <p:nvSpPr>
          <p:cNvPr id="2" name="Can this identity&#10;disable admission?">
            <a:extLst xmlns:a="http://schemas.openxmlformats.org/drawingml/2006/main">
              <a:ext uri="{FF2B5EF4-FFF2-40B4-BE49-F238E27FC236}">
                <a16:creationId xmlns:a16="http://schemas.microsoft.com/office/drawing/2014/main" id="{A8F03A60-9A05-45DC-A220-8C3B09D58775}"/>
              </a:ext>
            </a:extLst>
          </p:cNvPr>
          <p:cNvSpPr>
            <a:spLocks xmlns:a="http://schemas.openxmlformats.org/drawingml/2006/main" noGrp="1"/>
          </p:cNvSpPr>
          <p:nvPr/>
        </p:nvSpPr>
        <p:spPr>
          <a:xfrm xmlns:a="http://schemas.openxmlformats.org/drawingml/2006/main">
            <a:off x="609600" y="11049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525" b="1">
                <a:solidFill>
                  <a:srgbClr val="0B1822"/>
                </a:solidFill>
                <a:latin typeface="Arial Black"/>
                <a:ea typeface="Arial Black"/>
                <a:cs typeface="Arial Black"/>
              </a:defRPr>
            </a:defPPr>
          </a:lstStyle>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Can this identity</a:t>
            </a:r>
          </a:p>
          <a:p xmlns:a="http://schemas.openxmlformats.org/drawingml/2006/main">
            <a:pPr>
              <a:defRPr sz="3525" b="1">
                <a:solidFill>
                  <a:srgbClr val="0B1822"/>
                </a:solidFill>
                <a:latin typeface="Arial Black"/>
                <a:ea typeface="Arial Black"/>
                <a:cs typeface="Arial Black"/>
              </a:defRPr>
            </a:pPr>
            <a:r>
              <a:rPr sz="3525" b="1">
                <a:solidFill>
                  <a:srgbClr val="0B1822"/>
                </a:solidFill>
                <a:latin typeface="Arial Black"/>
                <a:ea typeface="Arial Black"/>
                <a:cs typeface="Arial Black"/>
              </a:rPr>
              <a:t>disable admission?</a:t>
            </a:r>
          </a:p>
        </p:txBody>
      </p:sp>
      <p:pic>
        <p:nvPicPr>
          <p:cNvPr id="3" name="">
            <a:extLst xmlns:a="http://schemas.openxmlformats.org/drawingml/2006/main">
              <a:ext uri="{FF2B5EF4-FFF2-40B4-BE49-F238E27FC236}">
                <a16:creationId xmlns:a16="http://schemas.microsoft.com/office/drawing/2014/main" id="{24679540-4240-484E-BDC1-28BD18799757}"/>
              </a:ext>
            </a:extLst>
          </p:cNvPr>
          <p:cNvPicPr>
            <a:picLocks xmlns:a="http://schemas.openxmlformats.org/drawingml/2006/main" noChangeAspect="1"/>
          </p:cNvPicPr>
          <p:nvPr/>
        </p:nvPicPr>
        <p:blipFill>
          <a:blip xmlns:r="http://schemas.openxmlformats.org/officeDocument/2006/relationships" xmlns:a="http://schemas.openxmlformats.org/drawingml/2006/main" r:embed="R3f2b4459e0d94dbc"/>
          <a:srcRect xmlns:a="http://schemas.openxmlformats.org/drawingml/2006/main" l="3000" t="11000" r="44000" b="17000"/>
          <a:stretch xmlns:a="http://schemas.openxmlformats.org/drawingml/2006/main"/>
        </p:blipFill>
        <p:spPr>
          <a:xfrm xmlns:a="http://schemas.openxmlformats.org/drawingml/2006/main">
            <a:off x="609600" y="2400300"/>
            <a:ext cx="6572250" cy="3638550"/>
          </a:xfrm>
          <a:prstGeom xmlns:a="http://schemas.openxmlformats.org/drawingml/2006/main" prst="rect">
            <a:avLst/>
          </a:prstGeom>
        </p:spPr>
      </p:pic>
      <p:sp>
        <p:nvSpPr>
          <p:cNvPr id="4" name="Its role can scale&#10;any Deployment.">
            <a:extLst xmlns:a="http://schemas.openxmlformats.org/drawingml/2006/main">
              <a:ext uri="{FF2B5EF4-FFF2-40B4-BE49-F238E27FC236}">
                <a16:creationId xmlns:a16="http://schemas.microsoft.com/office/drawing/2014/main" id="{D44A3B83-C0C1-4B4B-AD10-7D932E2365EB}"/>
              </a:ext>
            </a:extLst>
          </p:cNvPr>
          <p:cNvSpPr>
            <a:spLocks xmlns:a="http://schemas.openxmlformats.org/drawingml/2006/main" noGrp="1"/>
          </p:cNvSpPr>
          <p:nvPr/>
        </p:nvSpPr>
        <p:spPr>
          <a:xfrm xmlns:a="http://schemas.openxmlformats.org/drawingml/2006/main">
            <a:off x="7667625" y="2647950"/>
            <a:ext cx="37147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Its role can scale</a:t>
            </a:r>
          </a:p>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any Deployment.</a:t>
            </a:r>
          </a:p>
        </p:txBody>
      </p:sp>
      <p:sp>
        <p:nvSpPr>
          <p:cNvPr id="5" name="RECORD YOUR DECISION.&#10;STATE THE SUPPORTING EVIDE">
            <a:extLst xmlns:a="http://schemas.openxmlformats.org/drawingml/2006/main">
              <a:ext uri="{FF2B5EF4-FFF2-40B4-BE49-F238E27FC236}">
                <a16:creationId xmlns:a16="http://schemas.microsoft.com/office/drawing/2014/main" id="{0CAE3F8F-73DF-47DA-81F4-37E599EBB3BE}"/>
              </a:ext>
            </a:extLst>
          </p:cNvPr>
          <p:cNvSpPr>
            <a:spLocks xmlns:a="http://schemas.openxmlformats.org/drawingml/2006/main" noGrp="1"/>
          </p:cNvSpPr>
          <p:nvPr/>
        </p:nvSpPr>
        <p:spPr>
          <a:xfrm xmlns:a="http://schemas.openxmlformats.org/drawingml/2006/main">
            <a:off x="7667625" y="4429125"/>
            <a:ext cx="3714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RECORD YOUR DECISION.</a:t>
            </a:r>
          </a:p>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STATE THE SUPPORTING EVIDENCE.</a:t>
            </a:r>
          </a:p>
        </p:txBody>
      </p:sp>
      <p:sp>
        <p:nvSpPr>
          <p:cNvPr id="6" name="Recorded k3s observations; simplified workload n">
            <a:extLst xmlns:a="http://schemas.openxmlformats.org/drawingml/2006/main">
              <a:ext uri="{FF2B5EF4-FFF2-40B4-BE49-F238E27FC236}">
                <a16:creationId xmlns:a16="http://schemas.microsoft.com/office/drawing/2014/main" id="{904DE0F8-5E84-4ACB-88C9-8CC5C32E4050}"/>
              </a:ext>
            </a:extLst>
          </p:cNvPr>
          <p:cNvSpPr>
            <a:spLocks xmlns:a="http://schemas.openxmlformats.org/drawingml/2006/main" noGrp="1"/>
          </p:cNvSpPr>
          <p:nvPr/>
        </p:nvSpPr>
        <p:spPr>
          <a:xfrm xmlns:a="http://schemas.openxmlformats.org/drawingml/2006/main">
            <a:off x="609600" y="611505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0717A"/>
                </a:solidFill>
                <a:latin typeface="Arial"/>
                <a:ea typeface="Arial"/>
                <a:cs typeface="Arial"/>
              </a:defRPr>
            </a:defPPr>
          </a:lstStyle>
          <a:p xmlns:a="http://schemas.openxmlformats.org/drawingml/2006/main">
            <a:pPr>
              <a:defRPr sz="1275" b="0">
                <a:solidFill>
                  <a:srgbClr val="60717A"/>
                </a:solidFill>
                <a:latin typeface="Arial"/>
                <a:ea typeface="Arial"/>
                <a:cs typeface="Arial"/>
              </a:defRPr>
            </a:pPr>
            <a:r>
              <a:rPr sz="1275" b="0">
                <a:solidFill>
                  <a:srgbClr val="60717A"/>
                </a:solidFill>
                <a:latin typeface="Arial"/>
                <a:ea typeface="Arial"/>
                <a:cs typeface="Arial"/>
              </a:rPr>
              <a:t>Recorded k3s observations; simplified workload names. Scenario context is fictional.</a:t>
            </a:r>
          </a:p>
        </p:txBody>
      </p:sp>
      <p:sp>
        <p:nvSpPr>
          <p:cNvPr id="7" name="ISC2 SECURITY CONGRESS 2026 / SC2632">
            <a:extLst xmlns:a="http://schemas.openxmlformats.org/drawingml/2006/main">
              <a:ext uri="{FF2B5EF4-FFF2-40B4-BE49-F238E27FC236}">
                <a16:creationId xmlns:a16="http://schemas.microsoft.com/office/drawing/2014/main" id="{0729B502-0F3E-4BD7-B5F3-701C9954697F}"/>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8" name="22">
            <a:extLst xmlns:a="http://schemas.openxmlformats.org/drawingml/2006/main">
              <a:ext uri="{FF2B5EF4-FFF2-40B4-BE49-F238E27FC236}">
                <a16:creationId xmlns:a16="http://schemas.microsoft.com/office/drawing/2014/main" id="{E9E1017A-C705-4AA2-8ED1-63509A84692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22</a:t>
            </a:r>
          </a:p>
        </p:txBody>
      </p:sp>
    </p:spTree>
    <p:extLst>
      <p:ext uri="{BB962C8B-B14F-4D97-AF65-F5344CB8AC3E}">
        <p14:creationId xmlns:p14="http://schemas.microsoft.com/office/powerpoint/2010/main" val="1745926805"/>
      </p:ext>
    </p:extLst>
  </p:cSld>
</p:sld>
</file>

<file path=ppt/slides/slide23.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44–45 MINUTES / CASE REVIEW">
            <a:extLst xmlns:a="http://schemas.openxmlformats.org/drawingml/2006/main">
              <a:ext uri="{FF2B5EF4-FFF2-40B4-BE49-F238E27FC236}">
                <a16:creationId xmlns:a16="http://schemas.microsoft.com/office/drawing/2014/main" id="{ECE818D8-30DB-4505-A6CA-912AED8493F5}"/>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44–45 MINUTES / CASE REVIEW</a:t>
            </a:r>
          </a:p>
        </p:txBody>
      </p:sp>
      <p:sp>
        <p:nvSpPr>
          <p:cNvPr id="2" name="Review findings and unresolved requirements">
            <a:extLst xmlns:a="http://schemas.openxmlformats.org/drawingml/2006/main">
              <a:ext uri="{FF2B5EF4-FFF2-40B4-BE49-F238E27FC236}">
                <a16:creationId xmlns:a16="http://schemas.microsoft.com/office/drawing/2014/main" id="{7B52658F-A28C-4CA6-BA00-E1C9C653DFBB}"/>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Review findings and unresolved requirements</a:t>
            </a:r>
          </a:p>
        </p:txBody>
      </p:sp>
      <p:graphicFrame>
        <p:nvGraphicFramePr>
          <p:cNvPr id="3" name="">
            <a:extLst xmlns:a="http://schemas.openxmlformats.org/drawingml/2006/main">
              <a:ext uri="{FF2B5EF4-FFF2-40B4-BE49-F238E27FC236}">
                <a16:creationId xmlns:a16="http://schemas.microsoft.com/office/drawing/2014/main" id="{B91F27DC-C913-4941-AD4D-2158E6608C5A}"/>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1619250"/>
                <a:gridCol w="9334500"/>
              </a:tblGrid>
              <a:tr h="676275">
                <a:tc>
                  <a:txBody>
                    <a:bodyPr/>
                    <a:lstStyle/>
                    <a:p>
                      <a:r>
                        <a:rPr sz="2025" b="1">
                          <a:solidFill>
                            <a:srgbClr val="F2EFE7"/>
                          </a:solidFill>
                          <a:latin typeface="Arial"/>
                          <a:ea typeface="Arial"/>
                          <a:cs typeface="Arial"/>
                        </a:rPr>
                        <a:t>Case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What changes the response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updated image is present on multiple replicas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The assistant follows injected instructions through tools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C</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A human executes changes outside the agent identity scope</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D (lab)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Copied credential still reads Secrets after Pod quarantine</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80FCE5F7-AE72-495E-8A84-231FC08F9D2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23">
            <a:extLst xmlns:a="http://schemas.openxmlformats.org/drawingml/2006/main">
              <a:ext uri="{FF2B5EF4-FFF2-40B4-BE49-F238E27FC236}">
                <a16:creationId xmlns:a16="http://schemas.microsoft.com/office/drawing/2014/main" id="{F50714EB-8A6A-4112-B68B-A2C9189C994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23</a:t>
            </a:r>
          </a:p>
        </p:txBody>
      </p:sp>
    </p:spTree>
    <p:extLst>
      <p:ext uri="{BB962C8B-B14F-4D97-AF65-F5344CB8AC3E}">
        <p14:creationId xmlns:p14="http://schemas.microsoft.com/office/powerpoint/2010/main" val="2093850852"/>
      </p:ext>
    </p:extLst>
  </p:cSld>
</p:sld>
</file>

<file path=ppt/slides/slide24.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45–48 MINUTES / INDEPENDENT REVIEW">
            <a:extLst xmlns:a="http://schemas.openxmlformats.org/drawingml/2006/main">
              <a:ext uri="{FF2B5EF4-FFF2-40B4-BE49-F238E27FC236}">
                <a16:creationId xmlns:a16="http://schemas.microsoft.com/office/drawing/2014/main" id="{ABAAC26B-7EBC-467B-9928-A64D448466DB}"/>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45–48 MINUTES / INDEPENDENT REVIEW</a:t>
            </a:r>
          </a:p>
        </p:txBody>
      </p:sp>
      <p:sp>
        <p:nvSpPr>
          <p:cNvPr id="2" name="Trained model proposal">
            <a:extLst xmlns:a="http://schemas.openxmlformats.org/drawingml/2006/main">
              <a:ext uri="{FF2B5EF4-FFF2-40B4-BE49-F238E27FC236}">
                <a16:creationId xmlns:a16="http://schemas.microsoft.com/office/drawing/2014/main" id="{16EAA2FF-8240-4605-BCDE-8995752C4E59}"/>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Trained model proposal</a:t>
            </a:r>
          </a:p>
        </p:txBody>
      </p:sp>
      <p:graphicFrame>
        <p:nvGraphicFramePr>
          <p:cNvPr id="3" name="">
            <a:extLst xmlns:a="http://schemas.openxmlformats.org/drawingml/2006/main">
              <a:ext uri="{FF2B5EF4-FFF2-40B4-BE49-F238E27FC236}">
                <a16:creationId xmlns:a16="http://schemas.microsoft.com/office/drawing/2014/main" id="{E2D6F9D8-AD3C-4BD5-8988-E4EF0B8C0CF2}"/>
              </a:ext>
            </a:extLst>
          </p:cNvPr>
          <p:cNvGraphicFramePr/>
          <p:nvPr/>
        </p:nvGraphicFramePr>
        <p:xfrm>
          <a:off xmlns:a="http://schemas.openxmlformats.org/drawingml/2006/main" x="609600" y="2305050"/>
          <a:ext xmlns:a="http://schemas.openxmlformats.org/drawingml/2006/main" cx="10953750" cy="2905125"/>
        </p:xfrm>
        <a:graphic xmlns:a="http://schemas.openxmlformats.org/drawingml/2006/main">
          <a:graphicData uri="http://schemas.openxmlformats.org/drawingml/2006/table">
            <a:tbl>
              <a:tblPr/>
              <a:tblGrid>
                <a:gridCol w="3905250"/>
                <a:gridCol w="5048250"/>
                <a:gridCol w="2000250"/>
              </a:tblGrid>
              <a:tr h="581025">
                <a:tc>
                  <a:txBody>
                    <a:bodyPr/>
                    <a:lstStyle/>
                    <a:p>
                      <a:r>
                        <a:rPr sz="1950" b="1">
                          <a:solidFill>
                            <a:srgbClr val="F2EFE7"/>
                          </a:solidFill>
                          <a:latin typeface="Arial"/>
                          <a:ea typeface="Arial"/>
                          <a:cs typeface="Arial"/>
                        </a:rPr>
                        <a:t>Requirement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Selected control / routing</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950" b="1">
                          <a:solidFill>
                            <a:srgbClr val="F2EFE7"/>
                          </a:solidFill>
                          <a:latin typeface="Arial"/>
                          <a:ea typeface="Arial"/>
                          <a:cs typeface="Arial"/>
                        </a:rPr>
                        <a:t>Score</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581025">
                <a:tc>
                  <a:txBody>
                    <a:bodyPr/>
                    <a:lstStyle/>
                    <a:p>
                      <a:r>
                        <a:rPr sz="1950" b="1">
                          <a:solidFill>
                            <a:srgbClr val="087E79"/>
                          </a:solidFill>
                          <a:latin typeface="Arial"/>
                          <a:ea typeface="Arial"/>
                          <a:cs typeface="Arial"/>
                        </a:rPr>
                        <a:t>Network restriction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0.8986</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Privilege escalation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0.8574</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Kubernetes API access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Human review</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0.5895</a:t>
                      </a:r>
                    </a:p>
                  </a:txBody>
                  <a:tcPr marL="91440" marR="91440" marT="45720" marB="45720">
                    <a:lnR w="19050">
                      <a:solidFill>
                        <a:srgbClr val="F2EFE7"/>
                      </a:solidFill>
                      <a:prstDash val="solid"/>
                    </a:lnR>
                    <a:lnB w="19050">
                      <a:solidFill>
                        <a:srgbClr val="F2EFE7"/>
                      </a:solidFill>
                      <a:prstDash val="solid"/>
                    </a:lnB>
                    <a:solidFill>
                      <a:srgbClr val="F2EFE7"/>
                    </a:solidFill>
                  </a:tcPr>
                </a:tc>
              </a:tr>
              <a:tr h="581025">
                <a:tc>
                  <a:txBody>
                    <a:bodyPr/>
                    <a:lstStyle/>
                    <a:p>
                      <a:r>
                        <a:rPr sz="1950" b="1">
                          <a:solidFill>
                            <a:srgbClr val="087E79"/>
                          </a:solidFill>
                          <a:latin typeface="Arial"/>
                          <a:ea typeface="Arial"/>
                          <a:cs typeface="Arial"/>
                        </a:rPr>
                        <a:t>Rollout and expiry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Privilege escalation</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950" b="0">
                          <a:solidFill>
                            <a:srgbClr val="0B1822"/>
                          </a:solidFill>
                          <a:latin typeface="Arial"/>
                          <a:ea typeface="Arial"/>
                          <a:cs typeface="Arial"/>
                        </a:rPr>
                        <a:t>0.9107</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privilege policy. Six privilege tests pass.">
            <a:extLst xmlns:a="http://schemas.openxmlformats.org/drawingml/2006/main">
              <a:ext uri="{FF2B5EF4-FFF2-40B4-BE49-F238E27FC236}">
                <a16:creationId xmlns:a16="http://schemas.microsoft.com/office/drawing/2014/main" id="{CD622C61-F4B7-48F8-9A41-5B8B70C6CCBD}"/>
              </a:ext>
            </a:extLst>
          </p:cNvPr>
          <p:cNvSpPr>
            <a:spLocks xmlns:a="http://schemas.openxmlformats.org/drawingml/2006/main" noGrp="1"/>
          </p:cNvSpPr>
          <p:nvPr/>
        </p:nvSpPr>
        <p:spPr>
          <a:xfrm xmlns:a="http://schemas.openxmlformats.org/drawingml/2006/main">
            <a:off x="609600" y="540067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0B1822"/>
                </a:solidFill>
                <a:latin typeface="Arial"/>
                <a:ea typeface="Arial"/>
                <a:cs typeface="Arial"/>
              </a:defRPr>
            </a:defPPr>
          </a:lstStyle>
          <a:p xmlns:a="http://schemas.openxmlformats.org/drawingml/2006/main">
            <a:pPr>
              <a:defRPr sz="2250" b="1">
                <a:solidFill>
                  <a:srgbClr val="0B1822"/>
                </a:solidFill>
                <a:latin typeface="Arial"/>
                <a:ea typeface="Arial"/>
                <a:cs typeface="Arial"/>
              </a:defRPr>
            </a:pPr>
            <a:r>
              <a:rPr sz="2250" b="1">
                <a:solidFill>
                  <a:srgbClr val="0B1822"/>
                </a:solidFill>
                <a:latin typeface="Arial"/>
                <a:ea typeface="Arial"/>
                <a:cs typeface="Arial"/>
              </a:rPr>
              <a:t>One privilege policy. Six privilege tests pass.</a:t>
            </a:r>
          </a:p>
        </p:txBody>
      </p:sp>
      <p:sp>
        <p:nvSpPr>
          <p:cNvPr id="5" name="Which requirements lack enforcement evidence?">
            <a:extLst xmlns:a="http://schemas.openxmlformats.org/drawingml/2006/main">
              <a:ext uri="{FF2B5EF4-FFF2-40B4-BE49-F238E27FC236}">
                <a16:creationId xmlns:a16="http://schemas.microsoft.com/office/drawing/2014/main" id="{9524697A-D223-4C4B-9271-3BACB7C510DC}"/>
              </a:ext>
            </a:extLst>
          </p:cNvPr>
          <p:cNvSpPr>
            <a:spLocks xmlns:a="http://schemas.openxmlformats.org/drawingml/2006/main" noGrp="1"/>
          </p:cNvSpPr>
          <p:nvPr/>
        </p:nvSpPr>
        <p:spPr>
          <a:xfrm xmlns:a="http://schemas.openxmlformats.org/drawingml/2006/main">
            <a:off x="609600" y="58864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87E79"/>
                </a:solidFill>
                <a:latin typeface="Arial"/>
                <a:ea typeface="Arial"/>
                <a:cs typeface="Arial"/>
              </a:defRPr>
            </a:defPPr>
          </a:lstStyle>
          <a:p xmlns:a="http://schemas.openxmlformats.org/drawingml/2006/main">
            <a:pPr>
              <a:defRPr sz="2025" b="1">
                <a:solidFill>
                  <a:srgbClr val="087E79"/>
                </a:solidFill>
                <a:latin typeface="Arial"/>
                <a:ea typeface="Arial"/>
                <a:cs typeface="Arial"/>
              </a:defRPr>
            </a:pPr>
            <a:r>
              <a:rPr sz="2025" b="1">
                <a:solidFill>
                  <a:srgbClr val="087E79"/>
                </a:solidFill>
                <a:latin typeface="Arial"/>
                <a:ea typeface="Arial"/>
                <a:cs typeface="Arial"/>
              </a:rPr>
              <a:t>Which requirements lack enforcement evidence?</a:t>
            </a:r>
          </a:p>
        </p:txBody>
      </p:sp>
      <p:sp>
        <p:nvSpPr>
          <p:cNvPr id="6" name="ISC2 SECURITY CONGRESS 2026 / SC2632">
            <a:extLst xmlns:a="http://schemas.openxmlformats.org/drawingml/2006/main">
              <a:ext uri="{FF2B5EF4-FFF2-40B4-BE49-F238E27FC236}">
                <a16:creationId xmlns:a16="http://schemas.microsoft.com/office/drawing/2014/main" id="{74C185AA-42EB-4FD6-B53C-0529ADA26D75}"/>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24">
            <a:extLst xmlns:a="http://schemas.openxmlformats.org/drawingml/2006/main">
              <a:ext uri="{FF2B5EF4-FFF2-40B4-BE49-F238E27FC236}">
                <a16:creationId xmlns:a16="http://schemas.microsoft.com/office/drawing/2014/main" id="{AE661995-ED02-4C28-B4EB-64D76BBDDB5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24</a:t>
            </a:r>
          </a:p>
        </p:txBody>
      </p:sp>
    </p:spTree>
    <p:extLst>
      <p:ext uri="{BB962C8B-B14F-4D97-AF65-F5344CB8AC3E}">
        <p14:creationId xmlns:p14="http://schemas.microsoft.com/office/powerpoint/2010/main" val="1545978513"/>
      </p:ext>
    </p:extLst>
  </p:cSld>
</p:sld>
</file>

<file path=ppt/slides/slide25.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14" name="RECORDED PROPOSAL / REVIEW FINDING">
            <a:extLst xmlns:a="http://schemas.openxmlformats.org/drawingml/2006/main">
              <a:ext uri="{FF2B5EF4-FFF2-40B4-BE49-F238E27FC236}">
                <a16:creationId xmlns:a16="http://schemas.microsoft.com/office/drawing/2014/main" id="{9E50D128-8F60-433C-9440-62D23ED052F9}"/>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RECORDED PROPOSAL / REVIEW FINDING</a:t>
            </a:r>
          </a:p>
        </p:txBody>
      </p:sp>
      <p:sp>
        <p:nvSpPr>
          <p:cNvPr id="2" name="Passing privilege tests leave&#10;the proposal incom">
            <a:extLst xmlns:a="http://schemas.openxmlformats.org/drawingml/2006/main">
              <a:ext uri="{FF2B5EF4-FFF2-40B4-BE49-F238E27FC236}">
                <a16:creationId xmlns:a16="http://schemas.microsoft.com/office/drawing/2014/main" id="{7AD60E70-42F2-4CFF-BFEA-1FE409DC256E}"/>
              </a:ext>
            </a:extLst>
          </p:cNvPr>
          <p:cNvSpPr>
            <a:spLocks xmlns:a="http://schemas.openxmlformats.org/drawingml/2006/main" noGrp="1"/>
          </p:cNvSpPr>
          <p:nvPr/>
        </p:nvSpPr>
        <p:spPr>
          <a:xfrm xmlns:a="http://schemas.openxmlformats.org/drawingml/2006/main">
            <a:off x="609600" y="1266825"/>
            <a:ext cx="109537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825" b="1">
                <a:solidFill>
                  <a:srgbClr val="F2EFE7"/>
                </a:solidFill>
                <a:latin typeface="Arial Black"/>
                <a:ea typeface="Arial Black"/>
                <a:cs typeface="Arial Black"/>
              </a:defRPr>
            </a:defPPr>
          </a:lstStyle>
          <a:p xmlns:a="http://schemas.openxmlformats.org/drawingml/2006/main">
            <a:pPr>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Passing privilege tests leave</a:t>
            </a:r>
          </a:p>
          <a:p xmlns:a="http://schemas.openxmlformats.org/drawingml/2006/main">
            <a:pPr>
              <a:defRPr sz="3825" b="1">
                <a:solidFill>
                  <a:srgbClr val="F2EFE7"/>
                </a:solidFill>
                <a:latin typeface="Arial Black"/>
                <a:ea typeface="Arial Black"/>
                <a:cs typeface="Arial Black"/>
              </a:defRPr>
            </a:pPr>
            <a:r>
              <a:rPr sz="3825" b="1">
                <a:solidFill>
                  <a:srgbClr val="F2EFE7"/>
                </a:solidFill>
                <a:latin typeface="Arial Black"/>
                <a:ea typeface="Arial Black"/>
                <a:cs typeface="Arial Black"/>
              </a:rPr>
              <a:t>the proposal incomplete</a:t>
            </a:r>
          </a:p>
        </p:txBody>
      </p:sp>
      <p:sp>
        <p:nvSpPr>
          <p:cNvPr id="3" name="6 / 6">
            <a:extLst xmlns:a="http://schemas.openxmlformats.org/drawingml/2006/main">
              <a:ext uri="{FF2B5EF4-FFF2-40B4-BE49-F238E27FC236}">
                <a16:creationId xmlns:a16="http://schemas.microsoft.com/office/drawing/2014/main" id="{3248089F-772A-4540-ACFB-2D329A626916}"/>
              </a:ext>
            </a:extLst>
          </p:cNvPr>
          <p:cNvSpPr>
            <a:spLocks xmlns:a="http://schemas.openxmlformats.org/drawingml/2006/main" noGrp="1"/>
          </p:cNvSpPr>
          <p:nvPr/>
        </p:nvSpPr>
        <p:spPr>
          <a:xfrm xmlns:a="http://schemas.openxmlformats.org/drawingml/2006/main">
            <a:off x="609600" y="3181350"/>
            <a:ext cx="3810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25D8BD"/>
                </a:solidFill>
                <a:latin typeface="Arial Black"/>
                <a:ea typeface="Arial Black"/>
                <a:cs typeface="Arial Black"/>
              </a:defRPr>
            </a:defPPr>
          </a:lstStyle>
          <a:p xmlns:a="http://schemas.openxmlformats.org/drawingml/2006/main">
            <a:pPr>
              <a:defRPr sz="6225" b="1">
                <a:solidFill>
                  <a:srgbClr val="25D8BD"/>
                </a:solidFill>
                <a:latin typeface="Arial Black"/>
                <a:ea typeface="Arial Black"/>
                <a:cs typeface="Arial Black"/>
              </a:defRPr>
            </a:pPr>
            <a:r>
              <a:rPr sz="6225" b="1">
                <a:solidFill>
                  <a:srgbClr val="25D8BD"/>
                </a:solidFill>
                <a:latin typeface="Arial Black"/>
                <a:ea typeface="Arial Black"/>
                <a:cs typeface="Arial Black"/>
              </a:rPr>
              <a:t>6 / 6</a:t>
            </a:r>
          </a:p>
        </p:txBody>
      </p:sp>
      <p:sp>
        <p:nvSpPr>
          <p:cNvPr id="4" name="Pod CREATE&#10;privilege tests">
            <a:extLst xmlns:a="http://schemas.openxmlformats.org/drawingml/2006/main">
              <a:ext uri="{FF2B5EF4-FFF2-40B4-BE49-F238E27FC236}">
                <a16:creationId xmlns:a16="http://schemas.microsoft.com/office/drawing/2014/main" id="{AAB706E0-0490-453E-BBFE-009C8AB659E8}"/>
              </a:ext>
            </a:extLst>
          </p:cNvPr>
          <p:cNvSpPr>
            <a:spLocks xmlns:a="http://schemas.openxmlformats.org/drawingml/2006/main" noGrp="1"/>
          </p:cNvSpPr>
          <p:nvPr/>
        </p:nvSpPr>
        <p:spPr>
          <a:xfrm xmlns:a="http://schemas.openxmlformats.org/drawingml/2006/main">
            <a:off x="628650" y="4495800"/>
            <a:ext cx="33337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F2EFE7"/>
                </a:solidFill>
                <a:latin typeface="Arial"/>
                <a:ea typeface="Arial"/>
                <a:cs typeface="Arial"/>
              </a:defRPr>
            </a:defPPr>
          </a:lstStyle>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Pod CREATE</a:t>
            </a:r>
          </a:p>
          <a:p xmlns:a="http://schemas.openxmlformats.org/drawingml/2006/main">
            <a:pPr>
              <a:defRPr sz="2175" b="0">
                <a:solidFill>
                  <a:srgbClr val="F2EFE7"/>
                </a:solidFill>
                <a:latin typeface="Arial"/>
                <a:ea typeface="Arial"/>
                <a:cs typeface="Arial"/>
              </a:defRPr>
            </a:pPr>
            <a:r>
              <a:rPr sz="2175" b="0">
                <a:solidFill>
                  <a:srgbClr val="F2EFE7"/>
                </a:solidFill>
                <a:latin typeface="Arial"/>
                <a:ea typeface="Arial"/>
                <a:cs typeface="Arial"/>
              </a:rPr>
              <a:t>privilege tests</a:t>
            </a:r>
          </a:p>
        </p:txBody>
      </p:sp>
      <p:sp>
        <p:nvSpPr>
          <p:cNvPr id="5" name="Network">
            <a:extLst xmlns:a="http://schemas.openxmlformats.org/drawingml/2006/main">
              <a:ext uri="{FF2B5EF4-FFF2-40B4-BE49-F238E27FC236}">
                <a16:creationId xmlns:a16="http://schemas.microsoft.com/office/drawing/2014/main" id="{248F9479-065A-4852-8BF2-809DD6665D7E}"/>
              </a:ext>
            </a:extLst>
          </p:cNvPr>
          <p:cNvSpPr>
            <a:spLocks xmlns:a="http://schemas.openxmlformats.org/drawingml/2006/main" noGrp="1"/>
          </p:cNvSpPr>
          <p:nvPr/>
        </p:nvSpPr>
        <p:spPr>
          <a:xfrm xmlns:a="http://schemas.openxmlformats.org/drawingml/2006/main">
            <a:off x="4705350" y="325755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Network</a:t>
            </a:r>
          </a:p>
        </p:txBody>
      </p:sp>
      <p:sp>
        <p:nvSpPr>
          <p:cNvPr id="6" name="Wrong control selected">
            <a:extLst xmlns:a="http://schemas.openxmlformats.org/drawingml/2006/main">
              <a:ext uri="{FF2B5EF4-FFF2-40B4-BE49-F238E27FC236}">
                <a16:creationId xmlns:a16="http://schemas.microsoft.com/office/drawing/2014/main" id="{99DF1DC8-3E31-4067-9362-EDE21E0FB272}"/>
              </a:ext>
            </a:extLst>
          </p:cNvPr>
          <p:cNvSpPr>
            <a:spLocks xmlns:a="http://schemas.openxmlformats.org/drawingml/2006/main" noGrp="1"/>
          </p:cNvSpPr>
          <p:nvPr/>
        </p:nvSpPr>
        <p:spPr>
          <a:xfrm xmlns:a="http://schemas.openxmlformats.org/drawingml/2006/main">
            <a:off x="6781800" y="325755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7" name="API access">
            <a:extLst xmlns:a="http://schemas.openxmlformats.org/drawingml/2006/main">
              <a:ext uri="{FF2B5EF4-FFF2-40B4-BE49-F238E27FC236}">
                <a16:creationId xmlns:a16="http://schemas.microsoft.com/office/drawing/2014/main" id="{8775DDC3-F0EC-4D00-A60D-2C1DE7B057CF}"/>
              </a:ext>
            </a:extLst>
          </p:cNvPr>
          <p:cNvSpPr>
            <a:spLocks xmlns:a="http://schemas.openxmlformats.org/drawingml/2006/main" noGrp="1"/>
          </p:cNvSpPr>
          <p:nvPr/>
        </p:nvSpPr>
        <p:spPr>
          <a:xfrm xmlns:a="http://schemas.openxmlformats.org/drawingml/2006/main">
            <a:off x="4705350" y="4086225"/>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API access</a:t>
            </a:r>
          </a:p>
        </p:txBody>
      </p:sp>
      <p:sp>
        <p:nvSpPr>
          <p:cNvPr id="8" name="Human disposition required">
            <a:extLst xmlns:a="http://schemas.openxmlformats.org/drawingml/2006/main">
              <a:ext uri="{FF2B5EF4-FFF2-40B4-BE49-F238E27FC236}">
                <a16:creationId xmlns:a16="http://schemas.microsoft.com/office/drawing/2014/main" id="{145B094A-89FD-457E-95EF-37B92863E399}"/>
              </a:ext>
            </a:extLst>
          </p:cNvPr>
          <p:cNvSpPr>
            <a:spLocks xmlns:a="http://schemas.openxmlformats.org/drawingml/2006/main" noGrp="1"/>
          </p:cNvSpPr>
          <p:nvPr/>
        </p:nvSpPr>
        <p:spPr>
          <a:xfrm xmlns:a="http://schemas.openxmlformats.org/drawingml/2006/main">
            <a:off x="6781800" y="4086225"/>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Human disposition required</a:t>
            </a:r>
          </a:p>
        </p:txBody>
      </p:sp>
      <p:sp>
        <p:nvSpPr>
          <p:cNvPr id="9" name="Rollout / expiry">
            <a:extLst xmlns:a="http://schemas.openxmlformats.org/drawingml/2006/main">
              <a:ext uri="{FF2B5EF4-FFF2-40B4-BE49-F238E27FC236}">
                <a16:creationId xmlns:a16="http://schemas.microsoft.com/office/drawing/2014/main" id="{85099E5A-DB66-43DC-89B9-6841F48C646D}"/>
              </a:ext>
            </a:extLst>
          </p:cNvPr>
          <p:cNvSpPr>
            <a:spLocks xmlns:a="http://schemas.openxmlformats.org/drawingml/2006/main" noGrp="1"/>
          </p:cNvSpPr>
          <p:nvPr/>
        </p:nvSpPr>
        <p:spPr>
          <a:xfrm xmlns:a="http://schemas.openxmlformats.org/drawingml/2006/main">
            <a:off x="4705350" y="4914900"/>
            <a:ext cx="1790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25D8BD"/>
                </a:solidFill>
                <a:latin typeface="Arial"/>
                <a:ea typeface="Arial"/>
                <a:cs typeface="Arial"/>
              </a:defRPr>
            </a:defPPr>
          </a:lstStyle>
          <a:p xmlns:a="http://schemas.openxmlformats.org/drawingml/2006/main">
            <a:pPr>
              <a:defRPr sz="2100" b="1">
                <a:solidFill>
                  <a:srgbClr val="25D8BD"/>
                </a:solidFill>
                <a:latin typeface="Arial"/>
                <a:ea typeface="Arial"/>
                <a:cs typeface="Arial"/>
              </a:defRPr>
            </a:pPr>
            <a:r>
              <a:rPr sz="2100" b="1">
                <a:solidFill>
                  <a:srgbClr val="25D8BD"/>
                </a:solidFill>
                <a:latin typeface="Arial"/>
                <a:ea typeface="Arial"/>
                <a:cs typeface="Arial"/>
              </a:rPr>
              <a:t>Rollout / expiry</a:t>
            </a:r>
          </a:p>
        </p:txBody>
      </p:sp>
      <p:sp>
        <p:nvSpPr>
          <p:cNvPr id="10" name="Wrong control selected">
            <a:extLst xmlns:a="http://schemas.openxmlformats.org/drawingml/2006/main">
              <a:ext uri="{FF2B5EF4-FFF2-40B4-BE49-F238E27FC236}">
                <a16:creationId xmlns:a16="http://schemas.microsoft.com/office/drawing/2014/main" id="{618546F4-22E5-4F8B-B2FE-D905F36690E2}"/>
              </a:ext>
            </a:extLst>
          </p:cNvPr>
          <p:cNvSpPr>
            <a:spLocks xmlns:a="http://schemas.openxmlformats.org/drawingml/2006/main" noGrp="1"/>
          </p:cNvSpPr>
          <p:nvPr/>
        </p:nvSpPr>
        <p:spPr>
          <a:xfrm xmlns:a="http://schemas.openxmlformats.org/drawingml/2006/main">
            <a:off x="6781800" y="4914900"/>
            <a:ext cx="4724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Wrong control selected</a:t>
            </a:r>
          </a:p>
        </p:txBody>
      </p:sp>
      <p:sp>
        <p:nvSpPr>
          <p:cNvPr id="11" name="Record the enforcement owner and the evidence re">
            <a:extLst xmlns:a="http://schemas.openxmlformats.org/drawingml/2006/main">
              <a:ext uri="{FF2B5EF4-FFF2-40B4-BE49-F238E27FC236}">
                <a16:creationId xmlns:a16="http://schemas.microsoft.com/office/drawing/2014/main" id="{6CA723A8-C68D-4223-960B-553D66486450}"/>
              </a:ext>
            </a:extLst>
          </p:cNvPr>
          <p:cNvSpPr>
            <a:spLocks xmlns:a="http://schemas.openxmlformats.org/drawingml/2006/main" noGrp="1"/>
          </p:cNvSpPr>
          <p:nvPr/>
        </p:nvSpPr>
        <p:spPr>
          <a:xfrm xmlns:a="http://schemas.openxmlformats.org/drawingml/2006/main">
            <a:off x="628650" y="5934075"/>
            <a:ext cx="10763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2EFE7"/>
                </a:solidFill>
                <a:latin typeface="Arial"/>
                <a:ea typeface="Arial"/>
                <a:cs typeface="Arial"/>
              </a:defRPr>
            </a:defPPr>
          </a:lstStyle>
          <a:p xmlns:a="http://schemas.openxmlformats.org/drawingml/2006/main">
            <a:pPr>
              <a:defRPr sz="1800" b="1">
                <a:solidFill>
                  <a:srgbClr val="F2EFE7"/>
                </a:solidFill>
                <a:latin typeface="Arial"/>
                <a:ea typeface="Arial"/>
                <a:cs typeface="Arial"/>
              </a:defRPr>
            </a:pPr>
            <a:r>
              <a:rPr sz="1800" b="1">
                <a:solidFill>
                  <a:srgbClr val="F2EFE7"/>
                </a:solidFill>
                <a:latin typeface="Arial"/>
                <a:ea typeface="Arial"/>
                <a:cs typeface="Arial"/>
              </a:rPr>
              <a:t>Record the enforcement owner and the evidence required to proceed.</a:t>
            </a:r>
          </a:p>
        </p:txBody>
      </p:sp>
      <p:sp>
        <p:nvSpPr>
          <p:cNvPr id="12" name="ISC2 SECURITY CONGRESS 2026 / SC2632">
            <a:extLst xmlns:a="http://schemas.openxmlformats.org/drawingml/2006/main">
              <a:ext uri="{FF2B5EF4-FFF2-40B4-BE49-F238E27FC236}">
                <a16:creationId xmlns:a16="http://schemas.microsoft.com/office/drawing/2014/main" id="{DEFBF711-11D2-4F51-AAB7-9E16D904CD2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13" name="25">
            <a:extLst xmlns:a="http://schemas.openxmlformats.org/drawingml/2006/main">
              <a:ext uri="{FF2B5EF4-FFF2-40B4-BE49-F238E27FC236}">
                <a16:creationId xmlns:a16="http://schemas.microsoft.com/office/drawing/2014/main" id="{6C5B5DC8-9285-4FA7-B665-386D7BACA6B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25</a:t>
            </a:r>
          </a:p>
        </p:txBody>
      </p:sp>
    </p:spTree>
    <p:extLst>
      <p:ext uri="{BB962C8B-B14F-4D97-AF65-F5344CB8AC3E}">
        <p14:creationId xmlns:p14="http://schemas.microsoft.com/office/powerpoint/2010/main" val="1223549391"/>
      </p:ext>
    </p:extLst>
  </p:cSld>
</p:sld>
</file>

<file path=ppt/slides/slide26.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21" name="MEASURED PILOT / THREE-RUN WORKFLOW MEDIANS">
            <a:extLst xmlns:a="http://schemas.openxmlformats.org/drawingml/2006/main">
              <a:ext uri="{FF2B5EF4-FFF2-40B4-BE49-F238E27FC236}">
                <a16:creationId xmlns:a16="http://schemas.microsoft.com/office/drawing/2014/main" id="{50B93033-567C-4214-ADC4-F678990EE5CE}"/>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MEASURED PILOT / THREE-RUN WORKFLOW MEDIANS</a:t>
            </a:r>
          </a:p>
        </p:txBody>
      </p:sp>
      <p:sp>
        <p:nvSpPr>
          <p:cNvPr id="2" name="Model and workflow evaluation">
            <a:extLst xmlns:a="http://schemas.openxmlformats.org/drawingml/2006/main">
              <a:ext uri="{FF2B5EF4-FFF2-40B4-BE49-F238E27FC236}">
                <a16:creationId xmlns:a16="http://schemas.microsoft.com/office/drawing/2014/main" id="{E234C0EB-50B6-4E88-881C-EF9A5555049B}"/>
              </a:ext>
            </a:extLst>
          </p:cNvPr>
          <p:cNvSpPr>
            <a:spLocks xmlns:a="http://schemas.openxmlformats.org/drawingml/2006/main" noGrp="1"/>
          </p:cNvSpPr>
          <p:nvPr/>
        </p:nvSpPr>
        <p:spPr>
          <a:xfrm xmlns:a="http://schemas.openxmlformats.org/drawingml/2006/main">
            <a:off x="609600" y="1123950"/>
            <a:ext cx="107632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0B1822"/>
                </a:solidFill>
                <a:latin typeface="Arial Black"/>
                <a:ea typeface="Arial Black"/>
                <a:cs typeface="Arial Black"/>
              </a:defRPr>
            </a:defPPr>
          </a:lstStyle>
          <a:p xmlns:a="http://schemas.openxmlformats.org/drawingml/2006/main">
            <a:pPr>
              <a:defRPr sz="4425" b="1">
                <a:solidFill>
                  <a:srgbClr val="0B1822"/>
                </a:solidFill>
                <a:latin typeface="Arial Black"/>
                <a:ea typeface="Arial Black"/>
                <a:cs typeface="Arial Black"/>
              </a:defRPr>
            </a:pPr>
            <a:r>
              <a:rPr sz="4425" b="1">
                <a:solidFill>
                  <a:srgbClr val="0B1822"/>
                </a:solidFill>
                <a:latin typeface="Arial Black"/>
                <a:ea typeface="Arial Black"/>
                <a:cs typeface="Arial Black"/>
              </a:rPr>
              <a:t>Model and workflow evaluation</a:t>
            </a:r>
          </a:p>
        </p:txBody>
      </p:sp>
      <p:sp>
        <p:nvSpPr>
          <p:cNvPr id="3" name="JEV 1.13">
            <a:extLst xmlns:a="http://schemas.openxmlformats.org/drawingml/2006/main">
              <a:ext uri="{FF2B5EF4-FFF2-40B4-BE49-F238E27FC236}">
                <a16:creationId xmlns:a16="http://schemas.microsoft.com/office/drawing/2014/main" id="{12F175A9-EC96-47E7-86BF-81DB2085DE5F}"/>
              </a:ext>
            </a:extLst>
          </p:cNvPr>
          <p:cNvSpPr>
            <a:spLocks xmlns:a="http://schemas.openxmlformats.org/drawingml/2006/main" noGrp="1"/>
          </p:cNvSpPr>
          <p:nvPr/>
        </p:nvSpPr>
        <p:spPr>
          <a:xfrm xmlns:a="http://schemas.openxmlformats.org/drawingml/2006/main">
            <a:off x="6286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stStyle>
          <a:p xmlns:a="http://schemas.openxmlformats.org/drawingml/2006/main">
            <a:pPr>
              <a:defRPr sz="1425" b="1">
                <a:solidFill>
                  <a:srgbClr val="087E79"/>
                </a:solidFill>
                <a:latin typeface="Arial"/>
                <a:ea typeface="Arial"/>
                <a:cs typeface="Arial"/>
              </a:defRPr>
            </a:pPr>
            <a:r>
              <a:rPr sz="1425" b="1">
                <a:solidFill>
                  <a:srgbClr val="087E79"/>
                </a:solidFill>
                <a:latin typeface="Arial"/>
                <a:ea typeface="Arial"/>
                <a:cs typeface="Arial"/>
              </a:rPr>
              <a:t>JEV 1.13</a:t>
            </a:r>
          </a:p>
        </p:txBody>
      </p:sp>
      <p:sp>
        <p:nvSpPr>
          <p:cNvPr id="4" name="30/33">
            <a:extLst xmlns:a="http://schemas.openxmlformats.org/drawingml/2006/main">
              <a:ext uri="{FF2B5EF4-FFF2-40B4-BE49-F238E27FC236}">
                <a16:creationId xmlns:a16="http://schemas.microsoft.com/office/drawing/2014/main" id="{DC15299A-2E13-43F0-B8ED-2D3292D91451}"/>
              </a:ext>
            </a:extLst>
          </p:cNvPr>
          <p:cNvSpPr>
            <a:spLocks xmlns:a="http://schemas.openxmlformats.org/drawingml/2006/main" noGrp="1"/>
          </p:cNvSpPr>
          <p:nvPr/>
        </p:nvSpPr>
        <p:spPr>
          <a:xfrm xmlns:a="http://schemas.openxmlformats.org/drawingml/2006/main">
            <a:off x="6286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30/33</a:t>
            </a:r>
          </a:p>
        </p:txBody>
      </p:sp>
      <p:sp>
        <p:nvSpPr>
          <p:cNvPr id="5" name="1.82 s / run">
            <a:extLst xmlns:a="http://schemas.openxmlformats.org/drawingml/2006/main">
              <a:ext uri="{FF2B5EF4-FFF2-40B4-BE49-F238E27FC236}">
                <a16:creationId xmlns:a16="http://schemas.microsoft.com/office/drawing/2014/main" id="{A81FE5A6-72A8-4229-A587-9653112AFAAD}"/>
              </a:ext>
            </a:extLst>
          </p:cNvPr>
          <p:cNvSpPr>
            <a:spLocks xmlns:a="http://schemas.openxmlformats.org/drawingml/2006/main" noGrp="1"/>
          </p:cNvSpPr>
          <p:nvPr/>
        </p:nvSpPr>
        <p:spPr>
          <a:xfrm xmlns:a="http://schemas.openxmlformats.org/drawingml/2006/main">
            <a:off x="6286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1.82 s / run</a:t>
            </a:r>
          </a:p>
        </p:txBody>
      </p:sp>
      <p:sp>
        <p:nvSpPr>
          <p:cNvPr id="6" name="$0.00019 / run">
            <a:extLst xmlns:a="http://schemas.openxmlformats.org/drawingml/2006/main">
              <a:ext uri="{FF2B5EF4-FFF2-40B4-BE49-F238E27FC236}">
                <a16:creationId xmlns:a16="http://schemas.microsoft.com/office/drawing/2014/main" id="{20A90E02-4789-42B3-AFB0-055ABB9A97C1}"/>
              </a:ext>
            </a:extLst>
          </p:cNvPr>
          <p:cNvSpPr>
            <a:spLocks xmlns:a="http://schemas.openxmlformats.org/drawingml/2006/main" noGrp="1"/>
          </p:cNvSpPr>
          <p:nvPr/>
        </p:nvSpPr>
        <p:spPr>
          <a:xfrm xmlns:a="http://schemas.openxmlformats.org/drawingml/2006/main">
            <a:off x="6286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$0.00019 / run</a:t>
            </a:r>
          </a:p>
        </p:txBody>
      </p:sp>
      <p:sp>
        <p:nvSpPr>
          <p:cNvPr id="7" name="Guardrail generated">
            <a:extLst xmlns:a="http://schemas.openxmlformats.org/drawingml/2006/main">
              <a:ext uri="{FF2B5EF4-FFF2-40B4-BE49-F238E27FC236}">
                <a16:creationId xmlns:a16="http://schemas.microsoft.com/office/drawing/2014/main" id="{122D76B1-5149-4CDB-A989-820D3DC2600E}"/>
              </a:ext>
            </a:extLst>
          </p:cNvPr>
          <p:cNvSpPr>
            <a:spLocks xmlns:a="http://schemas.openxmlformats.org/drawingml/2006/main" noGrp="1"/>
          </p:cNvSpPr>
          <p:nvPr/>
        </p:nvSpPr>
        <p:spPr>
          <a:xfrm xmlns:a="http://schemas.openxmlformats.org/drawingml/2006/main">
            <a:off x="6286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8" name="CLAUDE OPUS 5.5">
            <a:extLst xmlns:a="http://schemas.openxmlformats.org/drawingml/2006/main">
              <a:ext uri="{FF2B5EF4-FFF2-40B4-BE49-F238E27FC236}">
                <a16:creationId xmlns:a16="http://schemas.microsoft.com/office/drawing/2014/main" id="{D64C6C24-FA3E-48F8-B6BA-30537D096E7B}"/>
              </a:ext>
            </a:extLst>
          </p:cNvPr>
          <p:cNvSpPr>
            <a:spLocks xmlns:a="http://schemas.openxmlformats.org/drawingml/2006/main" noGrp="1"/>
          </p:cNvSpPr>
          <p:nvPr/>
        </p:nvSpPr>
        <p:spPr>
          <a:xfrm xmlns:a="http://schemas.openxmlformats.org/drawingml/2006/main">
            <a:off x="445770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087E79"/>
                </a:solidFill>
                <a:latin typeface="Arial"/>
                <a:ea typeface="Arial"/>
                <a:cs typeface="Arial"/>
              </a:defRPr>
            </a:defPPr>
          </a:lstStyle>
          <a:p xmlns:a="http://schemas.openxmlformats.org/drawingml/2006/main">
            <a:pPr>
              <a:defRPr sz="1425" b="1">
                <a:solidFill>
                  <a:srgbClr val="087E79"/>
                </a:solidFill>
                <a:latin typeface="Arial"/>
                <a:ea typeface="Arial"/>
                <a:cs typeface="Arial"/>
              </a:defRPr>
            </a:pPr>
            <a:r>
              <a:rPr sz="1425" b="1">
                <a:solidFill>
                  <a:srgbClr val="087E79"/>
                </a:solidFill>
                <a:latin typeface="Arial"/>
                <a:ea typeface="Arial"/>
                <a:cs typeface="Arial"/>
              </a:rPr>
              <a:t>CLAUDE OPUS 5.5</a:t>
            </a:r>
          </a:p>
        </p:txBody>
      </p:sp>
      <p:sp>
        <p:nvSpPr>
          <p:cNvPr id="9" name="32/33">
            <a:extLst xmlns:a="http://schemas.openxmlformats.org/drawingml/2006/main">
              <a:ext uri="{FF2B5EF4-FFF2-40B4-BE49-F238E27FC236}">
                <a16:creationId xmlns:a16="http://schemas.microsoft.com/office/drawing/2014/main" id="{F079C25D-E999-423A-8A11-020BA174F640}"/>
              </a:ext>
            </a:extLst>
          </p:cNvPr>
          <p:cNvSpPr>
            <a:spLocks xmlns:a="http://schemas.openxmlformats.org/drawingml/2006/main" noGrp="1"/>
          </p:cNvSpPr>
          <p:nvPr/>
        </p:nvSpPr>
        <p:spPr>
          <a:xfrm xmlns:a="http://schemas.openxmlformats.org/drawingml/2006/main">
            <a:off x="445770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32/33</a:t>
            </a:r>
          </a:p>
        </p:txBody>
      </p:sp>
      <p:sp>
        <p:nvSpPr>
          <p:cNvPr id="10" name="24.18 s / run">
            <a:extLst xmlns:a="http://schemas.openxmlformats.org/drawingml/2006/main">
              <a:ext uri="{FF2B5EF4-FFF2-40B4-BE49-F238E27FC236}">
                <a16:creationId xmlns:a16="http://schemas.microsoft.com/office/drawing/2014/main" id="{40C35AD4-65AB-4434-B76C-3774BCCFD8E6}"/>
              </a:ext>
            </a:extLst>
          </p:cNvPr>
          <p:cNvSpPr>
            <a:spLocks xmlns:a="http://schemas.openxmlformats.org/drawingml/2006/main" noGrp="1"/>
          </p:cNvSpPr>
          <p:nvPr/>
        </p:nvSpPr>
        <p:spPr>
          <a:xfrm xmlns:a="http://schemas.openxmlformats.org/drawingml/2006/main">
            <a:off x="445770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24.18 s / run</a:t>
            </a:r>
          </a:p>
        </p:txBody>
      </p:sp>
      <p:sp>
        <p:nvSpPr>
          <p:cNvPr id="11" name="$0.03795 / run">
            <a:extLst xmlns:a="http://schemas.openxmlformats.org/drawingml/2006/main">
              <a:ext uri="{FF2B5EF4-FFF2-40B4-BE49-F238E27FC236}">
                <a16:creationId xmlns:a16="http://schemas.microsoft.com/office/drawing/2014/main" id="{D45B5C67-855E-4F32-AF2B-4023FB8AA8B3}"/>
              </a:ext>
            </a:extLst>
          </p:cNvPr>
          <p:cNvSpPr>
            <a:spLocks xmlns:a="http://schemas.openxmlformats.org/drawingml/2006/main" noGrp="1"/>
          </p:cNvSpPr>
          <p:nvPr/>
        </p:nvSpPr>
        <p:spPr>
          <a:xfrm xmlns:a="http://schemas.openxmlformats.org/drawingml/2006/main">
            <a:off x="445770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$0.03795 / run</a:t>
            </a:r>
          </a:p>
        </p:txBody>
      </p:sp>
      <p:sp>
        <p:nvSpPr>
          <p:cNvPr id="12" name="Guardrail generated">
            <a:extLst xmlns:a="http://schemas.openxmlformats.org/drawingml/2006/main">
              <a:ext uri="{FF2B5EF4-FFF2-40B4-BE49-F238E27FC236}">
                <a16:creationId xmlns:a16="http://schemas.microsoft.com/office/drawing/2014/main" id="{72B4D150-73A8-4657-979E-2101B90456D8}"/>
              </a:ext>
            </a:extLst>
          </p:cNvPr>
          <p:cNvSpPr>
            <a:spLocks xmlns:a="http://schemas.openxmlformats.org/drawingml/2006/main" noGrp="1"/>
          </p:cNvSpPr>
          <p:nvPr/>
        </p:nvSpPr>
        <p:spPr>
          <a:xfrm xmlns:a="http://schemas.openxmlformats.org/drawingml/2006/main">
            <a:off x="445770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E79"/>
                </a:solidFill>
                <a:latin typeface="Arial"/>
                <a:ea typeface="Arial"/>
                <a:cs typeface="Arial"/>
              </a:defRPr>
            </a:defPPr>
          </a:lstStyle>
          <a:p xmlns:a="http://schemas.openxmlformats.org/drawingml/2006/main">
            <a:pPr>
              <a:defRPr sz="1800" b="1">
                <a:solidFill>
                  <a:srgbClr val="087E79"/>
                </a:solidFill>
                <a:latin typeface="Arial"/>
                <a:ea typeface="Arial"/>
                <a:cs typeface="Arial"/>
              </a:defRPr>
            </a:pPr>
            <a:r>
              <a:rPr sz="1800" b="1">
                <a:solidFill>
                  <a:srgbClr val="087E79"/>
                </a:solidFill>
                <a:latin typeface="Arial"/>
                <a:ea typeface="Arial"/>
                <a:cs typeface="Arial"/>
              </a:rPr>
              <a:t>Guardrail generated</a:t>
            </a:r>
          </a:p>
        </p:txBody>
      </p:sp>
      <p:sp>
        <p:nvSpPr>
          <p:cNvPr id="13" name="LAYA / ZERO-SHOT">
            <a:extLst xmlns:a="http://schemas.openxmlformats.org/drawingml/2006/main">
              <a:ext uri="{FF2B5EF4-FFF2-40B4-BE49-F238E27FC236}">
                <a16:creationId xmlns:a16="http://schemas.microsoft.com/office/drawing/2014/main" id="{A5BBA171-43AA-48DC-8D80-C9663FBA8509}"/>
              </a:ext>
            </a:extLst>
          </p:cNvPr>
          <p:cNvSpPr>
            <a:spLocks xmlns:a="http://schemas.openxmlformats.org/drawingml/2006/main" noGrp="1"/>
          </p:cNvSpPr>
          <p:nvPr/>
        </p:nvSpPr>
        <p:spPr>
          <a:xfrm xmlns:a="http://schemas.openxmlformats.org/drawingml/2006/main">
            <a:off x="8286750" y="2505075"/>
            <a:ext cx="361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FF795B"/>
                </a:solidFill>
                <a:latin typeface="Arial"/>
                <a:ea typeface="Arial"/>
                <a:cs typeface="Arial"/>
              </a:defRPr>
            </a:defPPr>
          </a:lstStyle>
          <a:p xmlns:a="http://schemas.openxmlformats.org/drawingml/2006/main">
            <a:pPr>
              <a:defRPr sz="1425" b="1">
                <a:solidFill>
                  <a:srgbClr val="FF795B"/>
                </a:solidFill>
                <a:latin typeface="Arial"/>
                <a:ea typeface="Arial"/>
                <a:cs typeface="Arial"/>
              </a:defRPr>
            </a:pPr>
            <a:r>
              <a:rPr sz="1425" b="1">
                <a:solidFill>
                  <a:srgbClr val="FF795B"/>
                </a:solidFill>
                <a:latin typeface="Arial"/>
                <a:ea typeface="Arial"/>
                <a:cs typeface="Arial"/>
              </a:rPr>
              <a:t>LAYA / ZERO-SHOT</a:t>
            </a:r>
          </a:p>
        </p:txBody>
      </p:sp>
      <p:sp>
        <p:nvSpPr>
          <p:cNvPr id="14" name="16/33">
            <a:extLst xmlns:a="http://schemas.openxmlformats.org/drawingml/2006/main">
              <a:ext uri="{FF2B5EF4-FFF2-40B4-BE49-F238E27FC236}">
                <a16:creationId xmlns:a16="http://schemas.microsoft.com/office/drawing/2014/main" id="{EF6718F9-4DA2-4F3A-BD56-B652531C10B1}"/>
              </a:ext>
            </a:extLst>
          </p:cNvPr>
          <p:cNvSpPr>
            <a:spLocks xmlns:a="http://schemas.openxmlformats.org/drawingml/2006/main" noGrp="1"/>
          </p:cNvSpPr>
          <p:nvPr/>
        </p:nvSpPr>
        <p:spPr>
          <a:xfrm xmlns:a="http://schemas.openxmlformats.org/drawingml/2006/main">
            <a:off x="8286750" y="3019425"/>
            <a:ext cx="366712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025" b="1">
                <a:solidFill>
                  <a:srgbClr val="0B1822"/>
                </a:solidFill>
                <a:latin typeface="Arial Black"/>
                <a:ea typeface="Arial Black"/>
                <a:cs typeface="Arial Black"/>
              </a:defRPr>
            </a:defPPr>
          </a:lstStyle>
          <a:p xmlns:a="http://schemas.openxmlformats.org/drawingml/2006/main">
            <a:pPr>
              <a:defRPr sz="5025" b="1">
                <a:solidFill>
                  <a:srgbClr val="0B1822"/>
                </a:solidFill>
                <a:latin typeface="Arial Black"/>
                <a:ea typeface="Arial Black"/>
                <a:cs typeface="Arial Black"/>
              </a:defRPr>
            </a:pPr>
            <a:r>
              <a:rPr sz="5025" b="1">
                <a:solidFill>
                  <a:srgbClr val="0B1822"/>
                </a:solidFill>
                <a:latin typeface="Arial Black"/>
                <a:ea typeface="Arial Black"/>
                <a:cs typeface="Arial Black"/>
              </a:rPr>
              <a:t>16/33</a:t>
            </a:r>
          </a:p>
        </p:txBody>
      </p:sp>
      <p:sp>
        <p:nvSpPr>
          <p:cNvPr id="15" name="0.41 s / run">
            <a:extLst xmlns:a="http://schemas.openxmlformats.org/drawingml/2006/main">
              <a:ext uri="{FF2B5EF4-FFF2-40B4-BE49-F238E27FC236}">
                <a16:creationId xmlns:a16="http://schemas.microsoft.com/office/drawing/2014/main" id="{9CB689A2-D46B-407B-AE93-597BE0FC5D8E}"/>
              </a:ext>
            </a:extLst>
          </p:cNvPr>
          <p:cNvSpPr>
            <a:spLocks xmlns:a="http://schemas.openxmlformats.org/drawingml/2006/main" noGrp="1"/>
          </p:cNvSpPr>
          <p:nvPr/>
        </p:nvSpPr>
        <p:spPr>
          <a:xfrm xmlns:a="http://schemas.openxmlformats.org/drawingml/2006/main">
            <a:off x="8286750" y="4162425"/>
            <a:ext cx="3629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0B1822"/>
                </a:solidFill>
                <a:latin typeface="Arial"/>
                <a:ea typeface="Arial"/>
                <a:cs typeface="Arial"/>
              </a:defRPr>
            </a:defPPr>
          </a:lstStyle>
          <a:p xmlns:a="http://schemas.openxmlformats.org/drawingml/2006/main">
            <a:pPr>
              <a:defRPr sz="2550" b="1">
                <a:solidFill>
                  <a:srgbClr val="0B1822"/>
                </a:solidFill>
                <a:latin typeface="Arial"/>
                <a:ea typeface="Arial"/>
                <a:cs typeface="Arial"/>
              </a:defRPr>
            </a:pPr>
            <a:r>
              <a:rPr sz="2550" b="1">
                <a:solidFill>
                  <a:srgbClr val="0B1822"/>
                </a:solidFill>
                <a:latin typeface="Arial"/>
                <a:ea typeface="Arial"/>
                <a:cs typeface="Arial"/>
              </a:rPr>
              <a:t>0.41 s / run</a:t>
            </a:r>
          </a:p>
        </p:txBody>
      </p:sp>
      <p:sp>
        <p:nvSpPr>
          <p:cNvPr id="16" name="$0 API* / run">
            <a:extLst xmlns:a="http://schemas.openxmlformats.org/drawingml/2006/main">
              <a:ext uri="{FF2B5EF4-FFF2-40B4-BE49-F238E27FC236}">
                <a16:creationId xmlns:a16="http://schemas.microsoft.com/office/drawing/2014/main" id="{F0092C58-6A7C-4060-BB2B-1F7C1EB9237B}"/>
              </a:ext>
            </a:extLst>
          </p:cNvPr>
          <p:cNvSpPr>
            <a:spLocks xmlns:a="http://schemas.openxmlformats.org/drawingml/2006/main" noGrp="1"/>
          </p:cNvSpPr>
          <p:nvPr/>
        </p:nvSpPr>
        <p:spPr>
          <a:xfrm xmlns:a="http://schemas.openxmlformats.org/drawingml/2006/main">
            <a:off x="8286750" y="4752975"/>
            <a:ext cx="36290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0B1822"/>
                </a:solidFill>
                <a:latin typeface="Arial"/>
                <a:ea typeface="Arial"/>
                <a:cs typeface="Arial"/>
              </a:defRPr>
            </a:defPPr>
          </a:lstStyle>
          <a:p xmlns:a="http://schemas.openxmlformats.org/drawingml/2006/main">
            <a:pPr>
              <a:defRPr sz="2025" b="0">
                <a:solidFill>
                  <a:srgbClr val="0B1822"/>
                </a:solidFill>
                <a:latin typeface="Arial"/>
                <a:ea typeface="Arial"/>
                <a:cs typeface="Arial"/>
              </a:defRPr>
            </a:pPr>
            <a:r>
              <a:rPr sz="2025" b="0">
                <a:solidFill>
                  <a:srgbClr val="0B1822"/>
                </a:solidFill>
                <a:latin typeface="Arial"/>
                <a:ea typeface="Arial"/>
                <a:cs typeface="Arial"/>
              </a:rPr>
              <a:t>$0 API* / run</a:t>
            </a:r>
          </a:p>
        </p:txBody>
      </p:sp>
      <p:sp>
        <p:nvSpPr>
          <p:cNvPr id="17" name="No guardrail generated">
            <a:extLst xmlns:a="http://schemas.openxmlformats.org/drawingml/2006/main">
              <a:ext uri="{FF2B5EF4-FFF2-40B4-BE49-F238E27FC236}">
                <a16:creationId xmlns:a16="http://schemas.microsoft.com/office/drawing/2014/main" id="{A0EDC588-7E65-4630-BF48-9945417FEAC5}"/>
              </a:ext>
            </a:extLst>
          </p:cNvPr>
          <p:cNvSpPr>
            <a:spLocks xmlns:a="http://schemas.openxmlformats.org/drawingml/2006/main" noGrp="1"/>
          </p:cNvSpPr>
          <p:nvPr/>
        </p:nvSpPr>
        <p:spPr>
          <a:xfrm xmlns:a="http://schemas.openxmlformats.org/drawingml/2006/main">
            <a:off x="8286750" y="5391150"/>
            <a:ext cx="3667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FF795B"/>
                </a:solidFill>
                <a:latin typeface="Arial"/>
                <a:ea typeface="Arial"/>
                <a:cs typeface="Arial"/>
              </a:defRPr>
            </a:defPPr>
          </a:lstStyle>
          <a:p xmlns:a="http://schemas.openxmlformats.org/drawingml/2006/main">
            <a:pPr>
              <a:defRPr sz="1800" b="1">
                <a:solidFill>
                  <a:srgbClr val="FF795B"/>
                </a:solidFill>
                <a:latin typeface="Arial"/>
                <a:ea typeface="Arial"/>
                <a:cs typeface="Arial"/>
              </a:defRPr>
            </a:pPr>
            <a:r>
              <a:rPr sz="1800" b="1">
                <a:solidFill>
                  <a:srgbClr val="FF795B"/>
                </a:solidFill>
                <a:latin typeface="Arial"/>
                <a:ea typeface="Arial"/>
                <a:cs typeface="Arial"/>
              </a:rPr>
              <a:t>No guardrail generated</a:t>
            </a:r>
          </a:p>
        </p:txBody>
      </p:sp>
      <p:sp>
        <p:nvSpPr>
          <p:cNvPr id="18" name="33 author-labelled choices. Review/deployment ex">
            <a:extLst xmlns:a="http://schemas.openxmlformats.org/drawingml/2006/main">
              <a:ext uri="{FF2B5EF4-FFF2-40B4-BE49-F238E27FC236}">
                <a16:creationId xmlns:a16="http://schemas.microsoft.com/office/drawing/2014/main" id="{43F64D32-3B54-4F40-9C74-9CCFC775BBF4}"/>
              </a:ext>
            </a:extLst>
          </p:cNvPr>
          <p:cNvSpPr>
            <a:spLocks xmlns:a="http://schemas.openxmlformats.org/drawingml/2006/main" noGrp="1"/>
          </p:cNvSpPr>
          <p:nvPr/>
        </p:nvSpPr>
        <p:spPr>
          <a:xfrm xmlns:a="http://schemas.openxmlformats.org/drawingml/2006/main">
            <a:off x="628650" y="5943600"/>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6656C"/>
                </a:solidFill>
                <a:latin typeface="Arial"/>
                <a:ea typeface="Arial"/>
                <a:cs typeface="Arial"/>
              </a:defRPr>
            </a:defPPr>
          </a:lstStyle>
          <a:p xmlns:a="http://schemas.openxmlformats.org/drawingml/2006/main">
            <a:pPr>
              <a:defRPr sz="1200" b="0">
                <a:solidFill>
                  <a:srgbClr val="56656C"/>
                </a:solidFill>
                <a:latin typeface="Arial"/>
                <a:ea typeface="Arial"/>
                <a:cs typeface="Arial"/>
              </a:defRPr>
            </a:pPr>
            <a:r>
              <a:rPr sz="1200" b="0">
                <a:solidFill>
                  <a:srgbClr val="56656C"/>
                </a:solidFill>
                <a:latin typeface="Arial"/>
                <a:ea typeface="Arial"/>
                <a:cs typeface="Arial"/>
              </a:rPr>
              <a:t>33 author-labelled choices. Review/deployment excluded. *Local compute unpriced; workflow incomplete.</a:t>
            </a:r>
          </a:p>
          <a:p xmlns:a="http://schemas.openxmlformats.org/drawingml/2006/main">
            <a:pPr>
              <a:defRPr sz="1200" b="0">
                <a:solidFill>
                  <a:srgbClr val="56656C"/>
                </a:solidFill>
                <a:latin typeface="Arial"/>
                <a:ea typeface="Arial"/>
                <a:cs typeface="Arial"/>
              </a:defRPr>
            </a:pPr>
            <a:r>
              <a:rPr sz="1200" b="0">
                <a:solidFill>
                  <a:srgbClr val="56656C"/>
                </a:solidFill>
                <a:latin typeface="Arial"/>
                <a:ea typeface="Arial"/>
                <a:cs typeface="Arial"/>
              </a:rPr>
              <a:t>Small pilot; confidence definitions differ. No production superiority claim. Full metrics in backup.</a:t>
            </a:r>
          </a:p>
        </p:txBody>
      </p:sp>
      <p:sp>
        <p:nvSpPr>
          <p:cNvPr id="19" name="ISC2 SECURITY CONGRESS 2026 / SC2632">
            <a:extLst xmlns:a="http://schemas.openxmlformats.org/drawingml/2006/main">
              <a:ext uri="{FF2B5EF4-FFF2-40B4-BE49-F238E27FC236}">
                <a16:creationId xmlns:a16="http://schemas.microsoft.com/office/drawing/2014/main" id="{67911827-AD85-4005-A4F7-5E9B3FDB151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20" name="26">
            <a:extLst xmlns:a="http://schemas.openxmlformats.org/drawingml/2006/main">
              <a:ext uri="{FF2B5EF4-FFF2-40B4-BE49-F238E27FC236}">
                <a16:creationId xmlns:a16="http://schemas.microsoft.com/office/drawing/2014/main" id="{2391CF11-2766-456C-8372-D4272AD58F30}"/>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26</a:t>
            </a:r>
          </a:p>
        </p:txBody>
      </p:sp>
    </p:spTree>
    <p:extLst>
      <p:ext uri="{BB962C8B-B14F-4D97-AF65-F5344CB8AC3E}">
        <p14:creationId xmlns:p14="http://schemas.microsoft.com/office/powerpoint/2010/main" val="1123596715"/>
      </p:ext>
    </p:extLst>
  </p:cSld>
</p:sld>
</file>

<file path=ppt/slides/slide27.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E2F287D6-A9F9-4D85-B864-ED2BF7D254F1}"/>
              </a:ext>
            </a:extLst>
          </p:cNvPr>
          <p:cNvPicPr>
            <a:picLocks xmlns:a="http://schemas.openxmlformats.org/drawingml/2006/main" noChangeAspect="1"/>
          </p:cNvPicPr>
          <p:nvPr/>
        </p:nvPicPr>
        <p:blipFill>
          <a:blip xmlns:r="http://schemas.openxmlformats.org/officeDocument/2006/relationships" xmlns:a="http://schemas.openxmlformats.org/drawingml/2006/main" r:embed="Rb10b69c024ab4265"/>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4 MINUTES / DOCUMENT RECOVERY">
            <a:extLst xmlns:a="http://schemas.openxmlformats.org/drawingml/2006/main">
              <a:ext uri="{FF2B5EF4-FFF2-40B4-BE49-F238E27FC236}">
                <a16:creationId xmlns:a16="http://schemas.microsoft.com/office/drawing/2014/main" id="{AD2AD897-7CAC-44BC-9DE9-AEC8B82CA138}"/>
              </a:ext>
            </a:extLst>
          </p:cNvPr>
          <p:cNvSpPr>
            <a:spLocks xmlns:a="http://schemas.openxmlformats.org/drawingml/2006/main" noGrp="1"/>
          </p:cNvSpPr>
          <p:nvPr/>
        </p:nvSpPr>
        <p:spPr>
          <a:xfrm xmlns:a="http://schemas.openxmlformats.org/drawingml/2006/main">
            <a:off x="609600" y="4953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25D8BD"/>
                </a:solidFill>
                <a:latin typeface="Arial"/>
                <a:ea typeface="Arial"/>
                <a:cs typeface="Arial"/>
              </a:defRPr>
            </a:defPPr>
          </a:lstStyle>
          <a:p xmlns:a="http://schemas.openxmlformats.org/drawingml/2006/main">
            <a:pPr>
              <a:defRPr sz="1350" b="1">
                <a:solidFill>
                  <a:srgbClr val="25D8BD"/>
                </a:solidFill>
                <a:latin typeface="Arial"/>
                <a:ea typeface="Arial"/>
                <a:cs typeface="Arial"/>
              </a:defRPr>
            </a:pPr>
            <a:r>
              <a:rPr sz="1350" b="1">
                <a:solidFill>
                  <a:srgbClr val="25D8BD"/>
                </a:solidFill>
                <a:latin typeface="Arial"/>
                <a:ea typeface="Arial"/>
                <a:cs typeface="Arial"/>
              </a:rPr>
              <a:t>4 MINUTES / DOCUMENT RECOVERY</a:t>
            </a:r>
          </a:p>
        </p:txBody>
      </p:sp>
      <p:sp>
        <p:nvSpPr>
          <p:cNvPr id="3" name="04">
            <a:extLst xmlns:a="http://schemas.openxmlformats.org/drawingml/2006/main">
              <a:ext uri="{FF2B5EF4-FFF2-40B4-BE49-F238E27FC236}">
                <a16:creationId xmlns:a16="http://schemas.microsoft.com/office/drawing/2014/main" id="{1E5BC374-4BAF-4CF8-8307-6BF90680F85A}"/>
              </a:ext>
            </a:extLst>
          </p:cNvPr>
          <p:cNvSpPr>
            <a:spLocks xmlns:a="http://schemas.openxmlformats.org/drawingml/2006/main" noGrp="1"/>
          </p:cNvSpPr>
          <p:nvPr/>
        </p:nvSpPr>
        <p:spPr>
          <a:xfrm xmlns:a="http://schemas.openxmlformats.org/drawingml/2006/main">
            <a:off x="609600" y="971550"/>
            <a:ext cx="5715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450" b="1">
                <a:solidFill>
                  <a:srgbClr val="FF795B"/>
                </a:solidFill>
                <a:latin typeface="Arial Black"/>
                <a:ea typeface="Arial Black"/>
                <a:cs typeface="Arial Black"/>
              </a:defRPr>
            </a:defPPr>
          </a:lstStyle>
          <a:p xmlns:a="http://schemas.openxmlformats.org/drawingml/2006/main">
            <a:pPr>
              <a:defRPr sz="9450" b="1">
                <a:solidFill>
                  <a:srgbClr val="FF795B"/>
                </a:solidFill>
                <a:latin typeface="Arial Black"/>
                <a:ea typeface="Arial Black"/>
                <a:cs typeface="Arial Black"/>
              </a:defRPr>
            </a:pPr>
            <a:r>
              <a:rPr sz="9450" b="1">
                <a:solidFill>
                  <a:srgbClr val="FF795B"/>
                </a:solidFill>
                <a:latin typeface="Arial Black"/>
                <a:ea typeface="Arial Black"/>
                <a:cs typeface="Arial Black"/>
              </a:rPr>
              <a:t>04</a:t>
            </a:r>
          </a:p>
        </p:txBody>
      </p:sp>
      <p:sp>
        <p:nvSpPr>
          <p:cNvPr id="4" name="Define recovery&#10;criteria.">
            <a:extLst xmlns:a="http://schemas.openxmlformats.org/drawingml/2006/main">
              <a:ext uri="{FF2B5EF4-FFF2-40B4-BE49-F238E27FC236}">
                <a16:creationId xmlns:a16="http://schemas.microsoft.com/office/drawing/2014/main" id="{B505E395-5C5D-4A00-8F5B-31F7F60B74E2}"/>
              </a:ext>
            </a:extLst>
          </p:cNvPr>
          <p:cNvSpPr>
            <a:spLocks xmlns:a="http://schemas.openxmlformats.org/drawingml/2006/main" noGrp="1"/>
          </p:cNvSpPr>
          <p:nvPr/>
        </p:nvSpPr>
        <p:spPr>
          <a:xfrm xmlns:a="http://schemas.openxmlformats.org/drawingml/2006/main">
            <a:off x="609600" y="2762250"/>
            <a:ext cx="82867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F2EFE7"/>
                </a:solidFill>
                <a:latin typeface="Arial Black"/>
                <a:ea typeface="Arial Black"/>
                <a:cs typeface="Arial Black"/>
              </a:defRPr>
            </a:defPPr>
          </a:lstStyle>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Define recovery</a:t>
            </a:r>
          </a:p>
          <a:p xmlns:a="http://schemas.openxmlformats.org/drawingml/2006/main">
            <a:pPr>
              <a:defRPr sz="4650" b="1">
                <a:solidFill>
                  <a:srgbClr val="F2EFE7"/>
                </a:solidFill>
                <a:latin typeface="Arial Black"/>
                <a:ea typeface="Arial Black"/>
                <a:cs typeface="Arial Black"/>
              </a:defRPr>
            </a:pPr>
            <a:r>
              <a:rPr sz="4650" b="1">
                <a:solidFill>
                  <a:srgbClr val="F2EFE7"/>
                </a:solidFill>
                <a:latin typeface="Arial Black"/>
                <a:ea typeface="Arial Black"/>
                <a:cs typeface="Arial Black"/>
              </a:rPr>
              <a:t>criteria.</a:t>
            </a:r>
          </a:p>
        </p:txBody>
      </p:sp>
      <p:sp>
        <p:nvSpPr>
          <p:cNvPr id="5" name="On page 6, name the exit test,&#10;who can lift quar">
            <a:extLst xmlns:a="http://schemas.openxmlformats.org/drawingml/2006/main">
              <a:ext uri="{FF2B5EF4-FFF2-40B4-BE49-F238E27FC236}">
                <a16:creationId xmlns:a16="http://schemas.microsoft.com/office/drawing/2014/main" id="{11231983-6E0C-4C8E-8966-C1CB85946946}"/>
              </a:ext>
            </a:extLst>
          </p:cNvPr>
          <p:cNvSpPr>
            <a:spLocks xmlns:a="http://schemas.openxmlformats.org/drawingml/2006/main" noGrp="1"/>
          </p:cNvSpPr>
          <p:nvPr/>
        </p:nvSpPr>
        <p:spPr>
          <a:xfrm xmlns:a="http://schemas.openxmlformats.org/drawingml/2006/main">
            <a:off x="628650" y="4829175"/>
            <a:ext cx="63817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2EFE7"/>
                </a:solidFill>
                <a:latin typeface="Arial"/>
                <a:ea typeface="Arial"/>
                <a:cs typeface="Arial"/>
              </a:defRPr>
            </a:defPPr>
          </a:lstStyle>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On page 6, name the exit test,</a:t>
            </a:r>
          </a:p>
          <a:p xmlns:a="http://schemas.openxmlformats.org/drawingml/2006/main">
            <a:pPr>
              <a:defRPr sz="2250" b="0">
                <a:solidFill>
                  <a:srgbClr val="F2EFE7"/>
                </a:solidFill>
                <a:latin typeface="Arial"/>
                <a:ea typeface="Arial"/>
                <a:cs typeface="Arial"/>
              </a:defRPr>
            </a:pPr>
            <a:r>
              <a:rPr sz="2250" b="0">
                <a:solidFill>
                  <a:srgbClr val="F2EFE7"/>
                </a:solidFill>
                <a:latin typeface="Arial"/>
                <a:ea typeface="Arial"/>
                <a:cs typeface="Arial"/>
              </a:rPr>
              <a:t>who can lift quarantine and the rollback condition.</a:t>
            </a:r>
          </a:p>
        </p:txBody>
      </p:sp>
      <p:sp>
        <p:nvSpPr>
          <p:cNvPr id="6" name="ISC2 SECURITY CONGRESS 2026 / SC2632">
            <a:extLst xmlns:a="http://schemas.openxmlformats.org/drawingml/2006/main">
              <a:ext uri="{FF2B5EF4-FFF2-40B4-BE49-F238E27FC236}">
                <a16:creationId xmlns:a16="http://schemas.microsoft.com/office/drawing/2014/main" id="{4F23F873-0E21-4E86-9E24-F6242B843BA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7" name="27">
            <a:extLst xmlns:a="http://schemas.openxmlformats.org/drawingml/2006/main">
              <a:ext uri="{FF2B5EF4-FFF2-40B4-BE49-F238E27FC236}">
                <a16:creationId xmlns:a16="http://schemas.microsoft.com/office/drawing/2014/main" id="{5365CF3F-83D8-4906-95ED-244DFFBB315A}"/>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27</a:t>
            </a:r>
          </a:p>
        </p:txBody>
      </p:sp>
    </p:spTree>
    <p:extLst>
      <p:ext uri="{BB962C8B-B14F-4D97-AF65-F5344CB8AC3E}">
        <p14:creationId xmlns:p14="http://schemas.microsoft.com/office/powerpoint/2010/main" val="1115779216"/>
      </p:ext>
    </p:extLst>
  </p:cSld>
</p:sld>
</file>

<file path=ppt/slides/slide28.xml><?xml version="1.0" encoding="utf-8"?>
<p:sld xmlns:p="http://schemas.openxmlformats.org/presentationml/2006/main">
  <p:cSld>
    <p:bg>
      <p:bgPr>
        <a:solidFill xmlns:a="http://schemas.openxmlformats.org/drawingml/2006/main">
          <a:srgbClr val="09131D"/>
        </a:solidFill>
      </p:bgPr>
    </p:bg>
    <p:spTree>
      <p:nvGrpSpPr>
        <p:cNvPr id="1" name=""/>
        <p:cNvGrpSpPr/>
        <p:nvPr/>
      </p:nvGrpSpPr>
      <p:grpSpPr>
        <a:xfrm xmlns:a="http://schemas.openxmlformats.org/drawingml/2006/main"/>
      </p:grpSpPr>
      <p:sp>
        <p:nvSpPr>
          <p:cNvPr id="6" name="APPLICATION TO YOUR ENVIRONMENT">
            <a:extLst xmlns:a="http://schemas.openxmlformats.org/drawingml/2006/main">
              <a:ext uri="{FF2B5EF4-FFF2-40B4-BE49-F238E27FC236}">
                <a16:creationId xmlns:a16="http://schemas.microsoft.com/office/drawing/2014/main" id="{59592CD8-0DB4-4622-9ABF-997BAF1BD522}"/>
              </a:ext>
            </a:extLst>
          </p:cNvPr>
          <p:cNvSpPr>
            <a:spLocks xmlns:a="http://schemas.openxmlformats.org/drawingml/2006/main" noGrp="1"/>
          </p:cNvSpPr>
          <p:nvPr/>
        </p:nvSpPr>
        <p:spPr>
          <a:xfrm xmlns:a="http://schemas.openxmlformats.org/drawingml/2006/main">
            <a:off x="609600" y="4762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25D8BD"/>
                </a:solidFill>
                <a:latin typeface="Arial"/>
                <a:ea typeface="Arial"/>
                <a:cs typeface="Arial"/>
              </a:defRPr>
            </a:defPPr>
          </a:lstStyle>
          <a:p xmlns:a="http://schemas.openxmlformats.org/drawingml/2006/main">
            <a:pPr>
              <a:defRPr sz="1200" b="1">
                <a:solidFill>
                  <a:srgbClr val="25D8BD"/>
                </a:solidFill>
                <a:latin typeface="Arial"/>
                <a:ea typeface="Arial"/>
                <a:cs typeface="Arial"/>
              </a:defRPr>
            </a:pPr>
            <a:r>
              <a:rPr sz="1200" b="1">
                <a:solidFill>
                  <a:srgbClr val="25D8BD"/>
                </a:solidFill>
                <a:latin typeface="Arial"/>
                <a:ea typeface="Arial"/>
                <a:cs typeface="Arial"/>
              </a:rPr>
              <a:t>APPLICATION TO YOUR ENVIRONMENT</a:t>
            </a:r>
          </a:p>
        </p:txBody>
      </p:sp>
      <p:sp>
        <p:nvSpPr>
          <p:cNvPr id="2" name="Identify a requirement.&#10;Assign its owner.&#10;Specif">
            <a:extLst xmlns:a="http://schemas.openxmlformats.org/drawingml/2006/main">
              <a:ext uri="{FF2B5EF4-FFF2-40B4-BE49-F238E27FC236}">
                <a16:creationId xmlns:a16="http://schemas.microsoft.com/office/drawing/2014/main" id="{B9E7A439-C665-4B1A-BC94-C055697696E3}"/>
              </a:ext>
            </a:extLst>
          </p:cNvPr>
          <p:cNvSpPr>
            <a:spLocks xmlns:a="http://schemas.openxmlformats.org/drawingml/2006/main" noGrp="1"/>
          </p:cNvSpPr>
          <p:nvPr/>
        </p:nvSpPr>
        <p:spPr>
          <a:xfrm xmlns:a="http://schemas.openxmlformats.org/drawingml/2006/main">
            <a:off x="609600" y="1400175"/>
            <a:ext cx="10668000"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125" b="1">
                <a:solidFill>
                  <a:srgbClr val="F2EFE7"/>
                </a:solidFill>
                <a:latin typeface="Arial Black"/>
                <a:ea typeface="Arial Black"/>
                <a:cs typeface="Arial Black"/>
              </a:defRPr>
            </a:defPPr>
          </a:lstStyle>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Identify a requirement.</a:t>
            </a:r>
          </a:p>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Assign its owner.</a:t>
            </a:r>
          </a:p>
          <a:p xmlns:a="http://schemas.openxmlformats.org/drawingml/2006/main">
            <a:pPr>
              <a:defRPr sz="4125" b="1">
                <a:solidFill>
                  <a:srgbClr val="F2EFE7"/>
                </a:solidFill>
                <a:latin typeface="Arial Black"/>
                <a:ea typeface="Arial Black"/>
                <a:cs typeface="Arial Black"/>
              </a:defRPr>
            </a:pPr>
            <a:r>
              <a:rPr sz="4125" b="1">
                <a:solidFill>
                  <a:srgbClr val="F2EFE7"/>
                </a:solidFill>
                <a:latin typeface="Arial Black"/>
                <a:ea typeface="Arial Black"/>
                <a:cs typeface="Arial Black"/>
              </a:rPr>
              <a:t>Specify acceptance evidence.</a:t>
            </a:r>
          </a:p>
        </p:txBody>
      </p:sp>
      <p:sp>
        <p:nvSpPr>
          <p:cNvPr id="3" name="Choose one unresolved control boundary in your e">
            <a:extLst xmlns:a="http://schemas.openxmlformats.org/drawingml/2006/main">
              <a:ext uri="{FF2B5EF4-FFF2-40B4-BE49-F238E27FC236}">
                <a16:creationId xmlns:a16="http://schemas.microsoft.com/office/drawing/2014/main" id="{279201A1-F1A7-47F3-8D39-C4062C5270DE}"/>
              </a:ext>
            </a:extLst>
          </p:cNvPr>
          <p:cNvSpPr>
            <a:spLocks xmlns:a="http://schemas.openxmlformats.org/drawingml/2006/main" noGrp="1"/>
          </p:cNvSpPr>
          <p:nvPr/>
        </p:nvSpPr>
        <p:spPr>
          <a:xfrm xmlns:a="http://schemas.openxmlformats.org/drawingml/2006/main">
            <a:off x="628650" y="50577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2EFE7"/>
                </a:solidFill>
                <a:latin typeface="Arial"/>
                <a:ea typeface="Arial"/>
                <a:cs typeface="Arial"/>
              </a:defRPr>
            </a:defPPr>
          </a:lstStyle>
          <a:p xmlns:a="http://schemas.openxmlformats.org/drawingml/2006/main">
            <a:pPr>
              <a:defRPr sz="2325" b="0">
                <a:solidFill>
                  <a:srgbClr val="F2EFE7"/>
                </a:solidFill>
                <a:latin typeface="Arial"/>
                <a:ea typeface="Arial"/>
                <a:cs typeface="Arial"/>
              </a:defRPr>
            </a:pPr>
            <a:r>
              <a:rPr sz="2325" b="0">
                <a:solidFill>
                  <a:srgbClr val="F2EFE7"/>
                </a:solidFill>
                <a:latin typeface="Arial"/>
                <a:ea typeface="Arial"/>
                <a:cs typeface="Arial"/>
              </a:rPr>
              <a:t>Choose one unresolved control boundary in your environment.</a:t>
            </a:r>
          </a:p>
          <a:p xmlns:a="http://schemas.openxmlformats.org/drawingml/2006/main">
            <a:pPr>
              <a:defRPr sz="2325" b="0">
                <a:solidFill>
                  <a:srgbClr val="F2EFE7"/>
                </a:solidFill>
                <a:latin typeface="Arial"/>
                <a:ea typeface="Arial"/>
                <a:cs typeface="Arial"/>
              </a:defRPr>
            </a:pPr>
            <a:r>
              <a:rPr sz="2325" b="0">
                <a:solidFill>
                  <a:srgbClr val="F2EFE7"/>
                </a:solidFill>
                <a:latin typeface="Arial"/>
                <a:ea typeface="Arial"/>
                <a:cs typeface="Arial"/>
              </a:rPr>
              <a:t>Document the evidence needed before approving enforcement.</a:t>
            </a:r>
          </a:p>
        </p:txBody>
      </p:sp>
      <p:sp>
        <p:nvSpPr>
          <p:cNvPr id="4" name="ISC2 SECURITY CONGRESS 2026 / SC2632">
            <a:extLst xmlns:a="http://schemas.openxmlformats.org/drawingml/2006/main">
              <a:ext uri="{FF2B5EF4-FFF2-40B4-BE49-F238E27FC236}">
                <a16:creationId xmlns:a16="http://schemas.microsoft.com/office/drawing/2014/main" id="{CED516C3-26A6-4B43-9EDC-82B1078B237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8498A5"/>
                </a:solidFill>
                <a:latin typeface="Arial"/>
                <a:ea typeface="Arial"/>
                <a:cs typeface="Arial"/>
              </a:defRPr>
            </a:defPPr>
          </a:lstStyle>
          <a:p xmlns:a="http://schemas.openxmlformats.org/drawingml/2006/main">
            <a:pPr>
              <a:defRPr sz="900" b="0">
                <a:solidFill>
                  <a:srgbClr val="8498A5"/>
                </a:solidFill>
                <a:latin typeface="Arial"/>
                <a:ea typeface="Arial"/>
                <a:cs typeface="Arial"/>
              </a:defRPr>
            </a:pPr>
            <a:r>
              <a:rPr sz="900" b="0">
                <a:solidFill>
                  <a:srgbClr val="8498A5"/>
                </a:solidFill>
                <a:latin typeface="Arial"/>
                <a:ea typeface="Arial"/>
                <a:cs typeface="Arial"/>
              </a:rPr>
              <a:t>ISC2 SECURITY CONGRESS 2026 / SC2632</a:t>
            </a:r>
          </a:p>
        </p:txBody>
      </p:sp>
      <p:sp>
        <p:nvSpPr>
          <p:cNvPr id="5" name="28">
            <a:extLst xmlns:a="http://schemas.openxmlformats.org/drawingml/2006/main">
              <a:ext uri="{FF2B5EF4-FFF2-40B4-BE49-F238E27FC236}">
                <a16:creationId xmlns:a16="http://schemas.microsoft.com/office/drawing/2014/main" id="{FCA72409-068C-422F-A04B-459E1D51881D}"/>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8498A5"/>
                </a:solidFill>
                <a:latin typeface="Arial"/>
                <a:ea typeface="Arial"/>
                <a:cs typeface="Arial"/>
              </a:defRPr>
            </a:defPPr>
          </a:lstStyle>
          <a:p xmlns:a="http://schemas.openxmlformats.org/drawingml/2006/main">
            <a:pPr>
              <a:defRPr sz="1200" b="1">
                <a:solidFill>
                  <a:srgbClr val="8498A5"/>
                </a:solidFill>
                <a:latin typeface="Arial"/>
                <a:ea typeface="Arial"/>
                <a:cs typeface="Arial"/>
              </a:defRPr>
            </a:pPr>
            <a:r>
              <a:rPr sz="1200" b="1">
                <a:solidFill>
                  <a:srgbClr val="8498A5"/>
                </a:solidFill>
                <a:latin typeface="Arial"/>
                <a:ea typeface="Arial"/>
                <a:cs typeface="Arial"/>
              </a:rPr>
              <a:t>28</a:t>
            </a:r>
          </a:p>
        </p:txBody>
      </p:sp>
    </p:spTree>
    <p:extLst>
      <p:ext uri="{BB962C8B-B14F-4D97-AF65-F5344CB8AC3E}">
        <p14:creationId xmlns:p14="http://schemas.microsoft.com/office/powerpoint/2010/main" val="371924524"/>
      </p:ext>
    </p:extLst>
  </p:cSld>
</p:sld>
</file>

<file path=ppt/slides/slide29.xml><?xml version="1.0" encoding="utf-8"?>
<p:sld xmlns:p="http://schemas.openxmlformats.org/presentationml/2006/main">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SESSION RESOURCES">
            <a:extLst xmlns:a="http://schemas.openxmlformats.org/drawingml/2006/main">
              <a:ext uri="{FF2B5EF4-FFF2-40B4-BE49-F238E27FC236}">
                <a16:creationId xmlns:a16="http://schemas.microsoft.com/office/drawing/2014/main" id="{929DF3D3-88AA-4870-8E80-EAD78182F46F}"/>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SESSION RESOURCES</a:t>
            </a:r>
          </a:p>
        </p:txBody>
      </p:sp>
      <p:sp>
        <p:nvSpPr>
          <p:cNvPr id="2" name="Patterns to adapt across Kubernetes">
            <a:extLst xmlns:a="http://schemas.openxmlformats.org/drawingml/2006/main">
              <a:ext uri="{FF2B5EF4-FFF2-40B4-BE49-F238E27FC236}">
                <a16:creationId xmlns:a16="http://schemas.microsoft.com/office/drawing/2014/main" id="{90AC187F-E1CA-4D1F-8FB5-545A38C86FCD}"/>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Patterns to adapt across Kubernetes</a:t>
            </a:r>
          </a:p>
        </p:txBody>
      </p:sp>
      <p:sp>
        <p:nvSpPr>
          <p:cNvPr id="3" name="github.com/mgunjan/sc2632-tabletop">
            <a:extLst xmlns:a="http://schemas.openxmlformats.org/drawingml/2006/main">
              <a:ext uri="{FF2B5EF4-FFF2-40B4-BE49-F238E27FC236}">
                <a16:creationId xmlns:a16="http://schemas.microsoft.com/office/drawing/2014/main" id="{743AA37A-4EE1-4C13-BEE5-99B21CF59E16}"/>
              </a:ext>
            </a:extLst>
          </p:cNvPr>
          <p:cNvSpPr>
            <a:spLocks xmlns:a="http://schemas.openxmlformats.org/drawingml/2006/main" noGrp="1"/>
          </p:cNvSpPr>
          <p:nvPr/>
        </p:nvSpPr>
        <p:spPr>
          <a:xfrm xmlns:a="http://schemas.openxmlformats.org/drawingml/2006/main">
            <a:off x="609600" y="23622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087E79"/>
                </a:solidFill>
                <a:latin typeface="Arial"/>
                <a:ea typeface="Arial"/>
                <a:cs typeface="Arial"/>
              </a:defRPr>
            </a:defPPr>
          </a:lstStyle>
          <a:p xmlns:a="http://schemas.openxmlformats.org/drawingml/2006/main">
            <a:pPr>
              <a:defRPr sz="2625" b="1">
                <a:solidFill>
                  <a:srgbClr val="087E79"/>
                </a:solidFill>
                <a:latin typeface="Arial"/>
                <a:ea typeface="Arial"/>
                <a:cs typeface="Arial"/>
              </a:defRPr>
            </a:pPr>
            <a:r>
              <a:rPr sz="2625" b="1">
                <a:solidFill>
                  <a:srgbClr val="087E79"/>
                </a:solidFill>
                <a:latin typeface="Arial"/>
                <a:ea typeface="Arial"/>
                <a:cs typeface="Arial"/>
              </a:rPr>
              <a:t>github.com/mgunjan/sc2632-tabletop</a:t>
            </a:r>
          </a:p>
        </p:txBody>
      </p:sp>
      <p:sp>
        <p:nvSpPr>
          <p:cNvPr id="4" name="Policy templates and fixture tests&#10;Evidence capt">
            <a:extLst xmlns:a="http://schemas.openxmlformats.org/drawingml/2006/main">
              <a:ext uri="{FF2B5EF4-FFF2-40B4-BE49-F238E27FC236}">
                <a16:creationId xmlns:a16="http://schemas.microsoft.com/office/drawing/2014/main" id="{F6555262-2669-4073-8F63-C33AA4C10E4A}"/>
              </a:ext>
            </a:extLst>
          </p:cNvPr>
          <p:cNvSpPr>
            <a:spLocks xmlns:a="http://schemas.openxmlformats.org/drawingml/2006/main" noGrp="1"/>
          </p:cNvSpPr>
          <p:nvPr/>
        </p:nvSpPr>
        <p:spPr>
          <a:xfrm xmlns:a="http://schemas.openxmlformats.org/drawingml/2006/main">
            <a:off x="609600" y="3505200"/>
            <a:ext cx="1066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0B1822"/>
                </a:solidFill>
                <a:latin typeface="Arial"/>
                <a:ea typeface="Arial"/>
                <a:cs typeface="Arial"/>
              </a:defRPr>
            </a:defPPr>
          </a:lstStyle>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Policy templates and fixture tests</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Evidence capture and Quarantine levels</a:t>
            </a:r>
          </a:p>
          <a:p xmlns:a="http://schemas.openxmlformats.org/drawingml/2006/main">
            <a:pPr>
              <a:defRPr sz="2400" b="0">
                <a:solidFill>
                  <a:srgbClr val="0B1822"/>
                </a:solidFill>
                <a:latin typeface="Arial"/>
                <a:ea typeface="Arial"/>
                <a:cs typeface="Arial"/>
              </a:defRPr>
            </a:pPr>
            <a:r>
              <a:rPr sz="2400" b="0">
                <a:solidFill>
                  <a:srgbClr val="0B1822"/>
                </a:solidFill>
                <a:latin typeface="Arial"/>
                <a:ea typeface="Arial"/>
                <a:cs typeface="Arial"/>
              </a:rPr>
              <a:t>Four incident cases and recorded lab results</a:t>
            </a:r>
          </a:p>
        </p:txBody>
      </p:sp>
      <p:sp>
        <p:nvSpPr>
          <p:cNvPr id="5" name="Apache-2.0 source, public repository.&#10;Validate i">
            <a:extLst xmlns:a="http://schemas.openxmlformats.org/drawingml/2006/main">
              <a:ext uri="{FF2B5EF4-FFF2-40B4-BE49-F238E27FC236}">
                <a16:creationId xmlns:a16="http://schemas.microsoft.com/office/drawing/2014/main" id="{AAF5DEBB-FF3A-4DBA-9438-B0C1EA9053CA}"/>
              </a:ext>
            </a:extLst>
          </p:cNvPr>
          <p:cNvSpPr>
            <a:spLocks xmlns:a="http://schemas.openxmlformats.org/drawingml/2006/main" noGrp="1"/>
          </p:cNvSpPr>
          <p:nvPr/>
        </p:nvSpPr>
        <p:spPr>
          <a:xfrm xmlns:a="http://schemas.openxmlformats.org/drawingml/2006/main">
            <a:off x="609600" y="55245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17A"/>
                </a:solidFill>
                <a:latin typeface="Arial"/>
                <a:ea typeface="Arial"/>
                <a:cs typeface="Arial"/>
              </a:defRPr>
            </a:defPPr>
          </a:lstStyle>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Apache-2.0 source, public repository.</a:t>
            </a:r>
          </a:p>
          <a:p xmlns:a="http://schemas.openxmlformats.org/drawingml/2006/main">
            <a:pPr>
              <a:defRPr sz="1725" b="0">
                <a:solidFill>
                  <a:srgbClr val="60717A"/>
                </a:solidFill>
                <a:latin typeface="Arial"/>
                <a:ea typeface="Arial"/>
                <a:cs typeface="Arial"/>
              </a:defRPr>
            </a:pPr>
            <a:r>
              <a:rPr sz="1725" b="0">
                <a:solidFill>
                  <a:srgbClr val="60717A"/>
                </a:solidFill>
                <a:latin typeface="Arial"/>
                <a:ea typeface="Arial"/>
                <a:cs typeface="Arial"/>
              </a:rPr>
              <a:t>Validate identity, CNI behavior and policy support on your platform.</a:t>
            </a:r>
          </a:p>
        </p:txBody>
      </p:sp>
      <p:sp>
        <p:nvSpPr>
          <p:cNvPr id="6" name="ISC2 SECURITY CONGRESS 2026 / SC2632">
            <a:extLst xmlns:a="http://schemas.openxmlformats.org/drawingml/2006/main">
              <a:ext uri="{FF2B5EF4-FFF2-40B4-BE49-F238E27FC236}">
                <a16:creationId xmlns:a16="http://schemas.microsoft.com/office/drawing/2014/main" id="{E979214D-481F-4F0B-A014-487A54A21DEE}"/>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29">
            <a:extLst xmlns:a="http://schemas.openxmlformats.org/drawingml/2006/main">
              <a:ext uri="{FF2B5EF4-FFF2-40B4-BE49-F238E27FC236}">
                <a16:creationId xmlns:a16="http://schemas.microsoft.com/office/drawing/2014/main" id="{2F7795FE-36F0-448B-A4F8-A164CCB7A74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29</a:t>
            </a:r>
          </a:p>
        </p:txBody>
      </p:sp>
    </p:spTree>
    <p:extLst>
      <p:ext uri="{BB962C8B-B14F-4D97-AF65-F5344CB8AC3E}">
        <p14:creationId xmlns:p14="http://schemas.microsoft.com/office/powerpoint/2010/main" val="19351211"/>
      </p:ext>
    </p:extLst>
  </p:cSld>
</p:sld>
</file>

<file path=ppt/slides/slide30.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SUPPLIED REFERENCE SPEC">
            <a:extLst xmlns:a="http://schemas.openxmlformats.org/drawingml/2006/main">
              <a:ext uri="{FF2B5EF4-FFF2-40B4-BE49-F238E27FC236}">
                <a16:creationId xmlns:a16="http://schemas.microsoft.com/office/drawing/2014/main" id="{F20B27ED-CCB4-433D-999F-16002D143775}"/>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SUPPLIED REFERENCE SPEC</a:t>
            </a:r>
          </a:p>
        </p:txBody>
      </p:sp>
      <p:sp>
        <p:nvSpPr>
          <p:cNvPr id="2" name="Fallback: generated policy excerpt">
            <a:extLst xmlns:a="http://schemas.openxmlformats.org/drawingml/2006/main">
              <a:ext uri="{FF2B5EF4-FFF2-40B4-BE49-F238E27FC236}">
                <a16:creationId xmlns:a16="http://schemas.microsoft.com/office/drawing/2014/main" id="{06E075A5-7FBA-4D6D-B2E8-E23620465717}"/>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generated policy excerpt</a:t>
            </a:r>
          </a:p>
        </p:txBody>
      </p:sp>
      <p:sp>
        <p:nvSpPr>
          <p:cNvPr id="3" name="kind: ValidatingPolicy&#10;name: deny-privilege-esca">
            <a:extLst xmlns:a="http://schemas.openxmlformats.org/drawingml/2006/main">
              <a:ext uri="{FF2B5EF4-FFF2-40B4-BE49-F238E27FC236}">
                <a16:creationId xmlns:a16="http://schemas.microsoft.com/office/drawing/2014/main" id="{77B83B71-7563-47D0-8692-C97A62B744A0}"/>
              </a:ext>
            </a:extLst>
          </p:cNvPr>
          <p:cNvSpPr>
            <a:spLocks xmlns:a="http://schemas.openxmlformats.org/drawingml/2006/main" noGrp="1"/>
          </p:cNvSpPr>
          <p:nvPr/>
        </p:nvSpPr>
        <p:spPr>
          <a:xfrm xmlns:a="http://schemas.openxmlformats.org/drawingml/2006/main">
            <a:off x="609600" y="2247900"/>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kind: ValidatingPolicy</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name: deny-privilege-escalation</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validationActions: [Deny]</a:t>
            </a:r>
          </a:p>
        </p:txBody>
      </p:sp>
      <p:sp>
        <p:nvSpPr>
          <p:cNvPr id="4" name="The policy rejects privileged containers.&#10;Human ">
            <a:extLst xmlns:a="http://schemas.openxmlformats.org/drawingml/2006/main">
              <a:ext uri="{FF2B5EF4-FFF2-40B4-BE49-F238E27FC236}">
                <a16:creationId xmlns:a16="http://schemas.microsoft.com/office/drawing/2014/main" id="{DA3960A8-E171-4568-83E9-C08742B66F64}"/>
              </a:ext>
            </a:extLst>
          </p:cNvPr>
          <p:cNvSpPr>
            <a:spLocks xmlns:a="http://schemas.openxmlformats.org/drawingml/2006/main" noGrp="1"/>
          </p:cNvSpPr>
          <p:nvPr/>
        </p:nvSpPr>
        <p:spPr>
          <a:xfrm xmlns:a="http://schemas.openxmlformats.org/drawingml/2006/main">
            <a:off x="609600" y="417195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0B1822"/>
                </a:solidFill>
                <a:latin typeface="Arial"/>
                <a:ea typeface="Arial"/>
                <a:cs typeface="Arial"/>
              </a:defRPr>
            </a:defPPr>
          </a:lstStyle>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The policy rejects privileged containers.</a:t>
            </a:r>
          </a:p>
          <a:p xmlns:a="http://schemas.openxmlformats.org/drawingml/2006/main">
            <a:pPr>
              <a:defRPr sz="2250" b="0">
                <a:solidFill>
                  <a:srgbClr val="0B1822"/>
                </a:solidFill>
                <a:latin typeface="Arial"/>
                <a:ea typeface="Arial"/>
                <a:cs typeface="Arial"/>
              </a:defRPr>
            </a:pPr>
            <a:r>
              <a:rPr sz="2250" b="0">
                <a:solidFill>
                  <a:srgbClr val="0B1822"/>
                </a:solidFill>
                <a:latin typeface="Arial"/>
                <a:ea typeface="Arial"/>
                <a:cs typeface="Arial"/>
              </a:rPr>
              <a:t>Human review approves the generated file before deployment.</a:t>
            </a:r>
          </a:p>
        </p:txBody>
      </p:sp>
      <p:sp>
        <p:nvSpPr>
          <p:cNvPr id="5" name="Provenance: model = none (spec supplied)">
            <a:extLst xmlns:a="http://schemas.openxmlformats.org/drawingml/2006/main">
              <a:ext uri="{FF2B5EF4-FFF2-40B4-BE49-F238E27FC236}">
                <a16:creationId xmlns:a16="http://schemas.microsoft.com/office/drawing/2014/main" id="{1C1C1D05-F9B1-44A0-B81D-45F75730FE7A}"/>
              </a:ext>
            </a:extLst>
          </p:cNvPr>
          <p:cNvSpPr>
            <a:spLocks xmlns:a="http://schemas.openxmlformats.org/drawingml/2006/main" noGrp="1"/>
          </p:cNvSpPr>
          <p:nvPr/>
        </p:nvSpPr>
        <p:spPr>
          <a:xfrm xmlns:a="http://schemas.openxmlformats.org/drawingml/2006/main">
            <a:off x="609600" y="56388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Provenance: model = none (spec supplied)</a:t>
            </a:r>
          </a:p>
        </p:txBody>
      </p:sp>
      <p:sp>
        <p:nvSpPr>
          <p:cNvPr id="6" name="ISC2 SECURITY CONGRESS 2026 / SC2632">
            <a:extLst xmlns:a="http://schemas.openxmlformats.org/drawingml/2006/main">
              <a:ext uri="{FF2B5EF4-FFF2-40B4-BE49-F238E27FC236}">
                <a16:creationId xmlns:a16="http://schemas.microsoft.com/office/drawing/2014/main" id="{28AB32B6-3EC3-4CAA-8610-2F6F85A450D3}"/>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0">
            <a:extLst xmlns:a="http://schemas.openxmlformats.org/drawingml/2006/main">
              <a:ext uri="{FF2B5EF4-FFF2-40B4-BE49-F238E27FC236}">
                <a16:creationId xmlns:a16="http://schemas.microsoft.com/office/drawing/2014/main" id="{184F4598-FB1D-4830-AE7A-81DF658493BB}"/>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30</a:t>
            </a:r>
          </a:p>
        </p:txBody>
      </p:sp>
    </p:spTree>
    <p:extLst>
      <p:ext uri="{BB962C8B-B14F-4D97-AF65-F5344CB8AC3E}">
        <p14:creationId xmlns:p14="http://schemas.microsoft.com/office/powerpoint/2010/main" val="2070335191"/>
      </p:ext>
    </p:extLst>
  </p:cSld>
</p:sld>
</file>

<file path=ppt/slides/slide31.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6" name="BACKUP / REFERENCE SCENARIO A">
            <a:extLst xmlns:a="http://schemas.openxmlformats.org/drawingml/2006/main">
              <a:ext uri="{FF2B5EF4-FFF2-40B4-BE49-F238E27FC236}">
                <a16:creationId xmlns:a16="http://schemas.microsoft.com/office/drawing/2014/main" id="{68066B61-CF9B-408E-A2DD-07DEF9E08ACC}"/>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REFERENCE SCENARIO A</a:t>
            </a:r>
          </a:p>
        </p:txBody>
      </p:sp>
      <p:sp>
        <p:nvSpPr>
          <p:cNvPr id="2" name="Fallback: fixture admission outcomes">
            <a:extLst xmlns:a="http://schemas.openxmlformats.org/drawingml/2006/main">
              <a:ext uri="{FF2B5EF4-FFF2-40B4-BE49-F238E27FC236}">
                <a16:creationId xmlns:a16="http://schemas.microsoft.com/office/drawing/2014/main" id="{C4980541-18DF-49E0-A152-20199AA867A1}"/>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Fallback: fixture admission outcomes</a:t>
            </a:r>
          </a:p>
        </p:txBody>
      </p:sp>
      <p:graphicFrame>
        <p:nvGraphicFramePr>
          <p:cNvPr id="3" name="">
            <a:extLst xmlns:a="http://schemas.openxmlformats.org/drawingml/2006/main">
              <a:ext uri="{FF2B5EF4-FFF2-40B4-BE49-F238E27FC236}">
                <a16:creationId xmlns:a16="http://schemas.microsoft.com/office/drawing/2014/main" id="{37F85B4E-DD02-4BA0-9433-DC418193D459}"/>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3714750"/>
                <a:gridCol w="7239000"/>
              </a:tblGrid>
              <a:tr h="676275">
                <a:tc>
                  <a:txBody>
                    <a:bodyPr/>
                    <a:lstStyle/>
                    <a:p>
                      <a:r>
                        <a:rPr sz="2025" b="1">
                          <a:solidFill>
                            <a:srgbClr val="F2EFE7"/>
                          </a:solidFill>
                          <a:latin typeface="Arial"/>
                          <a:ea typeface="Arial"/>
                          <a:cs typeface="Arial"/>
                        </a:rPr>
                        <a:t>Workload</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2025" b="1">
                          <a:solidFill>
                            <a:srgbClr val="F2EFE7"/>
                          </a:solidFill>
                          <a:latin typeface="Arial"/>
                          <a:ea typeface="Arial"/>
                          <a:cs typeface="Arial"/>
                        </a:rPr>
                        <a:t>Policy result</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2025" b="1">
                          <a:solidFill>
                            <a:srgbClr val="087E79"/>
                          </a:solidFill>
                          <a:latin typeface="Arial"/>
                          <a:ea typeface="Arial"/>
                          <a:cs typeface="Arial"/>
                        </a:rPr>
                        <a:t>payments-api</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Passes privilege and egress checks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Would block under the egress-profile policy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report-runner</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Registry violation at Audit, admitted</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2025" b="1">
                          <a:solidFill>
                            <a:srgbClr val="087E79"/>
                          </a:solidFill>
                          <a:latin typeface="Arial"/>
                          <a:ea typeface="Arial"/>
                          <a:cs typeface="Arial"/>
                        </a:rPr>
                        <a:t>backup-job with exception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2025" b="0">
                          <a:solidFill>
                            <a:srgbClr val="0B1822"/>
                          </a:solidFill>
                          <a:latin typeface="Arial"/>
                          <a:ea typeface="Arial"/>
                          <a:cs typeface="Arial"/>
                        </a:rPr>
                        <a:t>Egress check skips the matched exception</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ISC2 SECURITY CONGRESS 2026 / SC2632">
            <a:extLst xmlns:a="http://schemas.openxmlformats.org/drawingml/2006/main">
              <a:ext uri="{FF2B5EF4-FFF2-40B4-BE49-F238E27FC236}">
                <a16:creationId xmlns:a16="http://schemas.microsoft.com/office/drawing/2014/main" id="{6C677A01-4F16-4F92-A7C1-6BA8F25F578C}"/>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5" name="31">
            <a:extLst xmlns:a="http://schemas.openxmlformats.org/drawingml/2006/main">
              <a:ext uri="{FF2B5EF4-FFF2-40B4-BE49-F238E27FC236}">
                <a16:creationId xmlns:a16="http://schemas.microsoft.com/office/drawing/2014/main" id="{44700C08-7589-40B8-91A7-EB8E0446B91F}"/>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31</a:t>
            </a:r>
          </a:p>
        </p:txBody>
      </p:sp>
    </p:spTree>
    <p:extLst>
      <p:ext uri="{BB962C8B-B14F-4D97-AF65-F5344CB8AC3E}">
        <p14:creationId xmlns:p14="http://schemas.microsoft.com/office/powerpoint/2010/main" val="1194680442"/>
      </p:ext>
    </p:extLst>
  </p:cSld>
</p:sld>
</file>

<file path=ppt/slides/slide32.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REAL LAB / SYNTHETIC SECRETS">
            <a:extLst xmlns:a="http://schemas.openxmlformats.org/drawingml/2006/main">
              <a:ext uri="{FF2B5EF4-FFF2-40B4-BE49-F238E27FC236}">
                <a16:creationId xmlns:a16="http://schemas.microsoft.com/office/drawing/2014/main" id="{6E224512-F23E-4216-B418-958CE9D45586}"/>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REAL LAB / SYNTHETIC SECRETS</a:t>
            </a:r>
          </a:p>
        </p:txBody>
      </p:sp>
      <p:sp>
        <p:nvSpPr>
          <p:cNvPr id="2" name="Case D: copied credential response">
            <a:extLst xmlns:a="http://schemas.openxmlformats.org/drawingml/2006/main">
              <a:ext uri="{FF2B5EF4-FFF2-40B4-BE49-F238E27FC236}">
                <a16:creationId xmlns:a16="http://schemas.microsoft.com/office/drawing/2014/main" id="{089D0556-8AC2-4078-B939-E7C359088086}"/>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Case D: copied credential response</a:t>
            </a:r>
          </a:p>
        </p:txBody>
      </p:sp>
      <p:graphicFrame>
        <p:nvGraphicFramePr>
          <p:cNvPr id="3" name="">
            <a:extLst xmlns:a="http://schemas.openxmlformats.org/drawingml/2006/main">
              <a:ext uri="{FF2B5EF4-FFF2-40B4-BE49-F238E27FC236}">
                <a16:creationId xmlns:a16="http://schemas.microsoft.com/office/drawing/2014/main" id="{0C4FE16D-274A-4A0E-925A-E22BEA48C087}"/>
              </a:ext>
            </a:extLst>
          </p:cNvPr>
          <p:cNvGraphicFramePr/>
          <p:nvPr/>
        </p:nvGraphicFramePr>
        <p:xfrm>
          <a:off xmlns:a="http://schemas.openxmlformats.org/drawingml/2006/main" x="609600" y="2305050"/>
          <a:ext xmlns:a="http://schemas.openxmlformats.org/drawingml/2006/main" cx="10953750" cy="3238500"/>
        </p:xfrm>
        <a:graphic xmlns:a="http://schemas.openxmlformats.org/drawingml/2006/main">
          <a:graphicData uri="http://schemas.openxmlformats.org/drawingml/2006/table">
            <a:tbl>
              <a:tblPr/>
              <a:tblGrid>
                <a:gridCol w="2428875"/>
                <a:gridCol w="4333875"/>
                <a:gridCol w="4191000"/>
              </a:tblGrid>
              <a:tr h="647700">
                <a:tc>
                  <a:txBody>
                    <a:bodyPr/>
                    <a:lstStyle/>
                    <a:p>
                      <a:r>
                        <a:rPr sz="1875" b="1">
                          <a:solidFill>
                            <a:srgbClr val="F2EFE7"/>
                          </a:solidFill>
                          <a:latin typeface="Arial"/>
                          <a:ea typeface="Arial"/>
                          <a:cs typeface="Arial"/>
                        </a:rPr>
                        <a:t>Change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Copied Kubernetes credential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Preserved access</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28650">
                <a:tc>
                  <a:txBody>
                    <a:bodyPr/>
                    <a:lstStyle/>
                    <a:p>
                      <a:r>
                        <a:rPr sz="1875" b="1">
                          <a:solidFill>
                            <a:srgbClr val="087E79"/>
                          </a:solidFill>
                          <a:latin typeface="Arial"/>
                          <a:ea typeface="Arial"/>
                          <a:cs typeface="Arial"/>
                        </a:rPr>
                        <a:t>Broad binding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Named Secret and ConfigMap: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Pod quarantined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200</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Stand-in HTTP health available</a:t>
                      </a:r>
                    </a:p>
                  </a:txBody>
                  <a:tcPr marL="91440" marR="91440" marT="45720" marB="45720">
                    <a:lnR w="19050">
                      <a:solidFill>
                        <a:srgbClr val="F2EFE7"/>
                      </a:solidFill>
                      <a:prstDash val="solid"/>
                    </a:lnR>
                    <a:lnB w="19050">
                      <a:solidFill>
                        <a:srgbClr val="F2EFE7"/>
                      </a:solidFill>
                      <a:prstDash val="solid"/>
                    </a:lnB>
                    <a:solidFill>
                      <a:srgbClr val="F2EFE7"/>
                    </a:solidFill>
                  </a:tcPr>
                </a:tc>
              </a:tr>
              <a:tr h="628650">
                <a:tc>
                  <a:txBody>
                    <a:bodyPr/>
                    <a:lstStyle/>
                    <a:p>
                      <a:r>
                        <a:rPr sz="1875" b="1">
                          <a:solidFill>
                            <a:srgbClr val="087E79"/>
                          </a:solidFill>
                          <a:latin typeface="Arial"/>
                          <a:ea typeface="Arial"/>
                          <a:cs typeface="Arial"/>
                        </a:rPr>
                        <a:t>RBAC narrowed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Outside Secret GET/LIST: 403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Required named GETs: 200</a:t>
                      </a:r>
                    </a:p>
                  </a:txBody>
                  <a:tcPr marL="91440" marR="91440" marT="45720" marB="45720">
                    <a:lnR w="19050">
                      <a:solidFill>
                        <a:srgbClr val="F2EFE7"/>
                      </a:solidFill>
                      <a:prstDash val="solid"/>
                    </a:lnR>
                    <a:lnB w="19050">
                      <a:solidFill>
                        <a:srgbClr val="F2EFE7"/>
                      </a:solidFill>
                      <a:prstDash val="solid"/>
                    </a:lnB>
                    <a:solidFill>
                      <a:srgbClr val="F2EFE7"/>
                    </a:solidFill>
                  </a:tcPr>
                </a:tc>
              </a:tr>
              <a:tr h="704850">
                <a:tc>
                  <a:txBody>
                    <a:bodyPr/>
                    <a:lstStyle/>
                    <a:p>
                      <a:r>
                        <a:rPr sz="1875" b="1">
                          <a:solidFill>
                            <a:srgbClr val="087E79"/>
                          </a:solidFill>
                          <a:latin typeface="Arial"/>
                          <a:ea typeface="Arial"/>
                          <a:cs typeface="Arial"/>
                        </a:rPr>
                        <a:t>Old bound Pod deleted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Old credential: 401</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Replacement credential: 200</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Stand-in health only. External application-key r">
            <a:extLst xmlns:a="http://schemas.openxmlformats.org/drawingml/2006/main">
              <a:ext uri="{FF2B5EF4-FFF2-40B4-BE49-F238E27FC236}">
                <a16:creationId xmlns:a16="http://schemas.microsoft.com/office/drawing/2014/main" id="{77C42DEE-545D-4431-9773-45D7683FE043}"/>
              </a:ext>
            </a:extLst>
          </p:cNvPr>
          <p:cNvSpPr>
            <a:spLocks xmlns:a="http://schemas.openxmlformats.org/drawingml/2006/main" noGrp="1"/>
          </p:cNvSpPr>
          <p:nvPr/>
        </p:nvSpPr>
        <p:spPr>
          <a:xfrm xmlns:a="http://schemas.openxmlformats.org/drawingml/2006/main">
            <a:off x="609600" y="58483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60717A"/>
                </a:solidFill>
                <a:latin typeface="Arial"/>
                <a:ea typeface="Arial"/>
                <a:cs typeface="Arial"/>
              </a:defRPr>
            </a:defPPr>
          </a:lstStyle>
          <a:p xmlns:a="http://schemas.openxmlformats.org/drawingml/2006/main">
            <a:pPr>
              <a:defRPr sz="1650" b="0">
                <a:solidFill>
                  <a:srgbClr val="60717A"/>
                </a:solidFill>
                <a:latin typeface="Arial"/>
                <a:ea typeface="Arial"/>
                <a:cs typeface="Arial"/>
              </a:defRPr>
            </a:pPr>
            <a:r>
              <a:rPr sz="1650" b="0">
                <a:solidFill>
                  <a:srgbClr val="60717A"/>
                </a:solidFill>
                <a:latin typeface="Arial"/>
                <a:ea typeface="Arial"/>
                <a:cs typeface="Arial"/>
              </a:rPr>
              <a:t>Stand-in health only. External application-key rotation remains required.</a:t>
            </a:r>
          </a:p>
        </p:txBody>
      </p:sp>
      <p:sp>
        <p:nvSpPr>
          <p:cNvPr id="5" name="ISC2 SECURITY CONGRESS 2026 / SC2632">
            <a:extLst xmlns:a="http://schemas.openxmlformats.org/drawingml/2006/main">
              <a:ext uri="{FF2B5EF4-FFF2-40B4-BE49-F238E27FC236}">
                <a16:creationId xmlns:a16="http://schemas.microsoft.com/office/drawing/2014/main" id="{779B3DB1-E1AE-431F-8149-315F0833F901}"/>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2">
            <a:extLst xmlns:a="http://schemas.openxmlformats.org/drawingml/2006/main">
              <a:ext uri="{FF2B5EF4-FFF2-40B4-BE49-F238E27FC236}">
                <a16:creationId xmlns:a16="http://schemas.microsoft.com/office/drawing/2014/main" id="{20DDD7C9-F410-417D-8317-694DBFD036F9}"/>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32</a:t>
            </a:r>
          </a:p>
        </p:txBody>
      </p:sp>
    </p:spTree>
    <p:extLst>
      <p:ext uri="{BB962C8B-B14F-4D97-AF65-F5344CB8AC3E}">
        <p14:creationId xmlns:p14="http://schemas.microsoft.com/office/powerpoint/2010/main" val="1154405104"/>
      </p:ext>
    </p:extLst>
  </p:cSld>
</p:sld>
</file>

<file path=ppt/slides/slide33.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8" name="BACKUP / CONTROL SELECTION ONLY">
            <a:extLst xmlns:a="http://schemas.openxmlformats.org/drawingml/2006/main">
              <a:ext uri="{FF2B5EF4-FFF2-40B4-BE49-F238E27FC236}">
                <a16:creationId xmlns:a16="http://schemas.microsoft.com/office/drawing/2014/main" id="{B05813C2-F983-4B6A-AF01-93AFD5BBB8C8}"/>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CONTROL SELECTION ONLY</a:t>
            </a:r>
          </a:p>
        </p:txBody>
      </p:sp>
      <p:sp>
        <p:nvSpPr>
          <p:cNvPr id="2" name="Training and classical baselines">
            <a:extLst xmlns:a="http://schemas.openxmlformats.org/drawingml/2006/main">
              <a:ext uri="{FF2B5EF4-FFF2-40B4-BE49-F238E27FC236}">
                <a16:creationId xmlns:a16="http://schemas.microsoft.com/office/drawing/2014/main" id="{7C2E0D39-CEF3-4963-AD0B-660E5D27BA9B}"/>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Training and classical baselines</a:t>
            </a:r>
          </a:p>
        </p:txBody>
      </p:sp>
      <p:graphicFrame>
        <p:nvGraphicFramePr>
          <p:cNvPr id="3" name="">
            <a:extLst xmlns:a="http://schemas.openxmlformats.org/drawingml/2006/main">
              <a:ext uri="{FF2B5EF4-FFF2-40B4-BE49-F238E27FC236}">
                <a16:creationId xmlns:a16="http://schemas.microsoft.com/office/drawing/2014/main" id="{9AB933AD-2FC6-4A43-A751-F4309F647491}"/>
              </a:ext>
            </a:extLst>
          </p:cNvPr>
          <p:cNvGraphicFramePr/>
          <p:nvPr/>
        </p:nvGraphicFramePr>
        <p:xfrm>
          <a:off xmlns:a="http://schemas.openxmlformats.org/drawingml/2006/main" x="609600" y="2305050"/>
          <a:ext xmlns:a="http://schemas.openxmlformats.org/drawingml/2006/main" cx="10953750" cy="2857500"/>
        </p:xfrm>
        <a:graphic xmlns:a="http://schemas.openxmlformats.org/drawingml/2006/main">
          <a:graphicData uri="http://schemas.openxmlformats.org/drawingml/2006/table">
            <a:tbl>
              <a:tblPr/>
              <a:tblGrid>
                <a:gridCol w="4381500"/>
                <a:gridCol w="2000250"/>
                <a:gridCol w="2190750"/>
                <a:gridCol w="2381250"/>
              </a:tblGrid>
              <a:tr h="714375">
                <a:tc>
                  <a:txBody>
                    <a:bodyPr/>
                    <a:lstStyle/>
                    <a:p>
                      <a:r>
                        <a:rPr sz="1875" b="1">
                          <a:solidFill>
                            <a:srgbClr val="F2EFE7"/>
                          </a:solidFill>
                          <a:latin typeface="Arial"/>
                          <a:ea typeface="Arial"/>
                          <a:cs typeface="Arial"/>
                        </a:rPr>
                        <a:t>Candidate</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Correct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Selected / 27</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875" b="1">
                          <a:solidFill>
                            <a:srgbClr val="F2EFE7"/>
                          </a:solidFill>
                          <a:latin typeface="Arial"/>
                          <a:ea typeface="Arial"/>
                          <a:cs typeface="Arial"/>
                        </a:rPr>
                        <a:t>Wrong selected</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714375">
                <a:tc>
                  <a:txBody>
                    <a:bodyPr/>
                    <a:lstStyle/>
                    <a:p>
                      <a:r>
                        <a:rPr sz="1875" b="1">
                          <a:solidFill>
                            <a:srgbClr val="087E79"/>
                          </a:solidFill>
                          <a:latin typeface="Arial"/>
                          <a:ea typeface="Arial"/>
                          <a:cs typeface="Arial"/>
                        </a:rPr>
                        <a:t>TF-IDF + logistic regression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20/27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8/27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Base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0</a:t>
                      </a:r>
                    </a:p>
                  </a:txBody>
                  <a:tcPr marL="91440" marR="91440" marT="45720" marB="45720">
                    <a:lnR w="19050">
                      <a:solidFill>
                        <a:srgbClr val="F2EFE7"/>
                      </a:solidFill>
                      <a:prstDash val="solid"/>
                    </a:lnR>
                    <a:lnB w="19050">
                      <a:solidFill>
                        <a:srgbClr val="F2EFE7"/>
                      </a:solidFill>
                      <a:prstDash val="solid"/>
                    </a:lnB>
                    <a:solidFill>
                      <a:srgbClr val="F2EFE7"/>
                    </a:solidFill>
                  </a:tcPr>
                </a:tc>
              </a:tr>
              <a:tr h="714375">
                <a:tc>
                  <a:txBody>
                    <a:bodyPr/>
                    <a:lstStyle/>
                    <a:p>
                      <a:r>
                        <a:rPr sz="1875" b="1">
                          <a:solidFill>
                            <a:srgbClr val="087E79"/>
                          </a:solidFill>
                          <a:latin typeface="Arial"/>
                          <a:ea typeface="Arial"/>
                          <a:cs typeface="Arial"/>
                        </a:rPr>
                        <a:t>Trained Laya</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12/27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16/27</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875" b="0">
                          <a:solidFill>
                            <a:srgbClr val="0B1822"/>
                          </a:solidFill>
                          <a:latin typeface="Arial"/>
                          <a:ea typeface="Arial"/>
                          <a:cs typeface="Arial"/>
                        </a:rPr>
                        <a:t>5</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480 synthetic training states. Same task and run">
            <a:extLst xmlns:a="http://schemas.openxmlformats.org/drawingml/2006/main">
              <a:ext uri="{FF2B5EF4-FFF2-40B4-BE49-F238E27FC236}">
                <a16:creationId xmlns:a16="http://schemas.microsoft.com/office/drawing/2014/main" id="{B501C031-E258-42DB-B0B6-A225D7AC0D8E}"/>
              </a:ext>
            </a:extLst>
          </p:cNvPr>
          <p:cNvSpPr>
            <a:spLocks xmlns:a="http://schemas.openxmlformats.org/drawingml/2006/main" noGrp="1"/>
          </p:cNvSpPr>
          <p:nvPr/>
        </p:nvSpPr>
        <p:spPr>
          <a:xfrm xmlns:a="http://schemas.openxmlformats.org/drawingml/2006/main">
            <a:off x="609600" y="5448300"/>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0B1822"/>
                </a:solidFill>
                <a:latin typeface="Arial"/>
                <a:ea typeface="Arial"/>
                <a:cs typeface="Arial"/>
              </a:defRPr>
            </a:defPPr>
          </a:lstStyle>
          <a:p xmlns:a="http://schemas.openxmlformats.org/drawingml/2006/main">
            <a:pPr>
              <a:defRPr sz="1800" b="0">
                <a:solidFill>
                  <a:srgbClr val="0B1822"/>
                </a:solidFill>
                <a:latin typeface="Arial"/>
                <a:ea typeface="Arial"/>
                <a:cs typeface="Arial"/>
              </a:defRPr>
            </a:pPr>
            <a:r>
              <a:rPr sz="1800" b="0">
                <a:solidFill>
                  <a:srgbClr val="0B1822"/>
                </a:solidFill>
                <a:latin typeface="Arial"/>
                <a:ea typeface="Arial"/>
                <a:cs typeface="Arial"/>
              </a:rPr>
              <a:t>480 synthetic training states. Same task and runtime option order.</a:t>
            </a:r>
          </a:p>
        </p:txBody>
      </p:sp>
      <p:sp>
        <p:nvSpPr>
          <p:cNvPr id="5" name="Small author-labelled pilot. Confidence needs in">
            <a:extLst xmlns:a="http://schemas.openxmlformats.org/drawingml/2006/main">
              <a:ext uri="{FF2B5EF4-FFF2-40B4-BE49-F238E27FC236}">
                <a16:creationId xmlns:a16="http://schemas.microsoft.com/office/drawing/2014/main" id="{884CD7E8-5DAF-4D29-8BA7-E8017874B169}"/>
              </a:ext>
            </a:extLst>
          </p:cNvPr>
          <p:cNvSpPr>
            <a:spLocks xmlns:a="http://schemas.openxmlformats.org/drawingml/2006/main" noGrp="1"/>
          </p:cNvSpPr>
          <p:nvPr/>
        </p:nvSpPr>
        <p:spPr>
          <a:xfrm xmlns:a="http://schemas.openxmlformats.org/drawingml/2006/main">
            <a:off x="609600" y="5953125"/>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Small author-labelled pilot. Confidence needs independent validation.</a:t>
            </a:r>
          </a:p>
        </p:txBody>
      </p:sp>
      <p:sp>
        <p:nvSpPr>
          <p:cNvPr id="6" name="ISC2 SECURITY CONGRESS 2026 / SC2632">
            <a:extLst xmlns:a="http://schemas.openxmlformats.org/drawingml/2006/main">
              <a:ext uri="{FF2B5EF4-FFF2-40B4-BE49-F238E27FC236}">
                <a16:creationId xmlns:a16="http://schemas.microsoft.com/office/drawing/2014/main" id="{B0A9D6D1-FBBF-44E5-83C7-6BB09971C412}"/>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7" name="33">
            <a:extLst xmlns:a="http://schemas.openxmlformats.org/drawingml/2006/main">
              <a:ext uri="{FF2B5EF4-FFF2-40B4-BE49-F238E27FC236}">
                <a16:creationId xmlns:a16="http://schemas.microsoft.com/office/drawing/2014/main" id="{0F74324A-3C78-42CF-8012-C23B35361C86}"/>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33</a:t>
            </a:r>
          </a:p>
        </p:txBody>
      </p:sp>
    </p:spTree>
    <p:extLst>
      <p:ext uri="{BB962C8B-B14F-4D97-AF65-F5344CB8AC3E}">
        <p14:creationId xmlns:p14="http://schemas.microsoft.com/office/powerpoint/2010/main" val="1447225258"/>
      </p:ext>
    </p:extLst>
  </p:cSld>
</p:sld>
</file>

<file path=ppt/slides/slide34.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COST ANALYSIS">
            <a:extLst xmlns:a="http://schemas.openxmlformats.org/drawingml/2006/main">
              <a:ext uri="{FF2B5EF4-FFF2-40B4-BE49-F238E27FC236}">
                <a16:creationId xmlns:a16="http://schemas.microsoft.com/office/drawing/2014/main" id="{B24B4536-25E5-4CD9-BD68-FFFFD4C47E72}"/>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COST ANALYSIS</a:t>
            </a:r>
          </a:p>
        </p:txBody>
      </p:sp>
      <p:sp>
        <p:nvSpPr>
          <p:cNvPr id="2" name="Setup and total operating cost">
            <a:extLst xmlns:a="http://schemas.openxmlformats.org/drawingml/2006/main">
              <a:ext uri="{FF2B5EF4-FFF2-40B4-BE49-F238E27FC236}">
                <a16:creationId xmlns:a16="http://schemas.microsoft.com/office/drawing/2014/main" id="{2B06BD32-C930-44FD-9302-83D49A6B16C6}"/>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Setup and total operating cost</a:t>
            </a:r>
          </a:p>
        </p:txBody>
      </p:sp>
      <p:graphicFrame>
        <p:nvGraphicFramePr>
          <p:cNvPr id="3" name="">
            <a:extLst xmlns:a="http://schemas.openxmlformats.org/drawingml/2006/main">
              <a:ext uri="{FF2B5EF4-FFF2-40B4-BE49-F238E27FC236}">
                <a16:creationId xmlns:a16="http://schemas.microsoft.com/office/drawing/2014/main" id="{0ADAA483-D956-4639-BEEE-A94A6A53253C}"/>
              </a:ext>
            </a:extLst>
          </p:cNvPr>
          <p:cNvGraphicFramePr/>
          <p:nvPr/>
        </p:nvGraphicFramePr>
        <p:xfrm>
          <a:off xmlns:a="http://schemas.openxmlformats.org/drawingml/2006/main" x="609600" y="2305050"/>
          <a:ext xmlns:a="http://schemas.openxmlformats.org/drawingml/2006/main" cx="10953750" cy="3381375"/>
        </p:xfrm>
        <a:graphic xmlns:a="http://schemas.openxmlformats.org/drawingml/2006/main">
          <a:graphicData uri="http://schemas.openxmlformats.org/drawingml/2006/table">
            <a:tbl>
              <a:tblPr/>
              <a:tblGrid>
                <a:gridCol w="2524125"/>
                <a:gridCol w="4210050"/>
                <a:gridCol w="4219575"/>
              </a:tblGrid>
              <a:tr h="676275">
                <a:tc>
                  <a:txBody>
                    <a:bodyPr/>
                    <a:lstStyle/>
                    <a:p>
                      <a:r>
                        <a:rPr sz="1725" b="1">
                          <a:solidFill>
                            <a:srgbClr val="F2EFE7"/>
                          </a:solidFill>
                          <a:latin typeface="Arial"/>
                          <a:ea typeface="Arial"/>
                          <a:cs typeface="Arial"/>
                        </a:rPr>
                        <a:t>Cost component</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Hosted API</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725" b="1">
                          <a:solidFill>
                            <a:srgbClr val="F2EFE7"/>
                          </a:solidFill>
                          <a:latin typeface="Arial"/>
                          <a:ea typeface="Arial"/>
                          <a:cs typeface="Arial"/>
                        </a:rPr>
                        <a:t>Local model</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676275">
                <a:tc>
                  <a:txBody>
                    <a:bodyPr/>
                    <a:lstStyle/>
                    <a:p>
                      <a:r>
                        <a:rPr sz="1725" b="1">
                          <a:solidFill>
                            <a:srgbClr val="087E79"/>
                          </a:solidFill>
                          <a:latin typeface="Arial"/>
                          <a:ea typeface="Arial"/>
                          <a:cs typeface="Arial"/>
                        </a:rPr>
                        <a:t>Setup</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Keys, billing, network, workspace</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Runtime, weights, device and memory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Per-run inference</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Metered token charges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Owned compute and operations</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Shared engineering</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Compiler, tests, credentials and observability</a:t>
                      </a:r>
                    </a:p>
                  </a:txBody>
                  <a:tcPr marL="91440" marR="91440" marT="45720" marB="45720">
                    <a:lnR w="19050">
                      <a:solidFill>
                        <a:srgbClr val="F2EFE7"/>
                      </a:solidFill>
                      <a:prstDash val="solid"/>
                    </a:lnR>
                    <a:lnB w="19050">
                      <a:solidFill>
                        <a:srgbClr val="F2EFE7"/>
                      </a:solidFill>
                      <a:prstDash val="solid"/>
                    </a:lnB>
                    <a:solidFill>
                      <a:srgbClr val="F2EFE7"/>
                    </a:solidFill>
                  </a:tcPr>
                </a:tc>
              </a:tr>
              <a:tr h="676275">
                <a:tc>
                  <a:txBody>
                    <a:bodyPr/>
                    <a:lstStyle/>
                    <a:p>
                      <a:r>
                        <a:rPr sz="1725" b="1">
                          <a:solidFill>
                            <a:srgbClr val="087E79"/>
                          </a:solidFill>
                          <a:latin typeface="Arial"/>
                          <a:ea typeface="Arial"/>
                          <a:cs typeface="Arial"/>
                        </a:rPr>
                        <a:t>Human review</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725" b="0">
                          <a:solidFill>
                            <a:srgbClr val="0B1822"/>
                          </a:solidFill>
                          <a:latin typeface="Arial"/>
                          <a:ea typeface="Arial"/>
                          <a:cs typeface="Arial"/>
                        </a:rPr>
                        <a:t>Uncertainty and unmet intent</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One extra minute of review can exceed the API co">
            <a:extLst xmlns:a="http://schemas.openxmlformats.org/drawingml/2006/main">
              <a:ext uri="{FF2B5EF4-FFF2-40B4-BE49-F238E27FC236}">
                <a16:creationId xmlns:a16="http://schemas.microsoft.com/office/drawing/2014/main" id="{B3B7F021-1D4A-4202-8FDE-58E867A3C056}"/>
              </a:ext>
            </a:extLst>
          </p:cNvPr>
          <p:cNvSpPr>
            <a:spLocks xmlns:a="http://schemas.openxmlformats.org/drawingml/2006/main" noGrp="1"/>
          </p:cNvSpPr>
          <p:nvPr/>
        </p:nvSpPr>
        <p:spPr>
          <a:xfrm xmlns:a="http://schemas.openxmlformats.org/drawingml/2006/main">
            <a:off x="609600" y="5810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87E79"/>
                </a:solidFill>
                <a:latin typeface="Arial"/>
                <a:ea typeface="Arial"/>
                <a:cs typeface="Arial"/>
              </a:defRPr>
            </a:defPPr>
          </a:lstStyle>
          <a:p xmlns:a="http://schemas.openxmlformats.org/drawingml/2006/main">
            <a:pPr>
              <a:defRPr sz="1875" b="1">
                <a:solidFill>
                  <a:srgbClr val="087E79"/>
                </a:solidFill>
                <a:latin typeface="Arial"/>
                <a:ea typeface="Arial"/>
                <a:cs typeface="Arial"/>
              </a:defRPr>
            </a:pPr>
            <a:r>
              <a:rPr sz="1875" b="1">
                <a:solidFill>
                  <a:srgbClr val="087E79"/>
                </a:solidFill>
                <a:latin typeface="Arial"/>
                <a:ea typeface="Arial"/>
                <a:cs typeface="Arial"/>
              </a:rPr>
              <a:t>One extra minute of review can exceed the API cost savings.</a:t>
            </a:r>
          </a:p>
        </p:txBody>
      </p:sp>
      <p:sp>
        <p:nvSpPr>
          <p:cNvPr id="5" name="ISC2 SECURITY CONGRESS 2026 / SC2632">
            <a:extLst xmlns:a="http://schemas.openxmlformats.org/drawingml/2006/main">
              <a:ext uri="{FF2B5EF4-FFF2-40B4-BE49-F238E27FC236}">
                <a16:creationId xmlns:a16="http://schemas.microsoft.com/office/drawing/2014/main" id="{CB9F5D54-7CE8-43AC-91DC-7F8FE4EA7D2B}"/>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4">
            <a:extLst xmlns:a="http://schemas.openxmlformats.org/drawingml/2006/main">
              <a:ext uri="{FF2B5EF4-FFF2-40B4-BE49-F238E27FC236}">
                <a16:creationId xmlns:a16="http://schemas.microsoft.com/office/drawing/2014/main" id="{967C7200-C5C9-4B15-8D9B-54B171549B84}"/>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34</a:t>
            </a:r>
          </a:p>
        </p:txBody>
      </p:sp>
    </p:spTree>
    <p:extLst>
      <p:ext uri="{BB962C8B-B14F-4D97-AF65-F5344CB8AC3E}">
        <p14:creationId xmlns:p14="http://schemas.microsoft.com/office/powerpoint/2010/main" val="128857130"/>
      </p:ext>
    </p:extLst>
  </p:cSld>
</p:sld>
</file>

<file path=ppt/slides/slide35.xml><?xml version="1.0" encoding="utf-8"?>
<p:sld xmlns:p="http://schemas.openxmlformats.org/presentationml/2006/main" show="0">
  <p:cSld>
    <p:bg>
      <p:bgPr>
        <a:solidFill xmlns:a="http://schemas.openxmlformats.org/drawingml/2006/main">
          <a:srgbClr val="F2EFE7"/>
        </a:solidFill>
      </p:bgPr>
    </p:bg>
    <p:spTree>
      <p:nvGrpSpPr>
        <p:cNvPr id="1" name=""/>
        <p:cNvGrpSpPr/>
        <p:nvPr/>
      </p:nvGrpSpPr>
      <p:grpSpPr>
        <a:xfrm xmlns:a="http://schemas.openxmlformats.org/drawingml/2006/main"/>
      </p:grpSpPr>
      <p:sp>
        <p:nvSpPr>
          <p:cNvPr id="7" name="BACKUP / EXACT PILOT AND WORKFLOW METRICS">
            <a:extLst xmlns:a="http://schemas.openxmlformats.org/drawingml/2006/main">
              <a:ext uri="{FF2B5EF4-FFF2-40B4-BE49-F238E27FC236}">
                <a16:creationId xmlns:a16="http://schemas.microsoft.com/office/drawing/2014/main" id="{E138A2B1-5001-409F-9F1A-7146D50A6B99}"/>
              </a:ext>
            </a:extLst>
          </p:cNvPr>
          <p:cNvSpPr>
            <a:spLocks xmlns:a="http://schemas.openxmlformats.org/drawingml/2006/main" noGrp="1"/>
          </p:cNvSpPr>
          <p:nvPr/>
        </p:nvSpPr>
        <p:spPr>
          <a:xfrm xmlns:a="http://schemas.openxmlformats.org/drawingml/2006/main">
            <a:off x="609600" y="4476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87E79"/>
                </a:solidFill>
                <a:latin typeface="Arial"/>
                <a:ea typeface="Arial"/>
                <a:cs typeface="Arial"/>
              </a:defRPr>
            </a:defPPr>
          </a:lstStyle>
          <a:p xmlns:a="http://schemas.openxmlformats.org/drawingml/2006/main">
            <a:pPr>
              <a:defRPr sz="1200" b="1">
                <a:solidFill>
                  <a:srgbClr val="087E79"/>
                </a:solidFill>
                <a:latin typeface="Arial"/>
                <a:ea typeface="Arial"/>
                <a:cs typeface="Arial"/>
              </a:defRPr>
            </a:pPr>
            <a:r>
              <a:rPr sz="1200" b="1">
                <a:solidFill>
                  <a:srgbClr val="087E79"/>
                </a:solidFill>
                <a:latin typeface="Arial"/>
                <a:ea typeface="Arial"/>
                <a:cs typeface="Arial"/>
              </a:rPr>
              <a:t>BACKUP / EXACT PILOT AND WORKFLOW METRICS</a:t>
            </a:r>
          </a:p>
        </p:txBody>
      </p:sp>
      <p:sp>
        <p:nvSpPr>
          <p:cNvPr id="2" name="Full comparison: quality and confidence">
            <a:extLst xmlns:a="http://schemas.openxmlformats.org/drawingml/2006/main">
              <a:ext uri="{FF2B5EF4-FFF2-40B4-BE49-F238E27FC236}">
                <a16:creationId xmlns:a16="http://schemas.microsoft.com/office/drawing/2014/main" id="{9A712EFB-F826-4D2E-8292-76C9F2B4532C}"/>
              </a:ext>
            </a:extLst>
          </p:cNvPr>
          <p:cNvSpPr>
            <a:spLocks xmlns:a="http://schemas.openxmlformats.org/drawingml/2006/main" noGrp="1"/>
          </p:cNvSpPr>
          <p:nvPr/>
        </p:nvSpPr>
        <p:spPr>
          <a:xfrm xmlns:a="http://schemas.openxmlformats.org/drawingml/2006/main">
            <a:off x="609600" y="1057275"/>
            <a:ext cx="109537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B1822"/>
                </a:solidFill>
                <a:latin typeface="Arial Black"/>
                <a:ea typeface="Arial Black"/>
                <a:cs typeface="Arial Black"/>
              </a:defRPr>
            </a:defPPr>
          </a:lstStyle>
          <a:p xmlns:a="http://schemas.openxmlformats.org/drawingml/2006/main">
            <a:pPr>
              <a:defRPr sz="3600" b="1">
                <a:solidFill>
                  <a:srgbClr val="0B1822"/>
                </a:solidFill>
                <a:latin typeface="Arial Black"/>
                <a:ea typeface="Arial Black"/>
                <a:cs typeface="Arial Black"/>
              </a:defRPr>
            </a:pPr>
            <a:r>
              <a:rPr sz="3600" b="1">
                <a:solidFill>
                  <a:srgbClr val="0B1822"/>
                </a:solidFill>
                <a:latin typeface="Arial Black"/>
                <a:ea typeface="Arial Black"/>
                <a:cs typeface="Arial Black"/>
              </a:rPr>
              <a:t>Full comparison: quality and confidence</a:t>
            </a:r>
          </a:p>
        </p:txBody>
      </p:sp>
      <p:graphicFrame>
        <p:nvGraphicFramePr>
          <p:cNvPr id="3" name="">
            <a:extLst xmlns:a="http://schemas.openxmlformats.org/drawingml/2006/main">
              <a:ext uri="{FF2B5EF4-FFF2-40B4-BE49-F238E27FC236}">
                <a16:creationId xmlns:a16="http://schemas.microsoft.com/office/drawing/2014/main" id="{F39ECC8C-D719-4134-BD99-FF5F8B30B40A}"/>
              </a:ext>
            </a:extLst>
          </p:cNvPr>
          <p:cNvGraphicFramePr/>
          <p:nvPr/>
        </p:nvGraphicFramePr>
        <p:xfrm>
          <a:off xmlns:a="http://schemas.openxmlformats.org/drawingml/2006/main" x="609600" y="2305050"/>
          <a:ext xmlns:a="http://schemas.openxmlformats.org/drawingml/2006/main" cx="10953750" cy="3333750"/>
        </p:xfrm>
        <a:graphic xmlns:a="http://schemas.openxmlformats.org/drawingml/2006/main">
          <a:graphicData uri="http://schemas.openxmlformats.org/drawingml/2006/table">
            <a:tbl>
              <a:tblPr/>
              <a:tblGrid>
                <a:gridCol w="4238625"/>
                <a:gridCol w="2238375"/>
                <a:gridCol w="2238375"/>
                <a:gridCol w="2238375"/>
              </a:tblGrid>
              <a:tr h="476250">
                <a:tc>
                  <a:txBody>
                    <a:bodyPr/>
                    <a:lstStyle/>
                    <a:p>
                      <a:r>
                        <a:rPr sz="1650" b="1">
                          <a:solidFill>
                            <a:srgbClr val="F2EFE7"/>
                          </a:solidFill>
                          <a:latin typeface="Arial"/>
                          <a:ea typeface="Arial"/>
                          <a:cs typeface="Arial"/>
                        </a:rPr>
                        <a:t>Metric</a:t>
                      </a:r>
                    </a:p>
                  </a:txBody>
                  <a:tcPr marL="91440" marR="91440" marT="45720" marB="45720">
                    <a:lnL w="19050">
                      <a:solidFill>
                        <a:srgbClr val="F2EFE7"/>
                      </a:solidFill>
                      <a:prstDash val="solid"/>
                    </a:lnL>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Jev 1.13</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Opus 5.5</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c>
                  <a:txBody>
                    <a:bodyPr/>
                    <a:lstStyle/>
                    <a:p>
                      <a:r>
                        <a:rPr sz="1650" b="1">
                          <a:solidFill>
                            <a:srgbClr val="F2EFE7"/>
                          </a:solidFill>
                          <a:latin typeface="Arial"/>
                          <a:ea typeface="Arial"/>
                          <a:cs typeface="Arial"/>
                        </a:rPr>
                        <a:t>Laya</a:t>
                      </a:r>
                    </a:p>
                  </a:txBody>
                  <a:tcPr marL="91440" marR="91440" marT="45720" marB="45720">
                    <a:lnR w="19050">
                      <a:solidFill>
                        <a:srgbClr val="F2EFE7"/>
                      </a:solidFill>
                      <a:prstDash val="solid"/>
                    </a:lnR>
                    <a:lnT w="19050">
                      <a:solidFill>
                        <a:srgbClr val="F2EFE7"/>
                      </a:solidFill>
                      <a:prstDash val="solid"/>
                    </a:lnT>
                    <a:lnB w="19050">
                      <a:solidFill>
                        <a:srgbClr val="F2EFE7"/>
                      </a:solidFill>
                      <a:prstDash val="solid"/>
                    </a:lnB>
                    <a:solidFill>
                      <a:srgbClr val="09131D"/>
                    </a:solidFill>
                  </a:tcPr>
                </a:tc>
              </a:tr>
              <a:tr h="476250">
                <a:tc>
                  <a:txBody>
                    <a:bodyPr/>
                    <a:lstStyle/>
                    <a:p>
                      <a:r>
                        <a:rPr sz="1650" b="1">
                          <a:solidFill>
                            <a:srgbClr val="087E79"/>
                          </a:solidFill>
                          <a:latin typeface="Arial"/>
                          <a:ea typeface="Arial"/>
                          <a:cs typeface="Arial"/>
                        </a:rPr>
                        <a:t>Correct choices</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30/33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32/33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16/33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Decision latency</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2.37 s HTTP</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0.09 s in-process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Selected at score 0.6</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26/33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33/33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Wrong among selected</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0/26</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1/33</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0/1</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Scenario A time/run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1.82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24.18 s</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0.41 s</a:t>
                      </a:r>
                    </a:p>
                  </a:txBody>
                  <a:tcPr marL="91440" marR="91440" marT="45720" marB="45720">
                    <a:lnR w="19050">
                      <a:solidFill>
                        <a:srgbClr val="F2EFE7"/>
                      </a:solidFill>
                      <a:prstDash val="solid"/>
                    </a:lnR>
                    <a:lnB w="19050">
                      <a:solidFill>
                        <a:srgbClr val="F2EFE7"/>
                      </a:solidFill>
                      <a:prstDash val="solid"/>
                    </a:lnB>
                    <a:solidFill>
                      <a:srgbClr val="F2EFE7"/>
                    </a:solidFill>
                  </a:tcPr>
                </a:tc>
              </a:tr>
              <a:tr h="476250">
                <a:tc>
                  <a:txBody>
                    <a:bodyPr/>
                    <a:lstStyle/>
                    <a:p>
                      <a:r>
                        <a:rPr sz="1650" b="1">
                          <a:solidFill>
                            <a:srgbClr val="087E79"/>
                          </a:solidFill>
                          <a:latin typeface="Arial"/>
                          <a:ea typeface="Arial"/>
                          <a:cs typeface="Arial"/>
                        </a:rPr>
                        <a:t>API cost/run</a:t>
                      </a:r>
                    </a:p>
                  </a:txBody>
                  <a:tcPr marL="91440" marR="91440" marT="45720" marB="45720">
                    <a:lnL w="19050">
                      <a:solidFill>
                        <a:srgbClr val="F2EFE7"/>
                      </a:solidFill>
                      <a:prstDash val="solid"/>
                    </a:lnL>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$0.00019</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$0.03795</a:t>
                      </a:r>
                    </a:p>
                  </a:txBody>
                  <a:tcPr marL="91440" marR="91440" marT="45720" marB="45720">
                    <a:lnR w="19050">
                      <a:solidFill>
                        <a:srgbClr val="F2EFE7"/>
                      </a:solidFill>
                      <a:prstDash val="solid"/>
                    </a:lnR>
                    <a:lnB w="19050">
                      <a:solidFill>
                        <a:srgbClr val="F2EFE7"/>
                      </a:solidFill>
                      <a:prstDash val="solid"/>
                    </a:lnB>
                    <a:solidFill>
                      <a:srgbClr val="F2EFE7"/>
                    </a:solidFill>
                  </a:tcPr>
                </a:tc>
                <a:tc>
                  <a:txBody>
                    <a:bodyPr/>
                    <a:lstStyle/>
                    <a:p>
                      <a:r>
                        <a:rPr sz="1650" b="0">
                          <a:solidFill>
                            <a:srgbClr val="0B1822"/>
                          </a:solidFill>
                          <a:latin typeface="Arial"/>
                          <a:ea typeface="Arial"/>
                          <a:cs typeface="Arial"/>
                        </a:rPr>
                        <a:t>$0 API; compute unpriced</a:t>
                      </a:r>
                    </a:p>
                  </a:txBody>
                  <a:tcPr marL="91440" marR="91440" marT="45720" marB="45720">
                    <a:lnR w="19050">
                      <a:solidFill>
                        <a:srgbClr val="F2EFE7"/>
                      </a:solidFill>
                      <a:prstDash val="solid"/>
                    </a:lnR>
                    <a:lnB w="19050">
                      <a:solidFill>
                        <a:srgbClr val="F2EFE7"/>
                      </a:solidFill>
                      <a:prstDash val="solid"/>
                    </a:lnB>
                    <a:solidFill>
                      <a:srgbClr val="F2EFE7"/>
                    </a:solidFill>
                  </a:tcPr>
                </a:tc>
              </a:tr>
            </a:tbl>
          </a:graphicData>
        </a:graphic>
      </p:graphicFrame>
      <p:sp>
        <p:nvSpPr>
          <p:cNvPr id="4" name="33 scored labels. Small pilot; confidence defini">
            <a:extLst xmlns:a="http://schemas.openxmlformats.org/drawingml/2006/main">
              <a:ext uri="{FF2B5EF4-FFF2-40B4-BE49-F238E27FC236}">
                <a16:creationId xmlns:a16="http://schemas.microsoft.com/office/drawing/2014/main" id="{E3528A16-84C7-4BAE-B289-7865883154D5}"/>
              </a:ext>
            </a:extLst>
          </p:cNvPr>
          <p:cNvSpPr>
            <a:spLocks xmlns:a="http://schemas.openxmlformats.org/drawingml/2006/main" noGrp="1"/>
          </p:cNvSpPr>
          <p:nvPr/>
        </p:nvSpPr>
        <p:spPr>
          <a:xfrm xmlns:a="http://schemas.openxmlformats.org/drawingml/2006/main">
            <a:off x="609600" y="585787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60717A"/>
                </a:solidFill>
                <a:latin typeface="Arial"/>
                <a:ea typeface="Arial"/>
                <a:cs typeface="Arial"/>
              </a:defRPr>
            </a:defPPr>
          </a:lstStyle>
          <a:p xmlns:a="http://schemas.openxmlformats.org/drawingml/2006/main">
            <a:pPr>
              <a:defRPr sz="1575" b="0">
                <a:solidFill>
                  <a:srgbClr val="60717A"/>
                </a:solidFill>
                <a:latin typeface="Arial"/>
                <a:ea typeface="Arial"/>
                <a:cs typeface="Arial"/>
              </a:defRPr>
            </a:pPr>
            <a:r>
              <a:rPr sz="1575" b="0">
                <a:solidFill>
                  <a:srgbClr val="60717A"/>
                </a:solidFill>
                <a:latin typeface="Arial"/>
                <a:ea typeface="Arial"/>
                <a:cs typeface="Arial"/>
              </a:rPr>
              <a:t>33 scored labels. Small pilot; confidence definitions differ. Laya generated no guardrail.</a:t>
            </a:r>
          </a:p>
        </p:txBody>
      </p:sp>
      <p:sp>
        <p:nvSpPr>
          <p:cNvPr id="5" name="ISC2 SECURITY CONGRESS 2026 / SC2632">
            <a:extLst xmlns:a="http://schemas.openxmlformats.org/drawingml/2006/main">
              <a:ext uri="{FF2B5EF4-FFF2-40B4-BE49-F238E27FC236}">
                <a16:creationId xmlns:a16="http://schemas.microsoft.com/office/drawing/2014/main" id="{1D7B303F-B321-41F7-9228-5957D0FC7C16}"/>
              </a:ext>
            </a:extLst>
          </p:cNvPr>
          <p:cNvSpPr>
            <a:spLocks xmlns:a="http://schemas.openxmlformats.org/drawingml/2006/main" noGrp="1"/>
          </p:cNvSpPr>
          <p:nvPr/>
        </p:nvSpPr>
        <p:spPr>
          <a:xfrm xmlns:a="http://schemas.openxmlformats.org/drawingml/2006/main">
            <a:off x="609600" y="6419850"/>
            <a:ext cx="8953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66747C"/>
                </a:solidFill>
                <a:latin typeface="Arial"/>
                <a:ea typeface="Arial"/>
                <a:cs typeface="Arial"/>
              </a:defRPr>
            </a:defPPr>
          </a:lstStyle>
          <a:p xmlns:a="http://schemas.openxmlformats.org/drawingml/2006/main">
            <a:pPr>
              <a:defRPr sz="900" b="0">
                <a:solidFill>
                  <a:srgbClr val="66747C"/>
                </a:solidFill>
                <a:latin typeface="Arial"/>
                <a:ea typeface="Arial"/>
                <a:cs typeface="Arial"/>
              </a:defRPr>
            </a:pPr>
            <a:r>
              <a:rPr sz="900" b="0">
                <a:solidFill>
                  <a:srgbClr val="66747C"/>
                </a:solidFill>
                <a:latin typeface="Arial"/>
                <a:ea typeface="Arial"/>
                <a:cs typeface="Arial"/>
              </a:rPr>
              <a:t>ISC2 SECURITY CONGRESS 2026 / SC2632</a:t>
            </a:r>
          </a:p>
        </p:txBody>
      </p:sp>
      <p:sp>
        <p:nvSpPr>
          <p:cNvPr id="6" name="35">
            <a:extLst xmlns:a="http://schemas.openxmlformats.org/drawingml/2006/main">
              <a:ext uri="{FF2B5EF4-FFF2-40B4-BE49-F238E27FC236}">
                <a16:creationId xmlns:a16="http://schemas.microsoft.com/office/drawing/2014/main" id="{66115F1F-A34E-4947-9E8F-A06C78321BA7}"/>
              </a:ext>
            </a:extLst>
          </p:cNvPr>
          <p:cNvSpPr>
            <a:spLocks xmlns:a="http://schemas.openxmlformats.org/drawingml/2006/main" noGrp="1"/>
          </p:cNvSpPr>
          <p:nvPr/>
        </p:nvSpPr>
        <p:spPr>
          <a:xfrm xmlns:a="http://schemas.openxmlformats.org/drawingml/2006/main">
            <a:off x="11106150" y="6391275"/>
            <a:ext cx="49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66747C"/>
                </a:solidFill>
                <a:latin typeface="Arial"/>
                <a:ea typeface="Arial"/>
                <a:cs typeface="Arial"/>
              </a:defRPr>
            </a:defPPr>
          </a:lstStyle>
          <a:p xmlns:a="http://schemas.openxmlformats.org/drawingml/2006/main">
            <a:pPr>
              <a:defRPr sz="1200" b="1">
                <a:solidFill>
                  <a:srgbClr val="66747C"/>
                </a:solidFill>
                <a:latin typeface="Arial"/>
                <a:ea typeface="Arial"/>
                <a:cs typeface="Arial"/>
              </a:defRPr>
            </a:pPr>
            <a:r>
              <a:rPr sz="1200" b="1">
                <a:solidFill>
                  <a:srgbClr val="66747C"/>
                </a:solidFill>
                <a:latin typeface="Arial"/>
                <a:ea typeface="Arial"/>
                <a:cs typeface="Arial"/>
              </a:rPr>
              <a:t>35</a:t>
            </a:r>
          </a:p>
        </p:txBody>
      </p:sp>
    </p:spTree>
    <p:extLst>
      <p:ext uri="{BB962C8B-B14F-4D97-AF65-F5344CB8AC3E}">
        <p14:creationId xmlns:p14="http://schemas.microsoft.com/office/powerpoint/2010/main" val="20012152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2026-10-14T14:31:46.4930000Z</dcterms:created>
  <dcterms:modified xsi:type="dcterms:W3CDTF">2026-10-14T14:31:46.4930000Z</dcterms:modified>
</coreProperties>
</file>