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4e81255040d4865" /><Relationship Type="http://schemas.openxmlformats.org/officeDocument/2006/relationships/extended-properties" Target="/docProps/app.xml" Id="R80396f2fdcff4925" /><Relationship Type="http://schemas.openxmlformats.org/officeDocument/2006/relationships/officeDocument" Target="/ppt/presentation.xml" Id="R8840e09446cb4498" /></Relationships>
</file>

<file path=ppt/presentation.xml><?xml version="1.0" encoding="utf-8"?>
<p:presentation xmlns:p="http://schemas.openxmlformats.org/presentationml/2006/main">
  <p:sldMasterIdLst>
    <p:sldMasterId xmlns:r="http://schemas.openxmlformats.org/officeDocument/2006/relationships" id="2147483648" r:id="Rd9740d87c85b495e"/>
  </p:sldMasterIdLst>
  <p:notesMasterIdLst>
    <p:notesMasterId xmlns:r="http://schemas.openxmlformats.org/officeDocument/2006/relationships" r:id="R74ed69b91d5e4633"/>
  </p:notesMasterIdLst>
  <p:sldIdLst>
    <p:sldId xmlns:r="http://schemas.openxmlformats.org/officeDocument/2006/relationships" id="256" r:id="R75a6cf1e3d6c440c"/>
    <p:sldId xmlns:r="http://schemas.openxmlformats.org/officeDocument/2006/relationships" id="257" r:id="Rc7c04de39ece4f23"/>
    <p:sldId xmlns:r="http://schemas.openxmlformats.org/officeDocument/2006/relationships" id="258" r:id="R82b7c2996a8245c9"/>
    <p:sldId xmlns:r="http://schemas.openxmlformats.org/officeDocument/2006/relationships" id="259" r:id="R7987a884859f4e3a"/>
    <p:sldId xmlns:r="http://schemas.openxmlformats.org/officeDocument/2006/relationships" id="260" r:id="R1494cd4452fc41d0"/>
    <p:sldId xmlns:r="http://schemas.openxmlformats.org/officeDocument/2006/relationships" id="261" r:id="R6e91427dd9e745a3"/>
    <p:sldId xmlns:r="http://schemas.openxmlformats.org/officeDocument/2006/relationships" id="262" r:id="R0b47d201a88b4bb0"/>
    <p:sldId xmlns:r="http://schemas.openxmlformats.org/officeDocument/2006/relationships" id="263" r:id="R38dd81d124df4de6"/>
    <p:sldId xmlns:r="http://schemas.openxmlformats.org/officeDocument/2006/relationships" id="264" r:id="R0681e50760644040"/>
    <p:sldId xmlns:r="http://schemas.openxmlformats.org/officeDocument/2006/relationships" id="265" r:id="Rdd0298854d0f46b6"/>
    <p:sldId xmlns:r="http://schemas.openxmlformats.org/officeDocument/2006/relationships" id="266" r:id="Rc770378a5d414250"/>
    <p:sldId xmlns:r="http://schemas.openxmlformats.org/officeDocument/2006/relationships" id="267" r:id="R89dafad84b4a462d"/>
    <p:sldId xmlns:r="http://schemas.openxmlformats.org/officeDocument/2006/relationships" id="268" r:id="R3970eedfe6e648c1"/>
    <p:sldId xmlns:r="http://schemas.openxmlformats.org/officeDocument/2006/relationships" id="269" r:id="Rb3f76f51ecc64d6f"/>
    <p:sldId xmlns:r="http://schemas.openxmlformats.org/officeDocument/2006/relationships" id="270" r:id="R46a0666dd6474b61"/>
    <p:sldId xmlns:r="http://schemas.openxmlformats.org/officeDocument/2006/relationships" id="271" r:id="R1dc5547dc2f04592"/>
    <p:sldId xmlns:r="http://schemas.openxmlformats.org/officeDocument/2006/relationships" id="272" r:id="Re119e74254d94938"/>
    <p:sldId xmlns:r="http://schemas.openxmlformats.org/officeDocument/2006/relationships" id="273" r:id="R36c486b1c2904446"/>
    <p:sldId xmlns:r="http://schemas.openxmlformats.org/officeDocument/2006/relationships" id="274" r:id="R0e6c203928884e8c"/>
    <p:sldId xmlns:r="http://schemas.openxmlformats.org/officeDocument/2006/relationships" id="275" r:id="Re6ce17f637e44816"/>
    <p:sldId xmlns:r="http://schemas.openxmlformats.org/officeDocument/2006/relationships" id="276" r:id="R3099feb375cb47b8"/>
    <p:sldId xmlns:r="http://schemas.openxmlformats.org/officeDocument/2006/relationships" id="277" r:id="R0d117ebfae144f86"/>
    <p:sldId xmlns:r="http://schemas.openxmlformats.org/officeDocument/2006/relationships" id="278" r:id="R70186f7c5bd3452e"/>
    <p:sldId xmlns:r="http://schemas.openxmlformats.org/officeDocument/2006/relationships" id="279" r:id="R0c0320a925fc4284"/>
    <p:sldId xmlns:r="http://schemas.openxmlformats.org/officeDocument/2006/relationships" id="280" r:id="R66de87577ade4b0f"/>
    <p:sldId xmlns:r="http://schemas.openxmlformats.org/officeDocument/2006/relationships" id="281" r:id="R0ca07f0ae4a54864"/>
    <p:sldId xmlns:r="http://schemas.openxmlformats.org/officeDocument/2006/relationships" id="282" r:id="Rbb89daf19b4e4393"/>
    <p:sldId xmlns:r="http://schemas.openxmlformats.org/officeDocument/2006/relationships" id="283" r:id="R52069459836645db"/>
    <p:sldId xmlns:r="http://schemas.openxmlformats.org/officeDocument/2006/relationships" id="284" r:id="R34be09d9e1b14816"/>
    <p:sldId xmlns:r="http://schemas.openxmlformats.org/officeDocument/2006/relationships" id="285" r:id="R9e599f725250424c"/>
    <p:sldId xmlns:r="http://schemas.openxmlformats.org/officeDocument/2006/relationships" id="286" r:id="R609faafaaca4431d"/>
    <p:sldId xmlns:r="http://schemas.openxmlformats.org/officeDocument/2006/relationships" id="287" r:id="R9301f7b57a264391"/>
    <p:sldId xmlns:r="http://schemas.openxmlformats.org/officeDocument/2006/relationships" id="288" r:id="R800e9c736ed341ec"/>
    <p:sldId xmlns:r="http://schemas.openxmlformats.org/officeDocument/2006/relationships" id="289" r:id="R47ae64af70774664"/>
    <p:sldId xmlns:r="http://schemas.openxmlformats.org/officeDocument/2006/relationships" id="290" r:id="R7c78e2cd2b71420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dd75625a90d4990" /><Relationship Type="http://schemas.openxmlformats.org/officeDocument/2006/relationships/slideMaster" Target="/ppt/slideMasters/slideMaster1.xml" Id="Rd9740d87c85b495e" /><Relationship Type="http://schemas.openxmlformats.org/officeDocument/2006/relationships/notesMaster" Target="/ppt/notesMasters/notesMaster1.xml" Id="R74ed69b91d5e4633" /><Relationship Type="http://schemas.openxmlformats.org/officeDocument/2006/relationships/presProps" Target="/ppt/presProps.xml" Id="R91985b997a9844cb" /><Relationship Type="http://schemas.openxmlformats.org/officeDocument/2006/relationships/tableStyles" Target="/ppt/tableStyles.xml" Id="R424fc9698601492a" /><Relationship Type="http://schemas.openxmlformats.org/officeDocument/2006/relationships/slide" Target="/ppt/slides/slide1.xml" Id="R75a6cf1e3d6c440c" /><Relationship Type="http://schemas.openxmlformats.org/officeDocument/2006/relationships/slide" Target="/ppt/slides/slide2.xml" Id="Rc7c04de39ece4f23" /><Relationship Type="http://schemas.openxmlformats.org/officeDocument/2006/relationships/slide" Target="/ppt/slides/slide3.xml" Id="R82b7c2996a8245c9" /><Relationship Type="http://schemas.openxmlformats.org/officeDocument/2006/relationships/slide" Target="/ppt/slides/slide4.xml" Id="R7987a884859f4e3a" /><Relationship Type="http://schemas.openxmlformats.org/officeDocument/2006/relationships/slide" Target="/ppt/slides/slide5.xml" Id="R1494cd4452fc41d0" /><Relationship Type="http://schemas.openxmlformats.org/officeDocument/2006/relationships/slide" Target="/ppt/slides/slide6.xml" Id="R6e91427dd9e745a3" /><Relationship Type="http://schemas.openxmlformats.org/officeDocument/2006/relationships/slide" Target="/ppt/slides/slide7.xml" Id="R0b47d201a88b4bb0" /><Relationship Type="http://schemas.openxmlformats.org/officeDocument/2006/relationships/slide" Target="/ppt/slides/slide8.xml" Id="R38dd81d124df4de6" /><Relationship Type="http://schemas.openxmlformats.org/officeDocument/2006/relationships/slide" Target="/ppt/slides/slide9.xml" Id="R0681e50760644040" /><Relationship Type="http://schemas.openxmlformats.org/officeDocument/2006/relationships/slide" Target="/ppt/slides/slide10.xml" Id="Rdd0298854d0f46b6" /><Relationship Type="http://schemas.openxmlformats.org/officeDocument/2006/relationships/slide" Target="/ppt/slides/slide11.xml" Id="Rc770378a5d414250" /><Relationship Type="http://schemas.openxmlformats.org/officeDocument/2006/relationships/slide" Target="/ppt/slides/slide12.xml" Id="R89dafad84b4a462d" /><Relationship Type="http://schemas.openxmlformats.org/officeDocument/2006/relationships/slide" Target="/ppt/slides/slide13.xml" Id="R3970eedfe6e648c1" /><Relationship Type="http://schemas.openxmlformats.org/officeDocument/2006/relationships/slide" Target="/ppt/slides/slide14.xml" Id="Rb3f76f51ecc64d6f" /><Relationship Type="http://schemas.openxmlformats.org/officeDocument/2006/relationships/slide" Target="/ppt/slides/slide15.xml" Id="R46a0666dd6474b61" /><Relationship Type="http://schemas.openxmlformats.org/officeDocument/2006/relationships/slide" Target="/ppt/slides/slide16.xml" Id="R1dc5547dc2f04592" /><Relationship Type="http://schemas.openxmlformats.org/officeDocument/2006/relationships/slide" Target="/ppt/slides/slide17.xml" Id="Re119e74254d94938" /><Relationship Type="http://schemas.openxmlformats.org/officeDocument/2006/relationships/slide" Target="/ppt/slides/slide18.xml" Id="R36c486b1c2904446" /><Relationship Type="http://schemas.openxmlformats.org/officeDocument/2006/relationships/slide" Target="/ppt/slides/slide19.xml" Id="R0e6c203928884e8c" /><Relationship Type="http://schemas.openxmlformats.org/officeDocument/2006/relationships/slide" Target="/ppt/slides/slide20.xml" Id="Re6ce17f637e44816" /><Relationship Type="http://schemas.openxmlformats.org/officeDocument/2006/relationships/slide" Target="/ppt/slides/slide21.xml" Id="R3099feb375cb47b8" /><Relationship Type="http://schemas.openxmlformats.org/officeDocument/2006/relationships/slide" Target="/ppt/slides/slide22.xml" Id="R0d117ebfae144f86" /><Relationship Type="http://schemas.openxmlformats.org/officeDocument/2006/relationships/slide" Target="/ppt/slides/slide23.xml" Id="R70186f7c5bd3452e" /><Relationship Type="http://schemas.openxmlformats.org/officeDocument/2006/relationships/slide" Target="/ppt/slides/slide24.xml" Id="R0c0320a925fc4284" /><Relationship Type="http://schemas.openxmlformats.org/officeDocument/2006/relationships/slide" Target="/ppt/slides/slide25.xml" Id="R66de87577ade4b0f" /><Relationship Type="http://schemas.openxmlformats.org/officeDocument/2006/relationships/slide" Target="/ppt/slides/slide26.xml" Id="R0ca07f0ae4a54864" /><Relationship Type="http://schemas.openxmlformats.org/officeDocument/2006/relationships/slide" Target="/ppt/slides/slide27.xml" Id="Rbb89daf19b4e4393" /><Relationship Type="http://schemas.openxmlformats.org/officeDocument/2006/relationships/slide" Target="/ppt/slides/slide28.xml" Id="R52069459836645db" /><Relationship Type="http://schemas.openxmlformats.org/officeDocument/2006/relationships/slide" Target="/ppt/slides/slide29.xml" Id="R34be09d9e1b14816" /><Relationship Type="http://schemas.openxmlformats.org/officeDocument/2006/relationships/slide" Target="/ppt/slides/slide30.xml" Id="R9e599f725250424c" /><Relationship Type="http://schemas.openxmlformats.org/officeDocument/2006/relationships/slide" Target="/ppt/slides/slide31.xml" Id="R609faafaaca4431d" /><Relationship Type="http://schemas.openxmlformats.org/officeDocument/2006/relationships/slide" Target="/ppt/slides/slide32.xml" Id="R9301f7b57a264391" /><Relationship Type="http://schemas.openxmlformats.org/officeDocument/2006/relationships/slide" Target="/ppt/slides/slide33.xml" Id="R800e9c736ed341ec" /><Relationship Type="http://schemas.openxmlformats.org/officeDocument/2006/relationships/slide" Target="/ppt/slides/slide34.xml" Id="R47ae64af70774664" /><Relationship Type="http://schemas.openxmlformats.org/officeDocument/2006/relationships/slide" Target="/ppt/slides/slide35.xml" Id="R7c78e2cd2b71420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4fa733c939407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7ac824abcdc4884" /><Relationship Type="http://schemas.openxmlformats.org/officeDocument/2006/relationships/notesMaster" Target="/ppt/notesMasters/notesMaster1.xml" Id="Rf77f8513b81742b9"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9af2a565ae4823" /><Relationship Type="http://schemas.openxmlformats.org/officeDocument/2006/relationships/notesMaster" Target="/ppt/notesMasters/notesMaster1.xml" Id="R79dcf19f9d87421c" /></Relationships>
</file>

<file path=ppt/notesSlides/_rels/notesSlide3.xml.rels>&#65279;<?xml version="1.0" encoding="utf-8"?><Relationships xmlns="http://schemas.openxmlformats.org/package/2006/relationships"><Relationship Type="http://schemas.openxmlformats.org/officeDocument/2006/relationships/slide" Target="/ppt/slides/slide3.xml" Id="R6126a03875934ab2" /><Relationship Type="http://schemas.openxmlformats.org/officeDocument/2006/relationships/notesMaster" Target="/ppt/notesMasters/notesMaster1.xml" Id="R4c9d5a06fb3e4166"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0feca5da824465" /><Relationship Type="http://schemas.openxmlformats.org/officeDocument/2006/relationships/notesMaster" Target="/ppt/notesMasters/notesMaster1.xml" Id="R261c4690db8148e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1cc88461d04619" /><Relationship Type="http://schemas.openxmlformats.org/officeDocument/2006/relationships/notesMaster" Target="/ppt/notesMasters/notesMaster1.xml" Id="Rd4aeb5d3b73a42f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41d31ba37d746ee" /><Relationship Type="http://schemas.openxmlformats.org/officeDocument/2006/relationships/notesMaster" Target="/ppt/notesMasters/notesMaster1.xml" Id="R89a903e73c0a411b" /></Relationships>
</file>

<file path=ppt/notesSlides/_rels/notesSlide7.xml.rels>&#65279;<?xml version="1.0" encoding="utf-8"?><Relationships xmlns="http://schemas.openxmlformats.org/package/2006/relationships"><Relationship Type="http://schemas.openxmlformats.org/officeDocument/2006/relationships/slide" Target="/ppt/slides/slide7.xml" Id="R16b8e29170fc4d3e" /><Relationship Type="http://schemas.openxmlformats.org/officeDocument/2006/relationships/notesMaster" Target="/ppt/notesMasters/notesMaster1.xml" Id="R4132fe91fa2d445d" /></Relationships>
</file>

<file path=ppt/notesSlides/_rels/notesSlide8.xml.rels>&#65279;<?xml version="1.0" encoding="utf-8"?><Relationships xmlns="http://schemas.openxmlformats.org/package/2006/relationships"><Relationship Type="http://schemas.openxmlformats.org/officeDocument/2006/relationships/slide" Target="/ppt/slides/slide8.xml" Id="R2453d18dbc7c43ba" /><Relationship Type="http://schemas.openxmlformats.org/officeDocument/2006/relationships/notesMaster" Target="/ppt/notesMasters/notesMaster1.xml" Id="Re05ad8f2b7374973" /></Relationships>
</file>

<file path=ppt/notesSlides/_rels/notesSlide9.xml.rels>&#65279;<?xml version="1.0" encoding="utf-8"?><Relationships xmlns="http://schemas.openxmlformats.org/package/2006/relationships"><Relationship Type="http://schemas.openxmlformats.org/officeDocument/2006/relationships/slide" Target="/ppt/slides/slide9.xml" Id="R71391f6dd82a4ae0" /><Relationship Type="http://schemas.openxmlformats.org/officeDocument/2006/relationships/notesMaster" Target="/ppt/notesMasters/notesMaster1.xml" Id="R831ef21f653e4ab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4d392ee11a54665" /><Relationship Type="http://schemas.openxmlformats.org/officeDocument/2006/relationships/notesMaster" Target="/ppt/notesMasters/notesMaster1.xml" Id="R1e3e3dc1068446d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e9176436c34627" /><Relationship Type="http://schemas.openxmlformats.org/officeDocument/2006/relationships/notesMaster" Target="/ppt/notesMasters/notesMaster1.xml" Id="Re5c577c8658f410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fff6b45e3ec441f" /><Relationship Type="http://schemas.openxmlformats.org/officeDocument/2006/relationships/notesMaster" Target="/ppt/notesMasters/notesMaster1.xml" Id="R16ae45bccc75480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a09be00fc0e412e" /><Relationship Type="http://schemas.openxmlformats.org/officeDocument/2006/relationships/notesMaster" Target="/ppt/notesMasters/notesMaster1.xml" Id="R153c128c36ae47b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b36e792f1d04169" /><Relationship Type="http://schemas.openxmlformats.org/officeDocument/2006/relationships/notesMaster" Target="/ppt/notesMasters/notesMaster1.xml" Id="Rc93e3c0d94614cc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5576968a7c5405a" /><Relationship Type="http://schemas.openxmlformats.org/officeDocument/2006/relationships/notesMaster" Target="/ppt/notesMasters/notesMaster1.xml" Id="R4c273bdfdc744af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0b2506a36214440" /><Relationship Type="http://schemas.openxmlformats.org/officeDocument/2006/relationships/notesMaster" Target="/ppt/notesMasters/notesMaster1.xml" Id="R2efefea2f6144f8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f74959a4d7340ac" /><Relationship Type="http://schemas.openxmlformats.org/officeDocument/2006/relationships/notesMaster" Target="/ppt/notesMasters/notesMaster1.xml" Id="Rfefdc7b9e204403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39f4804ea0a426c" /><Relationship Type="http://schemas.openxmlformats.org/officeDocument/2006/relationships/notesMaster" Target="/ppt/notesMasters/notesMaster1.xml" Id="R4536441ff6c5461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84bd0cae72e4619" /><Relationship Type="http://schemas.openxmlformats.org/officeDocument/2006/relationships/notesMaster" Target="/ppt/notesMasters/notesMaster1.xml" Id="R40f782db1bba442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879b6031d98438e" /><Relationship Type="http://schemas.openxmlformats.org/officeDocument/2006/relationships/notesMaster" Target="/ppt/notesMasters/notesMaster1.xml" Id="R74a57a39742f451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3fabc41861b4467" /><Relationship Type="http://schemas.openxmlformats.org/officeDocument/2006/relationships/notesMaster" Target="/ppt/notesMasters/notesMaster1.xml" Id="R4786febae21e4d8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621b64985ec41a3" /><Relationship Type="http://schemas.openxmlformats.org/officeDocument/2006/relationships/notesMaster" Target="/ppt/notesMasters/notesMaster1.xml" Id="R389b05a5ac16445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9142223cb9d4c48" /><Relationship Type="http://schemas.openxmlformats.org/officeDocument/2006/relationships/notesMaster" Target="/ppt/notesMasters/notesMaster1.xml" Id="R1ab5a23fccf6487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4a38af168b94591" /><Relationship Type="http://schemas.openxmlformats.org/officeDocument/2006/relationships/notesMaster" Target="/ppt/notesMasters/notesMaster1.xml" Id="R451daa9419bb471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22b5b54cc614928" /><Relationship Type="http://schemas.openxmlformats.org/officeDocument/2006/relationships/notesMaster" Target="/ppt/notesMasters/notesMaster1.xml" Id="R0db3f24f8dd34b9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38a414d0a3b40ff" /><Relationship Type="http://schemas.openxmlformats.org/officeDocument/2006/relationships/notesMaster" Target="/ppt/notesMasters/notesMaster1.xml" Id="R38f8c5caddeb4f2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c794bf4ba0b48c3" /><Relationship Type="http://schemas.openxmlformats.org/officeDocument/2006/relationships/notesMaster" Target="/ppt/notesMasters/notesMaster1.xml" Id="R1bf99dde13e247a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1a9f843c257499f" /><Relationship Type="http://schemas.openxmlformats.org/officeDocument/2006/relationships/notesMaster" Target="/ppt/notesMasters/notesMaster1.xml" Id="R278c51d2a2f0423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3a36019be8f4af3" /><Relationship Type="http://schemas.openxmlformats.org/officeDocument/2006/relationships/notesMaster" Target="/ppt/notesMasters/notesMaster1.xml" Id="R45681160b34848b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bc246b9267b4eef" /><Relationship Type="http://schemas.openxmlformats.org/officeDocument/2006/relationships/notesMaster" Target="/ppt/notesMasters/notesMaster1.xml" Id="R8c76144aa873414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01ac17983b3492d" /><Relationship Type="http://schemas.openxmlformats.org/officeDocument/2006/relationships/notesMaster" Target="/ppt/notesMasters/notesMaster1.xml" Id="Ra13272c9d9ae4ba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267f8bcc1f94724" /><Relationship Type="http://schemas.openxmlformats.org/officeDocument/2006/relationships/notesMaster" Target="/ppt/notesMasters/notesMaster1.xml" Id="R389ee6326a3c47a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ea1a30490064c0a" /><Relationship Type="http://schemas.openxmlformats.org/officeDocument/2006/relationships/notesMaster" Target="/ppt/notesMasters/notesMaster1.xml" Id="R83302913cece46c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ba0425a8ed64b29" /><Relationship Type="http://schemas.openxmlformats.org/officeDocument/2006/relationships/notesMaster" Target="/ppt/notesMasters/notesMaster1.xml" Id="R2fd8ced1636b424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da59fe3b9fd42f9" /><Relationship Type="http://schemas.openxmlformats.org/officeDocument/2006/relationships/notesMaster" Target="/ppt/notesMasters/notesMaster1.xml" Id="R0f805df6b5ea46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Welcome. The audience plays an incident change board. This shared-platform incident is fictional. The lab artifacts are real repository outputs. Milind Gunjan and Vivek Mayuranathan are co-presenters and jointly lead the session. Explain that the policy agent proposes and humans deploy. Repository source: https://github.com/mgunjan/agentic-k8s-guardrails/blob/main/tabletop/STORY.md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00:20–01:10. Milind grounds the purpose in the fictional incident before terminology. Say: Services are still operating, your case reports unexpected activity, and exposure is uncertain. Your table decides what may proceed, what must be held and what evidence would justify tightening controls. Use Case A as a ten-second illustration: a payments process makes unexpected connections after a library update; do not reveal its later cause. Other tables choose alternative cases, not simultaneous incidents. The output is a reviewed change set plus scoped containment and recovery criteria. What: we turn a written security requirement into a change set for human review, containing policies, behavior tests, expiring exceptions and phased rollout. Why: a compromised workload or overprivileged agent can act beyond its intended boundary on shared infrastructure. The response must restrict harmful access while preserving essential services. A proposed policy or narrow passing test does not establish full containment; evidence must cover the actual control boundary and legitimate dependencies. Quarantine Mode is the prebuilt incident posture whose level, scope, exceptions and recovery criteria the table must justify. The policy agent proposes bounded choices; reviewers retain approval authority. Participants write their decision record, review prepared case proposals and define their playbook. The common compiler demo uses a supplied reference spec and does not automatically deploy audience prose. Case D uses human RBAC review, not generator scenario d. This purpose follows the submitted abstract and its three learning objectives. Repository source: https://github.com/mgunjan/agentic-k8s-guardrails/blob/main/generator/policy_agent.py Repository source: https://github.com/mgunjan/agentic-k8s-guardrails/blob/main/quarantine/quarantine-mode.md Repository source: https://github.com/mgunjan/agentic-k8s-guardrails/blob/main/tabletop/congress-2026/INCIDENT-BRIEF.md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01:10–01:50. Milind starts without assuming Kubernetes knowledge: Kubernetes manages application packages, called containers, across a pool of machines. Applications and automated agents share that platform. Explain familiar functions before naming their Kubernetes equivalents: application copies, resource groups and workload identities. A cluster is the shared platform running services and agents; a namespace is a named resource group, not automatic isolation; a Pod is a running unit containing one or more containers; a ServiceAccount is the identity a workload uses to call the Kubernetes API. Replicas are copies of a workload. Point to payments and agents as example groups, with payments-api, support-agent, ops-agent and monitoring-agent appearing only when their case is selected. Services are still operating, unexpected activity has crossed an expected boundary and the extent of exposure is uncertain. Broad isolation may disrupt dependencies; delay may expose other workloads. These are four alternative fictional alerts, not simultaneous confirmed incidents. The recorded enforcement environment is a separate disposable local k3s/Kyverno lab, with synthetic stand-in applications. Definitions: https://kubernetes.io/docs/concepts/overview/ ; https://kubernetes.io/docs/concepts/containers/ ; https://kubernetes.io/docs/concepts/workloads/pods/ ; https://kubernetes.io/docs/concepts/overview/working-with-objects/namespaces/ ; https://kubernetes.io/docs/concepts/security/service-accounts/ . Repository source: https://github.com/mgunjan/agentic-k8s-guardrails/blob/main/tabletop/congress-2026/INCIDENT-BRIEF.md Repository source: https://github.com/mgunjan/agentic-k8s-guardrails/blob/main/lab/README.md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01:50–02:30. Vivek defines the management API as the interface for reading or changing platform resources, then explains Kyverno as the policy checker for proposed Kubernetes resource changes. Admission is the checkpoint before a covered request takes effect. Walk through one example: a request creates a Pod with privilege escalation enabled; the reviewed rule requires it disabled; in Deny mode the covered request is refused. Audit records a violation and Warn warns while admitting; the rollout round revisits those choices. Installing this admission rule does not terminate an existing Pod or revoke a copied credential. NetworkPolicy plus its enforcing network implementation handles covered traffic; RBAC handles Kubernetes API permissions; application controls govern tools and untrusted inputs. Kyverno can do more than validate, but this is the validation role demonstrated here. The model proposes a typed choice and code renders a rule; human review authorizes enforcement. Ask the room: does rejecting a new Pod stop an already running Pod? Answer no, and identify the separate containment action without revealing later case facts. Say that the lab uses isolated local k3s and Kyverno, and the compiler demo uses fixture simulation. Sources: https://kyverno.io/docs/policy-types/validating-policy/ ; https://kubernetes.io/docs/reference/access-authn-authz/admission-controllers/ ; https://kubernetes.io/docs/reference/access-authn-authz/rbac/ ; https://kubernetes.io/docs/concepts/services-networking/network-policies/ . Repository source: https://github.com/mgunjan/agentic-k8s-guardrails/blob/main/lab/README.md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02:30–03:15. Vivek states the contract: We provide case facts, prepared proposals and enforcement evidence. Your decisions determine the authority you would grant, the exposure you accept and the tests you require; we do not simulate a branching production incident from your prose. Your intent stays on the worksheet; the common demo compiles a supplied reference spec. Vivek assigns the incident review role, explains the four table roles and holds up the actual pack and worksheet. The lead states the decision, recorder writes page 6, analyst checks evidence and independent reviewer raises a concern before the decision. Roles are recorded during the final setup minute. Say: Your table decides what may proceed, what it holds and what evidence must come before enforcement. Record intent, proposal disposition, exception/rollout conditions, ordered containment and recovery on page 6. Work in plain language, without laptops or YAML. Pages 2–5 are the four case cards, page 6 is the shared record, and pages 7/8 stay sealed until their rounds. Keep the CONTROL-REVIEW findings sealed too. State the sequence: discuss, write before the reveal, hear the evidence, and revise beside the first answer. At most two twenty-second table reports. Milind demonstrates the compiler and policy consequences; Vivek leads proposal reviews and evidence reveals; both share round discussions and debrief. Audience prose does not automatically run through a model or deploy. The common demo uses a supplied reference spec. Use the clock to protect writing time. Repository source: https://github.com/mgunjan/agentic-k8s-guardrails/blob/main/tabletop/congress-2026/CO-PRESENTER-CARDS.md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03:15–04:30. Give tables 75 seconds to choose and read the initial alert on pages 2–5. Every table has the four-case participant pack and selects one case. Do not disclose causes yet. A/B/C use excerpted reference PRs and fixture simulation results. D extends scenarios/05-secret-enumeration.md into an RBAC boundary exercise. D uses a human RBAC review and a separately executed synthetic read-authorization/network/credential lab. No generator scenario d or model-generated RBAC is claimed. Explain that Secrets are platform records that can contain credentials; listing them is an observed action, not proof that an application key was used. Translate replicas as application copies and namespaces as resource groups. Teams identify the owner and acceptance evidence for API reads before the recorded lab reveal. If teams cluster on one case, invite volunteers to try another, without removing choice. Repository source: https://github.com/mgunjan/agentic-k8s-guardrails/blob/main/scenarios/05-secret-enumeration.md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04:30–06:00. Explain the constraints for thirty seconds, then give one minute for setup. Tables record case, roles, constraint and a measurable minimum service on page 6. With fewer than four participants, combine roles. Both co-presenters check readiness at different tables. Six seats and twelve tables maximum. Explain scoring in one sentence and leave details on the scorecard. Teams choose their constraint, even if it differs from their real role. The pack offers concrete fictional floors to make choices comparable. Require a measurable floor such as two healthy service replicas and verified dependency access. Avoid treating any fictional notification threshold as legal guidance.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06:00–10:00. Spend no more than twenty seconds on the visible example: blocking new privileged workloads while allowing approved releases states a forbidden behavior and a preserved dependency; it does not stop an existing process. Give the remaining time to team work. The lead reads the first alert, the reader summarizes the environment and the scribe writes an intent and constraint. Vivek collects one sentence from two tables. Do not promise that the unvalidated model will translate arbitrary audience prose on stage. During the common demonstration, compare the audience wording to the reference clause map.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10:00–11:00. Distinguish the policy agent proposing controls from the support, ops or monitoring agent in a case. A model is being evaluated for varied natural-language intent and bounded next-action selection; deterministic code supplies the templates. A catalog or simple rules may suffice for a fixed input, so compare a model to that baseline and evaluate omissions. This architecture does not establish that a classifier or language model is universally best. Jev/local specialists use /v1/systemone; Claude/OpenAI adapters return the same typed interface. No free-form model YAML is deployed. Confidence below 0.6 escalates, but the threshold is not calibrated deployment risk. Human review resolves missing coverage and authorizes changes. Repository source: https://github.com/mgunjan/agentic-k8s-guardrails/blob/main/generator/policy_agent.py Repository source: https://github.com/mgunjan/agentic-k8s-guardrails/blob/main/generator/decider_agent.py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11:00–12:30. Make the input boundary explicit: this is one prepared privilege requirement, not a compilation of the table statements. On the next slide expand to the four-clause Scenario A reference, then ask B/C/D teams to review their own prepared excerpt. Demonstrate reference compilation in a terminal using the commands in SESSION-RUNBOOK.md. Show the provenance model: none (spec supplied), the generated policy and the admission report. If a venue cluster has been rehearsed, a human applies the reviewed privilege policy and uses server dry-run to show rejection and a positive control. Otherwise show the existing recorded lab or the fallback slides. The hardened launcher uses generator/demo_gate.py to bind passing evaluation evidence to current code, prepared inputs, host, threshold, recording and model identity. The frozen Strands result still fails; hardening has not improved its model score. Use tabletop/congress-2026/demo.py for the bounded reference or authentic replay path. Pre-open the resulting local PR.md, readiness.json and tests/result.txt; ask participants to predict readiness before revealing the RBAC handover. The whole-proposal deadline is 15 seconds by default, and no cluster or GitHub PR is changed.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12:30–13:30. This is the full four-clause Scenario A reference intent; the preceding single privilege example covers one clause. Read the missing clause first. Then direct every table to its own case excerpt before slide 12. A table’s new wording is compared with that prepared artifact, not claimed as its model input. The current demo emits readiness.json: privilege behavior can PASS while the overall proposal remains REVIEW_REQUIRED. The authentic recorded Strands run remains INCOMPLETE_PROPOSAL because privilege coverage is missing. Admission does not enforce Secret GET/LIST. An egress-profile admission label rule also requires the corresponding NetworkPolicy to constrain actual traffic. A handover is visible incompleteness, not completed enforcement. In A, registry restriction was added at Audit although the intent did not request it. Ask whether to keep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13:30–18:00. Teams review their case page. Every team writes a decision and one reason. A catches insufficient host protection and the unresolved RBAC clause. B distinguishes a Pod identity from a sidecar identity and tool misuse from admission. C asks whether the requester is the agent or a human and whether RBAC should have granted the action at all. D rejects an admission-only claim for Secret reads. Invite two contrasting votes. The co-presenter asks what evidence would change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18:00–22:00. Read the case-specific request from the pack. Do not announce a preferred disposition before the table commits. Ask what legitimate operation must continue, what authority it would grant while verification is pending and what evidence would change its answer. The temporary request and approval assertions are fictional exercise facts. Teams must establish approval independently of the agent’s assertion. A: backup-job/storage may have a legitimate narrow temporary need. B: an exception that restores the suspect’s path can undo containment. C: an ops-agent request to widen access requires human identity verification and scope. D: no admission exception fixes excessive Secret-read RBAC. Record owner, clock time of expiry, exact workload/control and independent approval evidence. If refusing or holding the request, record the verification needed before reconsidering it; do not invent an approver or claim a paper-plan revocation has occurred.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22:00–26:00. Audit/Warn/Deny are Kyverno validationActions. Promotion is a human decision. During a confirmed incident some controls may start at Deny, with an explicit compatibility and availability check. Scheduled exception cleanup requires the controller to be enabled and authorized. The October 13 rehearsal first failed because the cleanup controller lacked deletion permission. The scoped repair grants only PolicyException deletion in payments. Its five-minute schedule allows lag beyond the timestamp; it does not terminate an existing Pod, credential or session. See the separate live expiry evidence before claiming successful revocation. Both current compiler and agent write the staged policy manifests. The agent also writes a requirement ledger, provenance and focused independent privilege tests. Human promotion remains disabled; the new artifacts are runtime remediation, not a rerun of the frozen benchmark. All requirements still need explicit reviewer disposition. Repository source: https://github.com/mgunjan/agentic-k8s-guardrails/blob/main/generator/generate.py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26:00–27:30. Quarantine Mode is this project’s coordinated incident posture, not a built-in Kubernetes or Kyverno switch. Read the levels once. Describe freeze as pausing covered changes, constrain as narrowing access while preserving clean capacity, and isolate as removing remaining suspect network allowances. Participants may use those plain-language descriptions; knowing Kubernetes object syntax is unnecessary. Q1 freezes the identities covered by the native policy; it does not automatically cover a sidecar using a different Pod identity. Q2 leaves DNS in this lab, and leaves kubectl exec/port-forward controlled by RBAC. Q3 requires the isolated label so the Q2 DNS allow does not remain. Identity revocation and tool/input suspension are runbook actions that need separate execution; do not imply the network manifests do them automatically. Repository source: https://github.com/mgunjan/agentic-k8s-guardrails/blob/main/quarantine/quarantine-mode.md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27:30–34:00. Teams open their Round 3 alert, number their actions, choose Q0–Q3 and name the incident commander. Require enough specificity to execute: namespace/workload/identity, evidence source, control delta, availability floor, who declares and who can lift. The lab preserves evidence before relabeling. Evidence collection can itself mutate a Pod by adding a debug container; disclose that footprint. In a real active incident, use authorized response procedures and weigh immediate containment needs, rather than claiming this order universally overrides urgency.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34:00–38:00. A learns a second replica has the same image and a host-mounted helper bypasses the existing set. B learns a debug API path and injected ticket/tool scope matter. C learns the agent supports billing while a human is asked to widen RBAC. D learns credential rotation affects the database proxy. Give four minutes. Scribes keep the original decision visible so change is observable. Vivek records one revised and one held decision for the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38:00–38:30. These consequences come from stored lab recordings and the October 10 run. Say recorded lab when showing an image or animation. They are not a live attack against a real company and are not a real model run. No score. Teams predict, then revise. Budget at most six minutes for all four.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38:30–40:00. Ask yes/no before revealing. Adding an empty allow list cannot subtract the DNS allow from the Q2 policy. In the lab the isolated label excludes the suspect from that allowance. The Oct 10 log verifies retained DNS before the label and loss after it.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NetworkPolicy allows are additive.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40:00–41:30. Define eviction as a voluntary request to remove a running copy, replacement as starting a new copy, and the PodDisruptionBudget as the rule limiting voluntary removal to preserve availability. Q3 refuses a replacement. After one eviction, minAvailable=2 blocks the next. The first eviction also destroys uncaptured evidence. Preserving suspects in place and checking clean capacity are part of the plan.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Recovery and evidence can deadlock.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41:30–42:30. A rule matching Pods alone can miss pods/ephemeralcontainers. The fixed lab tests approved and unapproved debug images, including privilege checks. Approve a suitable forensic image before incident use.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The subresource changes the boundary.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42:30–44:00. The recorded unguarded agent scales Kyverno to zero; its webhooks disappear, while NetworkPolicies continue. Native Q1 freeze holds during the incident and a native guard protects the engine. The durable fix includes narrower RBAC.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The policy engine needs its own guard.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44:00–45:00. Reveal causes after the decisions. A investigates a potentially compromised library update; the initial scope is uncertain. B and C are fictional injected-input incidents. D is a fictional overprivileged monitoring identity; its separate synthetic October 13 lab shows copied-token Secret reads still allowed after the suspect Pod is network-quarantined. Read authorization and credential response belong to separate controls. At 44:30 read the prediction a D table locked during Round 3, then compare it with the status-only transcript or backup slide 32 inside this existing minute. If no table chose D, collect a short ungraded prediction before displaying this slide: a copied token is used outside its network-quarantined Pod; does the Pod policy restrict that API request? Do not imply this new room prediction was locked earlier. Do not ask for a first prediction after the result is visible and do not add another demo. Do not cite unverified real-world incident anecdotes from the old deck. Ask neighboring tables to exchange one decision and name the differing constraint during the reveal. Prompt: would your plan still work in the other case, and what dependency or identity assumption would fail? Each table gives one sentence of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45:00–48:00. Vivek gives each table CONTROL-REVIEW.pdf page 1; keep page 2 sealed. Milind shows the recorded proposal. This is one actual local Laya head fine-tune and fixture workflow, not live model inference or current containment. Tables record a disposition, two unresolved requirements, their owners, and an acceptance test. The existing 0.6 cutoff accepts clauses 1, 2 and 4; clause 3 escalates. Scores come from the recorded answer_confidence signal after temperature fitting on separate synthetic data; deployment calibration is not established. Do not announce the ledger result until choices are locked. Reward a justified revision or request for evidence. The old three-case Jev/Claude challenge remains an optional methodology discussion; do not add it to the hour. Source: submission/2026-10-13/CONTROL-REVIEW-EXERCISE.md; laya-training/workflow-cost/run-1/agent-run.json.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48:00–49:00. Milind reveals readiness.json: INCOMPLETE_PROPOSAL. Six fixed Pod CREATE privilege checks pass, but network and process clauses map to the wrong control and Kubernetes API access remains unresolved. Vivek asks one table to defend its disposition and name the actual enforcement owner. The reference control catalog identifies ACG-NET-001 (admission plus CNI), ACG-IAM-001 (RBAC plus credential response) and ACG-GOV-001 (rollout/expiry governance). Its metadata and tests do not grant approval. A catalog must state exact coverage, test evidence and unresolved requirements. This trained candidate did not improve the 33-choice runtime-order pilot: 16/33 both before and after; selected answers increased from 2 to 21, with six wrong among those 21. Its three complete fixture proposals took median 0.975 s, but all remained incomplete. No API charge; local compute unpriced. Source: submission/2026-10-13/REVIEW.md; workflow-cost/run-1/readiness.json; controls/catalog.json.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49:00–50:00. Close the recorded proposal review by asking whether the speed or API price justifies granting unresolved authority; it does not. These historical measurements support candidate screening. Production selection still requires representative error consequences, reviewer effort, failure behavior and setup/operations costs. Show the model/workflow comparison for one minute. The zero-shot Laya column is the October 12 frozen-pilot result, separate from the trained proposal just reviewed. Its frozen option order differs from the runtime order used for the new trained comparison. This is a screening pilot, not production certification or classifier-class superiority. Claude Opus 5.5 used adaptive thinking with medium effort and strict structured output; Jev returned its typed distribution. Returned IDs were claude-opus-5-5 and jev-1.13.0. Cases and labels unchanged from local pilot; 33 scored and four hostile report-only cases. No unreadable answers. Exact McNemar: two Claude-only correct, zero Jev-only, p=0.50. Decision latency covers 37 warm HTTP requests, excluding warmup. Scenario A time and API price are median of three newly measured complete fixture runs: decisions, compilation, Kyverno simulation and local proposal writing. Jev range 1.69–2.05 seconds; Claude 19.41–28.39 seconds. Jev eight API calls and four escalations each run; Claude eight or nine calls and one escalation. Human review and deployment excluded. Clients were launched concurrently, each sequential internally; Jev completed while the first Claude run was in progress. Three runs cannot establish p95 or load performance. List prices checked October 12: Jev $0.042/M input tokens, outputs free; Claude $4/M input and $20/M output. Scenario A per run: Jev 4,552 input tokens and 634 free output tokens; Claude 6,483–7,222 input and 545–931 output tokens. Model cost is estimated from usage, not an invoice. Setup effort was not timed or priced. Four human escalations versus one can dominate total cost; see RUN-COST-ANALYSIS.md. Zero selected mistakes does not certify a threshold: only 26 selected cases and different score definitions. OpenAI has not run because no OpenAI key was supplied. Laya added as a local comparator: 16/33 pilot, 0.089-second median in-process decision latency on MPS, excluding HTTP. Its Scenario A three-run median was 0.41 seconds, but every clause escalated and no guardrail was generated. Four model calls versus eight or nine hosted calls means it did less work. No API charge; compute, energy and operations unpriced. Model load excluded and reported separately. No throughput or production winner claim. Sources: submission/2026-10-12/HOSTED-COMPARISON.md; https://docs.typesafe.ai/models; https://platform.claude.com/docs/en/models/overview; https://platform.claude.com/docs/en/build-with-claude/structured-outputs.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50:00–54:00. Add a concrete exit criterion to the worksheet. A: reviewed clean image and no ongoing suspect connections. B: ticket/tool boundary repaired and tested. C: scoped RBAC, verified approvals and input source repaired. D: affected credentials rotated or accepted risk documented, least-privilege Role and tested metrics recovery. Descent is Q3, Q2, Q1, Q0 under authorized review. If critical service has no clean serving capacity, record the conflict instead of declaring success.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54:00–55:00. Show this illustrative paper decision record only after teams have completed recovery. This is one defensible Case A example, not the only answer, a model output or proof of executed containment. Trace the same requirement through initial disposition, later evidence, changed order and recovery tests. Explain that two ready copies are not automatically two trusted clean copies. Compare one table’s actual revision, accepting a defensible hold. 55:00–57:00. Tally points, hear at most two twenty-second reports and ask each participant to record a requirement, owner and verification step for their own environment. 57:00–60:00 questions. Preserve all three learning outputs: intent/map, justified controls/exceptions and a scoped containment/recovery playbook. Repository source: https://github.com/mgunjan/agentic-k8s-guardrails/blob/main/tabletop/congress-2026/WORKED-DECISION.md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slide. Public curated repository verified: https://github.com/mgunjan/sc2632-tabletop. Start with its README; the no-key reference demo compiles and tests a supplied spec and retains human review. Share the complete exercise package after the sealed evidence is revealed. Describe cloud agnostic as implementation patterns based on Kubernetes APIs, not a claim that every managed distribution has been tested. The source includes historical single-node k3s and the October 13 presenting-Mac three-node k3d record. These do not establish support across all managed Kubernetes platforms. Repository source: https://github.com/mgunjan/agentic-k8s-guardrails/blob/main/README.md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if terminal compilation is unavailable. This is a summarized excerpt, not verbatim full YAML. Show output/frozen-a/policies/deny-privilege-escalation.yaml for the complete policy. The specification was hand-written and the generator rendered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Abridged from the frozen Scenario A admission report. These are offline simulations on fictional fixtures. They do not prove that the admission policy constrains a running connection, reads or internal tool calls.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within the existing 44–45 case comparison for a D table or as a Q&amp;A backup. Lock the copied-credential prediction during Round 3 before showing this table. Then compare each state and identify which authority boundary changed. This is the actual October 13 presenting-Mac run on synthetic resources, separate from the fictional incident. The suspect cannot open a new API TCP connection while an unaffected positive control still can. The same bearer token used from outside the Pod continues Secret GET/LIST in two other namespaces. Removing its broad binding gives HTTP 403 while preserving exactly one named in-namespace Secret GET and one ConfigMap GET; in-namespace LIST is also denied. The replacement has its own Pod-bound credential and restored API connectivity. Old-token authentication returns 401 41.2 seconds after bound-Pod deletion; the old token was far from natural expiry. New-token positive reads still return 200, and outside reads remain 403. There are 58 passing observations, including repeated health samples, not independent incident scenarios. No production monitoring delivery, audit export, external application-key revocation or compromise eradication is claimed. RBAC proposal is manually reviewed, not model generated. Source: submission/2026-10-13/live-rehearsal/case-d/result.json; lab/verify-case-d.py; scenarios/d-secret-enumeration/review/PR.md; https://kubernetes.io/docs/reference/access-authn-authz/service-accounts-admin/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selection only: 27 states, six dependency/blocked-workload questions excluded from the full workflow. The TF-IDF word/character model trains in 0.101 s on CPU and takes median 0.523 ms per decision. Base and trained Laya take approximately 89 ms in-process on MPS. Synthetic test: classifier 54/60, base 36/60, trained 37/60; only ten held-out templates, not independent enterprise incidents. Classifier control-pilot ECE 0.247. No universal superiority or production readiness claim. Full-state exception features corrected an earlier unfair scope comparison, raising 2/12 to 12/12. The Qwen recording is incomplete against current states. Laya head training took 57 s. Runtime-order full-pilot accuracy stayed 16/33; six wrong among 21 selected after training. Source: submission/2026-10-13/REVIEW.md; laya-training/control-holdout-rescored/summary.json.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duration and engineering costs were not measured, so no setup-cost winner is claimed. Hosted candidates require no locally owned inference GPU but still require billing, credential security, network and provider-failure handling. Local candidates used the existing Apple-silicon Mac with 18 GiB RAM; there is no measured acquisition, energy or operations charge. Shared deterministic tools and testing apply to either. Total cost per accepted change = amortized setup + inference + compute/operations + human review + failure/rework. Illustrative rate only: at $120/hour, one extra minute costs $2, exceeding the approximately $0.0378 API cost difference per Scenario A run. Jev escalated four items versus Claude one in these runs; item count is not measured human time. Do not claim lower total cost from token price alone. Source: submission/2026-10-12/RUN-COST-ANALYSIS.md; benchmark/workflow-cost/.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metrics preserved from the prior deck. Full confidence distributions and recordings are in benchmark/. The 0.6 scores are not matched calibrated risk. Laya in-process timing excludes HTTP; its incomplete workflow did less work. Jev versus Claude paired accuracy p=0.50 is inconclusive. Human review and deployment excluded; costs are usage-based list-price estimates, not invoices. Sources: HOSTED-COMPARISON.md and RUN-COST-ANALYSIS.md.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29f9df526304ed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b59f1eb8d6b442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8fc77d1d1a9420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7869c7b2aba4e1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20cd6817e8a4fc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24b9b1ba88a493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9E4BBC-C7D3-4B30-8618-51A2A286274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D808677-5EF1-4FF5-AA14-D6985CD79B3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8B74815-FEFF-4C7A-86D5-4A1FCAAB368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17D9F7-E67A-4256-B329-E2ACF1D97BA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1BA65BC-3F4E-4146-8337-A36F1A860EC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F1C9D6D-A1C1-436E-B14E-C54E024131B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A85E97-D3F8-4701-AB53-7F9543613A6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415351B-EF14-4781-A2E3-4C542E44006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A67ECB-98CA-4175-A762-D1C2D226E21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4D461D5-4622-4A8E-8206-CD924216D96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ce68d2af6174090" /><Relationship Type="http://schemas.openxmlformats.org/officeDocument/2006/relationships/slideLayout" Target="/ppt/slideLayouts/slideLayout1.xml" Id="Rd9c980f27ae14558" /><Relationship Type="http://schemas.openxmlformats.org/officeDocument/2006/relationships/slideLayout" Target="/ppt/slideLayouts/slideLayout2.xml" Id="Rb5802b09dac440db" /><Relationship Type="http://schemas.openxmlformats.org/officeDocument/2006/relationships/slideLayout" Target="/ppt/slideLayouts/slideLayout3.xml" Id="R124efa1f6a204f6e" /><Relationship Type="http://schemas.openxmlformats.org/officeDocument/2006/relationships/slideLayout" Target="/ppt/slideLayouts/slideLayout4.xml" Id="R3fdca580c0634cba" /><Relationship Type="http://schemas.openxmlformats.org/officeDocument/2006/relationships/slideLayout" Target="/ppt/slideLayouts/slideLayout5.xml" Id="R381578b7f4c64521" /><Relationship Type="http://schemas.openxmlformats.org/officeDocument/2006/relationships/slideLayout" Target="/ppt/slideLayouts/slideLayout6.xml" Id="R6978aab92e5d4c8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9c980f27ae14558"/>
    <p:sldLayoutId xmlns:r="http://schemas.openxmlformats.org/officeDocument/2006/relationships" id="2147483650" r:id="Rb5802b09dac440db"/>
    <p:sldLayoutId xmlns:r="http://schemas.openxmlformats.org/officeDocument/2006/relationships" id="2147483651" r:id="R124efa1f6a204f6e"/>
    <p:sldLayoutId xmlns:r="http://schemas.openxmlformats.org/officeDocument/2006/relationships" id="2147483652" r:id="R3fdca580c0634cba"/>
    <p:sldLayoutId xmlns:r="http://schemas.openxmlformats.org/officeDocument/2006/relationships" id="2147483653" r:id="R381578b7f4c64521"/>
    <p:sldLayoutId xmlns:r="http://schemas.openxmlformats.org/officeDocument/2006/relationships" id="2147483654" r:id="R6978aab92e5d4c8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aae55a0917b490e" /><Relationship Type="http://schemas.openxmlformats.org/officeDocument/2006/relationships/image" Target="/ppt/media/image.png" Id="Ra8f1579895f74286" /><Relationship Type="http://schemas.openxmlformats.org/officeDocument/2006/relationships/notesSlide" Target="/ppt/notesSlides/notesSlide1.xml" Id="Rd2cb4ad33e5a488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11b0a2d3a4244f8" /><Relationship Type="http://schemas.openxmlformats.org/officeDocument/2006/relationships/notesSlide" Target="/ppt/notesSlides/notesSlide2.xml" Id="R8b7d25f169f64ba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217339cb3c4299" /><Relationship Type="http://schemas.openxmlformats.org/officeDocument/2006/relationships/notesSlide" Target="/ppt/notesSlides/notesSlide3.xml" Id="R46c7505fb71845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ea539c67c0a4d8a" /><Relationship Type="http://schemas.openxmlformats.org/officeDocument/2006/relationships/notesSlide" Target="/ppt/notesSlides/notesSlide4.xml" Id="R8266e6d8568046d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4e3acc0b1994d80" /><Relationship Type="http://schemas.openxmlformats.org/officeDocument/2006/relationships/notesSlide" Target="/ppt/notesSlides/notesSlide5.xml" Id="Re7a79ea17c77417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ed617af628b41e8" /><Relationship Type="http://schemas.openxmlformats.org/officeDocument/2006/relationships/notesSlide" Target="/ppt/notesSlides/notesSlide6.xml" Id="Re445af2c58ba4e4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89d6dc032dd45c5" /><Relationship Type="http://schemas.openxmlformats.org/officeDocument/2006/relationships/notesSlide" Target="/ppt/notesSlides/notesSlide7.xml" Id="R328a653a56e3403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3f80db9a3c34dc8" /><Relationship Type="http://schemas.openxmlformats.org/officeDocument/2006/relationships/image" Target="/ppt/media/image2.png" Id="R2b6e5f475c6b4a38" /><Relationship Type="http://schemas.openxmlformats.org/officeDocument/2006/relationships/notesSlide" Target="/ppt/notesSlides/notesSlide8.xml" Id="Rb3c8d55219304a9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b20225731eb4619" /><Relationship Type="http://schemas.openxmlformats.org/officeDocument/2006/relationships/notesSlide" Target="/ppt/notesSlides/notesSlide9.xml" Id="R00f2218cee4c48e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dc75c2951354539" /><Relationship Type="http://schemas.openxmlformats.org/officeDocument/2006/relationships/notesSlide" Target="/ppt/notesSlides/notesSlide10.xml" Id="Rd4ce8abc9a674cf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17bf5caba9c46d2" /><Relationship Type="http://schemas.openxmlformats.org/officeDocument/2006/relationships/notesSlide" Target="/ppt/notesSlides/notesSlide11.xml" Id="Rfc518c743790454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6fa7a179fb441f3" /><Relationship Type="http://schemas.openxmlformats.org/officeDocument/2006/relationships/notesSlide" Target="/ppt/notesSlides/notesSlide12.xml" Id="Ra4d5a125ac5641e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61bc1864375475b" /><Relationship Type="http://schemas.openxmlformats.org/officeDocument/2006/relationships/notesSlide" Target="/ppt/notesSlides/notesSlide13.xml" Id="R04919af30b544e8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1491064e8af4fd9" /><Relationship Type="http://schemas.openxmlformats.org/officeDocument/2006/relationships/notesSlide" Target="/ppt/notesSlides/notesSlide14.xml" Id="R73b070615ca7409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ebf6ecfcc0f4ec7" /><Relationship Type="http://schemas.openxmlformats.org/officeDocument/2006/relationships/notesSlide" Target="/ppt/notesSlides/notesSlide15.xml" Id="R19519e266804466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cb1dfd470c949a0" /><Relationship Type="http://schemas.openxmlformats.org/officeDocument/2006/relationships/image" Target="/ppt/media/image3.png" Id="R08aa3ee3b4a54d65" /><Relationship Type="http://schemas.openxmlformats.org/officeDocument/2006/relationships/notesSlide" Target="/ppt/notesSlides/notesSlide16.xml" Id="Re604fc7239f8409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d00964bc3574f7e" /><Relationship Type="http://schemas.openxmlformats.org/officeDocument/2006/relationships/notesSlide" Target="/ppt/notesSlides/notesSlide17.xml" Id="Rd71076893fec482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31772b9710d40db" /><Relationship Type="http://schemas.openxmlformats.org/officeDocument/2006/relationships/notesSlide" Target="/ppt/notesSlides/notesSlide18.xml" Id="R0004b3a334414b4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882f633b71f47da" /><Relationship Type="http://schemas.openxmlformats.org/officeDocument/2006/relationships/image" Target="/ppt/media/image4.png" Id="Rc22a2952199343d6" /><Relationship Type="http://schemas.openxmlformats.org/officeDocument/2006/relationships/notesSlide" Target="/ppt/notesSlides/notesSlide19.xml" Id="Ra543be0ff475474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342b2a2904b4900" /><Relationship Type="http://schemas.openxmlformats.org/officeDocument/2006/relationships/image" Target="/ppt/media/image5.png" Id="Ra05b19a9fb334b82" /><Relationship Type="http://schemas.openxmlformats.org/officeDocument/2006/relationships/notesSlide" Target="/ppt/notesSlides/notesSlide20.xml" Id="R4b2248611a8b41a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0a2ba1105004876" /><Relationship Type="http://schemas.openxmlformats.org/officeDocument/2006/relationships/image" Target="/ppt/media/image6.png" Id="R1e395233ad6c4f7a" /><Relationship Type="http://schemas.openxmlformats.org/officeDocument/2006/relationships/notesSlide" Target="/ppt/notesSlides/notesSlide21.xml" Id="Rdbc9a8426f36430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7d6ca5d9413479b" /><Relationship Type="http://schemas.openxmlformats.org/officeDocument/2006/relationships/image" Target="/ppt/media/image7.png" Id="R3e11a013ab9743a5" /><Relationship Type="http://schemas.openxmlformats.org/officeDocument/2006/relationships/notesSlide" Target="/ppt/notesSlides/notesSlide22.xml" Id="R6e7761d26f3e4d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2dc9a2f43ea461d" /><Relationship Type="http://schemas.openxmlformats.org/officeDocument/2006/relationships/notesSlide" Target="/ppt/notesSlides/notesSlide23.xml" Id="Re63db2b81e5540e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2411174e6774401" /><Relationship Type="http://schemas.openxmlformats.org/officeDocument/2006/relationships/notesSlide" Target="/ppt/notesSlides/notesSlide24.xml" Id="Rde527b2753794aa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978b75c8c2344c4" /><Relationship Type="http://schemas.openxmlformats.org/officeDocument/2006/relationships/notesSlide" Target="/ppt/notesSlides/notesSlide25.xml" Id="R6a29fed908974c5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8f1238ad24e4371" /><Relationship Type="http://schemas.openxmlformats.org/officeDocument/2006/relationships/notesSlide" Target="/ppt/notesSlides/notesSlide26.xml" Id="R3e71aca9d03243b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084b2dfd13540f4" /><Relationship Type="http://schemas.openxmlformats.org/officeDocument/2006/relationships/image" Target="/ppt/media/image8.png" Id="R5c2bfd434bda4f03" /><Relationship Type="http://schemas.openxmlformats.org/officeDocument/2006/relationships/notesSlide" Target="/ppt/notesSlides/notesSlide27.xml" Id="Rfa3a38d8ef8945e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eabd4410619c4522" /><Relationship Type="http://schemas.openxmlformats.org/officeDocument/2006/relationships/notesSlide" Target="/ppt/notesSlides/notesSlide28.xml" Id="Rf1387fbbd0cc4bc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413430ea73941ad" /><Relationship Type="http://schemas.openxmlformats.org/officeDocument/2006/relationships/notesSlide" Target="/ppt/notesSlides/notesSlide29.xml" Id="Re4c33241cf044df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820e2a8bc6a4db5" /><Relationship Type="http://schemas.openxmlformats.org/officeDocument/2006/relationships/notesSlide" Target="/ppt/notesSlides/notesSlide30.xml" Id="Re427c2f0186d4fb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4c246bcb923492f" /><Relationship Type="http://schemas.openxmlformats.org/officeDocument/2006/relationships/notesSlide" Target="/ppt/notesSlides/notesSlide31.xml" Id="Rf4cdecc649154ef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1deb55cdf1b47c0" /><Relationship Type="http://schemas.openxmlformats.org/officeDocument/2006/relationships/notesSlide" Target="/ppt/notesSlides/notesSlide32.xml" Id="R250e410ebc32493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5e91b278e6c446a" /><Relationship Type="http://schemas.openxmlformats.org/officeDocument/2006/relationships/notesSlide" Target="/ppt/notesSlides/notesSlide33.xml" Id="R2efb3d91f124408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da96cc1c26445b2" /><Relationship Type="http://schemas.openxmlformats.org/officeDocument/2006/relationships/notesSlide" Target="/ppt/notesSlides/notesSlide34.xml" Id="Rb1a5c9e8f7b245b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7ccb1d93a8645ad" /><Relationship Type="http://schemas.openxmlformats.org/officeDocument/2006/relationships/notesSlide" Target="/ppt/notesSlides/notesSlide35.xml" Id="Rb982bae451ce4b73" /></Relationships>
</file>

<file path=ppt/slides/slide1.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B9D28025-5473-49B1-8228-4D78FC2D33D1}"/>
              </a:ext>
            </a:extLst>
          </p:cNvPr>
          <p:cNvPicPr>
            <a:picLocks xmlns:a="http://schemas.openxmlformats.org/drawingml/2006/main" noChangeAspect="1"/>
          </p:cNvPicPr>
          <p:nvPr/>
        </p:nvPicPr>
        <p:blipFill>
          <a:blip xmlns:r="http://schemas.openxmlformats.org/officeDocument/2006/relationships" xmlns:a="http://schemas.openxmlformats.org/drawingml/2006/main" r:embed="Ra8f1579895f7428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ABLETOP / AGENTIC KUBERNETES GUARDRAILS">
            <a:extLst xmlns:a="http://schemas.openxmlformats.org/drawingml/2006/main">
              <a:ext uri="{FF2B5EF4-FFF2-40B4-BE49-F238E27FC236}">
                <a16:creationId xmlns:a16="http://schemas.microsoft.com/office/drawing/2014/main" id="{0819E141-8EF0-4E94-89FA-F26303420082}"/>
              </a:ext>
            </a:extLst>
          </p:cNvPr>
          <p:cNvSpPr>
            <a:spLocks xmlns:a="http://schemas.openxmlformats.org/drawingml/2006/main" noGrp="1"/>
          </p:cNvSpPr>
          <p:nvPr/>
        </p:nvSpPr>
        <p:spPr>
          <a:xfrm xmlns:a="http://schemas.openxmlformats.org/drawingml/2006/main">
            <a:off x="609600" y="495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TABLETOP / AGENTIC KUBERNETES GUARDRAILS</a:t>
            </a:r>
          </a:p>
        </p:txBody>
      </p:sp>
      <p:sp>
        <p:nvSpPr>
          <p:cNvPr id="3" name="FROM INTENT&#10;TO ENFORCEMENT">
            <a:extLst xmlns:a="http://schemas.openxmlformats.org/drawingml/2006/main">
              <a:ext uri="{FF2B5EF4-FFF2-40B4-BE49-F238E27FC236}">
                <a16:creationId xmlns:a16="http://schemas.microsoft.com/office/drawing/2014/main" id="{88CBDC2B-8A35-4951-882E-FCB11312C7AF}"/>
              </a:ext>
            </a:extLst>
          </p:cNvPr>
          <p:cNvSpPr>
            <a:spLocks xmlns:a="http://schemas.openxmlformats.org/drawingml/2006/main" noGrp="1"/>
          </p:cNvSpPr>
          <p:nvPr/>
        </p:nvSpPr>
        <p:spPr>
          <a:xfrm xmlns:a="http://schemas.openxmlformats.org/drawingml/2006/main">
            <a:off x="609600" y="1504950"/>
            <a:ext cx="776287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F2EFE7"/>
                </a:solidFill>
                <a:latin typeface="Arial Black"/>
                <a:ea typeface="Arial Black"/>
                <a:cs typeface="Arial Black"/>
              </a:defRPr>
            </a:defPPr>
          </a:lstStyle>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FROM INTENT</a:t>
            </a:r>
          </a:p>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TO ENFORCEMENT</a:t>
            </a:r>
          </a:p>
        </p:txBody>
      </p:sp>
      <p:sp>
        <p:nvSpPr>
          <p:cNvPr id="4" name="Quarantine Mode">
            <a:extLst xmlns:a="http://schemas.openxmlformats.org/drawingml/2006/main">
              <a:ext uri="{FF2B5EF4-FFF2-40B4-BE49-F238E27FC236}">
                <a16:creationId xmlns:a16="http://schemas.microsoft.com/office/drawing/2014/main" id="{745236CA-459C-46AF-AD78-AA5596D98A04}"/>
              </a:ext>
            </a:extLst>
          </p:cNvPr>
          <p:cNvSpPr>
            <a:spLocks xmlns:a="http://schemas.openxmlformats.org/drawingml/2006/main" noGrp="1"/>
          </p:cNvSpPr>
          <p:nvPr/>
        </p:nvSpPr>
        <p:spPr>
          <a:xfrm xmlns:a="http://schemas.openxmlformats.org/drawingml/2006/main">
            <a:off x="628650" y="3857625"/>
            <a:ext cx="5810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795B"/>
                </a:solidFill>
                <a:latin typeface="Arial"/>
                <a:ea typeface="Arial"/>
                <a:cs typeface="Arial"/>
              </a:defRPr>
            </a:defPPr>
          </a:lstStyle>
          <a:p xmlns:a="http://schemas.openxmlformats.org/drawingml/2006/main">
            <a:pPr>
              <a:defRPr sz="3150" b="1">
                <a:solidFill>
                  <a:srgbClr val="FF795B"/>
                </a:solidFill>
                <a:latin typeface="Arial"/>
                <a:ea typeface="Arial"/>
                <a:cs typeface="Arial"/>
              </a:defRPr>
            </a:pPr>
            <a:r>
              <a:rPr sz="3150" b="1">
                <a:solidFill>
                  <a:srgbClr val="FF795B"/>
                </a:solidFill>
                <a:latin typeface="Arial"/>
                <a:ea typeface="Arial"/>
                <a:cs typeface="Arial"/>
              </a:rPr>
              <a:t>Quarantine Mode</a:t>
            </a:r>
          </a:p>
        </p:txBody>
      </p:sp>
      <p:sp>
        <p:nvSpPr>
          <p:cNvPr id="5" name="Incident containment on a shared Kubernetes plat">
            <a:extLst xmlns:a="http://schemas.openxmlformats.org/drawingml/2006/main">
              <a:ext uri="{FF2B5EF4-FFF2-40B4-BE49-F238E27FC236}">
                <a16:creationId xmlns:a16="http://schemas.microsoft.com/office/drawing/2014/main" id="{B24E8554-3E01-4019-8306-3BC3C85A3239}"/>
              </a:ext>
            </a:extLst>
          </p:cNvPr>
          <p:cNvSpPr>
            <a:spLocks xmlns:a="http://schemas.openxmlformats.org/drawingml/2006/main" noGrp="1"/>
          </p:cNvSpPr>
          <p:nvPr/>
        </p:nvSpPr>
        <p:spPr>
          <a:xfrm xmlns:a="http://schemas.openxmlformats.org/drawingml/2006/main">
            <a:off x="628650" y="46386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2EFE7"/>
                </a:solidFill>
                <a:latin typeface="Arial"/>
                <a:ea typeface="Arial"/>
                <a:cs typeface="Arial"/>
              </a:defRPr>
            </a:defPPr>
          </a:lstStyle>
          <a:p xmlns:a="http://schemas.openxmlformats.org/drawingml/2006/main">
            <a:pPr>
              <a:defRPr sz="1800" b="0">
                <a:solidFill>
                  <a:srgbClr val="F2EFE7"/>
                </a:solidFill>
                <a:latin typeface="Arial"/>
                <a:ea typeface="Arial"/>
                <a:cs typeface="Arial"/>
              </a:defRPr>
            </a:pPr>
            <a:r>
              <a:rPr sz="1800" b="0">
                <a:solidFill>
                  <a:srgbClr val="F2EFE7"/>
                </a:solidFill>
                <a:latin typeface="Arial"/>
                <a:ea typeface="Arial"/>
                <a:cs typeface="Arial"/>
              </a:rPr>
              <a:t>Incident containment on a shared Kubernetes platform</a:t>
            </a:r>
          </a:p>
        </p:txBody>
      </p:sp>
      <p:sp>
        <p:nvSpPr>
          <p:cNvPr id="6" name="Co-presenters: Milind Gunjan  /  Vivek Mayuranat">
            <a:extLst xmlns:a="http://schemas.openxmlformats.org/drawingml/2006/main">
              <a:ext uri="{FF2B5EF4-FFF2-40B4-BE49-F238E27FC236}">
                <a16:creationId xmlns:a16="http://schemas.microsoft.com/office/drawing/2014/main" id="{F9A5CC30-ADB5-4F80-9B4B-8675B4637B1A}"/>
              </a:ext>
            </a:extLst>
          </p:cNvPr>
          <p:cNvSpPr>
            <a:spLocks xmlns:a="http://schemas.openxmlformats.org/drawingml/2006/main" noGrp="1"/>
          </p:cNvSpPr>
          <p:nvPr/>
        </p:nvSpPr>
        <p:spPr>
          <a:xfrm xmlns:a="http://schemas.openxmlformats.org/drawingml/2006/main">
            <a:off x="628650" y="5762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6C5CD"/>
                </a:solidFill>
                <a:latin typeface="Arial"/>
                <a:ea typeface="Arial"/>
                <a:cs typeface="Arial"/>
              </a:defRPr>
            </a:defPPr>
          </a:lstStyle>
          <a:p xmlns:a="http://schemas.openxmlformats.org/drawingml/2006/main">
            <a:pPr>
              <a:defRPr sz="1650" b="0">
                <a:solidFill>
                  <a:srgbClr val="B6C5CD"/>
                </a:solidFill>
                <a:latin typeface="Arial"/>
                <a:ea typeface="Arial"/>
                <a:cs typeface="Arial"/>
              </a:defRPr>
            </a:pPr>
            <a:r>
              <a:rPr sz="1650" b="0">
                <a:solidFill>
                  <a:srgbClr val="B6C5CD"/>
                </a:solidFill>
                <a:latin typeface="Arial"/>
                <a:ea typeface="Arial"/>
                <a:cs typeface="Arial"/>
              </a:rPr>
              <a:t>Co-presenters: Milind Gunjan  /  Vivek Mayuranathan</a:t>
            </a:r>
          </a:p>
        </p:txBody>
      </p:sp>
      <p:sp>
        <p:nvSpPr>
          <p:cNvPr id="7" name="October 26, 2026  ·  4:30–5:30 PM  ·  Views are ">
            <a:extLst xmlns:a="http://schemas.openxmlformats.org/drawingml/2006/main">
              <a:ext uri="{FF2B5EF4-FFF2-40B4-BE49-F238E27FC236}">
                <a16:creationId xmlns:a16="http://schemas.microsoft.com/office/drawing/2014/main" id="{3A4FDD67-E0F4-4E54-A3C5-B1435C31D959}"/>
              </a:ext>
            </a:extLst>
          </p:cNvPr>
          <p:cNvSpPr>
            <a:spLocks xmlns:a="http://schemas.openxmlformats.org/drawingml/2006/main" noGrp="1"/>
          </p:cNvSpPr>
          <p:nvPr/>
        </p:nvSpPr>
        <p:spPr>
          <a:xfrm xmlns:a="http://schemas.openxmlformats.org/drawingml/2006/main">
            <a:off x="628650" y="609600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6C5CD"/>
                </a:solidFill>
                <a:latin typeface="Arial"/>
                <a:ea typeface="Arial"/>
                <a:cs typeface="Arial"/>
              </a:defRPr>
            </a:defPPr>
          </a:lstStyle>
          <a:p xmlns:a="http://schemas.openxmlformats.org/drawingml/2006/main">
            <a:pPr>
              <a:defRPr sz="1125" b="0">
                <a:solidFill>
                  <a:srgbClr val="B6C5CD"/>
                </a:solidFill>
                <a:latin typeface="Arial"/>
                <a:ea typeface="Arial"/>
                <a:cs typeface="Arial"/>
              </a:defRPr>
            </a:pPr>
            <a:r>
              <a:rPr sz="1125" b="0">
                <a:solidFill>
                  <a:srgbClr val="B6C5CD"/>
                </a:solidFill>
                <a:latin typeface="Arial"/>
                <a:ea typeface="Arial"/>
                <a:cs typeface="Arial"/>
              </a:rPr>
              <a:t>October 26, 2026  ·  4:30–5:30 PM  ·  Views are our own</a:t>
            </a:r>
          </a:p>
        </p:txBody>
      </p:sp>
      <p:sp>
        <p:nvSpPr>
          <p:cNvPr id="8" name="ISC2 SECURITY CONGRESS 2026 / SC2632">
            <a:extLst xmlns:a="http://schemas.openxmlformats.org/drawingml/2006/main">
              <a:ext uri="{FF2B5EF4-FFF2-40B4-BE49-F238E27FC236}">
                <a16:creationId xmlns:a16="http://schemas.microsoft.com/office/drawing/2014/main" id="{E353472D-C64D-4B56-866B-9493BB6DDBA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9" name="01">
            <a:extLst xmlns:a="http://schemas.openxmlformats.org/drawingml/2006/main">
              <a:ext uri="{FF2B5EF4-FFF2-40B4-BE49-F238E27FC236}">
                <a16:creationId xmlns:a16="http://schemas.microsoft.com/office/drawing/2014/main" id="{75B5AEB2-441A-432C-86DE-7E2CE1641C2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01</a:t>
            </a:r>
          </a:p>
        </p:txBody>
      </p:sp>
    </p:spTree>
    <p:extLst>
      <p:ext uri="{BB962C8B-B14F-4D97-AF65-F5344CB8AC3E}">
        <p14:creationId xmlns:p14="http://schemas.microsoft.com/office/powerpoint/2010/main" val="353957419"/>
      </p:ext>
    </p:extLst>
  </p:cSld>
</p:sld>
</file>

<file path=ppt/slides/slide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0" name="FICTIONAL INCIDENT / SHARED PRODUCTION PLATFORM">
            <a:extLst xmlns:a="http://schemas.openxmlformats.org/drawingml/2006/main">
              <a:ext uri="{FF2B5EF4-FFF2-40B4-BE49-F238E27FC236}">
                <a16:creationId xmlns:a16="http://schemas.microsoft.com/office/drawing/2014/main" id="{7A478509-BB6E-454E-8F86-24FD33F09109}"/>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FICTIONAL INCIDENT / SHARED PRODUCTION PLATFORM</a:t>
            </a:r>
          </a:p>
        </p:txBody>
      </p:sp>
      <p:sp>
        <p:nvSpPr>
          <p:cNvPr id="2" name="Your incident review begins">
            <a:extLst xmlns:a="http://schemas.openxmlformats.org/drawingml/2006/main">
              <a:ext uri="{FF2B5EF4-FFF2-40B4-BE49-F238E27FC236}">
                <a16:creationId xmlns:a16="http://schemas.microsoft.com/office/drawing/2014/main" id="{C0400050-C080-4975-84B8-F6F7FBB035BE}"/>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0B1822"/>
                </a:solidFill>
                <a:latin typeface="Arial Black"/>
                <a:ea typeface="Arial Black"/>
                <a:cs typeface="Arial Black"/>
              </a:defRPr>
            </a:defPPr>
          </a:lstStyle>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Your incident review begins</a:t>
            </a:r>
          </a:p>
        </p:txBody>
      </p:sp>
      <p:sp>
        <p:nvSpPr>
          <p:cNvPr id="3" name="THE SITUATION">
            <a:extLst xmlns:a="http://schemas.openxmlformats.org/drawingml/2006/main">
              <a:ext uri="{FF2B5EF4-FFF2-40B4-BE49-F238E27FC236}">
                <a16:creationId xmlns:a16="http://schemas.microsoft.com/office/drawing/2014/main" id="{E566F50D-C0E4-4FEB-A744-9DE05A55D2A5}"/>
              </a:ext>
            </a:extLst>
          </p:cNvPr>
          <p:cNvSpPr>
            <a:spLocks xmlns:a="http://schemas.openxmlformats.org/drawingml/2006/main" noGrp="1"/>
          </p:cNvSpPr>
          <p:nvPr/>
        </p:nvSpPr>
        <p:spPr>
          <a:xfrm xmlns:a="http://schemas.openxmlformats.org/drawingml/2006/main">
            <a:off x="628650" y="24193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THE SITUATION</a:t>
            </a:r>
          </a:p>
        </p:txBody>
      </p:sp>
      <p:sp>
        <p:nvSpPr>
          <p:cNvPr id="4" name="Example: after a library update, payments makes ">
            <a:extLst xmlns:a="http://schemas.openxmlformats.org/drawingml/2006/main">
              <a:ext uri="{FF2B5EF4-FFF2-40B4-BE49-F238E27FC236}">
                <a16:creationId xmlns:a16="http://schemas.microsoft.com/office/drawing/2014/main" id="{96DC518F-F682-4ECC-80D0-241435007BD0}"/>
              </a:ext>
            </a:extLst>
          </p:cNvPr>
          <p:cNvSpPr>
            <a:spLocks xmlns:a="http://schemas.openxmlformats.org/drawingml/2006/main" noGrp="1"/>
          </p:cNvSpPr>
          <p:nvPr/>
        </p:nvSpPr>
        <p:spPr>
          <a:xfrm xmlns:a="http://schemas.openxmlformats.org/drawingml/2006/main">
            <a:off x="628650" y="2809875"/>
            <a:ext cx="10763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0B1822"/>
                </a:solidFill>
                <a:latin typeface="Arial"/>
                <a:ea typeface="Arial"/>
                <a:cs typeface="Arial"/>
              </a:defRPr>
            </a:defPPr>
          </a:lstStyle>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Example: after a library update, payments makes unexpected connections.</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Services still run. Exposure is uncertain.</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Broad restrictions could disrupt essential work.</a:t>
            </a:r>
          </a:p>
        </p:txBody>
      </p:sp>
      <p:sp>
        <p:nvSpPr>
          <p:cNvPr id="5" name="YOUR DECISION">
            <a:extLst xmlns:a="http://schemas.openxmlformats.org/drawingml/2006/main">
              <a:ext uri="{FF2B5EF4-FFF2-40B4-BE49-F238E27FC236}">
                <a16:creationId xmlns:a16="http://schemas.microsoft.com/office/drawing/2014/main" id="{B3679574-30E1-45A9-9BA2-3EB7540E81BE}"/>
              </a:ext>
            </a:extLst>
          </p:cNvPr>
          <p:cNvSpPr>
            <a:spLocks xmlns:a="http://schemas.openxmlformats.org/drawingml/2006/main" noGrp="1"/>
          </p:cNvSpPr>
          <p:nvPr/>
        </p:nvSpPr>
        <p:spPr>
          <a:xfrm xmlns:a="http://schemas.openxmlformats.org/drawingml/2006/main">
            <a:off x="628650" y="41243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YOUR DECISION</a:t>
            </a:r>
          </a:p>
        </p:txBody>
      </p:sp>
      <p:sp>
        <p:nvSpPr>
          <p:cNvPr id="6" name="What may proceed, what must be held,&#10;and what ev">
            <a:extLst xmlns:a="http://schemas.openxmlformats.org/drawingml/2006/main">
              <a:ext uri="{FF2B5EF4-FFF2-40B4-BE49-F238E27FC236}">
                <a16:creationId xmlns:a16="http://schemas.microsoft.com/office/drawing/2014/main" id="{48AC5615-519D-49CF-9FC2-B7BE954A1BF1}"/>
              </a:ext>
            </a:extLst>
          </p:cNvPr>
          <p:cNvSpPr>
            <a:spLocks xmlns:a="http://schemas.openxmlformats.org/drawingml/2006/main" noGrp="1"/>
          </p:cNvSpPr>
          <p:nvPr/>
        </p:nvSpPr>
        <p:spPr>
          <a:xfrm xmlns:a="http://schemas.openxmlformats.org/drawingml/2006/main">
            <a:off x="628650" y="4562475"/>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What may proceed, what must be held,</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and what evidence would justify tightening controls?</a:t>
            </a:r>
          </a:p>
        </p:txBody>
      </p:sp>
      <p:sp>
        <p:nvSpPr>
          <p:cNvPr id="7" name="Your output: a reviewed change set and a scoped ">
            <a:extLst xmlns:a="http://schemas.openxmlformats.org/drawingml/2006/main">
              <a:ext uri="{FF2B5EF4-FFF2-40B4-BE49-F238E27FC236}">
                <a16:creationId xmlns:a16="http://schemas.microsoft.com/office/drawing/2014/main" id="{0D066A6F-749B-4C45-AE6B-1530FBB2B928}"/>
              </a:ext>
            </a:extLst>
          </p:cNvPr>
          <p:cNvSpPr>
            <a:spLocks xmlns:a="http://schemas.openxmlformats.org/drawingml/2006/main" noGrp="1"/>
          </p:cNvSpPr>
          <p:nvPr/>
        </p:nvSpPr>
        <p:spPr>
          <a:xfrm xmlns:a="http://schemas.openxmlformats.org/drawingml/2006/main">
            <a:off x="628650" y="58578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Your output: a reviewed change set and a scoped containment / recovery plan.</a:t>
            </a:r>
          </a:p>
        </p:txBody>
      </p:sp>
      <p:sp>
        <p:nvSpPr>
          <p:cNvPr id="8" name="ISC2 SECURITY CONGRESS 2026 / SC2632">
            <a:extLst xmlns:a="http://schemas.openxmlformats.org/drawingml/2006/main">
              <a:ext uri="{FF2B5EF4-FFF2-40B4-BE49-F238E27FC236}">
                <a16:creationId xmlns:a16="http://schemas.microsoft.com/office/drawing/2014/main" id="{7DB58763-3DB2-4DA1-B72B-ED4FF18B3CF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9" name="02">
            <a:extLst xmlns:a="http://schemas.openxmlformats.org/drawingml/2006/main">
              <a:ext uri="{FF2B5EF4-FFF2-40B4-BE49-F238E27FC236}">
                <a16:creationId xmlns:a16="http://schemas.microsoft.com/office/drawing/2014/main" id="{317A7373-26F3-4911-9957-0F0F8F5AC0E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02</a:t>
            </a:r>
          </a:p>
        </p:txBody>
      </p:sp>
    </p:spTree>
    <p:extLst>
      <p:ext uri="{BB962C8B-B14F-4D97-AF65-F5344CB8AC3E}">
        <p14:creationId xmlns:p14="http://schemas.microsoft.com/office/powerpoint/2010/main" val="143057251"/>
      </p:ext>
    </p:extLst>
  </p:cSld>
</p:sld>
</file>

<file path=ppt/slides/slide3.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3" name="WHAT KUBERNETES DOES / WHY SHARED ACCESS MATTERS">
            <a:extLst xmlns:a="http://schemas.openxmlformats.org/drawingml/2006/main">
              <a:ext uri="{FF2B5EF4-FFF2-40B4-BE49-F238E27FC236}">
                <a16:creationId xmlns:a16="http://schemas.microsoft.com/office/drawing/2014/main" id="{98C0CFE7-02A2-40F8-941E-79BAE53D15E6}"/>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WHAT KUBERNETES DOES / WHY SHARED ACCESS MATTERS</a:t>
            </a:r>
          </a:p>
        </p:txBody>
      </p:sp>
      <p:sp>
        <p:nvSpPr>
          <p:cNvPr id="2" name="The environment in plain language">
            <a:extLst xmlns:a="http://schemas.openxmlformats.org/drawingml/2006/main">
              <a:ext uri="{FF2B5EF4-FFF2-40B4-BE49-F238E27FC236}">
                <a16:creationId xmlns:a16="http://schemas.microsoft.com/office/drawing/2014/main" id="{84B148E4-86DB-470B-9803-5EC779A16CAD}"/>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F2EFE7"/>
                </a:solidFill>
                <a:latin typeface="Arial Black"/>
                <a:ea typeface="Arial Black"/>
                <a:cs typeface="Arial Black"/>
              </a:defRPr>
            </a:defPPr>
          </a:lstStyle>
          <a:p xmlns:a="http://schemas.openxmlformats.org/drawingml/2006/main">
            <a:pPr>
              <a:defRPr sz="3600" b="1">
                <a:solidFill>
                  <a:srgbClr val="F2EFE7"/>
                </a:solidFill>
                <a:latin typeface="Arial Black"/>
                <a:ea typeface="Arial Black"/>
                <a:cs typeface="Arial Black"/>
              </a:defRPr>
            </a:pPr>
            <a:r>
              <a:rPr sz="3600" b="1">
                <a:solidFill>
                  <a:srgbClr val="F2EFE7"/>
                </a:solidFill>
                <a:latin typeface="Arial Black"/>
                <a:ea typeface="Arial Black"/>
                <a:cs typeface="Arial Black"/>
              </a:rPr>
              <a:t>The environment in plain language</a:t>
            </a:r>
          </a:p>
        </p:txBody>
      </p:sp>
      <p:sp>
        <p:nvSpPr>
          <p:cNvPr id="3" name="Kubernetes manages application packages, called ">
            <a:extLst xmlns:a="http://schemas.openxmlformats.org/drawingml/2006/main">
              <a:ext uri="{FF2B5EF4-FFF2-40B4-BE49-F238E27FC236}">
                <a16:creationId xmlns:a16="http://schemas.microsoft.com/office/drawing/2014/main" id="{75D7EE0B-9A3C-49DE-98EC-70749BC2FD0A}"/>
              </a:ext>
            </a:extLst>
          </p:cNvPr>
          <p:cNvSpPr>
            <a:spLocks xmlns:a="http://schemas.openxmlformats.org/drawingml/2006/main" noGrp="1"/>
          </p:cNvSpPr>
          <p:nvPr/>
        </p:nvSpPr>
        <p:spPr>
          <a:xfrm xmlns:a="http://schemas.openxmlformats.org/drawingml/2006/main">
            <a:off x="628650" y="2352675"/>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Kubernetes manages application packages, called containers, across machines.</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Payment services and automated agents share this platform.</a:t>
            </a:r>
          </a:p>
        </p:txBody>
      </p:sp>
      <p:sp>
        <p:nvSpPr>
          <p:cNvPr id="4" name="Application copies">
            <a:extLst xmlns:a="http://schemas.openxmlformats.org/drawingml/2006/main">
              <a:ext uri="{FF2B5EF4-FFF2-40B4-BE49-F238E27FC236}">
                <a16:creationId xmlns:a16="http://schemas.microsoft.com/office/drawing/2014/main" id="{722A448F-0968-4381-813C-C7402DBBB3EB}"/>
              </a:ext>
            </a:extLst>
          </p:cNvPr>
          <p:cNvSpPr>
            <a:spLocks xmlns:a="http://schemas.openxmlformats.org/drawingml/2006/main" noGrp="1"/>
          </p:cNvSpPr>
          <p:nvPr/>
        </p:nvSpPr>
        <p:spPr>
          <a:xfrm xmlns:a="http://schemas.openxmlformats.org/drawingml/2006/main">
            <a:off x="609600" y="340042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Application copies</a:t>
            </a:r>
          </a:p>
        </p:txBody>
      </p:sp>
      <p:sp>
        <p:nvSpPr>
          <p:cNvPr id="5" name="Pods: running units. Replicas: copies.">
            <a:extLst xmlns:a="http://schemas.openxmlformats.org/drawingml/2006/main">
              <a:ext uri="{FF2B5EF4-FFF2-40B4-BE49-F238E27FC236}">
                <a16:creationId xmlns:a16="http://schemas.microsoft.com/office/drawing/2014/main" id="{A33E5969-9C3E-4B5C-93C7-DA1E6E2C769C}"/>
              </a:ext>
            </a:extLst>
          </p:cNvPr>
          <p:cNvSpPr>
            <a:spLocks xmlns:a="http://schemas.openxmlformats.org/drawingml/2006/main" noGrp="1"/>
          </p:cNvSpPr>
          <p:nvPr/>
        </p:nvSpPr>
        <p:spPr>
          <a:xfrm xmlns:a="http://schemas.openxmlformats.org/drawingml/2006/main">
            <a:off x="3562350" y="340042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Pods: running units. Replicas: copies.</a:t>
            </a:r>
          </a:p>
        </p:txBody>
      </p:sp>
      <p:sp>
        <p:nvSpPr>
          <p:cNvPr id="6" name="Resource groups">
            <a:extLst xmlns:a="http://schemas.openxmlformats.org/drawingml/2006/main">
              <a:ext uri="{FF2B5EF4-FFF2-40B4-BE49-F238E27FC236}">
                <a16:creationId xmlns:a16="http://schemas.microsoft.com/office/drawing/2014/main" id="{658859EC-9195-4B1F-BCA6-FB0CFD41AD06}"/>
              </a:ext>
            </a:extLst>
          </p:cNvPr>
          <p:cNvSpPr>
            <a:spLocks xmlns:a="http://schemas.openxmlformats.org/drawingml/2006/main" noGrp="1"/>
          </p:cNvSpPr>
          <p:nvPr/>
        </p:nvSpPr>
        <p:spPr>
          <a:xfrm xmlns:a="http://schemas.openxmlformats.org/drawingml/2006/main">
            <a:off x="609600" y="4114800"/>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Resource groups</a:t>
            </a:r>
          </a:p>
        </p:txBody>
      </p:sp>
      <p:sp>
        <p:nvSpPr>
          <p:cNvPr id="7" name="Namespaces: named groups, such as payments.">
            <a:extLst xmlns:a="http://schemas.openxmlformats.org/drawingml/2006/main">
              <a:ext uri="{FF2B5EF4-FFF2-40B4-BE49-F238E27FC236}">
                <a16:creationId xmlns:a16="http://schemas.microsoft.com/office/drawing/2014/main" id="{43264A5A-4BF4-4F66-981E-F6B48E6E2DFA}"/>
              </a:ext>
            </a:extLst>
          </p:cNvPr>
          <p:cNvSpPr>
            <a:spLocks xmlns:a="http://schemas.openxmlformats.org/drawingml/2006/main" noGrp="1"/>
          </p:cNvSpPr>
          <p:nvPr/>
        </p:nvSpPr>
        <p:spPr>
          <a:xfrm xmlns:a="http://schemas.openxmlformats.org/drawingml/2006/main">
            <a:off x="3562350" y="4114800"/>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Namespaces: named groups, such as payments.</a:t>
            </a:r>
          </a:p>
        </p:txBody>
      </p:sp>
      <p:sp>
        <p:nvSpPr>
          <p:cNvPr id="8" name="Workload identity">
            <a:extLst xmlns:a="http://schemas.openxmlformats.org/drawingml/2006/main">
              <a:ext uri="{FF2B5EF4-FFF2-40B4-BE49-F238E27FC236}">
                <a16:creationId xmlns:a16="http://schemas.microsoft.com/office/drawing/2014/main" id="{691EC45D-88B4-48CF-8BA5-A0217771F023}"/>
              </a:ext>
            </a:extLst>
          </p:cNvPr>
          <p:cNvSpPr>
            <a:spLocks xmlns:a="http://schemas.openxmlformats.org/drawingml/2006/main" noGrp="1"/>
          </p:cNvSpPr>
          <p:nvPr/>
        </p:nvSpPr>
        <p:spPr>
          <a:xfrm xmlns:a="http://schemas.openxmlformats.org/drawingml/2006/main">
            <a:off x="609600" y="482917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Workload identity</a:t>
            </a:r>
          </a:p>
        </p:txBody>
      </p:sp>
      <p:sp>
        <p:nvSpPr>
          <p:cNvPr id="9" name="ServiceAccount: identity for management API requ">
            <a:extLst xmlns:a="http://schemas.openxmlformats.org/drawingml/2006/main">
              <a:ext uri="{FF2B5EF4-FFF2-40B4-BE49-F238E27FC236}">
                <a16:creationId xmlns:a16="http://schemas.microsoft.com/office/drawing/2014/main" id="{3121D43C-5979-4F2C-83DA-043335977BF1}"/>
              </a:ext>
            </a:extLst>
          </p:cNvPr>
          <p:cNvSpPr>
            <a:spLocks xmlns:a="http://schemas.openxmlformats.org/drawingml/2006/main" noGrp="1"/>
          </p:cNvSpPr>
          <p:nvPr/>
        </p:nvSpPr>
        <p:spPr>
          <a:xfrm xmlns:a="http://schemas.openxmlformats.org/drawingml/2006/main">
            <a:off x="3562350" y="482917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ServiceAccount: identity for management API requests.</a:t>
            </a:r>
          </a:p>
        </p:txBody>
      </p:sp>
      <p:sp>
        <p:nvSpPr>
          <p:cNvPr id="10" name="Multiple services share infrastructure and depen">
            <a:extLst xmlns:a="http://schemas.openxmlformats.org/drawingml/2006/main">
              <a:ext uri="{FF2B5EF4-FFF2-40B4-BE49-F238E27FC236}">
                <a16:creationId xmlns:a16="http://schemas.microsoft.com/office/drawing/2014/main" id="{459A2D87-CF67-4229-A2E6-0752F692ABDF}"/>
              </a:ext>
            </a:extLst>
          </p:cNvPr>
          <p:cNvSpPr>
            <a:spLocks xmlns:a="http://schemas.openxmlformats.org/drawingml/2006/main" noGrp="1"/>
          </p:cNvSpPr>
          <p:nvPr/>
        </p:nvSpPr>
        <p:spPr>
          <a:xfrm xmlns:a="http://schemas.openxmlformats.org/drawingml/2006/main">
            <a:off x="628650" y="57626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2EFE7"/>
                </a:solidFill>
                <a:latin typeface="Arial"/>
                <a:ea typeface="Arial"/>
                <a:cs typeface="Arial"/>
              </a:defRPr>
            </a:defPPr>
          </a:lstStyle>
          <a:p xmlns:a="http://schemas.openxmlformats.org/drawingml/2006/main">
            <a:pPr>
              <a:defRPr sz="1875" b="0">
                <a:solidFill>
                  <a:srgbClr val="F2EFE7"/>
                </a:solidFill>
                <a:latin typeface="Arial"/>
                <a:ea typeface="Arial"/>
                <a:cs typeface="Arial"/>
              </a:defRPr>
            </a:pPr>
            <a:r>
              <a:rPr sz="1875" b="0">
                <a:solidFill>
                  <a:srgbClr val="F2EFE7"/>
                </a:solidFill>
                <a:latin typeface="Arial"/>
                <a:ea typeface="Arial"/>
                <a:cs typeface="Arial"/>
              </a:rPr>
              <a:t>Multiple services share infrastructure and dependencies.</a:t>
            </a:r>
          </a:p>
          <a:p xmlns:a="http://schemas.openxmlformats.org/drawingml/2006/main">
            <a:pPr>
              <a:defRPr sz="1875" b="0">
                <a:solidFill>
                  <a:srgbClr val="F2EFE7"/>
                </a:solidFill>
                <a:latin typeface="Arial"/>
                <a:ea typeface="Arial"/>
                <a:cs typeface="Arial"/>
              </a:defRPr>
            </a:pPr>
            <a:r>
              <a:rPr sz="1875" b="0">
                <a:solidFill>
                  <a:srgbClr val="F2EFE7"/>
                </a:solidFill>
                <a:latin typeface="Arial"/>
                <a:ea typeface="Arial"/>
                <a:cs typeface="Arial"/>
              </a:rPr>
              <a:t>A restriction for one can affect another.</a:t>
            </a:r>
          </a:p>
        </p:txBody>
      </p:sp>
      <p:sp>
        <p:nvSpPr>
          <p:cNvPr id="11" name="ISC2 SECURITY CONGRESS 2026 / SC2632">
            <a:extLst xmlns:a="http://schemas.openxmlformats.org/drawingml/2006/main">
              <a:ext uri="{FF2B5EF4-FFF2-40B4-BE49-F238E27FC236}">
                <a16:creationId xmlns:a16="http://schemas.microsoft.com/office/drawing/2014/main" id="{F9E7268A-8171-40C6-B783-C0267DC1DE3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2" name="03">
            <a:extLst xmlns:a="http://schemas.openxmlformats.org/drawingml/2006/main">
              <a:ext uri="{FF2B5EF4-FFF2-40B4-BE49-F238E27FC236}">
                <a16:creationId xmlns:a16="http://schemas.microsoft.com/office/drawing/2014/main" id="{0150AD0C-BC82-496E-AAAA-10ED6330BD0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03</a:t>
            </a:r>
          </a:p>
        </p:txBody>
      </p:sp>
    </p:spTree>
    <p:extLst>
      <p:ext uri="{BB962C8B-B14F-4D97-AF65-F5344CB8AC3E}">
        <p14:creationId xmlns:p14="http://schemas.microsoft.com/office/powerpoint/2010/main" val="1654232061"/>
      </p:ext>
    </p:extLst>
  </p:cSld>
</p:sld>
</file>

<file path=ppt/slides/slide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3" name="WHY KYVERNO / PREVENT UNSAFE CHANGES AT THE API">
            <a:extLst xmlns:a="http://schemas.openxmlformats.org/drawingml/2006/main">
              <a:ext uri="{FF2B5EF4-FFF2-40B4-BE49-F238E27FC236}">
                <a16:creationId xmlns:a16="http://schemas.microsoft.com/office/drawing/2014/main" id="{0249B65F-F3CA-4DB5-9DA8-CD5A0046EE6C}"/>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WHY KYVERNO / PREVENT UNSAFE CHANGES AT THE API</a:t>
            </a:r>
          </a:p>
        </p:txBody>
      </p:sp>
      <p:sp>
        <p:nvSpPr>
          <p:cNvPr id="2" name="Kyverno checks proposed changes">
            <a:extLst xmlns:a="http://schemas.openxmlformats.org/drawingml/2006/main">
              <a:ext uri="{FF2B5EF4-FFF2-40B4-BE49-F238E27FC236}">
                <a16:creationId xmlns:a16="http://schemas.microsoft.com/office/drawing/2014/main" id="{4820D81D-4E50-4102-A608-B7B06D51F7A6}"/>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0B1822"/>
                </a:solidFill>
                <a:latin typeface="Arial Black"/>
                <a:ea typeface="Arial Black"/>
                <a:cs typeface="Arial Black"/>
              </a:defRPr>
            </a:defPPr>
          </a:lstStyle>
          <a:p xmlns:a="http://schemas.openxmlformats.org/drawingml/2006/main">
            <a:pPr>
              <a:defRPr sz="3900" b="1">
                <a:solidFill>
                  <a:srgbClr val="0B1822"/>
                </a:solidFill>
                <a:latin typeface="Arial Black"/>
                <a:ea typeface="Arial Black"/>
                <a:cs typeface="Arial Black"/>
              </a:defRPr>
            </a:pPr>
            <a:r>
              <a:rPr sz="3900" b="1">
                <a:solidFill>
                  <a:srgbClr val="0B1822"/>
                </a:solidFill>
                <a:latin typeface="Arial Black"/>
                <a:ea typeface="Arial Black"/>
                <a:cs typeface="Arial Black"/>
              </a:rPr>
              <a:t>Kyverno checks proposed changes</a:t>
            </a:r>
          </a:p>
        </p:txBody>
      </p:sp>
      <p:sp>
        <p:nvSpPr>
          <p:cNvPr id="3" name="Kyverno checks a requested change before it take">
            <a:extLst xmlns:a="http://schemas.openxmlformats.org/drawingml/2006/main">
              <a:ext uri="{FF2B5EF4-FFF2-40B4-BE49-F238E27FC236}">
                <a16:creationId xmlns:a16="http://schemas.microsoft.com/office/drawing/2014/main" id="{AE0A2DC6-768A-44FD-83F8-ABF262E80B12}"/>
              </a:ext>
            </a:extLst>
          </p:cNvPr>
          <p:cNvSpPr>
            <a:spLocks xmlns:a="http://schemas.openxmlformats.org/drawingml/2006/main" noGrp="1"/>
          </p:cNvSpPr>
          <p:nvPr/>
        </p:nvSpPr>
        <p:spPr>
          <a:xfrm xmlns:a="http://schemas.openxmlformats.org/drawingml/2006/main">
            <a:off x="628650" y="23526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Kyverno checks a requested change before it takes effect.</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That checkpoint is called admission.</a:t>
            </a:r>
          </a:p>
        </p:txBody>
      </p:sp>
      <p:sp>
        <p:nvSpPr>
          <p:cNvPr id="4" name="Request">
            <a:extLst xmlns:a="http://schemas.openxmlformats.org/drawingml/2006/main">
              <a:ext uri="{FF2B5EF4-FFF2-40B4-BE49-F238E27FC236}">
                <a16:creationId xmlns:a16="http://schemas.microsoft.com/office/drawing/2014/main" id="{10FA9FF8-D0E6-4E27-BCC8-AE2CCC980C1D}"/>
              </a:ext>
            </a:extLst>
          </p:cNvPr>
          <p:cNvSpPr>
            <a:spLocks xmlns:a="http://schemas.openxmlformats.org/drawingml/2006/main" noGrp="1"/>
          </p:cNvSpPr>
          <p:nvPr/>
        </p:nvSpPr>
        <p:spPr>
          <a:xfrm xmlns:a="http://schemas.openxmlformats.org/drawingml/2006/main">
            <a:off x="609600" y="3467100"/>
            <a:ext cx="2019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Request</a:t>
            </a:r>
          </a:p>
        </p:txBody>
      </p:sp>
      <p:sp>
        <p:nvSpPr>
          <p:cNvPr id="5" name="Start an application copy with privilege escalat">
            <a:extLst xmlns:a="http://schemas.openxmlformats.org/drawingml/2006/main">
              <a:ext uri="{FF2B5EF4-FFF2-40B4-BE49-F238E27FC236}">
                <a16:creationId xmlns:a16="http://schemas.microsoft.com/office/drawing/2014/main" id="{EEE6EB77-1D50-4278-A853-3ACB1A5F0BA7}"/>
              </a:ext>
            </a:extLst>
          </p:cNvPr>
          <p:cNvSpPr>
            <a:spLocks xmlns:a="http://schemas.openxmlformats.org/drawingml/2006/main" noGrp="1"/>
          </p:cNvSpPr>
          <p:nvPr/>
        </p:nvSpPr>
        <p:spPr>
          <a:xfrm xmlns:a="http://schemas.openxmlformats.org/drawingml/2006/main">
            <a:off x="2914650" y="3467100"/>
            <a:ext cx="8362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Start an application copy with privilege escalation.</a:t>
            </a:r>
          </a:p>
        </p:txBody>
      </p:sp>
      <p:sp>
        <p:nvSpPr>
          <p:cNvPr id="6" name="Rule">
            <a:extLst xmlns:a="http://schemas.openxmlformats.org/drawingml/2006/main">
              <a:ext uri="{FF2B5EF4-FFF2-40B4-BE49-F238E27FC236}">
                <a16:creationId xmlns:a16="http://schemas.microsoft.com/office/drawing/2014/main" id="{ABCA5434-A1C5-4670-BA0A-FD7A41D2E971}"/>
              </a:ext>
            </a:extLst>
          </p:cNvPr>
          <p:cNvSpPr>
            <a:spLocks xmlns:a="http://schemas.openxmlformats.org/drawingml/2006/main" noGrp="1"/>
          </p:cNvSpPr>
          <p:nvPr/>
        </p:nvSpPr>
        <p:spPr>
          <a:xfrm xmlns:a="http://schemas.openxmlformats.org/drawingml/2006/main">
            <a:off x="609600" y="4171950"/>
            <a:ext cx="2019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Rule</a:t>
            </a:r>
          </a:p>
        </p:txBody>
      </p:sp>
      <p:sp>
        <p:nvSpPr>
          <p:cNvPr id="7" name="New application copies must disallow privilege e">
            <a:extLst xmlns:a="http://schemas.openxmlformats.org/drawingml/2006/main">
              <a:ext uri="{FF2B5EF4-FFF2-40B4-BE49-F238E27FC236}">
                <a16:creationId xmlns:a16="http://schemas.microsoft.com/office/drawing/2014/main" id="{C713E692-100F-47FF-BE96-C2E018CBEB2F}"/>
              </a:ext>
            </a:extLst>
          </p:cNvPr>
          <p:cNvSpPr>
            <a:spLocks xmlns:a="http://schemas.openxmlformats.org/drawingml/2006/main" noGrp="1"/>
          </p:cNvSpPr>
          <p:nvPr/>
        </p:nvSpPr>
        <p:spPr>
          <a:xfrm xmlns:a="http://schemas.openxmlformats.org/drawingml/2006/main">
            <a:off x="2914650" y="4171950"/>
            <a:ext cx="8362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New application copies must disallow privilege escalation.</a:t>
            </a:r>
          </a:p>
        </p:txBody>
      </p:sp>
      <p:sp>
        <p:nvSpPr>
          <p:cNvPr id="8" name="Deny mode">
            <a:extLst xmlns:a="http://schemas.openxmlformats.org/drawingml/2006/main">
              <a:ext uri="{FF2B5EF4-FFF2-40B4-BE49-F238E27FC236}">
                <a16:creationId xmlns:a16="http://schemas.microsoft.com/office/drawing/2014/main" id="{AF525AA2-1AF5-4531-8722-0F4CB5E0C035}"/>
              </a:ext>
            </a:extLst>
          </p:cNvPr>
          <p:cNvSpPr>
            <a:spLocks xmlns:a="http://schemas.openxmlformats.org/drawingml/2006/main" noGrp="1"/>
          </p:cNvSpPr>
          <p:nvPr/>
        </p:nvSpPr>
        <p:spPr>
          <a:xfrm xmlns:a="http://schemas.openxmlformats.org/drawingml/2006/main">
            <a:off x="609600" y="4876800"/>
            <a:ext cx="2019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Deny mode</a:t>
            </a:r>
          </a:p>
        </p:txBody>
      </p:sp>
      <p:sp>
        <p:nvSpPr>
          <p:cNvPr id="9" name="Refuse that covered request.">
            <a:extLst xmlns:a="http://schemas.openxmlformats.org/drawingml/2006/main">
              <a:ext uri="{FF2B5EF4-FFF2-40B4-BE49-F238E27FC236}">
                <a16:creationId xmlns:a16="http://schemas.microsoft.com/office/drawing/2014/main" id="{15242994-24BE-422A-ACF5-4AD9A165B29D}"/>
              </a:ext>
            </a:extLst>
          </p:cNvPr>
          <p:cNvSpPr>
            <a:spLocks xmlns:a="http://schemas.openxmlformats.org/drawingml/2006/main" noGrp="1"/>
          </p:cNvSpPr>
          <p:nvPr/>
        </p:nvSpPr>
        <p:spPr>
          <a:xfrm xmlns:a="http://schemas.openxmlformats.org/drawingml/2006/main">
            <a:off x="2914650" y="4876800"/>
            <a:ext cx="8362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Refuse that covered request.</a:t>
            </a:r>
          </a:p>
        </p:txBody>
      </p:sp>
      <p:sp>
        <p:nvSpPr>
          <p:cNvPr id="10" name="An application already running keeps running. Tr">
            <a:extLst xmlns:a="http://schemas.openxmlformats.org/drawingml/2006/main">
              <a:ext uri="{FF2B5EF4-FFF2-40B4-BE49-F238E27FC236}">
                <a16:creationId xmlns:a16="http://schemas.microsoft.com/office/drawing/2014/main" id="{583F1A6C-F80F-4F67-ADE2-6D8CB340A644}"/>
              </a:ext>
            </a:extLst>
          </p:cNvPr>
          <p:cNvSpPr>
            <a:spLocks xmlns:a="http://schemas.openxmlformats.org/drawingml/2006/main" noGrp="1"/>
          </p:cNvSpPr>
          <p:nvPr/>
        </p:nvSpPr>
        <p:spPr>
          <a:xfrm xmlns:a="http://schemas.openxmlformats.org/drawingml/2006/main">
            <a:off x="628650" y="56959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B1822"/>
                </a:solidFill>
                <a:latin typeface="Arial"/>
                <a:ea typeface="Arial"/>
                <a:cs typeface="Arial"/>
              </a:defRPr>
            </a:defPPr>
          </a:lstStyle>
          <a:p xmlns:a="http://schemas.openxmlformats.org/drawingml/2006/main">
            <a:pPr>
              <a:defRPr sz="1875" b="1">
                <a:solidFill>
                  <a:srgbClr val="0B1822"/>
                </a:solidFill>
                <a:latin typeface="Arial"/>
                <a:ea typeface="Arial"/>
                <a:cs typeface="Arial"/>
              </a:defRPr>
            </a:pPr>
            <a:r>
              <a:rPr sz="1875" b="1">
                <a:solidFill>
                  <a:srgbClr val="0B1822"/>
                </a:solidFill>
                <a:latin typeface="Arial"/>
                <a:ea typeface="Arial"/>
                <a:cs typeface="Arial"/>
              </a:rPr>
              <a:t>An application already running keeps running. Traffic, management access</a:t>
            </a:r>
          </a:p>
          <a:p xmlns:a="http://schemas.openxmlformats.org/drawingml/2006/main">
            <a:pPr>
              <a:defRPr sz="1875" b="1">
                <a:solidFill>
                  <a:srgbClr val="0B1822"/>
                </a:solidFill>
                <a:latin typeface="Arial"/>
                <a:ea typeface="Arial"/>
                <a:cs typeface="Arial"/>
              </a:defRPr>
            </a:pPr>
            <a:r>
              <a:rPr sz="1875" b="1">
                <a:solidFill>
                  <a:srgbClr val="0B1822"/>
                </a:solidFill>
                <a:latin typeface="Arial"/>
                <a:ea typeface="Arial"/>
                <a:cs typeface="Arial"/>
              </a:rPr>
              <a:t>and agent tools need their own controls.</a:t>
            </a:r>
          </a:p>
        </p:txBody>
      </p:sp>
      <p:sp>
        <p:nvSpPr>
          <p:cNvPr id="11" name="ISC2 SECURITY CONGRESS 2026 / SC2632">
            <a:extLst xmlns:a="http://schemas.openxmlformats.org/drawingml/2006/main">
              <a:ext uri="{FF2B5EF4-FFF2-40B4-BE49-F238E27FC236}">
                <a16:creationId xmlns:a16="http://schemas.microsoft.com/office/drawing/2014/main" id="{0F8E1E04-E288-47FE-B8B9-F7287BA3888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2" name="04">
            <a:extLst xmlns:a="http://schemas.openxmlformats.org/drawingml/2006/main">
              <a:ext uri="{FF2B5EF4-FFF2-40B4-BE49-F238E27FC236}">
                <a16:creationId xmlns:a16="http://schemas.microsoft.com/office/drawing/2014/main" id="{68449101-DD23-43F1-A2AA-5061B195AC0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04</a:t>
            </a:r>
          </a:p>
        </p:txBody>
      </p:sp>
    </p:spTree>
    <p:extLst>
      <p:ext uri="{BB962C8B-B14F-4D97-AF65-F5344CB8AC3E}">
        <p14:creationId xmlns:p14="http://schemas.microsoft.com/office/powerpoint/2010/main" val="555071893"/>
      </p:ext>
    </p:extLst>
  </p:cSld>
</p:sld>
</file>

<file path=ppt/slides/slide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1" name="YOUR TABLE / INCIDENT REVIEW TEAM / PLAIN LANGUA">
            <a:extLst xmlns:a="http://schemas.openxmlformats.org/drawingml/2006/main">
              <a:ext uri="{FF2B5EF4-FFF2-40B4-BE49-F238E27FC236}">
                <a16:creationId xmlns:a16="http://schemas.microsoft.com/office/drawing/2014/main" id="{AD5F6E73-2B01-4D16-AC81-9D9FD2766DAB}"/>
              </a:ext>
            </a:extLst>
          </p:cNvPr>
          <p:cNvSpPr>
            <a:spLocks xmlns:a="http://schemas.openxmlformats.org/drawingml/2006/main" noGrp="1"/>
          </p:cNvSpPr>
          <p:nvPr/>
        </p:nvSpPr>
        <p:spPr>
          <a:xfrm xmlns:a="http://schemas.openxmlformats.org/drawingml/2006/main">
            <a:off x="609600" y="47625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YOUR TABLE / INCIDENT REVIEW TEAM / PLAIN LANGUAGE / NO LAPTOP REQUIRED</a:t>
            </a:r>
          </a:p>
        </p:txBody>
      </p:sp>
      <p:sp>
        <p:nvSpPr>
          <p:cNvPr id="2" name="Your table’s task">
            <a:extLst xmlns:a="http://schemas.openxmlformats.org/drawingml/2006/main">
              <a:ext uri="{FF2B5EF4-FFF2-40B4-BE49-F238E27FC236}">
                <a16:creationId xmlns:a16="http://schemas.microsoft.com/office/drawing/2014/main" id="{44107583-E023-4A9B-91E8-50C4591039FF}"/>
              </a:ext>
            </a:extLst>
          </p:cNvPr>
          <p:cNvSpPr>
            <a:spLocks xmlns:a="http://schemas.openxmlformats.org/drawingml/2006/main" noGrp="1"/>
          </p:cNvSpPr>
          <p:nvPr/>
        </p:nvSpPr>
        <p:spPr>
          <a:xfrm xmlns:a="http://schemas.openxmlformats.org/drawingml/2006/main">
            <a:off x="609600" y="11811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Your table’s task</a:t>
            </a:r>
          </a:p>
        </p:txBody>
      </p:sp>
      <p:sp>
        <p:nvSpPr>
          <p:cNvPr id="3" name="We provide case facts, prepared proposals and en">
            <a:extLst xmlns:a="http://schemas.openxmlformats.org/drawingml/2006/main">
              <a:ext uri="{FF2B5EF4-FFF2-40B4-BE49-F238E27FC236}">
                <a16:creationId xmlns:a16="http://schemas.microsoft.com/office/drawing/2014/main" id="{C7DEDBF2-94DA-4356-984D-857CC7C79442}"/>
              </a:ext>
            </a:extLst>
          </p:cNvPr>
          <p:cNvSpPr>
            <a:spLocks xmlns:a="http://schemas.openxmlformats.org/drawingml/2006/main" noGrp="1"/>
          </p:cNvSpPr>
          <p:nvPr/>
        </p:nvSpPr>
        <p:spPr>
          <a:xfrm xmlns:a="http://schemas.openxmlformats.org/drawingml/2006/main">
            <a:off x="628650" y="2352675"/>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We provide case facts, prepared proposals and enforcement evidence.</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You write, review and revise decisions on page 6 before each reveal.</a:t>
            </a:r>
          </a:p>
        </p:txBody>
      </p:sp>
      <p:sp>
        <p:nvSpPr>
          <p:cNvPr id="4" name="YOUR RECORD ON PAGE 6">
            <a:extLst xmlns:a="http://schemas.openxmlformats.org/drawingml/2006/main">
              <a:ext uri="{FF2B5EF4-FFF2-40B4-BE49-F238E27FC236}">
                <a16:creationId xmlns:a16="http://schemas.microsoft.com/office/drawing/2014/main" id="{F5F220DA-9639-445E-955D-4C5EE479031E}"/>
              </a:ext>
            </a:extLst>
          </p:cNvPr>
          <p:cNvSpPr>
            <a:spLocks xmlns:a="http://schemas.openxmlformats.org/drawingml/2006/main" noGrp="1"/>
          </p:cNvSpPr>
          <p:nvPr/>
        </p:nvSpPr>
        <p:spPr>
          <a:xfrm xmlns:a="http://schemas.openxmlformats.org/drawingml/2006/main">
            <a:off x="628650" y="3543300"/>
            <a:ext cx="5191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YOUR RECORD ON PAGE 6</a:t>
            </a:r>
          </a:p>
        </p:txBody>
      </p:sp>
      <p:sp>
        <p:nvSpPr>
          <p:cNvPr id="5" name="Intent and approval decision&#10;Exception and rollo">
            <a:extLst xmlns:a="http://schemas.openxmlformats.org/drawingml/2006/main">
              <a:ext uri="{FF2B5EF4-FFF2-40B4-BE49-F238E27FC236}">
                <a16:creationId xmlns:a16="http://schemas.microsoft.com/office/drawing/2014/main" id="{0D48FDEC-80F6-4558-BE05-B5C6327BD269}"/>
              </a:ext>
            </a:extLst>
          </p:cNvPr>
          <p:cNvSpPr>
            <a:spLocks xmlns:a="http://schemas.openxmlformats.org/drawingml/2006/main" noGrp="1"/>
          </p:cNvSpPr>
          <p:nvPr/>
        </p:nvSpPr>
        <p:spPr>
          <a:xfrm xmlns:a="http://schemas.openxmlformats.org/drawingml/2006/main">
            <a:off x="628650" y="4010025"/>
            <a:ext cx="538162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Intent and approval decision</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Exception and rollout conditions</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Containment order and recovery tests</a:t>
            </a:r>
          </a:p>
        </p:txBody>
      </p:sp>
      <p:sp>
        <p:nvSpPr>
          <p:cNvPr id="6" name="YOUR TABLE ROLES">
            <a:extLst xmlns:a="http://schemas.openxmlformats.org/drawingml/2006/main">
              <a:ext uri="{FF2B5EF4-FFF2-40B4-BE49-F238E27FC236}">
                <a16:creationId xmlns:a16="http://schemas.microsoft.com/office/drawing/2014/main" id="{32FC265F-F40A-4625-8EAD-BFD093CEE65F}"/>
              </a:ext>
            </a:extLst>
          </p:cNvPr>
          <p:cNvSpPr>
            <a:spLocks xmlns:a="http://schemas.openxmlformats.org/drawingml/2006/main" noGrp="1"/>
          </p:cNvSpPr>
          <p:nvPr/>
        </p:nvSpPr>
        <p:spPr>
          <a:xfrm xmlns:a="http://schemas.openxmlformats.org/drawingml/2006/main">
            <a:off x="6686550" y="354330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YOUR TABLE ROLES</a:t>
            </a:r>
          </a:p>
        </p:txBody>
      </p:sp>
      <p:sp>
        <p:nvSpPr>
          <p:cNvPr id="7" name="Lead: states the decision&#10;Recorder: writes page ">
            <a:extLst xmlns:a="http://schemas.openxmlformats.org/drawingml/2006/main">
              <a:ext uri="{FF2B5EF4-FFF2-40B4-BE49-F238E27FC236}">
                <a16:creationId xmlns:a16="http://schemas.microsoft.com/office/drawing/2014/main" id="{E528F59E-CE0B-490A-A668-B8459D1AA575}"/>
              </a:ext>
            </a:extLst>
          </p:cNvPr>
          <p:cNvSpPr>
            <a:spLocks xmlns:a="http://schemas.openxmlformats.org/drawingml/2006/main" noGrp="1"/>
          </p:cNvSpPr>
          <p:nvPr/>
        </p:nvSpPr>
        <p:spPr>
          <a:xfrm xmlns:a="http://schemas.openxmlformats.org/drawingml/2006/main">
            <a:off x="6686550" y="4010025"/>
            <a:ext cx="48196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0B1822"/>
                </a:solidFill>
                <a:latin typeface="Arial"/>
                <a:ea typeface="Arial"/>
                <a:cs typeface="Arial"/>
              </a:defRPr>
            </a:defPPr>
          </a:lstStyle>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Lead: states the decision</a:t>
            </a:r>
          </a:p>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Recorder: writes page 6</a:t>
            </a:r>
          </a:p>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Analyst: checks the evidence</a:t>
            </a:r>
          </a:p>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Reviewer: raises a concern</a:t>
            </a:r>
          </a:p>
        </p:txBody>
      </p:sp>
      <p:sp>
        <p:nvSpPr>
          <p:cNvPr id="8" name="Milind and Vivek co-present the demo, reviews an">
            <a:extLst xmlns:a="http://schemas.openxmlformats.org/drawingml/2006/main">
              <a:ext uri="{FF2B5EF4-FFF2-40B4-BE49-F238E27FC236}">
                <a16:creationId xmlns:a16="http://schemas.microsoft.com/office/drawing/2014/main" id="{61490904-3296-4DF8-8C64-7C11D6321878}"/>
              </a:ext>
            </a:extLst>
          </p:cNvPr>
          <p:cNvSpPr>
            <a:spLocks xmlns:a="http://schemas.openxmlformats.org/drawingml/2006/main" noGrp="1"/>
          </p:cNvSpPr>
          <p:nvPr/>
        </p:nvSpPr>
        <p:spPr>
          <a:xfrm xmlns:a="http://schemas.openxmlformats.org/drawingml/2006/main">
            <a:off x="628650" y="58197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0B1822"/>
                </a:solidFill>
                <a:latin typeface="Arial"/>
                <a:ea typeface="Arial"/>
                <a:cs typeface="Arial"/>
              </a:defRPr>
            </a:defPPr>
          </a:lstStyle>
          <a:p xmlns:a="http://schemas.openxmlformats.org/drawingml/2006/main">
            <a:pPr>
              <a:defRPr sz="1575" b="0">
                <a:solidFill>
                  <a:srgbClr val="0B1822"/>
                </a:solidFill>
                <a:latin typeface="Arial"/>
                <a:ea typeface="Arial"/>
                <a:cs typeface="Arial"/>
              </a:defRPr>
            </a:pPr>
            <a:r>
              <a:rPr sz="1575" b="0">
                <a:solidFill>
                  <a:srgbClr val="0B1822"/>
                </a:solidFill>
                <a:latin typeface="Arial"/>
                <a:ea typeface="Arial"/>
                <a:cs typeface="Arial"/>
              </a:rPr>
              <a:t>Milind and Vivek co-present the demo, reviews and evidence.</a:t>
            </a:r>
          </a:p>
          <a:p xmlns:a="http://schemas.openxmlformats.org/drawingml/2006/main">
            <a:pPr>
              <a:defRPr sz="1575" b="0">
                <a:solidFill>
                  <a:srgbClr val="0B1822"/>
                </a:solidFill>
                <a:latin typeface="Arial"/>
                <a:ea typeface="Arial"/>
                <a:cs typeface="Arial"/>
              </a:defRPr>
            </a:pPr>
            <a:r>
              <a:rPr sz="1575" b="0">
                <a:solidFill>
                  <a:srgbClr val="0B1822"/>
                </a:solidFill>
                <a:latin typeface="Arial"/>
                <a:ea typeface="Arial"/>
                <a:cs typeface="Arial"/>
              </a:rPr>
              <a:t>Your intent stays on the record. The common demo uses a supplied reference spec.</a:t>
            </a:r>
          </a:p>
        </p:txBody>
      </p:sp>
      <p:sp>
        <p:nvSpPr>
          <p:cNvPr id="9" name="ISC2 SECURITY CONGRESS 2026 / SC2632">
            <a:extLst xmlns:a="http://schemas.openxmlformats.org/drawingml/2006/main">
              <a:ext uri="{FF2B5EF4-FFF2-40B4-BE49-F238E27FC236}">
                <a16:creationId xmlns:a16="http://schemas.microsoft.com/office/drawing/2014/main" id="{630BDF3F-D964-4D31-890F-5FB38FD4B65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0" name="05">
            <a:extLst xmlns:a="http://schemas.openxmlformats.org/drawingml/2006/main">
              <a:ext uri="{FF2B5EF4-FFF2-40B4-BE49-F238E27FC236}">
                <a16:creationId xmlns:a16="http://schemas.microsoft.com/office/drawing/2014/main" id="{CA6F0376-FF41-49B6-BF6F-4E9F8938AFE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05</a:t>
            </a:r>
          </a:p>
        </p:txBody>
      </p:sp>
    </p:spTree>
    <p:extLst>
      <p:ext uri="{BB962C8B-B14F-4D97-AF65-F5344CB8AC3E}">
        <p14:creationId xmlns:p14="http://schemas.microsoft.com/office/powerpoint/2010/main" val="1903452517"/>
      </p:ext>
    </p:extLst>
  </p:cSld>
</p:sld>
</file>

<file path=ppt/slides/slide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8" name="CHOOSE ONE CASE / PARTICIPANT PACK PAGES 2–5">
            <a:extLst xmlns:a="http://schemas.openxmlformats.org/drawingml/2006/main">
              <a:ext uri="{FF2B5EF4-FFF2-40B4-BE49-F238E27FC236}">
                <a16:creationId xmlns:a16="http://schemas.microsoft.com/office/drawing/2014/main" id="{80E61E0F-AC9C-4392-9171-13455FD48C90}"/>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CHOOSE ONE CASE / PARTICIPANT PACK PAGES 2–5</a:t>
            </a:r>
          </a:p>
        </p:txBody>
      </p:sp>
      <p:sp>
        <p:nvSpPr>
          <p:cNvPr id="2" name="Four prepared scenarios">
            <a:extLst xmlns:a="http://schemas.openxmlformats.org/drawingml/2006/main">
              <a:ext uri="{FF2B5EF4-FFF2-40B4-BE49-F238E27FC236}">
                <a16:creationId xmlns:a16="http://schemas.microsoft.com/office/drawing/2014/main" id="{73D37ED9-E1B0-40F3-A06B-D40E07EB0900}"/>
              </a:ext>
            </a:extLst>
          </p:cNvPr>
          <p:cNvSpPr>
            <a:spLocks xmlns:a="http://schemas.openxmlformats.org/drawingml/2006/main" noGrp="1"/>
          </p:cNvSpPr>
          <p:nvPr/>
        </p:nvSpPr>
        <p:spPr>
          <a:xfrm xmlns:a="http://schemas.openxmlformats.org/drawingml/2006/main">
            <a:off x="609600" y="10763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Four prepared scenarios</a:t>
            </a:r>
          </a:p>
        </p:txBody>
      </p:sp>
      <p:sp>
        <p:nvSpPr>
          <p:cNvPr id="3" name="A">
            <a:extLst xmlns:a="http://schemas.openxmlformats.org/drawingml/2006/main">
              <a:ext uri="{FF2B5EF4-FFF2-40B4-BE49-F238E27FC236}">
                <a16:creationId xmlns:a16="http://schemas.microsoft.com/office/drawing/2014/main" id="{87D59E9A-9A1F-49DF-AC3B-38818A11F75B}"/>
              </a:ext>
            </a:extLst>
          </p:cNvPr>
          <p:cNvSpPr>
            <a:spLocks xmlns:a="http://schemas.openxmlformats.org/drawingml/2006/main" noGrp="1"/>
          </p:cNvSpPr>
          <p:nvPr/>
        </p:nvSpPr>
        <p:spPr>
          <a:xfrm xmlns:a="http://schemas.openxmlformats.org/drawingml/2006/main">
            <a:off x="628650" y="23431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A</a:t>
            </a:r>
          </a:p>
        </p:txBody>
      </p:sp>
      <p:sp>
        <p:nvSpPr>
          <p:cNvPr id="4" name="Library update">
            <a:extLst xmlns:a="http://schemas.openxmlformats.org/drawingml/2006/main">
              <a:ext uri="{FF2B5EF4-FFF2-40B4-BE49-F238E27FC236}">
                <a16:creationId xmlns:a16="http://schemas.microsoft.com/office/drawing/2014/main" id="{B247F28B-DD3B-4766-B3A9-8A53B7DB1BD6}"/>
              </a:ext>
            </a:extLst>
          </p:cNvPr>
          <p:cNvSpPr>
            <a:spLocks xmlns:a="http://schemas.openxmlformats.org/drawingml/2006/main" noGrp="1"/>
          </p:cNvSpPr>
          <p:nvPr/>
        </p:nvSpPr>
        <p:spPr>
          <a:xfrm xmlns:a="http://schemas.openxmlformats.org/drawingml/2006/main">
            <a:off x="1876425" y="23812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Library update</a:t>
            </a:r>
          </a:p>
        </p:txBody>
      </p:sp>
      <p:sp>
        <p:nvSpPr>
          <p:cNvPr id="5" name="A library update and unexpected payments traffic">
            <a:extLst xmlns:a="http://schemas.openxmlformats.org/drawingml/2006/main">
              <a:ext uri="{FF2B5EF4-FFF2-40B4-BE49-F238E27FC236}">
                <a16:creationId xmlns:a16="http://schemas.microsoft.com/office/drawing/2014/main" id="{50151568-4DDF-49DC-BD5D-F015882D13BA}"/>
              </a:ext>
            </a:extLst>
          </p:cNvPr>
          <p:cNvSpPr>
            <a:spLocks xmlns:a="http://schemas.openxmlformats.org/drawingml/2006/main" noGrp="1"/>
          </p:cNvSpPr>
          <p:nvPr/>
        </p:nvSpPr>
        <p:spPr>
          <a:xfrm xmlns:a="http://schemas.openxmlformats.org/drawingml/2006/main">
            <a:off x="6915150" y="23812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library update and unexpected payments traffic</a:t>
            </a:r>
          </a:p>
        </p:txBody>
      </p:sp>
      <p:sp>
        <p:nvSpPr>
          <p:cNvPr id="6" name="B">
            <a:extLst xmlns:a="http://schemas.openxmlformats.org/drawingml/2006/main">
              <a:ext uri="{FF2B5EF4-FFF2-40B4-BE49-F238E27FC236}">
                <a16:creationId xmlns:a16="http://schemas.microsoft.com/office/drawing/2014/main" id="{11AB9117-DCAE-4BEF-92A2-8C5B8606389B}"/>
              </a:ext>
            </a:extLst>
          </p:cNvPr>
          <p:cNvSpPr>
            <a:spLocks xmlns:a="http://schemas.openxmlformats.org/drawingml/2006/main" noGrp="1"/>
          </p:cNvSpPr>
          <p:nvPr/>
        </p:nvSpPr>
        <p:spPr>
          <a:xfrm xmlns:a="http://schemas.openxmlformats.org/drawingml/2006/main">
            <a:off x="628650" y="32004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B</a:t>
            </a:r>
          </a:p>
        </p:txBody>
      </p:sp>
      <p:sp>
        <p:nvSpPr>
          <p:cNvPr id="7" name="Support assistant">
            <a:extLst xmlns:a="http://schemas.openxmlformats.org/drawingml/2006/main">
              <a:ext uri="{FF2B5EF4-FFF2-40B4-BE49-F238E27FC236}">
                <a16:creationId xmlns:a16="http://schemas.microsoft.com/office/drawing/2014/main" id="{011E7971-EE39-4D61-8763-EFBB77848DFD}"/>
              </a:ext>
            </a:extLst>
          </p:cNvPr>
          <p:cNvSpPr>
            <a:spLocks xmlns:a="http://schemas.openxmlformats.org/drawingml/2006/main" noGrp="1"/>
          </p:cNvSpPr>
          <p:nvPr/>
        </p:nvSpPr>
        <p:spPr>
          <a:xfrm xmlns:a="http://schemas.openxmlformats.org/drawingml/2006/main">
            <a:off x="1876425" y="32385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Support assistant</a:t>
            </a:r>
          </a:p>
        </p:txBody>
      </p:sp>
      <p:sp>
        <p:nvSpPr>
          <p:cNvPr id="8" name="A ticket-reading assistant and unexpected tool a">
            <a:extLst xmlns:a="http://schemas.openxmlformats.org/drawingml/2006/main">
              <a:ext uri="{FF2B5EF4-FFF2-40B4-BE49-F238E27FC236}">
                <a16:creationId xmlns:a16="http://schemas.microsoft.com/office/drawing/2014/main" id="{1715557F-A2E0-43B5-90ED-433AE6D93066}"/>
              </a:ext>
            </a:extLst>
          </p:cNvPr>
          <p:cNvSpPr>
            <a:spLocks xmlns:a="http://schemas.openxmlformats.org/drawingml/2006/main" noGrp="1"/>
          </p:cNvSpPr>
          <p:nvPr/>
        </p:nvSpPr>
        <p:spPr>
          <a:xfrm xmlns:a="http://schemas.openxmlformats.org/drawingml/2006/main">
            <a:off x="6915150" y="32385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ticket-reading assistant and unexpected tool activity</a:t>
            </a:r>
          </a:p>
        </p:txBody>
      </p:sp>
      <p:sp>
        <p:nvSpPr>
          <p:cNvPr id="9" name="C">
            <a:extLst xmlns:a="http://schemas.openxmlformats.org/drawingml/2006/main">
              <a:ext uri="{FF2B5EF4-FFF2-40B4-BE49-F238E27FC236}">
                <a16:creationId xmlns:a16="http://schemas.microsoft.com/office/drawing/2014/main" id="{C5FFF30C-CA77-43C8-AF1D-AB87AE99174C}"/>
              </a:ext>
            </a:extLst>
          </p:cNvPr>
          <p:cNvSpPr>
            <a:spLocks xmlns:a="http://schemas.openxmlformats.org/drawingml/2006/main" noGrp="1"/>
          </p:cNvSpPr>
          <p:nvPr/>
        </p:nvSpPr>
        <p:spPr>
          <a:xfrm xmlns:a="http://schemas.openxmlformats.org/drawingml/2006/main">
            <a:off x="628650" y="40576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C</a:t>
            </a:r>
          </a:p>
        </p:txBody>
      </p:sp>
      <p:sp>
        <p:nvSpPr>
          <p:cNvPr id="10" name="Unexpected changes">
            <a:extLst xmlns:a="http://schemas.openxmlformats.org/drawingml/2006/main">
              <a:ext uri="{FF2B5EF4-FFF2-40B4-BE49-F238E27FC236}">
                <a16:creationId xmlns:a16="http://schemas.microsoft.com/office/drawing/2014/main" id="{D5FE99C2-2A6B-41F1-AEFD-3064D1470865}"/>
              </a:ext>
            </a:extLst>
          </p:cNvPr>
          <p:cNvSpPr>
            <a:spLocks xmlns:a="http://schemas.openxmlformats.org/drawingml/2006/main" noGrp="1"/>
          </p:cNvSpPr>
          <p:nvPr/>
        </p:nvSpPr>
        <p:spPr>
          <a:xfrm xmlns:a="http://schemas.openxmlformats.org/drawingml/2006/main">
            <a:off x="1876425" y="40957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Unexpected changes</a:t>
            </a:r>
          </a:p>
        </p:txBody>
      </p:sp>
      <p:sp>
        <p:nvSpPr>
          <p:cNvPr id="11" name="An ops agent changes application copies without ">
            <a:extLst xmlns:a="http://schemas.openxmlformats.org/drawingml/2006/main">
              <a:ext uri="{FF2B5EF4-FFF2-40B4-BE49-F238E27FC236}">
                <a16:creationId xmlns:a16="http://schemas.microsoft.com/office/drawing/2014/main" id="{D6C899D8-A69B-4662-A078-865D57D738BE}"/>
              </a:ext>
            </a:extLst>
          </p:cNvPr>
          <p:cNvSpPr>
            <a:spLocks xmlns:a="http://schemas.openxmlformats.org/drawingml/2006/main" noGrp="1"/>
          </p:cNvSpPr>
          <p:nvPr/>
        </p:nvSpPr>
        <p:spPr>
          <a:xfrm xmlns:a="http://schemas.openxmlformats.org/drawingml/2006/main">
            <a:off x="6915150" y="40957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An ops agent changes application copies without a ticket</a:t>
            </a:r>
          </a:p>
        </p:txBody>
      </p:sp>
      <p:sp>
        <p:nvSpPr>
          <p:cNvPr id="12" name="D">
            <a:extLst xmlns:a="http://schemas.openxmlformats.org/drawingml/2006/main">
              <a:ext uri="{FF2B5EF4-FFF2-40B4-BE49-F238E27FC236}">
                <a16:creationId xmlns:a16="http://schemas.microsoft.com/office/drawing/2014/main" id="{6F2FE5BF-A757-48BB-AE25-490C7123AF9A}"/>
              </a:ext>
            </a:extLst>
          </p:cNvPr>
          <p:cNvSpPr>
            <a:spLocks xmlns:a="http://schemas.openxmlformats.org/drawingml/2006/main" noGrp="1"/>
          </p:cNvSpPr>
          <p:nvPr/>
        </p:nvSpPr>
        <p:spPr>
          <a:xfrm xmlns:a="http://schemas.openxmlformats.org/drawingml/2006/main">
            <a:off x="628650" y="49149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FF795B"/>
                </a:solidFill>
                <a:latin typeface="Arial Black"/>
                <a:ea typeface="Arial Black"/>
                <a:cs typeface="Arial Black"/>
              </a:defRPr>
            </a:defPPr>
          </a:lstStyle>
          <a:p xmlns:a="http://schemas.openxmlformats.org/drawingml/2006/main">
            <a:pPr>
              <a:defRPr sz="4725" b="1">
                <a:solidFill>
                  <a:srgbClr val="FF795B"/>
                </a:solidFill>
                <a:latin typeface="Arial Black"/>
                <a:ea typeface="Arial Black"/>
                <a:cs typeface="Arial Black"/>
              </a:defRPr>
            </a:pPr>
            <a:r>
              <a:rPr sz="4725" b="1">
                <a:solidFill>
                  <a:srgbClr val="FF795B"/>
                </a:solidFill>
                <a:latin typeface="Arial Black"/>
                <a:ea typeface="Arial Black"/>
                <a:cs typeface="Arial Black"/>
              </a:rPr>
              <a:t>D</a:t>
            </a:r>
          </a:p>
        </p:txBody>
      </p:sp>
      <p:sp>
        <p:nvSpPr>
          <p:cNvPr id="13" name="Credential access">
            <a:extLst xmlns:a="http://schemas.openxmlformats.org/drawingml/2006/main">
              <a:ext uri="{FF2B5EF4-FFF2-40B4-BE49-F238E27FC236}">
                <a16:creationId xmlns:a16="http://schemas.microsoft.com/office/drawing/2014/main" id="{E5BF4617-6583-40E2-A9C5-6F755588B515}"/>
              </a:ext>
            </a:extLst>
          </p:cNvPr>
          <p:cNvSpPr>
            <a:spLocks xmlns:a="http://schemas.openxmlformats.org/drawingml/2006/main" noGrp="1"/>
          </p:cNvSpPr>
          <p:nvPr/>
        </p:nvSpPr>
        <p:spPr>
          <a:xfrm xmlns:a="http://schemas.openxmlformats.org/drawingml/2006/main">
            <a:off x="1876425" y="49530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Credential access</a:t>
            </a:r>
          </a:p>
        </p:txBody>
      </p:sp>
      <p:sp>
        <p:nvSpPr>
          <p:cNvPr id="14" name="A monitoring identity lists credential records a">
            <a:extLst xmlns:a="http://schemas.openxmlformats.org/drawingml/2006/main">
              <a:ext uri="{FF2B5EF4-FFF2-40B4-BE49-F238E27FC236}">
                <a16:creationId xmlns:a16="http://schemas.microsoft.com/office/drawing/2014/main" id="{1AA2F958-6B9A-4BC2-8C46-8AB45DA93425}"/>
              </a:ext>
            </a:extLst>
          </p:cNvPr>
          <p:cNvSpPr>
            <a:spLocks xmlns:a="http://schemas.openxmlformats.org/drawingml/2006/main" noGrp="1"/>
          </p:cNvSpPr>
          <p:nvPr/>
        </p:nvSpPr>
        <p:spPr>
          <a:xfrm xmlns:a="http://schemas.openxmlformats.org/drawingml/2006/main">
            <a:off x="6915150" y="49530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monitoring identity lists credential records across groups</a:t>
            </a:r>
          </a:p>
        </p:txBody>
      </p:sp>
      <p:sp>
        <p:nvSpPr>
          <p:cNvPr id="15" name="Choose as a team. Keep the sealed updates closed">
            <a:extLst xmlns:a="http://schemas.openxmlformats.org/drawingml/2006/main">
              <a:ext uri="{FF2B5EF4-FFF2-40B4-BE49-F238E27FC236}">
                <a16:creationId xmlns:a16="http://schemas.microsoft.com/office/drawing/2014/main" id="{40EA68C8-92E6-4FDE-8AA1-BFC5FA0FA47C}"/>
              </a:ext>
            </a:extLst>
          </p:cNvPr>
          <p:cNvSpPr>
            <a:spLocks xmlns:a="http://schemas.openxmlformats.org/drawingml/2006/main" noGrp="1"/>
          </p:cNvSpPr>
          <p:nvPr/>
        </p:nvSpPr>
        <p:spPr>
          <a:xfrm xmlns:a="http://schemas.openxmlformats.org/drawingml/2006/main">
            <a:off x="628650" y="59912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Choose as a team. Keep the sealed updates closed until the round opens.</a:t>
            </a:r>
          </a:p>
        </p:txBody>
      </p:sp>
      <p:sp>
        <p:nvSpPr>
          <p:cNvPr id="16" name="ISC2 SECURITY CONGRESS 2026 / SC2632">
            <a:extLst xmlns:a="http://schemas.openxmlformats.org/drawingml/2006/main">
              <a:ext uri="{FF2B5EF4-FFF2-40B4-BE49-F238E27FC236}">
                <a16:creationId xmlns:a16="http://schemas.microsoft.com/office/drawing/2014/main" id="{10366F18-9867-4139-BB58-56FA5D7A042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7" name="06">
            <a:extLst xmlns:a="http://schemas.openxmlformats.org/drawingml/2006/main">
              <a:ext uri="{FF2B5EF4-FFF2-40B4-BE49-F238E27FC236}">
                <a16:creationId xmlns:a16="http://schemas.microsoft.com/office/drawing/2014/main" id="{5F4A591C-9FB6-4FC5-9209-F13EC3E5ECE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06</a:t>
            </a:r>
          </a:p>
        </p:txBody>
      </p:sp>
    </p:spTree>
    <p:extLst>
      <p:ext uri="{BB962C8B-B14F-4D97-AF65-F5344CB8AC3E}">
        <p14:creationId xmlns:p14="http://schemas.microsoft.com/office/powerpoint/2010/main" val="779558907"/>
      </p:ext>
    </p:extLst>
  </p:cSld>
</p:sld>
</file>

<file path=ppt/slides/slide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4" name="RECORD THE OPERATIONAL CONSTRAINT">
            <a:extLst xmlns:a="http://schemas.openxmlformats.org/drawingml/2006/main">
              <a:ext uri="{FF2B5EF4-FFF2-40B4-BE49-F238E27FC236}">
                <a16:creationId xmlns:a16="http://schemas.microsoft.com/office/drawing/2014/main" id="{553E27CA-7536-4696-80AD-BEECA084D6C8}"/>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 THE OPERATIONAL CONSTRAINT</a:t>
            </a:r>
          </a:p>
        </p:txBody>
      </p:sp>
      <p:sp>
        <p:nvSpPr>
          <p:cNvPr id="2" name="Operational constraints">
            <a:extLst xmlns:a="http://schemas.openxmlformats.org/drawingml/2006/main">
              <a:ext uri="{FF2B5EF4-FFF2-40B4-BE49-F238E27FC236}">
                <a16:creationId xmlns:a16="http://schemas.microsoft.com/office/drawing/2014/main" id="{9D2921AB-B31B-4B50-BF28-4E6B3274D63A}"/>
              </a:ext>
            </a:extLst>
          </p:cNvPr>
          <p:cNvSpPr>
            <a:spLocks xmlns:a="http://schemas.openxmlformats.org/drawingml/2006/main" noGrp="1"/>
          </p:cNvSpPr>
          <p:nvPr/>
        </p:nvSpPr>
        <p:spPr>
          <a:xfrm xmlns:a="http://schemas.openxmlformats.org/drawingml/2006/main">
            <a:off x="609600" y="1190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Operational constraints</a:t>
            </a:r>
          </a:p>
        </p:txBody>
      </p:sp>
      <p:sp>
        <p:nvSpPr>
          <p:cNvPr id="3" name="Availability">
            <a:extLst xmlns:a="http://schemas.openxmlformats.org/drawingml/2006/main">
              <a:ext uri="{FF2B5EF4-FFF2-40B4-BE49-F238E27FC236}">
                <a16:creationId xmlns:a16="http://schemas.microsoft.com/office/drawing/2014/main" id="{48516D7E-5BA0-4BDE-99A1-37E627035F0F}"/>
              </a:ext>
            </a:extLst>
          </p:cNvPr>
          <p:cNvSpPr>
            <a:spLocks xmlns:a="http://schemas.openxmlformats.org/drawingml/2006/main" noGrp="1"/>
          </p:cNvSpPr>
          <p:nvPr/>
        </p:nvSpPr>
        <p:spPr>
          <a:xfrm xmlns:a="http://schemas.openxmlformats.org/drawingml/2006/main">
            <a:off x="609600" y="2771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Availability</a:t>
            </a:r>
          </a:p>
        </p:txBody>
      </p:sp>
      <p:sp>
        <p:nvSpPr>
          <p:cNvPr id="4" name="Keep two healthy application copies and required">
            <a:extLst xmlns:a="http://schemas.openxmlformats.org/drawingml/2006/main">
              <a:ext uri="{FF2B5EF4-FFF2-40B4-BE49-F238E27FC236}">
                <a16:creationId xmlns:a16="http://schemas.microsoft.com/office/drawing/2014/main" id="{79EC5460-DA3D-4F75-9300-5A8613995360}"/>
              </a:ext>
            </a:extLst>
          </p:cNvPr>
          <p:cNvSpPr>
            <a:spLocks xmlns:a="http://schemas.openxmlformats.org/drawingml/2006/main" noGrp="1"/>
          </p:cNvSpPr>
          <p:nvPr/>
        </p:nvSpPr>
        <p:spPr>
          <a:xfrm xmlns:a="http://schemas.openxmlformats.org/drawingml/2006/main">
            <a:off x="3371850" y="2771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Keep two healthy application copies and required connections.</a:t>
            </a:r>
          </a:p>
        </p:txBody>
      </p:sp>
      <p:sp>
        <p:nvSpPr>
          <p:cNvPr id="5" name="Evidence">
            <a:extLst xmlns:a="http://schemas.openxmlformats.org/drawingml/2006/main">
              <a:ext uri="{FF2B5EF4-FFF2-40B4-BE49-F238E27FC236}">
                <a16:creationId xmlns:a16="http://schemas.microsoft.com/office/drawing/2014/main" id="{D7D45CBF-9F86-4283-8310-AE861916601C}"/>
              </a:ext>
            </a:extLst>
          </p:cNvPr>
          <p:cNvSpPr>
            <a:spLocks xmlns:a="http://schemas.openxmlformats.org/drawingml/2006/main" noGrp="1"/>
          </p:cNvSpPr>
          <p:nvPr/>
        </p:nvSpPr>
        <p:spPr>
          <a:xfrm xmlns:a="http://schemas.openxmlformats.org/drawingml/2006/main">
            <a:off x="609600" y="3533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Evidence</a:t>
            </a:r>
          </a:p>
        </p:txBody>
      </p:sp>
      <p:sp>
        <p:nvSpPr>
          <p:cNvPr id="6" name="Preserve evidence and record every approval.">
            <a:extLst xmlns:a="http://schemas.openxmlformats.org/drawingml/2006/main">
              <a:ext uri="{FF2B5EF4-FFF2-40B4-BE49-F238E27FC236}">
                <a16:creationId xmlns:a16="http://schemas.microsoft.com/office/drawing/2014/main" id="{E46CE201-2881-4514-BC8D-757D9CD11A61}"/>
              </a:ext>
            </a:extLst>
          </p:cNvPr>
          <p:cNvSpPr>
            <a:spLocks xmlns:a="http://schemas.openxmlformats.org/drawingml/2006/main" noGrp="1"/>
          </p:cNvSpPr>
          <p:nvPr/>
        </p:nvSpPr>
        <p:spPr>
          <a:xfrm xmlns:a="http://schemas.openxmlformats.org/drawingml/2006/main">
            <a:off x="3371850" y="3533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Preserve evidence and record every approval.</a:t>
            </a:r>
          </a:p>
        </p:txBody>
      </p:sp>
      <p:sp>
        <p:nvSpPr>
          <p:cNvPr id="7" name="Velocity">
            <a:extLst xmlns:a="http://schemas.openxmlformats.org/drawingml/2006/main">
              <a:ext uri="{FF2B5EF4-FFF2-40B4-BE49-F238E27FC236}">
                <a16:creationId xmlns:a16="http://schemas.microsoft.com/office/drawing/2014/main" id="{D192442B-70A2-469D-80C5-8926CEE4A0F9}"/>
              </a:ext>
            </a:extLst>
          </p:cNvPr>
          <p:cNvSpPr>
            <a:spLocks xmlns:a="http://schemas.openxmlformats.org/drawingml/2006/main" noGrp="1"/>
          </p:cNvSpPr>
          <p:nvPr/>
        </p:nvSpPr>
        <p:spPr>
          <a:xfrm xmlns:a="http://schemas.openxmlformats.org/drawingml/2006/main">
            <a:off x="609600" y="4295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Velocity</a:t>
            </a:r>
          </a:p>
        </p:txBody>
      </p:sp>
      <p:sp>
        <p:nvSpPr>
          <p:cNvPr id="8" name="Continue safe delivery while affected changes pa">
            <a:extLst xmlns:a="http://schemas.openxmlformats.org/drawingml/2006/main">
              <a:ext uri="{FF2B5EF4-FFF2-40B4-BE49-F238E27FC236}">
                <a16:creationId xmlns:a16="http://schemas.microsoft.com/office/drawing/2014/main" id="{4CC1870A-DD88-4BB1-B8EF-C9985CEDFB8B}"/>
              </a:ext>
            </a:extLst>
          </p:cNvPr>
          <p:cNvSpPr>
            <a:spLocks xmlns:a="http://schemas.openxmlformats.org/drawingml/2006/main" noGrp="1"/>
          </p:cNvSpPr>
          <p:nvPr/>
        </p:nvSpPr>
        <p:spPr>
          <a:xfrm xmlns:a="http://schemas.openxmlformats.org/drawingml/2006/main">
            <a:off x="3371850" y="4295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Continue safe delivery while affected changes pause.</a:t>
            </a:r>
          </a:p>
        </p:txBody>
      </p:sp>
      <p:sp>
        <p:nvSpPr>
          <p:cNvPr id="9" name="Containment">
            <a:extLst xmlns:a="http://schemas.openxmlformats.org/drawingml/2006/main">
              <a:ext uri="{FF2B5EF4-FFF2-40B4-BE49-F238E27FC236}">
                <a16:creationId xmlns:a16="http://schemas.microsoft.com/office/drawing/2014/main" id="{0F053D7F-43C4-4F21-A63F-D82E637B51B8}"/>
              </a:ext>
            </a:extLst>
          </p:cNvPr>
          <p:cNvSpPr>
            <a:spLocks xmlns:a="http://schemas.openxmlformats.org/drawingml/2006/main" noGrp="1"/>
          </p:cNvSpPr>
          <p:nvPr/>
        </p:nvSpPr>
        <p:spPr>
          <a:xfrm xmlns:a="http://schemas.openxmlformats.org/drawingml/2006/main">
            <a:off x="609600" y="5057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10" name="Stop suspected exposure and justify the service ">
            <a:extLst xmlns:a="http://schemas.openxmlformats.org/drawingml/2006/main">
              <a:ext uri="{FF2B5EF4-FFF2-40B4-BE49-F238E27FC236}">
                <a16:creationId xmlns:a16="http://schemas.microsoft.com/office/drawing/2014/main" id="{43AAF0BD-1DFD-4E9C-80DA-677C76A4F6ED}"/>
              </a:ext>
            </a:extLst>
          </p:cNvPr>
          <p:cNvSpPr>
            <a:spLocks xmlns:a="http://schemas.openxmlformats.org/drawingml/2006/main" noGrp="1"/>
          </p:cNvSpPr>
          <p:nvPr/>
        </p:nvSpPr>
        <p:spPr>
          <a:xfrm xmlns:a="http://schemas.openxmlformats.org/drawingml/2006/main">
            <a:off x="3371850" y="5057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Stop suspected exposure and justify the service cost.</a:t>
            </a:r>
          </a:p>
        </p:txBody>
      </p:sp>
      <p:sp>
        <p:nvSpPr>
          <p:cNvPr id="11" name="Record your case, roles, constraint and minimum ">
            <a:extLst xmlns:a="http://schemas.openxmlformats.org/drawingml/2006/main">
              <a:ext uri="{FF2B5EF4-FFF2-40B4-BE49-F238E27FC236}">
                <a16:creationId xmlns:a16="http://schemas.microsoft.com/office/drawing/2014/main" id="{DACFD09F-2D11-485E-8ECA-1C692FB4826F}"/>
              </a:ext>
            </a:extLst>
          </p:cNvPr>
          <p:cNvSpPr>
            <a:spLocks xmlns:a="http://schemas.openxmlformats.org/drawingml/2006/main" noGrp="1"/>
          </p:cNvSpPr>
          <p:nvPr/>
        </p:nvSpPr>
        <p:spPr>
          <a:xfrm xmlns:a="http://schemas.openxmlformats.org/drawingml/2006/main">
            <a:off x="628650" y="5962650"/>
            <a:ext cx="10715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Record your case, roles, constraint and minimum service on page 6.</a:t>
            </a:r>
          </a:p>
        </p:txBody>
      </p:sp>
      <p:sp>
        <p:nvSpPr>
          <p:cNvPr id="12" name="ISC2 SECURITY CONGRESS 2026 / SC2632">
            <a:extLst xmlns:a="http://schemas.openxmlformats.org/drawingml/2006/main">
              <a:ext uri="{FF2B5EF4-FFF2-40B4-BE49-F238E27FC236}">
                <a16:creationId xmlns:a16="http://schemas.microsoft.com/office/drawing/2014/main" id="{9942B193-A4B9-4F82-9031-71BEEADD79F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3" name="07">
            <a:extLst xmlns:a="http://schemas.openxmlformats.org/drawingml/2006/main">
              <a:ext uri="{FF2B5EF4-FFF2-40B4-BE49-F238E27FC236}">
                <a16:creationId xmlns:a16="http://schemas.microsoft.com/office/drawing/2014/main" id="{6C545D80-F562-4B05-B48D-F652697F613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07</a:t>
            </a:r>
          </a:p>
        </p:txBody>
      </p:sp>
    </p:spTree>
    <p:extLst>
      <p:ext uri="{BB962C8B-B14F-4D97-AF65-F5344CB8AC3E}">
        <p14:creationId xmlns:p14="http://schemas.microsoft.com/office/powerpoint/2010/main" val="610178038"/>
      </p:ext>
    </p:extLst>
  </p:cSld>
</p:sld>
</file>

<file path=ppt/slides/slide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B72DCFF5-6AF0-4018-8451-2074C18BBFB7}"/>
              </a:ext>
            </a:extLst>
          </p:cNvPr>
          <p:cNvPicPr>
            <a:picLocks xmlns:a="http://schemas.openxmlformats.org/drawingml/2006/main" noChangeAspect="1"/>
          </p:cNvPicPr>
          <p:nvPr/>
        </p:nvPicPr>
        <p:blipFill>
          <a:blip xmlns:r="http://schemas.openxmlformats.org/officeDocument/2006/relationships" xmlns:a="http://schemas.openxmlformats.org/drawingml/2006/main" r:embed="R2b6e5f475c6b4a3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RAFT AND MAP THE INTENT">
            <a:extLst xmlns:a="http://schemas.openxmlformats.org/drawingml/2006/main">
              <a:ext uri="{FF2B5EF4-FFF2-40B4-BE49-F238E27FC236}">
                <a16:creationId xmlns:a16="http://schemas.microsoft.com/office/drawing/2014/main" id="{CD5E1215-B7BE-4124-8AAC-987F86F4AFAD}"/>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DRAFT AND MAP THE INTENT</a:t>
            </a:r>
          </a:p>
        </p:txBody>
      </p:sp>
      <p:sp>
        <p:nvSpPr>
          <p:cNvPr id="3" name="01">
            <a:extLst xmlns:a="http://schemas.openxmlformats.org/drawingml/2006/main">
              <a:ext uri="{FF2B5EF4-FFF2-40B4-BE49-F238E27FC236}">
                <a16:creationId xmlns:a16="http://schemas.microsoft.com/office/drawing/2014/main" id="{5F9DD85C-B2B1-4638-A2F0-C13656AFC2A9}"/>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01</a:t>
            </a:r>
          </a:p>
        </p:txBody>
      </p:sp>
      <p:sp>
        <p:nvSpPr>
          <p:cNvPr id="4" name="Define the&#10;security requirement.">
            <a:extLst xmlns:a="http://schemas.openxmlformats.org/drawingml/2006/main">
              <a:ext uri="{FF2B5EF4-FFF2-40B4-BE49-F238E27FC236}">
                <a16:creationId xmlns:a16="http://schemas.microsoft.com/office/drawing/2014/main" id="{76C6C0D5-E346-4DCC-86E0-90A643A518E3}"/>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the</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security requirement.</a:t>
            </a:r>
          </a:p>
        </p:txBody>
      </p:sp>
      <p:sp>
        <p:nvSpPr>
          <p:cNvPr id="5" name="Stop [behavior]. Preserve [dependency].&#10;Example:">
            <a:extLst xmlns:a="http://schemas.openxmlformats.org/drawingml/2006/main">
              <a:ext uri="{FF2B5EF4-FFF2-40B4-BE49-F238E27FC236}">
                <a16:creationId xmlns:a16="http://schemas.microsoft.com/office/drawing/2014/main" id="{94D9BF38-C700-43F0-A98C-B3CCCD43BC71}"/>
              </a:ext>
            </a:extLst>
          </p:cNvPr>
          <p:cNvSpPr>
            <a:spLocks xmlns:a="http://schemas.openxmlformats.org/drawingml/2006/main" noGrp="1"/>
          </p:cNvSpPr>
          <p:nvPr/>
        </p:nvSpPr>
        <p:spPr>
          <a:xfrm xmlns:a="http://schemas.openxmlformats.org/drawingml/2006/main">
            <a:off x="628650" y="4829175"/>
            <a:ext cx="7524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2EFE7"/>
                </a:solidFill>
                <a:latin typeface="Arial"/>
                <a:ea typeface="Arial"/>
                <a:cs typeface="Arial"/>
              </a:defRPr>
            </a:defPPr>
          </a:lstStyle>
          <a:p xmlns:a="http://schemas.openxmlformats.org/drawingml/2006/main">
            <a:pPr>
              <a:defRPr sz="2025" b="0">
                <a:solidFill>
                  <a:srgbClr val="F2EFE7"/>
                </a:solidFill>
                <a:latin typeface="Arial"/>
                <a:ea typeface="Arial"/>
                <a:cs typeface="Arial"/>
              </a:defRPr>
            </a:pPr>
            <a:r>
              <a:rPr sz="2025" b="0">
                <a:solidFill>
                  <a:srgbClr val="F2EFE7"/>
                </a:solidFill>
                <a:latin typeface="Arial"/>
                <a:ea typeface="Arial"/>
                <a:cs typeface="Arial"/>
              </a:rPr>
              <a:t>Stop [behavior]. Preserve [dependency].</a:t>
            </a:r>
          </a:p>
          <a:p xmlns:a="http://schemas.openxmlformats.org/drawingml/2006/main">
            <a:pPr>
              <a:defRPr sz="2025" b="0">
                <a:solidFill>
                  <a:srgbClr val="F2EFE7"/>
                </a:solidFill>
                <a:latin typeface="Arial"/>
                <a:ea typeface="Arial"/>
                <a:cs typeface="Arial"/>
              </a:defRPr>
            </a:pPr>
            <a:r>
              <a:rPr sz="2025" b="0">
                <a:solidFill>
                  <a:srgbClr val="F2EFE7"/>
                </a:solidFill>
                <a:latin typeface="Arial"/>
                <a:ea typeface="Arial"/>
                <a:cs typeface="Arial"/>
              </a:rPr>
              <a:t>Example: block new privileged workloads.</a:t>
            </a:r>
          </a:p>
          <a:p xmlns:a="http://schemas.openxmlformats.org/drawingml/2006/main">
            <a:pPr>
              <a:defRPr sz="2025" b="0">
                <a:solidFill>
                  <a:srgbClr val="F2EFE7"/>
                </a:solidFill>
                <a:latin typeface="Arial"/>
                <a:ea typeface="Arial"/>
                <a:cs typeface="Arial"/>
              </a:defRPr>
            </a:pPr>
            <a:r>
              <a:rPr sz="2025" b="0">
                <a:solidFill>
                  <a:srgbClr val="F2EFE7"/>
                </a:solidFill>
                <a:latin typeface="Arial"/>
                <a:ea typeface="Arial"/>
                <a:cs typeface="Arial"/>
              </a:rPr>
              <a:t>Allow approved releases. Write your own on page 6.</a:t>
            </a:r>
          </a:p>
        </p:txBody>
      </p:sp>
      <p:sp>
        <p:nvSpPr>
          <p:cNvPr id="6" name="ISC2 SECURITY CONGRESS 2026 / SC2632">
            <a:extLst xmlns:a="http://schemas.openxmlformats.org/drawingml/2006/main">
              <a:ext uri="{FF2B5EF4-FFF2-40B4-BE49-F238E27FC236}">
                <a16:creationId xmlns:a16="http://schemas.microsoft.com/office/drawing/2014/main" id="{E0B409A8-F8FB-4153-AD0F-33501ED3D4D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08">
            <a:extLst xmlns:a="http://schemas.openxmlformats.org/drawingml/2006/main">
              <a:ext uri="{FF2B5EF4-FFF2-40B4-BE49-F238E27FC236}">
                <a16:creationId xmlns:a16="http://schemas.microsoft.com/office/drawing/2014/main" id="{8AC6DBEA-5EB0-4C5C-96FA-FC9E31214FF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08</a:t>
            </a:r>
          </a:p>
        </p:txBody>
      </p:sp>
    </p:spTree>
    <p:extLst>
      <p:ext uri="{BB962C8B-B14F-4D97-AF65-F5344CB8AC3E}">
        <p14:creationId xmlns:p14="http://schemas.microsoft.com/office/powerpoint/2010/main" val="894514046"/>
      </p:ext>
    </p:extLst>
  </p:cSld>
</p:sld>
</file>

<file path=ppt/slides/slide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POLICY AGENT / HUMAN APPROVAL">
            <a:extLst xmlns:a="http://schemas.openxmlformats.org/drawingml/2006/main">
              <a:ext uri="{FF2B5EF4-FFF2-40B4-BE49-F238E27FC236}">
                <a16:creationId xmlns:a16="http://schemas.microsoft.com/office/drawing/2014/main" id="{75BAC31A-A960-4448-B0F3-4CA886E53F3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POLICY AGENT / HUMAN APPROVAL</a:t>
            </a:r>
          </a:p>
        </p:txBody>
      </p:sp>
      <p:sp>
        <p:nvSpPr>
          <p:cNvPr id="2" name="Who proposes, tests and approves">
            <a:extLst xmlns:a="http://schemas.openxmlformats.org/drawingml/2006/main">
              <a:ext uri="{FF2B5EF4-FFF2-40B4-BE49-F238E27FC236}">
                <a16:creationId xmlns:a16="http://schemas.microsoft.com/office/drawing/2014/main" id="{B2952E79-6C70-4B76-B76E-306BED656A33}"/>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Who proposes, tests and approves</a:t>
            </a:r>
          </a:p>
        </p:txBody>
      </p:sp>
      <p:graphicFrame>
        <p:nvGraphicFramePr>
          <p:cNvPr id="3" name="">
            <a:extLst xmlns:a="http://schemas.openxmlformats.org/drawingml/2006/main">
              <a:ext uri="{FF2B5EF4-FFF2-40B4-BE49-F238E27FC236}">
                <a16:creationId xmlns:a16="http://schemas.microsoft.com/office/drawing/2014/main" id="{5E91B513-95B5-49EC-A0C1-D149D4D0AE0B}"/>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3143250"/>
                <a:gridCol w="7810500"/>
              </a:tblGrid>
              <a:tr h="571500">
                <a:tc>
                  <a:txBody>
                    <a:bodyPr/>
                    <a:lstStyle/>
                    <a:p>
                      <a:r>
                        <a:rPr sz="1875" b="1">
                          <a:solidFill>
                            <a:srgbClr val="F2EFE7"/>
                          </a:solidFill>
                          <a:latin typeface="Arial"/>
                          <a:ea typeface="Arial"/>
                          <a:cs typeface="Arial"/>
                        </a:rPr>
                        <a:t>Owner</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Responsibility</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71500">
                <a:tc>
                  <a:txBody>
                    <a:bodyPr/>
                    <a:lstStyle/>
                    <a:p>
                      <a:r>
                        <a:rPr sz="1875" b="1">
                          <a:solidFill>
                            <a:srgbClr val="087E79"/>
                          </a:solidFill>
                          <a:latin typeface="Arial"/>
                          <a:ea typeface="Arial"/>
                          <a:cs typeface="Arial"/>
                        </a:rPr>
                        <a:t>Model / decision provider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Select a catalog control, dependency or next action</a:t>
                      </a:r>
                    </a:p>
                  </a:txBody>
                  <a:tcPr marL="91440" marR="91440" marT="45720" marB="45720">
                    <a:lnR w="19050">
                      <a:solidFill>
                        <a:srgbClr val="F2EFE7"/>
                      </a:solidFill>
                      <a:prstDash val="solid"/>
                    </a:lnR>
                    <a:lnB w="19050">
                      <a:solidFill>
                        <a:srgbClr val="F2EFE7"/>
                      </a:solidFill>
                      <a:prstDash val="solid"/>
                    </a:lnB>
                    <a:solidFill>
                      <a:srgbClr val="F2EFE7"/>
                    </a:solidFill>
                  </a:tcPr>
                </a:tc>
              </a:tr>
              <a:tr h="571500">
                <a:tc>
                  <a:txBody>
                    <a:bodyPr/>
                    <a:lstStyle/>
                    <a:p>
                      <a:r>
                        <a:rPr sz="1875" b="1">
                          <a:solidFill>
                            <a:srgbClr val="087E79"/>
                          </a:solidFill>
                          <a:latin typeface="Arial"/>
                          <a:ea typeface="Arial"/>
                          <a:cs typeface="Arial"/>
                        </a:rPr>
                        <a:t>Code and templates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Validate approved values and render policy YAML</a:t>
                      </a:r>
                    </a:p>
                  </a:txBody>
                  <a:tcPr marL="91440" marR="91440" marT="45720" marB="45720">
                    <a:lnR w="19050">
                      <a:solidFill>
                        <a:srgbClr val="F2EFE7"/>
                      </a:solidFill>
                      <a:prstDash val="solid"/>
                    </a:lnR>
                    <a:lnB w="19050">
                      <a:solidFill>
                        <a:srgbClr val="F2EFE7"/>
                      </a:solidFill>
                      <a:prstDash val="solid"/>
                    </a:lnB>
                    <a:solidFill>
                      <a:srgbClr val="F2EFE7"/>
                    </a:solidFill>
                  </a:tcPr>
                </a:tc>
              </a:tr>
              <a:tr h="571500">
                <a:tc>
                  <a:txBody>
                    <a:bodyPr/>
                    <a:lstStyle/>
                    <a:p>
                      <a:r>
                        <a:rPr sz="1875" b="1">
                          <a:solidFill>
                            <a:srgbClr val="087E79"/>
                          </a:solidFill>
                          <a:latin typeface="Arial"/>
                          <a:ea typeface="Arial"/>
                          <a:cs typeface="Arial"/>
                        </a:rPr>
                        <a:t>Tools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Observe workloads and simulate admission outcomes</a:t>
                      </a:r>
                    </a:p>
                  </a:txBody>
                  <a:tcPr marL="91440" marR="91440" marT="45720" marB="45720">
                    <a:lnR w="19050">
                      <a:solidFill>
                        <a:srgbClr val="F2EFE7"/>
                      </a:solidFill>
                      <a:prstDash val="solid"/>
                    </a:lnR>
                    <a:lnB w="19050">
                      <a:solidFill>
                        <a:srgbClr val="F2EFE7"/>
                      </a:solidFill>
                      <a:prstDash val="solid"/>
                    </a:lnB>
                    <a:solidFill>
                      <a:srgbClr val="F2EFE7"/>
                    </a:solidFill>
                  </a:tcPr>
                </a:tc>
              </a:tr>
              <a:tr h="571500">
                <a:tc>
                  <a:txBody>
                    <a:bodyPr/>
                    <a:lstStyle/>
                    <a:p>
                      <a:r>
                        <a:rPr sz="1875" b="1">
                          <a:solidFill>
                            <a:srgbClr val="087E79"/>
                          </a:solidFill>
                          <a:latin typeface="Arial"/>
                          <a:ea typeface="Arial"/>
                          <a:cs typeface="Arial"/>
                        </a:rPr>
                        <a:t>Human reviewer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Resolve gaps, approve exceptions and authorize deployment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Policy agent: maps written intent to approved ca">
            <a:extLst xmlns:a="http://schemas.openxmlformats.org/drawingml/2006/main">
              <a:ext uri="{FF2B5EF4-FFF2-40B4-BE49-F238E27FC236}">
                <a16:creationId xmlns:a16="http://schemas.microsoft.com/office/drawing/2014/main" id="{56D5D190-2F0F-4FCE-B858-83F6119F3874}"/>
              </a:ext>
            </a:extLst>
          </p:cNvPr>
          <p:cNvSpPr>
            <a:spLocks xmlns:a="http://schemas.openxmlformats.org/drawingml/2006/main" noGrp="1"/>
          </p:cNvSpPr>
          <p:nvPr/>
        </p:nvSpPr>
        <p:spPr>
          <a:xfrm xmlns:a="http://schemas.openxmlformats.org/drawingml/2006/main">
            <a:off x="609600" y="550545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Policy agent: maps written intent to approved catalog choices.</a:t>
            </a:r>
          </a:p>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Case agents: workloads whose access your table reviews.</a:t>
            </a:r>
          </a:p>
        </p:txBody>
      </p:sp>
      <p:sp>
        <p:nvSpPr>
          <p:cNvPr id="5" name="ISC2 SECURITY CONGRESS 2026 / SC2632">
            <a:extLst xmlns:a="http://schemas.openxmlformats.org/drawingml/2006/main">
              <a:ext uri="{FF2B5EF4-FFF2-40B4-BE49-F238E27FC236}">
                <a16:creationId xmlns:a16="http://schemas.microsoft.com/office/drawing/2014/main" id="{0A10F833-3CF7-4FE1-8EF0-93B7AA381BA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9">
            <a:extLst xmlns:a="http://schemas.openxmlformats.org/drawingml/2006/main">
              <a:ext uri="{FF2B5EF4-FFF2-40B4-BE49-F238E27FC236}">
                <a16:creationId xmlns:a16="http://schemas.microsoft.com/office/drawing/2014/main" id="{AF2DA30D-84DF-4169-8AFA-AF8F91D8E30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09</a:t>
            </a:r>
          </a:p>
        </p:txBody>
      </p:sp>
    </p:spTree>
    <p:extLst>
      <p:ext uri="{BB962C8B-B14F-4D97-AF65-F5344CB8AC3E}">
        <p14:creationId xmlns:p14="http://schemas.microsoft.com/office/powerpoint/2010/main" val="950113874"/>
      </p:ext>
    </p:extLst>
  </p:cSld>
</p:sld>
</file>

<file path=ppt/slides/slide1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COMMON DEMO / SUPPLIED REFERENCE SPEC">
            <a:extLst xmlns:a="http://schemas.openxmlformats.org/drawingml/2006/main">
              <a:ext uri="{FF2B5EF4-FFF2-40B4-BE49-F238E27FC236}">
                <a16:creationId xmlns:a16="http://schemas.microsoft.com/office/drawing/2014/main" id="{30B67457-E048-442C-B801-791527646D2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COMMON DEMO / SUPPLIED REFERENCE SPEC</a:t>
            </a:r>
          </a:p>
        </p:txBody>
      </p:sp>
      <p:sp>
        <p:nvSpPr>
          <p:cNvPr id="2" name="Intent → reviewable proposal">
            <a:extLst xmlns:a="http://schemas.openxmlformats.org/drawingml/2006/main">
              <a:ext uri="{FF2B5EF4-FFF2-40B4-BE49-F238E27FC236}">
                <a16:creationId xmlns:a16="http://schemas.microsoft.com/office/drawing/2014/main" id="{3AC05C0E-8FAF-459F-944B-AD14970FB1E8}"/>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Intent → reviewable proposal</a:t>
            </a:r>
          </a:p>
        </p:txBody>
      </p:sp>
      <p:sp>
        <p:nvSpPr>
          <p:cNvPr id="3" name="“Prevent privilege escalation by workloads&#10;in th">
            <a:extLst xmlns:a="http://schemas.openxmlformats.org/drawingml/2006/main">
              <a:ext uri="{FF2B5EF4-FFF2-40B4-BE49-F238E27FC236}">
                <a16:creationId xmlns:a16="http://schemas.microsoft.com/office/drawing/2014/main" id="{3C378803-378C-4D54-A00C-A655399F14DB}"/>
              </a:ext>
            </a:extLst>
          </p:cNvPr>
          <p:cNvSpPr>
            <a:spLocks xmlns:a="http://schemas.openxmlformats.org/drawingml/2006/main" noGrp="1"/>
          </p:cNvSpPr>
          <p:nvPr/>
        </p:nvSpPr>
        <p:spPr>
          <a:xfrm xmlns:a="http://schemas.openxmlformats.org/drawingml/2006/main">
            <a:off x="609600" y="23050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“Prevent privilege escalation by workloads</a:t>
            </a:r>
          </a:p>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in the payments namespace.”</a:t>
            </a:r>
          </a:p>
        </p:txBody>
      </p:sp>
      <p:sp>
        <p:nvSpPr>
          <p:cNvPr id="4" name="Control: deny_privilege_escalation&#10;Templates pro">
            <a:extLst xmlns:a="http://schemas.openxmlformats.org/drawingml/2006/main">
              <a:ext uri="{FF2B5EF4-FFF2-40B4-BE49-F238E27FC236}">
                <a16:creationId xmlns:a16="http://schemas.microsoft.com/office/drawing/2014/main" id="{A973852A-28F9-4E9E-A235-9AE92E4F53FC}"/>
              </a:ext>
            </a:extLst>
          </p:cNvPr>
          <p:cNvSpPr>
            <a:spLocks xmlns:a="http://schemas.openxmlformats.org/drawingml/2006/main" noGrp="1"/>
          </p:cNvSpPr>
          <p:nvPr/>
        </p:nvSpPr>
        <p:spPr>
          <a:xfrm xmlns:a="http://schemas.openxmlformats.org/drawingml/2006/main">
            <a:off x="609600" y="37433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Control: deny_privilege_escalation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Templates produce a Kyverno policy. Fixtures show its effect.</a:t>
            </a:r>
          </a:p>
        </p:txBody>
      </p:sp>
      <p:sp>
        <p:nvSpPr>
          <p:cNvPr id="5" name="Compiler and fixture tests run on a supplied spe">
            <a:extLst xmlns:a="http://schemas.openxmlformats.org/drawingml/2006/main">
              <a:ext uri="{FF2B5EF4-FFF2-40B4-BE49-F238E27FC236}">
                <a16:creationId xmlns:a16="http://schemas.microsoft.com/office/drawing/2014/main" id="{632DA12B-2DE7-44E3-AA50-B34FD5FEC59C}"/>
              </a:ext>
            </a:extLst>
          </p:cNvPr>
          <p:cNvSpPr>
            <a:spLocks xmlns:a="http://schemas.openxmlformats.org/drawingml/2006/main" noGrp="1"/>
          </p:cNvSpPr>
          <p:nvPr/>
        </p:nvSpPr>
        <p:spPr>
          <a:xfrm xmlns:a="http://schemas.openxmlformats.org/drawingml/2006/main">
            <a:off x="609600" y="5372100"/>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Compiler and fixture tests run on a supplied spec.</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No live model call or automatic deployment is part of this demo.</a:t>
            </a:r>
          </a:p>
        </p:txBody>
      </p:sp>
      <p:sp>
        <p:nvSpPr>
          <p:cNvPr id="6" name="ISC2 SECURITY CONGRESS 2026 / SC2632">
            <a:extLst xmlns:a="http://schemas.openxmlformats.org/drawingml/2006/main">
              <a:ext uri="{FF2B5EF4-FFF2-40B4-BE49-F238E27FC236}">
                <a16:creationId xmlns:a16="http://schemas.microsoft.com/office/drawing/2014/main" id="{2EA767F8-FD99-48FA-9E4F-96514ECF126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10">
            <a:extLst xmlns:a="http://schemas.openxmlformats.org/drawingml/2006/main">
              <a:ext uri="{FF2B5EF4-FFF2-40B4-BE49-F238E27FC236}">
                <a16:creationId xmlns:a16="http://schemas.microsoft.com/office/drawing/2014/main" id="{DFD1F0F7-20A3-4254-9DA0-597BE787888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10</a:t>
            </a:r>
          </a:p>
        </p:txBody>
      </p:sp>
    </p:spTree>
    <p:extLst>
      <p:ext uri="{BB962C8B-B14F-4D97-AF65-F5344CB8AC3E}">
        <p14:creationId xmlns:p14="http://schemas.microsoft.com/office/powerpoint/2010/main" val="1672365019"/>
      </p:ext>
    </p:extLst>
  </p:cSld>
</p:sld>
</file>

<file path=ppt/slides/slide1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EFERENCE PR / SCENARIO A">
            <a:extLst xmlns:a="http://schemas.openxmlformats.org/drawingml/2006/main">
              <a:ext uri="{FF2B5EF4-FFF2-40B4-BE49-F238E27FC236}">
                <a16:creationId xmlns:a16="http://schemas.microsoft.com/office/drawing/2014/main" id="{71F2FA42-CA6D-42D1-A910-ED4B4480C7A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PR / SCENARIO A</a:t>
            </a:r>
          </a:p>
        </p:txBody>
      </p:sp>
      <p:sp>
        <p:nvSpPr>
          <p:cNvPr id="2" name="Unresolved enforcement requirements">
            <a:extLst xmlns:a="http://schemas.openxmlformats.org/drawingml/2006/main">
              <a:ext uri="{FF2B5EF4-FFF2-40B4-BE49-F238E27FC236}">
                <a16:creationId xmlns:a16="http://schemas.microsoft.com/office/drawing/2014/main" id="{6EB71D73-F811-4A9B-8FBE-2541BC4D1CD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Unresolved enforcement requirements</a:t>
            </a:r>
          </a:p>
        </p:txBody>
      </p:sp>
      <p:graphicFrame>
        <p:nvGraphicFramePr>
          <p:cNvPr id="3" name="">
            <a:extLst xmlns:a="http://schemas.openxmlformats.org/drawingml/2006/main">
              <a:ext uri="{FF2B5EF4-FFF2-40B4-BE49-F238E27FC236}">
                <a16:creationId xmlns:a16="http://schemas.microsoft.com/office/drawing/2014/main" id="{E52243A2-1E56-4620-9413-086E108DC0B0}"/>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4857750"/>
                <a:gridCol w="6096000"/>
              </a:tblGrid>
              <a:tr h="676275">
                <a:tc>
                  <a:txBody>
                    <a:bodyPr/>
                    <a:lstStyle/>
                    <a:p>
                      <a:r>
                        <a:rPr sz="1875" b="1">
                          <a:solidFill>
                            <a:srgbClr val="F2EFE7"/>
                          </a:solidFill>
                          <a:latin typeface="Arial"/>
                          <a:ea typeface="Arial"/>
                          <a:cs typeface="Arial"/>
                        </a:rPr>
                        <a:t>Intent clause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Proposal status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Limit east-west communication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Prevent 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Privilege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Restrict 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Unimplemented. RBAC handover required.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Avoid disruption and expire exceptions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Rollout and exception 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imulation evidence is limited to the fixtures e">
            <a:extLst xmlns:a="http://schemas.openxmlformats.org/drawingml/2006/main">
              <a:ext uri="{FF2B5EF4-FFF2-40B4-BE49-F238E27FC236}">
                <a16:creationId xmlns:a16="http://schemas.microsoft.com/office/drawing/2014/main" id="{3549BFAB-B5D2-475F-9882-0732BF8BD3D1}"/>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Simulation evidence is limited to the fixtures exercised.</a:t>
            </a:r>
          </a:p>
        </p:txBody>
      </p:sp>
      <p:sp>
        <p:nvSpPr>
          <p:cNvPr id="5" name="ISC2 SECURITY CONGRESS 2026 / SC2632">
            <a:extLst xmlns:a="http://schemas.openxmlformats.org/drawingml/2006/main">
              <a:ext uri="{FF2B5EF4-FFF2-40B4-BE49-F238E27FC236}">
                <a16:creationId xmlns:a16="http://schemas.microsoft.com/office/drawing/2014/main" id="{5FCA8558-8D5E-458B-9855-CD2D0FF3B02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1">
            <a:extLst xmlns:a="http://schemas.openxmlformats.org/drawingml/2006/main">
              <a:ext uri="{FF2B5EF4-FFF2-40B4-BE49-F238E27FC236}">
                <a16:creationId xmlns:a16="http://schemas.microsoft.com/office/drawing/2014/main" id="{FB69AF54-7063-4067-A220-B9AB5EDF4D2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11</a:t>
            </a:r>
          </a:p>
        </p:txBody>
      </p:sp>
    </p:spTree>
    <p:extLst>
      <p:ext uri="{BB962C8B-B14F-4D97-AF65-F5344CB8AC3E}">
        <p14:creationId xmlns:p14="http://schemas.microsoft.com/office/powerpoint/2010/main" val="1527015935"/>
      </p:ext>
    </p:extLst>
  </p:cSld>
</p:sld>
</file>

<file path=ppt/slides/slide12.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PR REVIEW / YOUR DECISION">
            <a:extLst xmlns:a="http://schemas.openxmlformats.org/drawingml/2006/main">
              <a:ext uri="{FF2B5EF4-FFF2-40B4-BE49-F238E27FC236}">
                <a16:creationId xmlns:a16="http://schemas.microsoft.com/office/drawing/2014/main" id="{424B7B8D-E943-4F86-BC2B-E7792FFDD442}"/>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PR REVIEW / YOUR DECISION</a:t>
            </a:r>
          </a:p>
        </p:txBody>
      </p:sp>
      <p:sp>
        <p:nvSpPr>
          <p:cNvPr id="2" name="Record your review decision">
            <a:extLst xmlns:a="http://schemas.openxmlformats.org/drawingml/2006/main">
              <a:ext uri="{FF2B5EF4-FFF2-40B4-BE49-F238E27FC236}">
                <a16:creationId xmlns:a16="http://schemas.microsoft.com/office/drawing/2014/main" id="{8E026BC3-EDA7-4532-B5BA-86ABAA7D0C2C}"/>
              </a:ext>
            </a:extLst>
          </p:cNvPr>
          <p:cNvSpPr>
            <a:spLocks xmlns:a="http://schemas.openxmlformats.org/drawingml/2006/main" noGrp="1"/>
          </p:cNvSpPr>
          <p:nvPr/>
        </p:nvSpPr>
        <p:spPr>
          <a:xfrm xmlns:a="http://schemas.openxmlformats.org/drawingml/2006/main">
            <a:off x="609600" y="1123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Record your review decision</a:t>
            </a:r>
          </a:p>
        </p:txBody>
      </p:sp>
      <p:sp>
        <p:nvSpPr>
          <p:cNvPr id="3" name="APPROVE">
            <a:extLst xmlns:a="http://schemas.openxmlformats.org/drawingml/2006/main">
              <a:ext uri="{FF2B5EF4-FFF2-40B4-BE49-F238E27FC236}">
                <a16:creationId xmlns:a16="http://schemas.microsoft.com/office/drawing/2014/main" id="{ED501D17-EC61-43AA-8D61-221C022A76F9}"/>
              </a:ext>
            </a:extLst>
          </p:cNvPr>
          <p:cNvSpPr>
            <a:spLocks xmlns:a="http://schemas.openxmlformats.org/drawingml/2006/main" noGrp="1"/>
          </p:cNvSpPr>
          <p:nvPr/>
        </p:nvSpPr>
        <p:spPr>
          <a:xfrm xmlns:a="http://schemas.openxmlformats.org/drawingml/2006/main">
            <a:off x="628650" y="240030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APPROVE</a:t>
            </a:r>
          </a:p>
        </p:txBody>
      </p:sp>
      <p:sp>
        <p:nvSpPr>
          <p:cNvPr id="4" name="MODIFY">
            <a:extLst xmlns:a="http://schemas.openxmlformats.org/drawingml/2006/main">
              <a:ext uri="{FF2B5EF4-FFF2-40B4-BE49-F238E27FC236}">
                <a16:creationId xmlns:a16="http://schemas.microsoft.com/office/drawing/2014/main" id="{53AFCC85-123C-4F85-98E2-72FA1CCDA628}"/>
              </a:ext>
            </a:extLst>
          </p:cNvPr>
          <p:cNvSpPr>
            <a:spLocks xmlns:a="http://schemas.openxmlformats.org/drawingml/2006/main" noGrp="1"/>
          </p:cNvSpPr>
          <p:nvPr/>
        </p:nvSpPr>
        <p:spPr>
          <a:xfrm xmlns:a="http://schemas.openxmlformats.org/drawingml/2006/main">
            <a:off x="628650" y="322897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25D8BD"/>
                </a:solidFill>
                <a:latin typeface="Arial Black"/>
                <a:ea typeface="Arial Black"/>
                <a:cs typeface="Arial Black"/>
              </a:defRPr>
            </a:defPPr>
          </a:lstStyle>
          <a:p xmlns:a="http://schemas.openxmlformats.org/drawingml/2006/main">
            <a:pPr>
              <a:defRPr sz="3900" b="1">
                <a:solidFill>
                  <a:srgbClr val="25D8BD"/>
                </a:solidFill>
                <a:latin typeface="Arial Black"/>
                <a:ea typeface="Arial Black"/>
                <a:cs typeface="Arial Black"/>
              </a:defRPr>
            </a:pPr>
            <a:r>
              <a:rPr sz="3900" b="1">
                <a:solidFill>
                  <a:srgbClr val="25D8BD"/>
                </a:solidFill>
                <a:latin typeface="Arial Black"/>
                <a:ea typeface="Arial Black"/>
                <a:cs typeface="Arial Black"/>
              </a:rPr>
              <a:t>MODIFY</a:t>
            </a:r>
          </a:p>
        </p:txBody>
      </p:sp>
      <p:sp>
        <p:nvSpPr>
          <p:cNvPr id="5" name="REJECT">
            <a:extLst xmlns:a="http://schemas.openxmlformats.org/drawingml/2006/main">
              <a:ext uri="{FF2B5EF4-FFF2-40B4-BE49-F238E27FC236}">
                <a16:creationId xmlns:a16="http://schemas.microsoft.com/office/drawing/2014/main" id="{FE3BD8CB-6694-408C-B518-1F11963F7F42}"/>
              </a:ext>
            </a:extLst>
          </p:cNvPr>
          <p:cNvSpPr>
            <a:spLocks xmlns:a="http://schemas.openxmlformats.org/drawingml/2006/main" noGrp="1"/>
          </p:cNvSpPr>
          <p:nvPr/>
        </p:nvSpPr>
        <p:spPr>
          <a:xfrm xmlns:a="http://schemas.openxmlformats.org/drawingml/2006/main">
            <a:off x="628650" y="405765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795B"/>
                </a:solidFill>
                <a:latin typeface="Arial Black"/>
                <a:ea typeface="Arial Black"/>
                <a:cs typeface="Arial Black"/>
              </a:defRPr>
            </a:defPPr>
          </a:lstStyle>
          <a:p xmlns:a="http://schemas.openxmlformats.org/drawingml/2006/main">
            <a:pPr>
              <a:defRPr sz="3900" b="1">
                <a:solidFill>
                  <a:srgbClr val="FF795B"/>
                </a:solidFill>
                <a:latin typeface="Arial Black"/>
                <a:ea typeface="Arial Black"/>
                <a:cs typeface="Arial Black"/>
              </a:defRPr>
            </a:pPr>
            <a:r>
              <a:rPr sz="3900" b="1">
                <a:solidFill>
                  <a:srgbClr val="FF795B"/>
                </a:solidFill>
                <a:latin typeface="Arial Black"/>
                <a:ea typeface="Arial Black"/>
                <a:cs typeface="Arial Black"/>
              </a:rPr>
              <a:t>REJECT</a:t>
            </a:r>
          </a:p>
        </p:txBody>
      </p:sp>
      <p:sp>
        <p:nvSpPr>
          <p:cNvPr id="6" name="ESCALATE">
            <a:extLst xmlns:a="http://schemas.openxmlformats.org/drawingml/2006/main">
              <a:ext uri="{FF2B5EF4-FFF2-40B4-BE49-F238E27FC236}">
                <a16:creationId xmlns:a16="http://schemas.microsoft.com/office/drawing/2014/main" id="{E6B73297-7765-40FF-94F2-A68908F5B55D}"/>
              </a:ext>
            </a:extLst>
          </p:cNvPr>
          <p:cNvSpPr>
            <a:spLocks xmlns:a="http://schemas.openxmlformats.org/drawingml/2006/main" noGrp="1"/>
          </p:cNvSpPr>
          <p:nvPr/>
        </p:nvSpPr>
        <p:spPr>
          <a:xfrm xmlns:a="http://schemas.openxmlformats.org/drawingml/2006/main">
            <a:off x="628650" y="488632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ESCALATE</a:t>
            </a:r>
          </a:p>
        </p:txBody>
      </p:sp>
      <p:sp>
        <p:nvSpPr>
          <p:cNvPr id="7" name="One control to keep&#10;or change.">
            <a:extLst xmlns:a="http://schemas.openxmlformats.org/drawingml/2006/main">
              <a:ext uri="{FF2B5EF4-FFF2-40B4-BE49-F238E27FC236}">
                <a16:creationId xmlns:a16="http://schemas.microsoft.com/office/drawing/2014/main" id="{E25EEF59-9E14-40C6-9110-8AB26EB40181}"/>
              </a:ext>
            </a:extLst>
          </p:cNvPr>
          <p:cNvSpPr>
            <a:spLocks xmlns:a="http://schemas.openxmlformats.org/drawingml/2006/main" noGrp="1"/>
          </p:cNvSpPr>
          <p:nvPr/>
        </p:nvSpPr>
        <p:spPr>
          <a:xfrm xmlns:a="http://schemas.openxmlformats.org/drawingml/2006/main">
            <a:off x="7553325" y="26860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EFE7"/>
                </a:solidFill>
                <a:latin typeface="Arial"/>
                <a:ea typeface="Arial"/>
                <a:cs typeface="Arial"/>
              </a:defRPr>
            </a:defPPr>
          </a:lstStyle>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One control to keep</a:t>
            </a:r>
          </a:p>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or change.</a:t>
            </a:r>
          </a:p>
        </p:txBody>
      </p:sp>
      <p:sp>
        <p:nvSpPr>
          <p:cNvPr id="8" name="One missing test&#10;that could change&#10;your decision">
            <a:extLst xmlns:a="http://schemas.openxmlformats.org/drawingml/2006/main">
              <a:ext uri="{FF2B5EF4-FFF2-40B4-BE49-F238E27FC236}">
                <a16:creationId xmlns:a16="http://schemas.microsoft.com/office/drawing/2014/main" id="{E74A1947-4DAA-4639-A2CE-1CF24967DA2C}"/>
              </a:ext>
            </a:extLst>
          </p:cNvPr>
          <p:cNvSpPr>
            <a:spLocks xmlns:a="http://schemas.openxmlformats.org/drawingml/2006/main" noGrp="1"/>
          </p:cNvSpPr>
          <p:nvPr/>
        </p:nvSpPr>
        <p:spPr>
          <a:xfrm xmlns:a="http://schemas.openxmlformats.org/drawingml/2006/main">
            <a:off x="7553325" y="4295775"/>
            <a:ext cx="3810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2EFE7"/>
                </a:solidFill>
                <a:latin typeface="Arial"/>
                <a:ea typeface="Arial"/>
                <a:cs typeface="Arial"/>
              </a:defRPr>
            </a:defPPr>
          </a:lstStyle>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One missing test</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that could change</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your decision.</a:t>
            </a:r>
          </a:p>
        </p:txBody>
      </p:sp>
      <p:sp>
        <p:nvSpPr>
          <p:cNvPr id="9" name="ISC2 SECURITY CONGRESS 2026 / SC2632">
            <a:extLst xmlns:a="http://schemas.openxmlformats.org/drawingml/2006/main">
              <a:ext uri="{FF2B5EF4-FFF2-40B4-BE49-F238E27FC236}">
                <a16:creationId xmlns:a16="http://schemas.microsoft.com/office/drawing/2014/main" id="{A32C06BD-6F30-4D98-A551-E0F089E7D86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12">
            <a:extLst xmlns:a="http://schemas.openxmlformats.org/drawingml/2006/main">
              <a:ext uri="{FF2B5EF4-FFF2-40B4-BE49-F238E27FC236}">
                <a16:creationId xmlns:a16="http://schemas.microsoft.com/office/drawing/2014/main" id="{3EDBC343-D7E6-43D9-B833-0C99E0FDBA4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12</a:t>
            </a:r>
          </a:p>
        </p:txBody>
      </p:sp>
    </p:spTree>
    <p:extLst>
      <p:ext uri="{BB962C8B-B14F-4D97-AF65-F5344CB8AC3E}">
        <p14:creationId xmlns:p14="http://schemas.microsoft.com/office/powerpoint/2010/main" val="854707476"/>
      </p:ext>
    </p:extLst>
  </p:cSld>
</p:sld>
</file>

<file path=ppt/slides/slide1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OUND 02 / EXCEPTION REQUEST / FICTIONAL INJECT">
            <a:extLst xmlns:a="http://schemas.openxmlformats.org/drawingml/2006/main">
              <a:ext uri="{FF2B5EF4-FFF2-40B4-BE49-F238E27FC236}">
                <a16:creationId xmlns:a16="http://schemas.microsoft.com/office/drawing/2014/main" id="{8CAAFDD2-BC7C-4541-852E-CF7B239E4D6B}"/>
              </a:ext>
            </a:extLst>
          </p:cNvPr>
          <p:cNvSpPr>
            <a:spLocks xmlns:a="http://schemas.openxmlformats.org/drawingml/2006/main" noGrp="1"/>
          </p:cNvSpPr>
          <p:nvPr/>
        </p:nvSpPr>
        <p:spPr>
          <a:xfrm xmlns:a="http://schemas.openxmlformats.org/drawingml/2006/main">
            <a:off x="609600" y="4762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ROUND 02 / EXCEPTION REQUEST / FICTIONAL INJECT</a:t>
            </a:r>
          </a:p>
        </p:txBody>
      </p:sp>
      <p:sp>
        <p:nvSpPr>
          <p:cNvPr id="2" name="A temporary&#10;access request">
            <a:extLst xmlns:a="http://schemas.openxmlformats.org/drawingml/2006/main">
              <a:ext uri="{FF2B5EF4-FFF2-40B4-BE49-F238E27FC236}">
                <a16:creationId xmlns:a16="http://schemas.microsoft.com/office/drawing/2014/main" id="{1FE550FD-9BDA-41AA-9497-94A573604F15}"/>
              </a:ext>
            </a:extLst>
          </p:cNvPr>
          <p:cNvSpPr>
            <a:spLocks xmlns:a="http://schemas.openxmlformats.org/drawingml/2006/main" noGrp="1"/>
          </p:cNvSpPr>
          <p:nvPr/>
        </p:nvSpPr>
        <p:spPr>
          <a:xfrm xmlns:a="http://schemas.openxmlformats.org/drawingml/2006/main">
            <a:off x="609600" y="1266825"/>
            <a:ext cx="10668000" cy="1895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A temporary</a:t>
            </a:r>
          </a:p>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access request</a:t>
            </a:r>
          </a:p>
        </p:txBody>
      </p:sp>
      <p:sp>
        <p:nvSpPr>
          <p:cNvPr id="3" name="Read your case’s request. Which operation must c">
            <a:extLst xmlns:a="http://schemas.openxmlformats.org/drawingml/2006/main">
              <a:ext uri="{FF2B5EF4-FFF2-40B4-BE49-F238E27FC236}">
                <a16:creationId xmlns:a16="http://schemas.microsoft.com/office/drawing/2014/main" id="{6761EF10-6D29-4B4A-9177-AFF8C03B8285}"/>
              </a:ext>
            </a:extLst>
          </p:cNvPr>
          <p:cNvSpPr>
            <a:spLocks xmlns:a="http://schemas.openxmlformats.org/drawingml/2006/main" noGrp="1"/>
          </p:cNvSpPr>
          <p:nvPr/>
        </p:nvSpPr>
        <p:spPr>
          <a:xfrm xmlns:a="http://schemas.openxmlformats.org/drawingml/2006/main">
            <a:off x="628650" y="3524250"/>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stStyle>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Read your case’s request. Which operation must continue?</a:t>
            </a:r>
          </a:p>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What authority would you grant while approval is checked?</a:t>
            </a:r>
          </a:p>
        </p:txBody>
      </p:sp>
      <p:sp>
        <p:nvSpPr>
          <p:cNvPr id="4" name="Grant / narrow / hold / refuse.&#10;Record condition">
            <a:extLst xmlns:a="http://schemas.openxmlformats.org/drawingml/2006/main">
              <a:ext uri="{FF2B5EF4-FFF2-40B4-BE49-F238E27FC236}">
                <a16:creationId xmlns:a16="http://schemas.microsoft.com/office/drawing/2014/main" id="{AC419B7E-A263-48F3-940E-01FEB6A89326}"/>
              </a:ext>
            </a:extLst>
          </p:cNvPr>
          <p:cNvSpPr>
            <a:spLocks xmlns:a="http://schemas.openxmlformats.org/drawingml/2006/main" noGrp="1"/>
          </p:cNvSpPr>
          <p:nvPr/>
        </p:nvSpPr>
        <p:spPr>
          <a:xfrm xmlns:a="http://schemas.openxmlformats.org/drawingml/2006/main">
            <a:off x="628650" y="5038725"/>
            <a:ext cx="1071562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Grant / narrow / hold / refuse.</a:t>
            </a:r>
          </a:p>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Record conditions, remaining exposure and one test that could change your answer.</a:t>
            </a:r>
          </a:p>
        </p:txBody>
      </p:sp>
      <p:sp>
        <p:nvSpPr>
          <p:cNvPr id="5" name="ISC2 SECURITY CONGRESS 2026 / SC2632">
            <a:extLst xmlns:a="http://schemas.openxmlformats.org/drawingml/2006/main">
              <a:ext uri="{FF2B5EF4-FFF2-40B4-BE49-F238E27FC236}">
                <a16:creationId xmlns:a16="http://schemas.microsoft.com/office/drawing/2014/main" id="{476C5762-8471-46C0-A80F-4DA693C8D23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3">
            <a:extLst xmlns:a="http://schemas.openxmlformats.org/drawingml/2006/main">
              <a:ext uri="{FF2B5EF4-FFF2-40B4-BE49-F238E27FC236}">
                <a16:creationId xmlns:a16="http://schemas.microsoft.com/office/drawing/2014/main" id="{94D6483A-EB1F-4828-9D8D-8493B1B1B5A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13</a:t>
            </a:r>
          </a:p>
        </p:txBody>
      </p:sp>
    </p:spTree>
    <p:extLst>
      <p:ext uri="{BB962C8B-B14F-4D97-AF65-F5344CB8AC3E}">
        <p14:creationId xmlns:p14="http://schemas.microsoft.com/office/powerpoint/2010/main" val="1592612973"/>
      </p:ext>
    </p:extLst>
  </p:cSld>
</p:sld>
</file>

<file path=ppt/slides/slide1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22–26 MINUTES / TEAM TASK">
            <a:extLst xmlns:a="http://schemas.openxmlformats.org/drawingml/2006/main">
              <a:ext uri="{FF2B5EF4-FFF2-40B4-BE49-F238E27FC236}">
                <a16:creationId xmlns:a16="http://schemas.microsoft.com/office/drawing/2014/main" id="{E7CCC975-97F0-44A6-BE0C-1B29D9A9EA6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22–26 MINUTES / TEAM TASK</a:t>
            </a:r>
          </a:p>
        </p:txBody>
      </p:sp>
      <p:sp>
        <p:nvSpPr>
          <p:cNvPr id="2" name="Audit. Warn. Deny.">
            <a:extLst xmlns:a="http://schemas.openxmlformats.org/drawingml/2006/main">
              <a:ext uri="{FF2B5EF4-FFF2-40B4-BE49-F238E27FC236}">
                <a16:creationId xmlns:a16="http://schemas.microsoft.com/office/drawing/2014/main" id="{05860772-608E-470E-8082-E14EC5CF597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Audit. Warn. Deny.</a:t>
            </a:r>
          </a:p>
        </p:txBody>
      </p:sp>
      <p:graphicFrame>
        <p:nvGraphicFramePr>
          <p:cNvPr id="3" name="">
            <a:extLst xmlns:a="http://schemas.openxmlformats.org/drawingml/2006/main">
              <a:ext uri="{FF2B5EF4-FFF2-40B4-BE49-F238E27FC236}">
                <a16:creationId xmlns:a16="http://schemas.microsoft.com/office/drawing/2014/main" id="{CB2CC6B6-3E6F-4574-AF03-A1BCC15589C0}"/>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1524000"/>
                <a:gridCol w="3905250"/>
                <a:gridCol w="5524500"/>
              </a:tblGrid>
              <a:tr h="714375">
                <a:tc>
                  <a:txBody>
                    <a:bodyPr/>
                    <a:lstStyle/>
                    <a:p>
                      <a:r>
                        <a:rPr sz="1875" b="1">
                          <a:solidFill>
                            <a:srgbClr val="F2EFE7"/>
                          </a:solidFill>
                          <a:latin typeface="Arial"/>
                          <a:ea typeface="Arial"/>
                          <a:cs typeface="Arial"/>
                        </a:rPr>
                        <a:t>Mode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Admission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Review question</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Audit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record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Is exposure acceptable while we observe?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Warn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warn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Who will act on the warning?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Deny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Refuse the change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What legitimate workload could break?</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Choose a mode per control and write promotion cr">
            <a:extLst xmlns:a="http://schemas.openxmlformats.org/drawingml/2006/main">
              <a:ext uri="{FF2B5EF4-FFF2-40B4-BE49-F238E27FC236}">
                <a16:creationId xmlns:a16="http://schemas.microsoft.com/office/drawing/2014/main" id="{52353599-5233-42F1-BC73-9865338A13C4}"/>
              </a:ext>
            </a:extLst>
          </p:cNvPr>
          <p:cNvSpPr>
            <a:spLocks xmlns:a="http://schemas.openxmlformats.org/drawingml/2006/main" noGrp="1"/>
          </p:cNvSpPr>
          <p:nvPr/>
        </p:nvSpPr>
        <p:spPr>
          <a:xfrm xmlns:a="http://schemas.openxmlformats.org/drawingml/2006/main">
            <a:off x="609600" y="5572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Choose a mode per control and write promotion criteria.</a:t>
            </a:r>
          </a:p>
        </p:txBody>
      </p:sp>
      <p:sp>
        <p:nvSpPr>
          <p:cNvPr id="5" name="ISC2 SECURITY CONGRESS 2026 / SC2632">
            <a:extLst xmlns:a="http://schemas.openxmlformats.org/drawingml/2006/main">
              <a:ext uri="{FF2B5EF4-FFF2-40B4-BE49-F238E27FC236}">
                <a16:creationId xmlns:a16="http://schemas.microsoft.com/office/drawing/2014/main" id="{E84FCEFA-6EE8-4E36-BD11-6445F15AD42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4">
            <a:extLst xmlns:a="http://schemas.openxmlformats.org/drawingml/2006/main">
              <a:ext uri="{FF2B5EF4-FFF2-40B4-BE49-F238E27FC236}">
                <a16:creationId xmlns:a16="http://schemas.microsoft.com/office/drawing/2014/main" id="{2E2369E4-A281-4E99-A729-21D1F90FA6A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14</a:t>
            </a:r>
          </a:p>
        </p:txBody>
      </p:sp>
    </p:spTree>
    <p:extLst>
      <p:ext uri="{BB962C8B-B14F-4D97-AF65-F5344CB8AC3E}">
        <p14:creationId xmlns:p14="http://schemas.microsoft.com/office/powerpoint/2010/main" val="893961138"/>
      </p:ext>
    </p:extLst>
  </p:cSld>
</p:sld>
</file>

<file path=ppt/slides/slide1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IMPLEMENTED LEVELS / SCOPE MATTERS">
            <a:extLst xmlns:a="http://schemas.openxmlformats.org/drawingml/2006/main">
              <a:ext uri="{FF2B5EF4-FFF2-40B4-BE49-F238E27FC236}">
                <a16:creationId xmlns:a16="http://schemas.microsoft.com/office/drawing/2014/main" id="{68BCFFE1-E8C5-44A7-A734-3D7B587D3A6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IMPLEMENTED LEVELS / SCOPE MATTERS</a:t>
            </a:r>
          </a:p>
        </p:txBody>
      </p:sp>
      <p:sp>
        <p:nvSpPr>
          <p:cNvPr id="2" name="Quarantine Mode">
            <a:extLst xmlns:a="http://schemas.openxmlformats.org/drawingml/2006/main">
              <a:ext uri="{FF2B5EF4-FFF2-40B4-BE49-F238E27FC236}">
                <a16:creationId xmlns:a16="http://schemas.microsoft.com/office/drawing/2014/main" id="{9D881BE4-D4DE-40EE-9EB2-68393F830967}"/>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Quarantine Mode</a:t>
            </a:r>
          </a:p>
        </p:txBody>
      </p:sp>
      <p:graphicFrame>
        <p:nvGraphicFramePr>
          <p:cNvPr id="3" name="">
            <a:extLst xmlns:a="http://schemas.openxmlformats.org/drawingml/2006/main">
              <a:ext uri="{FF2B5EF4-FFF2-40B4-BE49-F238E27FC236}">
                <a16:creationId xmlns:a16="http://schemas.microsoft.com/office/drawing/2014/main" id="{AA4EAFEE-69DD-494E-B706-0F3AECDF06EB}"/>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095500"/>
                <a:gridCol w="5429250"/>
                <a:gridCol w="3429000"/>
              </a:tblGrid>
              <a:tr h="676275">
                <a:tc>
                  <a:txBody>
                    <a:bodyPr/>
                    <a:lstStyle/>
                    <a:p>
                      <a:r>
                        <a:rPr sz="1800" b="1">
                          <a:solidFill>
                            <a:srgbClr val="F2EFE7"/>
                          </a:solidFill>
                          <a:latin typeface="Arial"/>
                          <a:ea typeface="Arial"/>
                          <a:cs typeface="Arial"/>
                        </a:rPr>
                        <a:t>Level</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Control change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Operational effect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00" b="1">
                          <a:solidFill>
                            <a:srgbClr val="087E79"/>
                          </a:solidFill>
                          <a:latin typeface="Arial"/>
                          <a:ea typeface="Arial"/>
                          <a:cs typeface="Arial"/>
                        </a:rPr>
                        <a:t>Q0 Normal</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Baseline guardrails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Normal service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Q1 Freeze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Freeze covered agent writes and new exceptions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Running Pods remain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Q2 Constrain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Capture evidence, constrain suspect network and rotation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Clean capacity can 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Q3 Isolate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Remove remaining suspect network allowances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Degraded service may follow</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Project-defined incident posture. Verify each na">
            <a:extLst xmlns:a="http://schemas.openxmlformats.org/drawingml/2006/main">
              <a:ext uri="{FF2B5EF4-FFF2-40B4-BE49-F238E27FC236}">
                <a16:creationId xmlns:a16="http://schemas.microsoft.com/office/drawing/2014/main" id="{E8D8D7C0-E494-4DB5-AD90-B02C3E67628D}"/>
              </a:ext>
            </a:extLst>
          </p:cNvPr>
          <p:cNvSpPr>
            <a:spLocks xmlns:a="http://schemas.openxmlformats.org/drawingml/2006/main" noGrp="1"/>
          </p:cNvSpPr>
          <p:nvPr/>
        </p:nvSpPr>
        <p:spPr>
          <a:xfrm xmlns:a="http://schemas.openxmlformats.org/drawingml/2006/main">
            <a:off x="609600" y="58578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Project-defined incident posture. Verify each named control and its applied state.</a:t>
            </a:r>
          </a:p>
        </p:txBody>
      </p:sp>
      <p:sp>
        <p:nvSpPr>
          <p:cNvPr id="5" name="ISC2 SECURITY CONGRESS 2026 / SC2632">
            <a:extLst xmlns:a="http://schemas.openxmlformats.org/drawingml/2006/main">
              <a:ext uri="{FF2B5EF4-FFF2-40B4-BE49-F238E27FC236}">
                <a16:creationId xmlns:a16="http://schemas.microsoft.com/office/drawing/2014/main" id="{0A36DC9E-4A46-469C-8661-95C35CA8F46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5">
            <a:extLst xmlns:a="http://schemas.openxmlformats.org/drawingml/2006/main">
              <a:ext uri="{FF2B5EF4-FFF2-40B4-BE49-F238E27FC236}">
                <a16:creationId xmlns:a16="http://schemas.microsoft.com/office/drawing/2014/main" id="{24701C1A-4C81-43B2-89EC-C9FF24EF406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15</a:t>
            </a:r>
          </a:p>
        </p:txBody>
      </p:sp>
    </p:spTree>
    <p:extLst>
      <p:ext uri="{BB962C8B-B14F-4D97-AF65-F5344CB8AC3E}">
        <p14:creationId xmlns:p14="http://schemas.microsoft.com/office/powerpoint/2010/main" val="471711215"/>
      </p:ext>
    </p:extLst>
  </p:cSld>
</p:sld>
</file>

<file path=ppt/slides/slide16.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6EF90295-2A79-4DDB-90F5-01603DE37CF2}"/>
              </a:ext>
            </a:extLst>
          </p:cNvPr>
          <p:cNvPicPr>
            <a:picLocks xmlns:a="http://schemas.openxmlformats.org/drawingml/2006/main" noChangeAspect="1"/>
          </p:cNvPicPr>
          <p:nvPr/>
        </p:nvPicPr>
        <p:blipFill>
          <a:blip xmlns:r="http://schemas.openxmlformats.org/officeDocument/2006/relationships" xmlns:a="http://schemas.openxmlformats.org/drawingml/2006/main" r:embed="R08aa3ee3b4a54d6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7 MINUTES / JUSTIFY THE ACTION ORDER">
            <a:extLst xmlns:a="http://schemas.openxmlformats.org/drawingml/2006/main">
              <a:ext uri="{FF2B5EF4-FFF2-40B4-BE49-F238E27FC236}">
                <a16:creationId xmlns:a16="http://schemas.microsoft.com/office/drawing/2014/main" id="{CFDCDCAC-7655-4B98-B7DD-646435A9612F}"/>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7 MINUTES / JUSTIFY THE ACTION ORDER</a:t>
            </a:r>
          </a:p>
        </p:txBody>
      </p:sp>
      <p:sp>
        <p:nvSpPr>
          <p:cNvPr id="3" name="03">
            <a:extLst xmlns:a="http://schemas.openxmlformats.org/drawingml/2006/main">
              <a:ext uri="{FF2B5EF4-FFF2-40B4-BE49-F238E27FC236}">
                <a16:creationId xmlns:a16="http://schemas.microsoft.com/office/drawing/2014/main" id="{13796EA2-B07A-48B5-A556-3CB4E2CB461F}"/>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03</a:t>
            </a:r>
          </a:p>
        </p:txBody>
      </p:sp>
      <p:sp>
        <p:nvSpPr>
          <p:cNvPr id="4" name="Plan scoped&#10;containment.">
            <a:extLst xmlns:a="http://schemas.openxmlformats.org/drawingml/2006/main">
              <a:ext uri="{FF2B5EF4-FFF2-40B4-BE49-F238E27FC236}">
                <a16:creationId xmlns:a16="http://schemas.microsoft.com/office/drawing/2014/main" id="{CBA06C1A-8AD0-4EDD-A94D-13142C3A172B}"/>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Plan scoped</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containment.</a:t>
            </a:r>
          </a:p>
        </p:txBody>
      </p:sp>
      <p:sp>
        <p:nvSpPr>
          <p:cNvPr id="5" name="Open the sealed update on page 7.&#10;Number actions">
            <a:extLst xmlns:a="http://schemas.openxmlformats.org/drawingml/2006/main">
              <a:ext uri="{FF2B5EF4-FFF2-40B4-BE49-F238E27FC236}">
                <a16:creationId xmlns:a16="http://schemas.microsoft.com/office/drawing/2014/main" id="{A261D47D-D304-47E4-97EF-4320ED609C41}"/>
              </a:ext>
            </a:extLst>
          </p:cNvPr>
          <p:cNvSpPr>
            <a:spLocks xmlns:a="http://schemas.openxmlformats.org/drawingml/2006/main" noGrp="1"/>
          </p:cNvSpPr>
          <p:nvPr/>
        </p:nvSpPr>
        <p:spPr>
          <a:xfrm xmlns:a="http://schemas.openxmlformats.org/drawingml/2006/main">
            <a:off x="628650" y="4829175"/>
            <a:ext cx="6381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Open the sealed update on page 7.</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Number actions and state the service floor.</a:t>
            </a:r>
          </a:p>
        </p:txBody>
      </p:sp>
      <p:sp>
        <p:nvSpPr>
          <p:cNvPr id="6" name="ISC2 SECURITY CONGRESS 2026 / SC2632">
            <a:extLst xmlns:a="http://schemas.openxmlformats.org/drawingml/2006/main">
              <a:ext uri="{FF2B5EF4-FFF2-40B4-BE49-F238E27FC236}">
                <a16:creationId xmlns:a16="http://schemas.microsoft.com/office/drawing/2014/main" id="{967DABA1-AAE5-44D9-9A00-453ABE049A3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6">
            <a:extLst xmlns:a="http://schemas.openxmlformats.org/drawingml/2006/main">
              <a:ext uri="{FF2B5EF4-FFF2-40B4-BE49-F238E27FC236}">
                <a16:creationId xmlns:a16="http://schemas.microsoft.com/office/drawing/2014/main" id="{63D41EAE-C2B3-4C21-8BA5-6E06F35CDB1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16</a:t>
            </a:r>
          </a:p>
        </p:txBody>
      </p:sp>
    </p:spTree>
    <p:extLst>
      <p:ext uri="{BB962C8B-B14F-4D97-AF65-F5344CB8AC3E}">
        <p14:creationId xmlns:p14="http://schemas.microsoft.com/office/powerpoint/2010/main" val="757155813"/>
      </p:ext>
    </p:extLst>
  </p:cSld>
</p:sld>
</file>

<file path=ppt/slides/slide1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7" name="SECOND INJECT / OPEN THE LATER FINDING">
            <a:extLst xmlns:a="http://schemas.openxmlformats.org/drawingml/2006/main">
              <a:ext uri="{FF2B5EF4-FFF2-40B4-BE49-F238E27FC236}">
                <a16:creationId xmlns:a16="http://schemas.microsoft.com/office/drawing/2014/main" id="{7F124E70-DB86-466A-821E-47547E82B64C}"/>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SECOND INJECT / OPEN THE LATER FINDING</a:t>
            </a:r>
          </a:p>
        </p:txBody>
      </p:sp>
      <p:sp>
        <p:nvSpPr>
          <p:cNvPr id="2" name="Reassess with&#10;additional evidence">
            <a:extLst xmlns:a="http://schemas.openxmlformats.org/drawingml/2006/main">
              <a:ext uri="{FF2B5EF4-FFF2-40B4-BE49-F238E27FC236}">
                <a16:creationId xmlns:a16="http://schemas.microsoft.com/office/drawing/2014/main" id="{134F6A4F-7E75-425F-8427-F7EB25838AF2}"/>
              </a:ext>
            </a:extLst>
          </p:cNvPr>
          <p:cNvSpPr>
            <a:spLocks xmlns:a="http://schemas.openxmlformats.org/drawingml/2006/main" noGrp="1"/>
          </p:cNvSpPr>
          <p:nvPr/>
        </p:nvSpPr>
        <p:spPr>
          <a:xfrm xmlns:a="http://schemas.openxmlformats.org/drawingml/2006/main">
            <a:off x="609600" y="1447800"/>
            <a:ext cx="107632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2EFE7"/>
                </a:solidFill>
                <a:latin typeface="Arial Black"/>
                <a:ea typeface="Arial Black"/>
                <a:cs typeface="Arial Black"/>
              </a:defRPr>
            </a:defPPr>
          </a:lstStyle>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Reassess with</a:t>
            </a:r>
          </a:p>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additional evidence</a:t>
            </a:r>
          </a:p>
        </p:txBody>
      </p:sp>
      <p:sp>
        <p:nvSpPr>
          <p:cNvPr id="3" name="REVISE THE PLAN / ESCALATE / JUSTIFY NO CHANGE">
            <a:extLst xmlns:a="http://schemas.openxmlformats.org/drawingml/2006/main">
              <a:ext uri="{FF2B5EF4-FFF2-40B4-BE49-F238E27FC236}">
                <a16:creationId xmlns:a16="http://schemas.microsoft.com/office/drawing/2014/main" id="{1407A106-7B42-478C-9535-5176F96BCB87}"/>
              </a:ext>
            </a:extLst>
          </p:cNvPr>
          <p:cNvSpPr>
            <a:spLocks xmlns:a="http://schemas.openxmlformats.org/drawingml/2006/main" noGrp="1"/>
          </p:cNvSpPr>
          <p:nvPr/>
        </p:nvSpPr>
        <p:spPr>
          <a:xfrm xmlns:a="http://schemas.openxmlformats.org/drawingml/2006/main">
            <a:off x="628650" y="43243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795B"/>
                </a:solidFill>
                <a:latin typeface="Arial"/>
                <a:ea typeface="Arial"/>
                <a:cs typeface="Arial"/>
              </a:defRPr>
            </a:defPPr>
          </a:lstStyle>
          <a:p xmlns:a="http://schemas.openxmlformats.org/drawingml/2006/main">
            <a:pPr>
              <a:defRPr sz="2625" b="1">
                <a:solidFill>
                  <a:srgbClr val="FF795B"/>
                </a:solidFill>
                <a:latin typeface="Arial"/>
                <a:ea typeface="Arial"/>
                <a:cs typeface="Arial"/>
              </a:defRPr>
            </a:pPr>
            <a:r>
              <a:rPr sz="2625" b="1">
                <a:solidFill>
                  <a:srgbClr val="FF795B"/>
                </a:solidFill>
                <a:latin typeface="Arial"/>
                <a:ea typeface="Arial"/>
                <a:cs typeface="Arial"/>
              </a:rPr>
              <a:t>REVISE THE PLAN / ESCALATE / JUSTIFY NO CHANGE</a:t>
            </a:r>
          </a:p>
        </p:txBody>
      </p:sp>
      <p:sp>
        <p:nvSpPr>
          <p:cNvPr id="4" name="Record which new evidence changes the scope or a">
            <a:extLst xmlns:a="http://schemas.openxmlformats.org/drawingml/2006/main">
              <a:ext uri="{FF2B5EF4-FFF2-40B4-BE49-F238E27FC236}">
                <a16:creationId xmlns:a16="http://schemas.microsoft.com/office/drawing/2014/main" id="{6A1C8EDA-0D33-4C89-818C-F5876FA07EB1}"/>
              </a:ext>
            </a:extLst>
          </p:cNvPr>
          <p:cNvSpPr>
            <a:spLocks xmlns:a="http://schemas.openxmlformats.org/drawingml/2006/main" noGrp="1"/>
          </p:cNvSpPr>
          <p:nvPr/>
        </p:nvSpPr>
        <p:spPr>
          <a:xfrm xmlns:a="http://schemas.openxmlformats.org/drawingml/2006/main">
            <a:off x="628650" y="53149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Record which new evidence changes the scope or action order.</a:t>
            </a:r>
          </a:p>
        </p:txBody>
      </p:sp>
      <p:sp>
        <p:nvSpPr>
          <p:cNvPr id="5" name="ISC2 SECURITY CONGRESS 2026 / SC2632">
            <a:extLst xmlns:a="http://schemas.openxmlformats.org/drawingml/2006/main">
              <a:ext uri="{FF2B5EF4-FFF2-40B4-BE49-F238E27FC236}">
                <a16:creationId xmlns:a16="http://schemas.microsoft.com/office/drawing/2014/main" id="{ADB1BDFA-EAEE-4D4D-9133-5D2BF95FA93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6" name="17">
            <a:extLst xmlns:a="http://schemas.openxmlformats.org/drawingml/2006/main">
              <a:ext uri="{FF2B5EF4-FFF2-40B4-BE49-F238E27FC236}">
                <a16:creationId xmlns:a16="http://schemas.microsoft.com/office/drawing/2014/main" id="{BC4492CC-B3F1-4B26-B970-753BAE73BE1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17</a:t>
            </a:r>
          </a:p>
        </p:txBody>
      </p:sp>
    </p:spTree>
    <p:extLst>
      <p:ext uri="{BB962C8B-B14F-4D97-AF65-F5344CB8AC3E}">
        <p14:creationId xmlns:p14="http://schemas.microsoft.com/office/powerpoint/2010/main" val="1784496391"/>
      </p:ext>
    </p:extLst>
  </p:cSld>
</p:sld>
</file>

<file path=ppt/slides/slide1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2" name="RECORDED LAB / PREDICT BEFORE THE REVEAL">
            <a:extLst xmlns:a="http://schemas.openxmlformats.org/drawingml/2006/main">
              <a:ext uri="{FF2B5EF4-FFF2-40B4-BE49-F238E27FC236}">
                <a16:creationId xmlns:a16="http://schemas.microsoft.com/office/drawing/2014/main" id="{89175B41-861B-440C-B49E-9233543CD342}"/>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LAB / PREDICT BEFORE THE REVEAL</a:t>
            </a:r>
          </a:p>
        </p:txBody>
      </p:sp>
      <p:sp>
        <p:nvSpPr>
          <p:cNvPr id="2" name="Validate the&#10;containment assumptions">
            <a:extLst xmlns:a="http://schemas.openxmlformats.org/drawingml/2006/main">
              <a:ext uri="{FF2B5EF4-FFF2-40B4-BE49-F238E27FC236}">
                <a16:creationId xmlns:a16="http://schemas.microsoft.com/office/drawing/2014/main" id="{A127030E-16C5-4765-BF77-B6F2683D4FDC}"/>
              </a:ext>
            </a:extLst>
          </p:cNvPr>
          <p:cNvSpPr>
            <a:spLocks xmlns:a="http://schemas.openxmlformats.org/drawingml/2006/main" noGrp="1"/>
          </p:cNvSpPr>
          <p:nvPr/>
        </p:nvSpPr>
        <p:spPr>
          <a:xfrm xmlns:a="http://schemas.openxmlformats.org/drawingml/2006/main">
            <a:off x="609600" y="13620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stStyle>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Validate the</a:t>
            </a:r>
          </a:p>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containment assumptions</a:t>
            </a:r>
          </a:p>
        </p:txBody>
      </p:sp>
      <p:sp>
        <p:nvSpPr>
          <p:cNvPr id="3" name="NETWORK">
            <a:extLst xmlns:a="http://schemas.openxmlformats.org/drawingml/2006/main">
              <a:ext uri="{FF2B5EF4-FFF2-40B4-BE49-F238E27FC236}">
                <a16:creationId xmlns:a16="http://schemas.microsoft.com/office/drawing/2014/main" id="{E2215F9C-600F-462A-9D89-58A38FDAE2B6}"/>
              </a:ext>
            </a:extLst>
          </p:cNvPr>
          <p:cNvSpPr>
            <a:spLocks xmlns:a="http://schemas.openxmlformats.org/drawingml/2006/main" noGrp="1"/>
          </p:cNvSpPr>
          <p:nvPr/>
        </p:nvSpPr>
        <p:spPr>
          <a:xfrm xmlns:a="http://schemas.openxmlformats.org/drawingml/2006/main">
            <a:off x="609600" y="343852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4" name="Does deny-all remove an existing allow?">
            <a:extLst xmlns:a="http://schemas.openxmlformats.org/drawingml/2006/main">
              <a:ext uri="{FF2B5EF4-FFF2-40B4-BE49-F238E27FC236}">
                <a16:creationId xmlns:a16="http://schemas.microsoft.com/office/drawing/2014/main" id="{7226DC12-83C3-4618-9E84-E9E93EAFF49D}"/>
              </a:ext>
            </a:extLst>
          </p:cNvPr>
          <p:cNvSpPr>
            <a:spLocks xmlns:a="http://schemas.openxmlformats.org/drawingml/2006/main" noGrp="1"/>
          </p:cNvSpPr>
          <p:nvPr/>
        </p:nvSpPr>
        <p:spPr>
          <a:xfrm xmlns:a="http://schemas.openxmlformats.org/drawingml/2006/main">
            <a:off x="2705100" y="343852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Does deny-all remove an existing allow?</a:t>
            </a:r>
          </a:p>
        </p:txBody>
      </p:sp>
      <p:sp>
        <p:nvSpPr>
          <p:cNvPr id="5" name="RECOVERY">
            <a:extLst xmlns:a="http://schemas.openxmlformats.org/drawingml/2006/main">
              <a:ext uri="{FF2B5EF4-FFF2-40B4-BE49-F238E27FC236}">
                <a16:creationId xmlns:a16="http://schemas.microsoft.com/office/drawing/2014/main" id="{623D193B-8A78-4C5F-A28E-93C7DD5EF898}"/>
              </a:ext>
            </a:extLst>
          </p:cNvPr>
          <p:cNvSpPr>
            <a:spLocks xmlns:a="http://schemas.openxmlformats.org/drawingml/2006/main" noGrp="1"/>
          </p:cNvSpPr>
          <p:nvPr/>
        </p:nvSpPr>
        <p:spPr>
          <a:xfrm xmlns:a="http://schemas.openxmlformats.org/drawingml/2006/main">
            <a:off x="609600" y="4267200"/>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RECOVERY</a:t>
            </a:r>
          </a:p>
        </p:txBody>
      </p:sp>
      <p:sp>
        <p:nvSpPr>
          <p:cNvPr id="6" name="Can eviction preserve evidence and healthy capac">
            <a:extLst xmlns:a="http://schemas.openxmlformats.org/drawingml/2006/main">
              <a:ext uri="{FF2B5EF4-FFF2-40B4-BE49-F238E27FC236}">
                <a16:creationId xmlns:a16="http://schemas.microsoft.com/office/drawing/2014/main" id="{5B68B5CA-EEFD-4856-90EB-AD8ECC486C9C}"/>
              </a:ext>
            </a:extLst>
          </p:cNvPr>
          <p:cNvSpPr>
            <a:spLocks xmlns:a="http://schemas.openxmlformats.org/drawingml/2006/main" noGrp="1"/>
          </p:cNvSpPr>
          <p:nvPr/>
        </p:nvSpPr>
        <p:spPr>
          <a:xfrm xmlns:a="http://schemas.openxmlformats.org/drawingml/2006/main">
            <a:off x="2705100" y="4267200"/>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Can eviction preserve evidence and healthy capacity?</a:t>
            </a:r>
          </a:p>
        </p:txBody>
      </p:sp>
      <p:sp>
        <p:nvSpPr>
          <p:cNvPr id="7" name="AUTHORITY">
            <a:extLst xmlns:a="http://schemas.openxmlformats.org/drawingml/2006/main">
              <a:ext uri="{FF2B5EF4-FFF2-40B4-BE49-F238E27FC236}">
                <a16:creationId xmlns:a16="http://schemas.microsoft.com/office/drawing/2014/main" id="{11933C4E-4804-4521-909E-F503E36D8474}"/>
              </a:ext>
            </a:extLst>
          </p:cNvPr>
          <p:cNvSpPr>
            <a:spLocks xmlns:a="http://schemas.openxmlformats.org/drawingml/2006/main" noGrp="1"/>
          </p:cNvSpPr>
          <p:nvPr/>
        </p:nvSpPr>
        <p:spPr>
          <a:xfrm xmlns:a="http://schemas.openxmlformats.org/drawingml/2006/main">
            <a:off x="609600" y="509587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AUTHORITY</a:t>
            </a:r>
          </a:p>
        </p:txBody>
      </p:sp>
      <p:sp>
        <p:nvSpPr>
          <p:cNvPr id="8" name="Which identity or API path can bypass your plan?">
            <a:extLst xmlns:a="http://schemas.openxmlformats.org/drawingml/2006/main">
              <a:ext uri="{FF2B5EF4-FFF2-40B4-BE49-F238E27FC236}">
                <a16:creationId xmlns:a16="http://schemas.microsoft.com/office/drawing/2014/main" id="{3466D6F2-F3EA-47A5-9F65-0021E031EDBF}"/>
              </a:ext>
            </a:extLst>
          </p:cNvPr>
          <p:cNvSpPr>
            <a:spLocks xmlns:a="http://schemas.openxmlformats.org/drawingml/2006/main" noGrp="1"/>
          </p:cNvSpPr>
          <p:nvPr/>
        </p:nvSpPr>
        <p:spPr>
          <a:xfrm xmlns:a="http://schemas.openxmlformats.org/drawingml/2006/main">
            <a:off x="2705100" y="509587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Which identity or API path can bypass your plan?</a:t>
            </a:r>
          </a:p>
        </p:txBody>
      </p:sp>
      <p:sp>
        <p:nvSpPr>
          <p:cNvPr id="9" name="Real k3s observations. Fictional incident. Recor">
            <a:extLst xmlns:a="http://schemas.openxmlformats.org/drawingml/2006/main">
              <a:ext uri="{FF2B5EF4-FFF2-40B4-BE49-F238E27FC236}">
                <a16:creationId xmlns:a16="http://schemas.microsoft.com/office/drawing/2014/main" id="{78123F31-8F1A-4899-A683-D20D875097B8}"/>
              </a:ext>
            </a:extLst>
          </p:cNvPr>
          <p:cNvSpPr>
            <a:spLocks xmlns:a="http://schemas.openxmlformats.org/drawingml/2006/main" noGrp="1"/>
          </p:cNvSpPr>
          <p:nvPr/>
        </p:nvSpPr>
        <p:spPr>
          <a:xfrm xmlns:a="http://schemas.openxmlformats.org/drawingml/2006/main">
            <a:off x="628650" y="60102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CAEBB"/>
                </a:solidFill>
                <a:latin typeface="Arial"/>
                <a:ea typeface="Arial"/>
                <a:cs typeface="Arial"/>
              </a:defRPr>
            </a:defPPr>
          </a:lstStyle>
          <a:p xmlns:a="http://schemas.openxmlformats.org/drawingml/2006/main">
            <a:pPr>
              <a:defRPr sz="1500" b="0">
                <a:solidFill>
                  <a:srgbClr val="9CAEBB"/>
                </a:solidFill>
                <a:latin typeface="Arial"/>
                <a:ea typeface="Arial"/>
                <a:cs typeface="Arial"/>
              </a:defRPr>
            </a:pPr>
            <a:r>
              <a:rPr sz="1500" b="0">
                <a:solidFill>
                  <a:srgbClr val="9CAEBB"/>
                </a:solidFill>
                <a:latin typeface="Arial"/>
                <a:ea typeface="Arial"/>
                <a:cs typeface="Arial"/>
              </a:rPr>
              <a:t>Real k3s observations. Fictional incident. Recorded, not live.</a:t>
            </a:r>
          </a:p>
        </p:txBody>
      </p:sp>
      <p:sp>
        <p:nvSpPr>
          <p:cNvPr id="10" name="ISC2 SECURITY CONGRESS 2026 / SC2632">
            <a:extLst xmlns:a="http://schemas.openxmlformats.org/drawingml/2006/main">
              <a:ext uri="{FF2B5EF4-FFF2-40B4-BE49-F238E27FC236}">
                <a16:creationId xmlns:a16="http://schemas.microsoft.com/office/drawing/2014/main" id="{3EEFA242-593F-4192-9DF9-ACEB361971E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1" name="18">
            <a:extLst xmlns:a="http://schemas.openxmlformats.org/drawingml/2006/main">
              <a:ext uri="{FF2B5EF4-FFF2-40B4-BE49-F238E27FC236}">
                <a16:creationId xmlns:a16="http://schemas.microsoft.com/office/drawing/2014/main" id="{5931890C-CFC9-43C9-8EAC-535282A6E1C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18</a:t>
            </a:r>
          </a:p>
        </p:txBody>
      </p:sp>
    </p:spTree>
    <p:extLst>
      <p:ext uri="{BB962C8B-B14F-4D97-AF65-F5344CB8AC3E}">
        <p14:creationId xmlns:p14="http://schemas.microsoft.com/office/powerpoint/2010/main" val="1409116456"/>
      </p:ext>
    </p:extLst>
  </p:cSld>
</p:sld>
</file>

<file path=ppt/slides/slide1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1 / PREDICT THEN REVEAL">
            <a:extLst xmlns:a="http://schemas.openxmlformats.org/drawingml/2006/main">
              <a:ext uri="{FF2B5EF4-FFF2-40B4-BE49-F238E27FC236}">
                <a16:creationId xmlns:a16="http://schemas.microsoft.com/office/drawing/2014/main" id="{625FAA85-18F1-41B6-B0AB-67DFF8105B6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01 / PREDICT THEN REVEAL</a:t>
            </a:r>
          </a:p>
        </p:txBody>
      </p:sp>
      <p:sp>
        <p:nvSpPr>
          <p:cNvPr id="2" name="What would prove&#10;isolation?">
            <a:extLst xmlns:a="http://schemas.openxmlformats.org/drawingml/2006/main">
              <a:ext uri="{FF2B5EF4-FFF2-40B4-BE49-F238E27FC236}">
                <a16:creationId xmlns:a16="http://schemas.microsoft.com/office/drawing/2014/main" id="{CA13E047-560A-434C-B9DF-9C73C08D7749}"/>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would prove</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isolation?</a:t>
            </a:r>
          </a:p>
        </p:txBody>
      </p:sp>
      <p:pic>
        <p:nvPicPr>
          <p:cNvPr id="3" name="">
            <a:extLst xmlns:a="http://schemas.openxmlformats.org/drawingml/2006/main">
              <a:ext uri="{FF2B5EF4-FFF2-40B4-BE49-F238E27FC236}">
                <a16:creationId xmlns:a16="http://schemas.microsoft.com/office/drawing/2014/main" id="{3E6759AC-F5AA-4337-9881-BEE652F27353}"/>
              </a:ext>
            </a:extLst>
          </p:cNvPr>
          <p:cNvPicPr>
            <a:picLocks xmlns:a="http://schemas.openxmlformats.org/drawingml/2006/main" noChangeAspect="1"/>
          </p:cNvPicPr>
          <p:nvPr/>
        </p:nvPicPr>
        <p:blipFill>
          <a:blip xmlns:r="http://schemas.openxmlformats.org/officeDocument/2006/relationships" xmlns:a="http://schemas.openxmlformats.org/drawingml/2006/main" r:embed="Rc22a2952199343d6"/>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Q3 is requested.&#10;An existing rule allows DNS.">
            <a:extLst xmlns:a="http://schemas.openxmlformats.org/drawingml/2006/main">
              <a:ext uri="{FF2B5EF4-FFF2-40B4-BE49-F238E27FC236}">
                <a16:creationId xmlns:a16="http://schemas.microsoft.com/office/drawing/2014/main" id="{7C28482B-BE7E-45D6-A959-D611FE82D1EA}"/>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stStyle>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Q3 is requested.</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An existing rule allows DNS.</a:t>
            </a:r>
          </a:p>
        </p:txBody>
      </p:sp>
      <p:sp>
        <p:nvSpPr>
          <p:cNvPr id="5" name="Which allowance must change?&#10;Name the confirming">
            <a:extLst xmlns:a="http://schemas.openxmlformats.org/drawingml/2006/main">
              <a:ext uri="{FF2B5EF4-FFF2-40B4-BE49-F238E27FC236}">
                <a16:creationId xmlns:a16="http://schemas.microsoft.com/office/drawing/2014/main" id="{BFB0E4A9-D3DF-42A7-82B7-05137E842FE9}"/>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Which allowance must change?</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Name the confirming test.</a:t>
            </a:r>
          </a:p>
        </p:txBody>
      </p:sp>
      <p:sp>
        <p:nvSpPr>
          <p:cNvPr id="6" name="Recorded k3s observations; simplified workload n">
            <a:extLst xmlns:a="http://schemas.openxmlformats.org/drawingml/2006/main">
              <a:ext uri="{FF2B5EF4-FFF2-40B4-BE49-F238E27FC236}">
                <a16:creationId xmlns:a16="http://schemas.microsoft.com/office/drawing/2014/main" id="{DB21CA57-27CB-448A-9F7A-D5BAC5184413}"/>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0460C41C-3DBE-47FC-8571-FEAE5DCCCB0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19">
            <a:extLst xmlns:a="http://schemas.openxmlformats.org/drawingml/2006/main">
              <a:ext uri="{FF2B5EF4-FFF2-40B4-BE49-F238E27FC236}">
                <a16:creationId xmlns:a16="http://schemas.microsoft.com/office/drawing/2014/main" id="{0E82DDE7-23B6-4247-B734-8F82DE597B2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19</a:t>
            </a:r>
          </a:p>
        </p:txBody>
      </p:sp>
    </p:spTree>
    <p:extLst>
      <p:ext uri="{BB962C8B-B14F-4D97-AF65-F5344CB8AC3E}">
        <p14:creationId xmlns:p14="http://schemas.microsoft.com/office/powerpoint/2010/main" val="1247123431"/>
      </p:ext>
    </p:extLst>
  </p:cSld>
</p:sld>
</file>

<file path=ppt/slides/slide2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2 / PREDICT THEN REVEAL">
            <a:extLst xmlns:a="http://schemas.openxmlformats.org/drawingml/2006/main">
              <a:ext uri="{FF2B5EF4-FFF2-40B4-BE49-F238E27FC236}">
                <a16:creationId xmlns:a16="http://schemas.microsoft.com/office/drawing/2014/main" id="{078A727E-CDAE-4A56-8058-9D9641D5FEEF}"/>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02 / PREDICT THEN REVEAL</a:t>
            </a:r>
          </a:p>
        </p:txBody>
      </p:sp>
      <p:sp>
        <p:nvSpPr>
          <p:cNvPr id="2" name="What must happen&#10;before removal?">
            <a:extLst xmlns:a="http://schemas.openxmlformats.org/drawingml/2006/main">
              <a:ext uri="{FF2B5EF4-FFF2-40B4-BE49-F238E27FC236}">
                <a16:creationId xmlns:a16="http://schemas.microsoft.com/office/drawing/2014/main" id="{74B3394D-0CCE-4144-A27D-34619E60452A}"/>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must happen</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before removal?</a:t>
            </a:r>
          </a:p>
        </p:txBody>
      </p:sp>
      <p:pic>
        <p:nvPicPr>
          <p:cNvPr id="3" name="">
            <a:extLst xmlns:a="http://schemas.openxmlformats.org/drawingml/2006/main">
              <a:ext uri="{FF2B5EF4-FFF2-40B4-BE49-F238E27FC236}">
                <a16:creationId xmlns:a16="http://schemas.microsoft.com/office/drawing/2014/main" id="{943943BC-4894-4D3C-97D7-726DB030B270}"/>
              </a:ext>
            </a:extLst>
          </p:cNvPr>
          <p:cNvPicPr>
            <a:picLocks xmlns:a="http://schemas.openxmlformats.org/drawingml/2006/main" noChangeAspect="1"/>
          </p:cNvPicPr>
          <p:nvPr/>
        </p:nvPicPr>
        <p:blipFill>
          <a:blip xmlns:r="http://schemas.openxmlformats.org/officeDocument/2006/relationships" xmlns:a="http://schemas.openxmlformats.org/drawingml/2006/main" r:embed="Ra05b19a9fb334b82"/>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ree copies run.&#10;Two may be affected.&#10;Q3 blocks">
            <a:extLst xmlns:a="http://schemas.openxmlformats.org/drawingml/2006/main">
              <a:ext uri="{FF2B5EF4-FFF2-40B4-BE49-F238E27FC236}">
                <a16:creationId xmlns:a16="http://schemas.microsoft.com/office/drawing/2014/main" id="{867506FF-CA90-44DB-8AB1-0FDD7CE55381}"/>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stStyle>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Three copies run.</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Two may be affected.</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Q3 blocks replacements.</a:t>
            </a:r>
          </a:p>
        </p:txBody>
      </p:sp>
      <p:sp>
        <p:nvSpPr>
          <p:cNvPr id="5" name="Keep two healthy copies.&#10;What evidence and capac">
            <a:extLst xmlns:a="http://schemas.openxmlformats.org/drawingml/2006/main">
              <a:ext uri="{FF2B5EF4-FFF2-40B4-BE49-F238E27FC236}">
                <a16:creationId xmlns:a16="http://schemas.microsoft.com/office/drawing/2014/main" id="{F4FC8140-4DEA-4708-8F15-4CB6DA733508}"/>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Keep two healthy copies.</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What evidence and capacity</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do you need before removal?</a:t>
            </a:r>
          </a:p>
        </p:txBody>
      </p:sp>
      <p:sp>
        <p:nvSpPr>
          <p:cNvPr id="6" name="Recorded k3s observations; simplified workload n">
            <a:extLst xmlns:a="http://schemas.openxmlformats.org/drawingml/2006/main">
              <a:ext uri="{FF2B5EF4-FFF2-40B4-BE49-F238E27FC236}">
                <a16:creationId xmlns:a16="http://schemas.microsoft.com/office/drawing/2014/main" id="{EC4576CF-C7CC-495B-BD81-5F90908F116C}"/>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1B231B17-7067-4BA4-8D4D-139B2DA8CE0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0">
            <a:extLst xmlns:a="http://schemas.openxmlformats.org/drawingml/2006/main">
              <a:ext uri="{FF2B5EF4-FFF2-40B4-BE49-F238E27FC236}">
                <a16:creationId xmlns:a16="http://schemas.microsoft.com/office/drawing/2014/main" id="{2FCF71FD-235D-420E-8CFE-5058C230AF7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20</a:t>
            </a:r>
          </a:p>
        </p:txBody>
      </p:sp>
    </p:spTree>
    <p:extLst>
      <p:ext uri="{BB962C8B-B14F-4D97-AF65-F5344CB8AC3E}">
        <p14:creationId xmlns:p14="http://schemas.microsoft.com/office/powerpoint/2010/main" val="1382755734"/>
      </p:ext>
    </p:extLst>
  </p:cSld>
</p:sld>
</file>

<file path=ppt/slides/slide2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3 / PREDICT THEN REVEAL">
            <a:extLst xmlns:a="http://schemas.openxmlformats.org/drawingml/2006/main">
              <a:ext uri="{FF2B5EF4-FFF2-40B4-BE49-F238E27FC236}">
                <a16:creationId xmlns:a16="http://schemas.microsoft.com/office/drawing/2014/main" id="{9C1D9D7A-1F73-4569-8EEA-EB5F070189C5}"/>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03 / PREDICT THEN REVEAL</a:t>
            </a:r>
          </a:p>
        </p:txBody>
      </p:sp>
      <p:sp>
        <p:nvSpPr>
          <p:cNvPr id="2" name="What would make&#10;debugging safe?">
            <a:extLst xmlns:a="http://schemas.openxmlformats.org/drawingml/2006/main">
              <a:ext uri="{FF2B5EF4-FFF2-40B4-BE49-F238E27FC236}">
                <a16:creationId xmlns:a16="http://schemas.microsoft.com/office/drawing/2014/main" id="{37240C39-264C-467A-8CC4-67200370CA29}"/>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would make</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debugging safe?</a:t>
            </a:r>
          </a:p>
        </p:txBody>
      </p:sp>
      <p:pic>
        <p:nvPicPr>
          <p:cNvPr id="3" name="">
            <a:extLst xmlns:a="http://schemas.openxmlformats.org/drawingml/2006/main">
              <a:ext uri="{FF2B5EF4-FFF2-40B4-BE49-F238E27FC236}">
                <a16:creationId xmlns:a16="http://schemas.microsoft.com/office/drawing/2014/main" id="{C14EB10E-66D5-4E5B-97D8-997BAF580733}"/>
              </a:ext>
            </a:extLst>
          </p:cNvPr>
          <p:cNvPicPr>
            <a:picLocks xmlns:a="http://schemas.openxmlformats.org/drawingml/2006/main" noChangeAspect="1"/>
          </p:cNvPicPr>
          <p:nvPr/>
        </p:nvPicPr>
        <p:blipFill>
          <a:blip xmlns:r="http://schemas.openxmlformats.org/officeDocument/2006/relationships" xmlns:a="http://schemas.openxmlformats.org/drawingml/2006/main" r:embed="R1e395233ad6c4f7a"/>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e image rule covers Pods.&#10;Debug uses another A">
            <a:extLst xmlns:a="http://schemas.openxmlformats.org/drawingml/2006/main">
              <a:ext uri="{FF2B5EF4-FFF2-40B4-BE49-F238E27FC236}">
                <a16:creationId xmlns:a16="http://schemas.microsoft.com/office/drawing/2014/main" id="{845C91EB-660E-4ADC-A546-87328D186003}"/>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stStyle>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The image rule covers Pods.</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Debug uses another API path.</a:t>
            </a:r>
          </a:p>
        </p:txBody>
      </p:sp>
      <p:sp>
        <p:nvSpPr>
          <p:cNvPr id="5" name="What request needs testing?&#10;What forensic access">
            <a:extLst xmlns:a="http://schemas.openxmlformats.org/drawingml/2006/main">
              <a:ext uri="{FF2B5EF4-FFF2-40B4-BE49-F238E27FC236}">
                <a16:creationId xmlns:a16="http://schemas.microsoft.com/office/drawing/2014/main" id="{FDEAE40E-E158-44CC-992F-A240EFF87D82}"/>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What request needs testing?</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What forensic access would you allow?</a:t>
            </a:r>
          </a:p>
        </p:txBody>
      </p:sp>
      <p:sp>
        <p:nvSpPr>
          <p:cNvPr id="6" name="Recorded k3s observations; simplified workload n">
            <a:extLst xmlns:a="http://schemas.openxmlformats.org/drawingml/2006/main">
              <a:ext uri="{FF2B5EF4-FFF2-40B4-BE49-F238E27FC236}">
                <a16:creationId xmlns:a16="http://schemas.microsoft.com/office/drawing/2014/main" id="{E00CF8F8-81E3-4F24-8CE8-42BE17B56374}"/>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08307ABE-95D9-43D1-8A06-2BE78D1E770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1">
            <a:extLst xmlns:a="http://schemas.openxmlformats.org/drawingml/2006/main">
              <a:ext uri="{FF2B5EF4-FFF2-40B4-BE49-F238E27FC236}">
                <a16:creationId xmlns:a16="http://schemas.microsoft.com/office/drawing/2014/main" id="{80C67307-EA2C-48AD-A152-3A27858699E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21</a:t>
            </a:r>
          </a:p>
        </p:txBody>
      </p:sp>
    </p:spTree>
    <p:extLst>
      <p:ext uri="{BB962C8B-B14F-4D97-AF65-F5344CB8AC3E}">
        <p14:creationId xmlns:p14="http://schemas.microsoft.com/office/powerpoint/2010/main" val="1203720638"/>
      </p:ext>
    </p:extLst>
  </p:cSld>
</p:sld>
</file>

<file path=ppt/slides/slide2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4 / PREDICT THEN REVEAL">
            <a:extLst xmlns:a="http://schemas.openxmlformats.org/drawingml/2006/main">
              <a:ext uri="{FF2B5EF4-FFF2-40B4-BE49-F238E27FC236}">
                <a16:creationId xmlns:a16="http://schemas.microsoft.com/office/drawing/2014/main" id="{4DE77035-6D11-41F6-82A1-8AA8C17CBD4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04 / PREDICT THEN REVEAL</a:t>
            </a:r>
          </a:p>
        </p:txBody>
      </p:sp>
      <p:sp>
        <p:nvSpPr>
          <p:cNvPr id="2" name="Which authority&#10;must change?">
            <a:extLst xmlns:a="http://schemas.openxmlformats.org/drawingml/2006/main">
              <a:ext uri="{FF2B5EF4-FFF2-40B4-BE49-F238E27FC236}">
                <a16:creationId xmlns:a16="http://schemas.microsoft.com/office/drawing/2014/main" id="{5B216442-BCB4-40E3-947D-118F3A0A0DAE}"/>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Which authority</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must change?</a:t>
            </a:r>
          </a:p>
        </p:txBody>
      </p:sp>
      <p:pic>
        <p:nvPicPr>
          <p:cNvPr id="3" name="">
            <a:extLst xmlns:a="http://schemas.openxmlformats.org/drawingml/2006/main">
              <a:ext uri="{FF2B5EF4-FFF2-40B4-BE49-F238E27FC236}">
                <a16:creationId xmlns:a16="http://schemas.microsoft.com/office/drawing/2014/main" id="{504AE52A-4DF9-4F9E-A3A4-42628DC63F10}"/>
              </a:ext>
            </a:extLst>
          </p:cNvPr>
          <p:cNvPicPr>
            <a:picLocks xmlns:a="http://schemas.openxmlformats.org/drawingml/2006/main" noChangeAspect="1"/>
          </p:cNvPicPr>
          <p:nvPr/>
        </p:nvPicPr>
        <p:blipFill>
          <a:blip xmlns:r="http://schemas.openxmlformats.org/officeDocument/2006/relationships" xmlns:a="http://schemas.openxmlformats.org/drawingml/2006/main" r:embed="R3e11a013ab9743a5"/>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Agent: can scale any Deployment.&#10;Kyverno: runs a">
            <a:extLst xmlns:a="http://schemas.openxmlformats.org/drawingml/2006/main">
              <a:ext uri="{FF2B5EF4-FFF2-40B4-BE49-F238E27FC236}">
                <a16:creationId xmlns:a16="http://schemas.microsoft.com/office/drawing/2014/main" id="{139133A2-F77E-4C07-A2EA-C69EBD8AD66F}"/>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stStyle>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Agent: can scale any Deployment.</a:t>
            </a:r>
          </a:p>
          <a:p xmlns:a="http://schemas.openxmlformats.org/drawingml/2006/main">
            <a:pPr>
              <a:defRPr sz="2175" b="1">
                <a:solidFill>
                  <a:srgbClr val="0B1822"/>
                </a:solidFill>
                <a:latin typeface="Arial"/>
                <a:ea typeface="Arial"/>
                <a:cs typeface="Arial"/>
              </a:defRPr>
            </a:pPr>
            <a:r>
              <a:rPr sz="2175" b="1">
                <a:solidFill>
                  <a:srgbClr val="0B1822"/>
                </a:solidFill>
                <a:latin typeface="Arial"/>
                <a:ea typeface="Arial"/>
                <a:cs typeface="Arial"/>
              </a:rPr>
              <a:t>Kyverno: runs as a Deployment.</a:t>
            </a:r>
          </a:p>
        </p:txBody>
      </p:sp>
      <p:sp>
        <p:nvSpPr>
          <p:cNvPr id="5" name="What permission would you remove?&#10;How will you t">
            <a:extLst xmlns:a="http://schemas.openxmlformats.org/drawingml/2006/main">
              <a:ext uri="{FF2B5EF4-FFF2-40B4-BE49-F238E27FC236}">
                <a16:creationId xmlns:a16="http://schemas.microsoft.com/office/drawing/2014/main" id="{E53F186E-5EE8-4668-84BA-473A682970C4}"/>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What permission would you remove?</a:t>
            </a:r>
          </a:p>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How will you test guardrail availability?</a:t>
            </a:r>
          </a:p>
        </p:txBody>
      </p:sp>
      <p:sp>
        <p:nvSpPr>
          <p:cNvPr id="6" name="Recorded k3s observations; simplified workload n">
            <a:extLst xmlns:a="http://schemas.openxmlformats.org/drawingml/2006/main">
              <a:ext uri="{FF2B5EF4-FFF2-40B4-BE49-F238E27FC236}">
                <a16:creationId xmlns:a16="http://schemas.microsoft.com/office/drawing/2014/main" id="{1E61B3FA-FD41-4731-8A72-40B0FFF2905B}"/>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C330336D-2C70-46A3-BD6A-206160E3D72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2">
            <a:extLst xmlns:a="http://schemas.openxmlformats.org/drawingml/2006/main">
              <a:ext uri="{FF2B5EF4-FFF2-40B4-BE49-F238E27FC236}">
                <a16:creationId xmlns:a16="http://schemas.microsoft.com/office/drawing/2014/main" id="{15508510-5CF1-43A5-9EDB-C1250022EF9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22</a:t>
            </a:r>
          </a:p>
        </p:txBody>
      </p:sp>
    </p:spTree>
    <p:extLst>
      <p:ext uri="{BB962C8B-B14F-4D97-AF65-F5344CB8AC3E}">
        <p14:creationId xmlns:p14="http://schemas.microsoft.com/office/powerpoint/2010/main" val="537129067"/>
      </p:ext>
    </p:extLst>
  </p:cSld>
</p:sld>
</file>

<file path=ppt/slides/slide2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44–45 MINUTES / CASE REVIEW">
            <a:extLst xmlns:a="http://schemas.openxmlformats.org/drawingml/2006/main">
              <a:ext uri="{FF2B5EF4-FFF2-40B4-BE49-F238E27FC236}">
                <a16:creationId xmlns:a16="http://schemas.microsoft.com/office/drawing/2014/main" id="{14BA3933-97A6-4A0A-9580-D83234E0ED8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44–45 MINUTES / CASE REVIEW</a:t>
            </a:r>
          </a:p>
        </p:txBody>
      </p:sp>
      <p:sp>
        <p:nvSpPr>
          <p:cNvPr id="2" name="Review findings and unresolved requirements">
            <a:extLst xmlns:a="http://schemas.openxmlformats.org/drawingml/2006/main">
              <a:ext uri="{FF2B5EF4-FFF2-40B4-BE49-F238E27FC236}">
                <a16:creationId xmlns:a16="http://schemas.microsoft.com/office/drawing/2014/main" id="{2B5A7E80-5614-46DB-A6CE-F222828C35BB}"/>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Review findings and unresolved requirements</a:t>
            </a:r>
          </a:p>
        </p:txBody>
      </p:sp>
      <p:graphicFrame>
        <p:nvGraphicFramePr>
          <p:cNvPr id="3" name="">
            <a:extLst xmlns:a="http://schemas.openxmlformats.org/drawingml/2006/main">
              <a:ext uri="{FF2B5EF4-FFF2-40B4-BE49-F238E27FC236}">
                <a16:creationId xmlns:a16="http://schemas.microsoft.com/office/drawing/2014/main" id="{F4725E56-C665-4208-A735-6C2236772C31}"/>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1619250"/>
                <a:gridCol w="9334500"/>
              </a:tblGrid>
              <a:tr h="676275">
                <a:tc>
                  <a:txBody>
                    <a:bodyPr/>
                    <a:lstStyle/>
                    <a:p>
                      <a:r>
                        <a:rPr sz="2025" b="1">
                          <a:solidFill>
                            <a:srgbClr val="F2EFE7"/>
                          </a:solidFill>
                          <a:latin typeface="Arial"/>
                          <a:ea typeface="Arial"/>
                          <a:cs typeface="Arial"/>
                        </a:rPr>
                        <a:t>Case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What changes the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updated image is present on multiple replicas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assistant follows injected instructions through tools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C</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A human executes changes outside the agent identity scope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D (lab)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Copied credential still reads Secrets after Pod quarantine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C80D678A-E553-4C2A-9525-221D9848981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23">
            <a:extLst xmlns:a="http://schemas.openxmlformats.org/drawingml/2006/main">
              <a:ext uri="{FF2B5EF4-FFF2-40B4-BE49-F238E27FC236}">
                <a16:creationId xmlns:a16="http://schemas.microsoft.com/office/drawing/2014/main" id="{B3E31F97-19B4-4548-892C-5CE734A4A1D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23</a:t>
            </a:r>
          </a:p>
        </p:txBody>
      </p:sp>
    </p:spTree>
    <p:extLst>
      <p:ext uri="{BB962C8B-B14F-4D97-AF65-F5344CB8AC3E}">
        <p14:creationId xmlns:p14="http://schemas.microsoft.com/office/powerpoint/2010/main" val="50040266"/>
      </p:ext>
    </p:extLst>
  </p:cSld>
</p:sld>
</file>

<file path=ppt/slides/slide2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45–48 MINUTES / INDEPENDENT REVIEW">
            <a:extLst xmlns:a="http://schemas.openxmlformats.org/drawingml/2006/main">
              <a:ext uri="{FF2B5EF4-FFF2-40B4-BE49-F238E27FC236}">
                <a16:creationId xmlns:a16="http://schemas.microsoft.com/office/drawing/2014/main" id="{195F1A5D-10B2-4F27-A628-3E6D712682A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45–48 MINUTES / INDEPENDENT REVIEW</a:t>
            </a:r>
          </a:p>
        </p:txBody>
      </p:sp>
      <p:sp>
        <p:nvSpPr>
          <p:cNvPr id="2" name="Trained model proposal">
            <a:extLst xmlns:a="http://schemas.openxmlformats.org/drawingml/2006/main">
              <a:ext uri="{FF2B5EF4-FFF2-40B4-BE49-F238E27FC236}">
                <a16:creationId xmlns:a16="http://schemas.microsoft.com/office/drawing/2014/main" id="{A8284FD9-9ED4-4F77-8B1F-E8F2DA8FE6C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Trained model proposal</a:t>
            </a:r>
          </a:p>
        </p:txBody>
      </p:sp>
      <p:graphicFrame>
        <p:nvGraphicFramePr>
          <p:cNvPr id="3" name="">
            <a:extLst xmlns:a="http://schemas.openxmlformats.org/drawingml/2006/main">
              <a:ext uri="{FF2B5EF4-FFF2-40B4-BE49-F238E27FC236}">
                <a16:creationId xmlns:a16="http://schemas.microsoft.com/office/drawing/2014/main" id="{54FC922B-1832-4054-9894-AF75AEFEF8B4}"/>
              </a:ext>
            </a:extLst>
          </p:cNvPr>
          <p:cNvGraphicFramePr/>
          <p:nvPr/>
        </p:nvGraphicFramePr>
        <p:xfrm>
          <a:off xmlns:a="http://schemas.openxmlformats.org/drawingml/2006/main" x="609600" y="2305050"/>
          <a:ext xmlns:a="http://schemas.openxmlformats.org/drawingml/2006/main" cx="10953750" cy="2905125"/>
        </p:xfrm>
        <a:graphic xmlns:a="http://schemas.openxmlformats.org/drawingml/2006/main">
          <a:graphicData uri="http://schemas.openxmlformats.org/drawingml/2006/table">
            <a:tbl>
              <a:tblPr/>
              <a:tblGrid>
                <a:gridCol w="3905250"/>
                <a:gridCol w="5048250"/>
                <a:gridCol w="2000250"/>
              </a:tblGrid>
              <a:tr h="581025">
                <a:tc>
                  <a:txBody>
                    <a:bodyPr/>
                    <a:lstStyle/>
                    <a:p>
                      <a:r>
                        <a:rPr sz="1950" b="1">
                          <a:solidFill>
                            <a:srgbClr val="F2EFE7"/>
                          </a:solidFill>
                          <a:latin typeface="Arial"/>
                          <a:ea typeface="Arial"/>
                          <a:cs typeface="Arial"/>
                        </a:rPr>
                        <a:t>Requirement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Selected control / routing</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Score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81025">
                <a:tc>
                  <a:txBody>
                    <a:bodyPr/>
                    <a:lstStyle/>
                    <a:p>
                      <a:r>
                        <a:rPr sz="1950" b="1">
                          <a:solidFill>
                            <a:srgbClr val="087E79"/>
                          </a:solidFill>
                          <a:latin typeface="Arial"/>
                          <a:ea typeface="Arial"/>
                          <a:cs typeface="Arial"/>
                        </a:rPr>
                        <a:t>Network restriction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0.8986</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0.8574</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0.5895</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Rollout and expiry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0.9107</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privilege policy. Six privilege tests pass.">
            <a:extLst xmlns:a="http://schemas.openxmlformats.org/drawingml/2006/main">
              <a:ext uri="{FF2B5EF4-FFF2-40B4-BE49-F238E27FC236}">
                <a16:creationId xmlns:a16="http://schemas.microsoft.com/office/drawing/2014/main" id="{69B18935-48F8-4E8F-BA63-6A9EB465E5DE}"/>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B1822"/>
                </a:solidFill>
                <a:latin typeface="Arial"/>
                <a:ea typeface="Arial"/>
                <a:cs typeface="Arial"/>
              </a:defRPr>
            </a:defPPr>
          </a:lstStyle>
          <a:p xmlns:a="http://schemas.openxmlformats.org/drawingml/2006/main">
            <a:pPr>
              <a:defRPr sz="2250" b="1">
                <a:solidFill>
                  <a:srgbClr val="0B1822"/>
                </a:solidFill>
                <a:latin typeface="Arial"/>
                <a:ea typeface="Arial"/>
                <a:cs typeface="Arial"/>
              </a:defRPr>
            </a:pPr>
            <a:r>
              <a:rPr sz="2250" b="1">
                <a:solidFill>
                  <a:srgbClr val="0B1822"/>
                </a:solidFill>
                <a:latin typeface="Arial"/>
                <a:ea typeface="Arial"/>
                <a:cs typeface="Arial"/>
              </a:rPr>
              <a:t>One privilege policy. Six privilege tests pass.</a:t>
            </a:r>
          </a:p>
        </p:txBody>
      </p:sp>
      <p:sp>
        <p:nvSpPr>
          <p:cNvPr id="5" name="Which requirements lack enforcement evidence?">
            <a:extLst xmlns:a="http://schemas.openxmlformats.org/drawingml/2006/main">
              <a:ext uri="{FF2B5EF4-FFF2-40B4-BE49-F238E27FC236}">
                <a16:creationId xmlns:a16="http://schemas.microsoft.com/office/drawing/2014/main" id="{840CCC42-F170-4A69-9C2E-1C62BC89CFCA}"/>
              </a:ext>
            </a:extLst>
          </p:cNvPr>
          <p:cNvSpPr>
            <a:spLocks xmlns:a="http://schemas.openxmlformats.org/drawingml/2006/main" noGrp="1"/>
          </p:cNvSpPr>
          <p:nvPr/>
        </p:nvSpPr>
        <p:spPr>
          <a:xfrm xmlns:a="http://schemas.openxmlformats.org/drawingml/2006/main">
            <a:off x="609600" y="5886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Which requirements lack enforcement evidence?</a:t>
            </a:r>
          </a:p>
        </p:txBody>
      </p:sp>
      <p:sp>
        <p:nvSpPr>
          <p:cNvPr id="6" name="ISC2 SECURITY CONGRESS 2026 / SC2632">
            <a:extLst xmlns:a="http://schemas.openxmlformats.org/drawingml/2006/main">
              <a:ext uri="{FF2B5EF4-FFF2-40B4-BE49-F238E27FC236}">
                <a16:creationId xmlns:a16="http://schemas.microsoft.com/office/drawing/2014/main" id="{2BA6212A-89C7-4C54-8A6C-4AF2FD4CC7B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4">
            <a:extLst xmlns:a="http://schemas.openxmlformats.org/drawingml/2006/main">
              <a:ext uri="{FF2B5EF4-FFF2-40B4-BE49-F238E27FC236}">
                <a16:creationId xmlns:a16="http://schemas.microsoft.com/office/drawing/2014/main" id="{C7C7F60E-514F-432D-9837-9320A3F6629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24</a:t>
            </a:r>
          </a:p>
        </p:txBody>
      </p:sp>
    </p:spTree>
    <p:extLst>
      <p:ext uri="{BB962C8B-B14F-4D97-AF65-F5344CB8AC3E}">
        <p14:creationId xmlns:p14="http://schemas.microsoft.com/office/powerpoint/2010/main" val="502911869"/>
      </p:ext>
    </p:extLst>
  </p:cSld>
</p:sld>
</file>

<file path=ppt/slides/slide25.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4" name="RECORDED PROPOSAL / REVIEW FINDING">
            <a:extLst xmlns:a="http://schemas.openxmlformats.org/drawingml/2006/main">
              <a:ext uri="{FF2B5EF4-FFF2-40B4-BE49-F238E27FC236}">
                <a16:creationId xmlns:a16="http://schemas.microsoft.com/office/drawing/2014/main" id="{1E906B35-5893-4050-9AA1-B32BFC7B0683}"/>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PROPOSAL / REVIEW FINDING</a:t>
            </a:r>
          </a:p>
        </p:txBody>
      </p:sp>
      <p:sp>
        <p:nvSpPr>
          <p:cNvPr id="2" name="Passing privilege tests leave&#10;the proposal incom">
            <a:extLst xmlns:a="http://schemas.openxmlformats.org/drawingml/2006/main">
              <a:ext uri="{FF2B5EF4-FFF2-40B4-BE49-F238E27FC236}">
                <a16:creationId xmlns:a16="http://schemas.microsoft.com/office/drawing/2014/main" id="{1FC41B62-8D5F-4211-8116-2686B3E81A3C}"/>
              </a:ext>
            </a:extLst>
          </p:cNvPr>
          <p:cNvSpPr>
            <a:spLocks xmlns:a="http://schemas.openxmlformats.org/drawingml/2006/main" noGrp="1"/>
          </p:cNvSpPr>
          <p:nvPr/>
        </p:nvSpPr>
        <p:spPr>
          <a:xfrm xmlns:a="http://schemas.openxmlformats.org/drawingml/2006/main">
            <a:off x="609600" y="1266825"/>
            <a:ext cx="10953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2EFE7"/>
                </a:solidFill>
                <a:latin typeface="Arial Black"/>
                <a:ea typeface="Arial Black"/>
                <a:cs typeface="Arial Black"/>
              </a:defRPr>
            </a:defPPr>
          </a:lstStyle>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Passing privilege tests leave</a:t>
            </a:r>
          </a:p>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the proposal incomplete</a:t>
            </a:r>
          </a:p>
        </p:txBody>
      </p:sp>
      <p:sp>
        <p:nvSpPr>
          <p:cNvPr id="3" name="6 / 6">
            <a:extLst xmlns:a="http://schemas.openxmlformats.org/drawingml/2006/main">
              <a:ext uri="{FF2B5EF4-FFF2-40B4-BE49-F238E27FC236}">
                <a16:creationId xmlns:a16="http://schemas.microsoft.com/office/drawing/2014/main" id="{7DF6A5A1-99A6-40DD-8E92-0D734D3E3F86}"/>
              </a:ext>
            </a:extLst>
          </p:cNvPr>
          <p:cNvSpPr>
            <a:spLocks xmlns:a="http://schemas.openxmlformats.org/drawingml/2006/main" noGrp="1"/>
          </p:cNvSpPr>
          <p:nvPr/>
        </p:nvSpPr>
        <p:spPr>
          <a:xfrm xmlns:a="http://schemas.openxmlformats.org/drawingml/2006/main">
            <a:off x="609600" y="3181350"/>
            <a:ext cx="3810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25D8BD"/>
                </a:solidFill>
                <a:latin typeface="Arial Black"/>
                <a:ea typeface="Arial Black"/>
                <a:cs typeface="Arial Black"/>
              </a:defRPr>
            </a:defPPr>
          </a:lstStyle>
          <a:p xmlns:a="http://schemas.openxmlformats.org/drawingml/2006/main">
            <a:pPr>
              <a:defRPr sz="6225" b="1">
                <a:solidFill>
                  <a:srgbClr val="25D8BD"/>
                </a:solidFill>
                <a:latin typeface="Arial Black"/>
                <a:ea typeface="Arial Black"/>
                <a:cs typeface="Arial Black"/>
              </a:defRPr>
            </a:pPr>
            <a:r>
              <a:rPr sz="6225" b="1">
                <a:solidFill>
                  <a:srgbClr val="25D8BD"/>
                </a:solidFill>
                <a:latin typeface="Arial Black"/>
                <a:ea typeface="Arial Black"/>
                <a:cs typeface="Arial Black"/>
              </a:rPr>
              <a:t>6 / 6</a:t>
            </a:r>
          </a:p>
        </p:txBody>
      </p:sp>
      <p:sp>
        <p:nvSpPr>
          <p:cNvPr id="4" name="Pod CREATE&#10;privilege tests">
            <a:extLst xmlns:a="http://schemas.openxmlformats.org/drawingml/2006/main">
              <a:ext uri="{FF2B5EF4-FFF2-40B4-BE49-F238E27FC236}">
                <a16:creationId xmlns:a16="http://schemas.microsoft.com/office/drawing/2014/main" id="{E0774A5A-326B-4CB8-AE17-C1A3CA1951A5}"/>
              </a:ext>
            </a:extLst>
          </p:cNvPr>
          <p:cNvSpPr>
            <a:spLocks xmlns:a="http://schemas.openxmlformats.org/drawingml/2006/main" noGrp="1"/>
          </p:cNvSpPr>
          <p:nvPr/>
        </p:nvSpPr>
        <p:spPr>
          <a:xfrm xmlns:a="http://schemas.openxmlformats.org/drawingml/2006/main">
            <a:off x="628650" y="4495800"/>
            <a:ext cx="3333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Pod CREATE</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privilege tests</a:t>
            </a:r>
          </a:p>
        </p:txBody>
      </p:sp>
      <p:sp>
        <p:nvSpPr>
          <p:cNvPr id="5" name="Network">
            <a:extLst xmlns:a="http://schemas.openxmlformats.org/drawingml/2006/main">
              <a:ext uri="{FF2B5EF4-FFF2-40B4-BE49-F238E27FC236}">
                <a16:creationId xmlns:a16="http://schemas.microsoft.com/office/drawing/2014/main" id="{D52B447C-0A19-4A24-B1EA-F0460DAEB8D5}"/>
              </a:ext>
            </a:extLst>
          </p:cNvPr>
          <p:cNvSpPr>
            <a:spLocks xmlns:a="http://schemas.openxmlformats.org/drawingml/2006/main" noGrp="1"/>
          </p:cNvSpPr>
          <p:nvPr/>
        </p:nvSpPr>
        <p:spPr>
          <a:xfrm xmlns:a="http://schemas.openxmlformats.org/drawingml/2006/main">
            <a:off x="4705350" y="325755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6" name="Wrong control selected">
            <a:extLst xmlns:a="http://schemas.openxmlformats.org/drawingml/2006/main">
              <a:ext uri="{FF2B5EF4-FFF2-40B4-BE49-F238E27FC236}">
                <a16:creationId xmlns:a16="http://schemas.microsoft.com/office/drawing/2014/main" id="{FB288964-F761-4086-B694-6CF03381B908}"/>
              </a:ext>
            </a:extLst>
          </p:cNvPr>
          <p:cNvSpPr>
            <a:spLocks xmlns:a="http://schemas.openxmlformats.org/drawingml/2006/main" noGrp="1"/>
          </p:cNvSpPr>
          <p:nvPr/>
        </p:nvSpPr>
        <p:spPr>
          <a:xfrm xmlns:a="http://schemas.openxmlformats.org/drawingml/2006/main">
            <a:off x="6781800" y="325755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7" name="API access">
            <a:extLst xmlns:a="http://schemas.openxmlformats.org/drawingml/2006/main">
              <a:ext uri="{FF2B5EF4-FFF2-40B4-BE49-F238E27FC236}">
                <a16:creationId xmlns:a16="http://schemas.microsoft.com/office/drawing/2014/main" id="{FA192837-5B9F-4A45-960A-B1E657CE2081}"/>
              </a:ext>
            </a:extLst>
          </p:cNvPr>
          <p:cNvSpPr>
            <a:spLocks xmlns:a="http://schemas.openxmlformats.org/drawingml/2006/main" noGrp="1"/>
          </p:cNvSpPr>
          <p:nvPr/>
        </p:nvSpPr>
        <p:spPr>
          <a:xfrm xmlns:a="http://schemas.openxmlformats.org/drawingml/2006/main">
            <a:off x="4705350" y="4086225"/>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API access</a:t>
            </a:r>
          </a:p>
        </p:txBody>
      </p:sp>
      <p:sp>
        <p:nvSpPr>
          <p:cNvPr id="8" name="Human disposition required">
            <a:extLst xmlns:a="http://schemas.openxmlformats.org/drawingml/2006/main">
              <a:ext uri="{FF2B5EF4-FFF2-40B4-BE49-F238E27FC236}">
                <a16:creationId xmlns:a16="http://schemas.microsoft.com/office/drawing/2014/main" id="{72319337-E9B2-429C-9B09-8E263CC36552}"/>
              </a:ext>
            </a:extLst>
          </p:cNvPr>
          <p:cNvSpPr>
            <a:spLocks xmlns:a="http://schemas.openxmlformats.org/drawingml/2006/main" noGrp="1"/>
          </p:cNvSpPr>
          <p:nvPr/>
        </p:nvSpPr>
        <p:spPr>
          <a:xfrm xmlns:a="http://schemas.openxmlformats.org/drawingml/2006/main">
            <a:off x="6781800" y="4086225"/>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Human disposition required</a:t>
            </a:r>
          </a:p>
        </p:txBody>
      </p:sp>
      <p:sp>
        <p:nvSpPr>
          <p:cNvPr id="9" name="Rollout / expiry">
            <a:extLst xmlns:a="http://schemas.openxmlformats.org/drawingml/2006/main">
              <a:ext uri="{FF2B5EF4-FFF2-40B4-BE49-F238E27FC236}">
                <a16:creationId xmlns:a16="http://schemas.microsoft.com/office/drawing/2014/main" id="{F405BEEE-9A4B-4E88-9360-357E102F8F1D}"/>
              </a:ext>
            </a:extLst>
          </p:cNvPr>
          <p:cNvSpPr>
            <a:spLocks xmlns:a="http://schemas.openxmlformats.org/drawingml/2006/main" noGrp="1"/>
          </p:cNvSpPr>
          <p:nvPr/>
        </p:nvSpPr>
        <p:spPr>
          <a:xfrm xmlns:a="http://schemas.openxmlformats.org/drawingml/2006/main">
            <a:off x="4705350" y="491490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Rollout / expiry</a:t>
            </a:r>
          </a:p>
        </p:txBody>
      </p:sp>
      <p:sp>
        <p:nvSpPr>
          <p:cNvPr id="10" name="Wrong control selected">
            <a:extLst xmlns:a="http://schemas.openxmlformats.org/drawingml/2006/main">
              <a:ext uri="{FF2B5EF4-FFF2-40B4-BE49-F238E27FC236}">
                <a16:creationId xmlns:a16="http://schemas.microsoft.com/office/drawing/2014/main" id="{8B2FD0AB-65F2-4184-8878-6ED3C1122589}"/>
              </a:ext>
            </a:extLst>
          </p:cNvPr>
          <p:cNvSpPr>
            <a:spLocks xmlns:a="http://schemas.openxmlformats.org/drawingml/2006/main" noGrp="1"/>
          </p:cNvSpPr>
          <p:nvPr/>
        </p:nvSpPr>
        <p:spPr>
          <a:xfrm xmlns:a="http://schemas.openxmlformats.org/drawingml/2006/main">
            <a:off x="6781800" y="491490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11" name="Record the enforcement owner and the evidence re">
            <a:extLst xmlns:a="http://schemas.openxmlformats.org/drawingml/2006/main">
              <a:ext uri="{FF2B5EF4-FFF2-40B4-BE49-F238E27FC236}">
                <a16:creationId xmlns:a16="http://schemas.microsoft.com/office/drawing/2014/main" id="{48290C49-50BC-4DF2-B82F-E48C11C03DBE}"/>
              </a:ext>
            </a:extLst>
          </p:cNvPr>
          <p:cNvSpPr>
            <a:spLocks xmlns:a="http://schemas.openxmlformats.org/drawingml/2006/main" noGrp="1"/>
          </p:cNvSpPr>
          <p:nvPr/>
        </p:nvSpPr>
        <p:spPr>
          <a:xfrm xmlns:a="http://schemas.openxmlformats.org/drawingml/2006/main">
            <a:off x="62865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2EFE7"/>
                </a:solidFill>
                <a:latin typeface="Arial"/>
                <a:ea typeface="Arial"/>
                <a:cs typeface="Arial"/>
              </a:defRPr>
            </a:defPPr>
          </a:lstStyle>
          <a:p xmlns:a="http://schemas.openxmlformats.org/drawingml/2006/main">
            <a:pPr>
              <a:defRPr sz="1800" b="1">
                <a:solidFill>
                  <a:srgbClr val="F2EFE7"/>
                </a:solidFill>
                <a:latin typeface="Arial"/>
                <a:ea typeface="Arial"/>
                <a:cs typeface="Arial"/>
              </a:defRPr>
            </a:pPr>
            <a:r>
              <a:rPr sz="1800" b="1">
                <a:solidFill>
                  <a:srgbClr val="F2EFE7"/>
                </a:solidFill>
                <a:latin typeface="Arial"/>
                <a:ea typeface="Arial"/>
                <a:cs typeface="Arial"/>
              </a:rPr>
              <a:t>Record the enforcement owner and the evidence required to proceed.</a:t>
            </a:r>
          </a:p>
        </p:txBody>
      </p:sp>
      <p:sp>
        <p:nvSpPr>
          <p:cNvPr id="12" name="ISC2 SECURITY CONGRESS 2026 / SC2632">
            <a:extLst xmlns:a="http://schemas.openxmlformats.org/drawingml/2006/main">
              <a:ext uri="{FF2B5EF4-FFF2-40B4-BE49-F238E27FC236}">
                <a16:creationId xmlns:a16="http://schemas.microsoft.com/office/drawing/2014/main" id="{C910CA65-78D8-4CF4-B818-31AA8758D63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3" name="25">
            <a:extLst xmlns:a="http://schemas.openxmlformats.org/drawingml/2006/main">
              <a:ext uri="{FF2B5EF4-FFF2-40B4-BE49-F238E27FC236}">
                <a16:creationId xmlns:a16="http://schemas.microsoft.com/office/drawing/2014/main" id="{1B71DE82-8CE0-4342-A7D9-55D05EBF798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25</a:t>
            </a:r>
          </a:p>
        </p:txBody>
      </p:sp>
    </p:spTree>
    <p:extLst>
      <p:ext uri="{BB962C8B-B14F-4D97-AF65-F5344CB8AC3E}">
        <p14:creationId xmlns:p14="http://schemas.microsoft.com/office/powerpoint/2010/main" val="1595598719"/>
      </p:ext>
    </p:extLst>
  </p:cSld>
</p:sld>
</file>

<file path=ppt/slides/slide2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22" name="CANDIDATE SCREENING / THREE-RUN WORKFLOW MEDIANS">
            <a:extLst xmlns:a="http://schemas.openxmlformats.org/drawingml/2006/main">
              <a:ext uri="{FF2B5EF4-FFF2-40B4-BE49-F238E27FC236}">
                <a16:creationId xmlns:a16="http://schemas.microsoft.com/office/drawing/2014/main" id="{DE564973-EFA4-4495-8442-56BAFBF783F1}"/>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CANDIDATE SCREENING / THREE-RUN WORKFLOW MEDIANS</a:t>
            </a:r>
          </a:p>
        </p:txBody>
      </p:sp>
      <p:sp>
        <p:nvSpPr>
          <p:cNvPr id="2" name="Evidence for model selection">
            <a:extLst xmlns:a="http://schemas.openxmlformats.org/drawingml/2006/main">
              <a:ext uri="{FF2B5EF4-FFF2-40B4-BE49-F238E27FC236}">
                <a16:creationId xmlns:a16="http://schemas.microsoft.com/office/drawing/2014/main" id="{CA07A083-110F-446D-B329-0EC5561DF059}"/>
              </a:ext>
            </a:extLst>
          </p:cNvPr>
          <p:cNvSpPr>
            <a:spLocks xmlns:a="http://schemas.openxmlformats.org/drawingml/2006/main" noGrp="1"/>
          </p:cNvSpPr>
          <p:nvPr/>
        </p:nvSpPr>
        <p:spPr>
          <a:xfrm xmlns:a="http://schemas.openxmlformats.org/drawingml/2006/main">
            <a:off x="609600" y="1123950"/>
            <a:ext cx="10858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Evidence for model selection</a:t>
            </a:r>
          </a:p>
        </p:txBody>
      </p:sp>
      <p:sp>
        <p:nvSpPr>
          <p:cNvPr id="3" name="Compare the work completed and the review still ">
            <a:extLst xmlns:a="http://schemas.openxmlformats.org/drawingml/2006/main">
              <a:ext uri="{FF2B5EF4-FFF2-40B4-BE49-F238E27FC236}">
                <a16:creationId xmlns:a16="http://schemas.microsoft.com/office/drawing/2014/main" id="{1999301E-A13D-4632-B88B-63BBA42B03C4}"/>
              </a:ext>
            </a:extLst>
          </p:cNvPr>
          <p:cNvSpPr>
            <a:spLocks xmlns:a="http://schemas.openxmlformats.org/drawingml/2006/main" noGrp="1"/>
          </p:cNvSpPr>
          <p:nvPr/>
        </p:nvSpPr>
        <p:spPr>
          <a:xfrm xmlns:a="http://schemas.openxmlformats.org/drawingml/2006/main">
            <a:off x="628650" y="2105025"/>
            <a:ext cx="1076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0B1822"/>
                </a:solidFill>
                <a:latin typeface="Arial"/>
                <a:ea typeface="Arial"/>
                <a:cs typeface="Arial"/>
              </a:defRPr>
            </a:defPPr>
          </a:lstStyle>
          <a:p xmlns:a="http://schemas.openxmlformats.org/drawingml/2006/main">
            <a:pPr>
              <a:defRPr sz="1725" b="0">
                <a:solidFill>
                  <a:srgbClr val="0B1822"/>
                </a:solidFill>
                <a:latin typeface="Arial"/>
                <a:ea typeface="Arial"/>
                <a:cs typeface="Arial"/>
              </a:defRPr>
            </a:pPr>
            <a:r>
              <a:rPr sz="1725" b="0">
                <a:solidFill>
                  <a:srgbClr val="0B1822"/>
                </a:solidFill>
                <a:latin typeface="Arial"/>
                <a:ea typeface="Arial"/>
                <a:cs typeface="Arial"/>
              </a:rPr>
              <a:t>Compare the work completed and the review still required.</a:t>
            </a:r>
          </a:p>
        </p:txBody>
      </p:sp>
      <p:sp>
        <p:nvSpPr>
          <p:cNvPr id="4" name="JEV 1.13">
            <a:extLst xmlns:a="http://schemas.openxmlformats.org/drawingml/2006/main">
              <a:ext uri="{FF2B5EF4-FFF2-40B4-BE49-F238E27FC236}">
                <a16:creationId xmlns:a16="http://schemas.microsoft.com/office/drawing/2014/main" id="{883CAE15-0248-48C1-B7B3-3BE0825E40A9}"/>
              </a:ext>
            </a:extLst>
          </p:cNvPr>
          <p:cNvSpPr>
            <a:spLocks xmlns:a="http://schemas.openxmlformats.org/drawingml/2006/main" noGrp="1"/>
          </p:cNvSpPr>
          <p:nvPr/>
        </p:nvSpPr>
        <p:spPr>
          <a:xfrm xmlns:a="http://schemas.openxmlformats.org/drawingml/2006/main">
            <a:off x="6286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JEV 1.13</a:t>
            </a:r>
          </a:p>
        </p:txBody>
      </p:sp>
      <p:sp>
        <p:nvSpPr>
          <p:cNvPr id="5" name="30/33">
            <a:extLst xmlns:a="http://schemas.openxmlformats.org/drawingml/2006/main">
              <a:ext uri="{FF2B5EF4-FFF2-40B4-BE49-F238E27FC236}">
                <a16:creationId xmlns:a16="http://schemas.microsoft.com/office/drawing/2014/main" id="{4ED62829-E514-4807-B97D-70EAC8815664}"/>
              </a:ext>
            </a:extLst>
          </p:cNvPr>
          <p:cNvSpPr>
            <a:spLocks xmlns:a="http://schemas.openxmlformats.org/drawingml/2006/main" noGrp="1"/>
          </p:cNvSpPr>
          <p:nvPr/>
        </p:nvSpPr>
        <p:spPr>
          <a:xfrm xmlns:a="http://schemas.openxmlformats.org/drawingml/2006/main">
            <a:off x="6286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30/33</a:t>
            </a:r>
          </a:p>
        </p:txBody>
      </p:sp>
      <p:sp>
        <p:nvSpPr>
          <p:cNvPr id="6" name="1.82 s / run">
            <a:extLst xmlns:a="http://schemas.openxmlformats.org/drawingml/2006/main">
              <a:ext uri="{FF2B5EF4-FFF2-40B4-BE49-F238E27FC236}">
                <a16:creationId xmlns:a16="http://schemas.microsoft.com/office/drawing/2014/main" id="{2337458E-6178-4AC6-8B20-949ACB2EDB18}"/>
              </a:ext>
            </a:extLst>
          </p:cNvPr>
          <p:cNvSpPr>
            <a:spLocks xmlns:a="http://schemas.openxmlformats.org/drawingml/2006/main" noGrp="1"/>
          </p:cNvSpPr>
          <p:nvPr/>
        </p:nvSpPr>
        <p:spPr>
          <a:xfrm xmlns:a="http://schemas.openxmlformats.org/drawingml/2006/main">
            <a:off x="6286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1.82 s / run</a:t>
            </a:r>
          </a:p>
        </p:txBody>
      </p:sp>
      <p:sp>
        <p:nvSpPr>
          <p:cNvPr id="7" name="$0.00019 / run">
            <a:extLst xmlns:a="http://schemas.openxmlformats.org/drawingml/2006/main">
              <a:ext uri="{FF2B5EF4-FFF2-40B4-BE49-F238E27FC236}">
                <a16:creationId xmlns:a16="http://schemas.microsoft.com/office/drawing/2014/main" id="{E4A3D472-9E7A-4B4F-A10A-3CE4ED641319}"/>
              </a:ext>
            </a:extLst>
          </p:cNvPr>
          <p:cNvSpPr>
            <a:spLocks xmlns:a="http://schemas.openxmlformats.org/drawingml/2006/main" noGrp="1"/>
          </p:cNvSpPr>
          <p:nvPr/>
        </p:nvSpPr>
        <p:spPr>
          <a:xfrm xmlns:a="http://schemas.openxmlformats.org/drawingml/2006/main">
            <a:off x="6286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$0.00019 / run</a:t>
            </a:r>
          </a:p>
        </p:txBody>
      </p:sp>
      <p:sp>
        <p:nvSpPr>
          <p:cNvPr id="8" name="Guardrail generated">
            <a:extLst xmlns:a="http://schemas.openxmlformats.org/drawingml/2006/main">
              <a:ext uri="{FF2B5EF4-FFF2-40B4-BE49-F238E27FC236}">
                <a16:creationId xmlns:a16="http://schemas.microsoft.com/office/drawing/2014/main" id="{28E77061-7859-4B3F-B9CD-B8A946DB350B}"/>
              </a:ext>
            </a:extLst>
          </p:cNvPr>
          <p:cNvSpPr>
            <a:spLocks xmlns:a="http://schemas.openxmlformats.org/drawingml/2006/main" noGrp="1"/>
          </p:cNvSpPr>
          <p:nvPr/>
        </p:nvSpPr>
        <p:spPr>
          <a:xfrm xmlns:a="http://schemas.openxmlformats.org/drawingml/2006/main">
            <a:off x="6286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9" name="CLAUDE OPUS 5.5">
            <a:extLst xmlns:a="http://schemas.openxmlformats.org/drawingml/2006/main">
              <a:ext uri="{FF2B5EF4-FFF2-40B4-BE49-F238E27FC236}">
                <a16:creationId xmlns:a16="http://schemas.microsoft.com/office/drawing/2014/main" id="{3B0CC7D3-86A4-4921-BDAD-B8219A3CF518}"/>
              </a:ext>
            </a:extLst>
          </p:cNvPr>
          <p:cNvSpPr>
            <a:spLocks xmlns:a="http://schemas.openxmlformats.org/drawingml/2006/main" noGrp="1"/>
          </p:cNvSpPr>
          <p:nvPr/>
        </p:nvSpPr>
        <p:spPr>
          <a:xfrm xmlns:a="http://schemas.openxmlformats.org/drawingml/2006/main">
            <a:off x="445770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CLAUDE OPUS 5.5</a:t>
            </a:r>
          </a:p>
        </p:txBody>
      </p:sp>
      <p:sp>
        <p:nvSpPr>
          <p:cNvPr id="10" name="32/33">
            <a:extLst xmlns:a="http://schemas.openxmlformats.org/drawingml/2006/main">
              <a:ext uri="{FF2B5EF4-FFF2-40B4-BE49-F238E27FC236}">
                <a16:creationId xmlns:a16="http://schemas.microsoft.com/office/drawing/2014/main" id="{6E3E7EB9-2C80-4A51-A9AA-37F8DDB31B41}"/>
              </a:ext>
            </a:extLst>
          </p:cNvPr>
          <p:cNvSpPr>
            <a:spLocks xmlns:a="http://schemas.openxmlformats.org/drawingml/2006/main" noGrp="1"/>
          </p:cNvSpPr>
          <p:nvPr/>
        </p:nvSpPr>
        <p:spPr>
          <a:xfrm xmlns:a="http://schemas.openxmlformats.org/drawingml/2006/main">
            <a:off x="445770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32/33</a:t>
            </a:r>
          </a:p>
        </p:txBody>
      </p:sp>
      <p:sp>
        <p:nvSpPr>
          <p:cNvPr id="11" name="24.18 s / run">
            <a:extLst xmlns:a="http://schemas.openxmlformats.org/drawingml/2006/main">
              <a:ext uri="{FF2B5EF4-FFF2-40B4-BE49-F238E27FC236}">
                <a16:creationId xmlns:a16="http://schemas.microsoft.com/office/drawing/2014/main" id="{6B90A52B-9259-4C14-9EFD-55CA3ACE3FAB}"/>
              </a:ext>
            </a:extLst>
          </p:cNvPr>
          <p:cNvSpPr>
            <a:spLocks xmlns:a="http://schemas.openxmlformats.org/drawingml/2006/main" noGrp="1"/>
          </p:cNvSpPr>
          <p:nvPr/>
        </p:nvSpPr>
        <p:spPr>
          <a:xfrm xmlns:a="http://schemas.openxmlformats.org/drawingml/2006/main">
            <a:off x="445770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24.18 s / run</a:t>
            </a:r>
          </a:p>
        </p:txBody>
      </p:sp>
      <p:sp>
        <p:nvSpPr>
          <p:cNvPr id="12" name="$0.03795 / run">
            <a:extLst xmlns:a="http://schemas.openxmlformats.org/drawingml/2006/main">
              <a:ext uri="{FF2B5EF4-FFF2-40B4-BE49-F238E27FC236}">
                <a16:creationId xmlns:a16="http://schemas.microsoft.com/office/drawing/2014/main" id="{49E6E71B-A878-468C-9ABF-00DAACB2F5AA}"/>
              </a:ext>
            </a:extLst>
          </p:cNvPr>
          <p:cNvSpPr>
            <a:spLocks xmlns:a="http://schemas.openxmlformats.org/drawingml/2006/main" noGrp="1"/>
          </p:cNvSpPr>
          <p:nvPr/>
        </p:nvSpPr>
        <p:spPr>
          <a:xfrm xmlns:a="http://schemas.openxmlformats.org/drawingml/2006/main">
            <a:off x="445770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$0.03795 / run</a:t>
            </a:r>
          </a:p>
        </p:txBody>
      </p:sp>
      <p:sp>
        <p:nvSpPr>
          <p:cNvPr id="13" name="Guardrail generated">
            <a:extLst xmlns:a="http://schemas.openxmlformats.org/drawingml/2006/main">
              <a:ext uri="{FF2B5EF4-FFF2-40B4-BE49-F238E27FC236}">
                <a16:creationId xmlns:a16="http://schemas.microsoft.com/office/drawing/2014/main" id="{45FEB70F-24FA-43F1-92CC-1F17F805A63C}"/>
              </a:ext>
            </a:extLst>
          </p:cNvPr>
          <p:cNvSpPr>
            <a:spLocks xmlns:a="http://schemas.openxmlformats.org/drawingml/2006/main" noGrp="1"/>
          </p:cNvSpPr>
          <p:nvPr/>
        </p:nvSpPr>
        <p:spPr>
          <a:xfrm xmlns:a="http://schemas.openxmlformats.org/drawingml/2006/main">
            <a:off x="445770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14" name="LAYA / ZERO-SHOT">
            <a:extLst xmlns:a="http://schemas.openxmlformats.org/drawingml/2006/main">
              <a:ext uri="{FF2B5EF4-FFF2-40B4-BE49-F238E27FC236}">
                <a16:creationId xmlns:a16="http://schemas.microsoft.com/office/drawing/2014/main" id="{E54002A2-5E3B-4D5D-974A-5D11372981C5}"/>
              </a:ext>
            </a:extLst>
          </p:cNvPr>
          <p:cNvSpPr>
            <a:spLocks xmlns:a="http://schemas.openxmlformats.org/drawingml/2006/main" noGrp="1"/>
          </p:cNvSpPr>
          <p:nvPr/>
        </p:nvSpPr>
        <p:spPr>
          <a:xfrm xmlns:a="http://schemas.openxmlformats.org/drawingml/2006/main">
            <a:off x="82867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FF795B"/>
                </a:solidFill>
                <a:latin typeface="Arial"/>
                <a:ea typeface="Arial"/>
                <a:cs typeface="Arial"/>
              </a:defRPr>
            </a:defPPr>
          </a:lstStyle>
          <a:p xmlns:a="http://schemas.openxmlformats.org/drawingml/2006/main">
            <a:pPr>
              <a:defRPr sz="1425" b="1">
                <a:solidFill>
                  <a:srgbClr val="FF795B"/>
                </a:solidFill>
                <a:latin typeface="Arial"/>
                <a:ea typeface="Arial"/>
                <a:cs typeface="Arial"/>
              </a:defRPr>
            </a:pPr>
            <a:r>
              <a:rPr sz="1425" b="1">
                <a:solidFill>
                  <a:srgbClr val="FF795B"/>
                </a:solidFill>
                <a:latin typeface="Arial"/>
                <a:ea typeface="Arial"/>
                <a:cs typeface="Arial"/>
              </a:rPr>
              <a:t>LAYA / ZERO-SHOT</a:t>
            </a:r>
          </a:p>
        </p:txBody>
      </p:sp>
      <p:sp>
        <p:nvSpPr>
          <p:cNvPr id="15" name="16/33">
            <a:extLst xmlns:a="http://schemas.openxmlformats.org/drawingml/2006/main">
              <a:ext uri="{FF2B5EF4-FFF2-40B4-BE49-F238E27FC236}">
                <a16:creationId xmlns:a16="http://schemas.microsoft.com/office/drawing/2014/main" id="{1656A7F3-D66F-40F7-AA5F-1EDAF24ED7D6}"/>
              </a:ext>
            </a:extLst>
          </p:cNvPr>
          <p:cNvSpPr>
            <a:spLocks xmlns:a="http://schemas.openxmlformats.org/drawingml/2006/main" noGrp="1"/>
          </p:cNvSpPr>
          <p:nvPr/>
        </p:nvSpPr>
        <p:spPr>
          <a:xfrm xmlns:a="http://schemas.openxmlformats.org/drawingml/2006/main">
            <a:off x="82867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16/33</a:t>
            </a:r>
          </a:p>
        </p:txBody>
      </p:sp>
      <p:sp>
        <p:nvSpPr>
          <p:cNvPr id="16" name="0.41 s / run">
            <a:extLst xmlns:a="http://schemas.openxmlformats.org/drawingml/2006/main">
              <a:ext uri="{FF2B5EF4-FFF2-40B4-BE49-F238E27FC236}">
                <a16:creationId xmlns:a16="http://schemas.microsoft.com/office/drawing/2014/main" id="{7F297CD9-ACAE-4AF5-81C2-1F6F5FF640CE}"/>
              </a:ext>
            </a:extLst>
          </p:cNvPr>
          <p:cNvSpPr>
            <a:spLocks xmlns:a="http://schemas.openxmlformats.org/drawingml/2006/main" noGrp="1"/>
          </p:cNvSpPr>
          <p:nvPr/>
        </p:nvSpPr>
        <p:spPr>
          <a:xfrm xmlns:a="http://schemas.openxmlformats.org/drawingml/2006/main">
            <a:off x="82867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0.41 s / run</a:t>
            </a:r>
          </a:p>
        </p:txBody>
      </p:sp>
      <p:sp>
        <p:nvSpPr>
          <p:cNvPr id="17" name="$0 API* / run">
            <a:extLst xmlns:a="http://schemas.openxmlformats.org/drawingml/2006/main">
              <a:ext uri="{FF2B5EF4-FFF2-40B4-BE49-F238E27FC236}">
                <a16:creationId xmlns:a16="http://schemas.microsoft.com/office/drawing/2014/main" id="{71F3F86E-4039-42FE-992A-31F0F2258BE7}"/>
              </a:ext>
            </a:extLst>
          </p:cNvPr>
          <p:cNvSpPr>
            <a:spLocks xmlns:a="http://schemas.openxmlformats.org/drawingml/2006/main" noGrp="1"/>
          </p:cNvSpPr>
          <p:nvPr/>
        </p:nvSpPr>
        <p:spPr>
          <a:xfrm xmlns:a="http://schemas.openxmlformats.org/drawingml/2006/main">
            <a:off x="82867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 API* / run</a:t>
            </a:r>
          </a:p>
        </p:txBody>
      </p:sp>
      <p:sp>
        <p:nvSpPr>
          <p:cNvPr id="18" name="No guardrail generated">
            <a:extLst xmlns:a="http://schemas.openxmlformats.org/drawingml/2006/main">
              <a:ext uri="{FF2B5EF4-FFF2-40B4-BE49-F238E27FC236}">
                <a16:creationId xmlns:a16="http://schemas.microsoft.com/office/drawing/2014/main" id="{36A3F225-9E0B-4D75-AFA8-9D9117E3A8D8}"/>
              </a:ext>
            </a:extLst>
          </p:cNvPr>
          <p:cNvSpPr>
            <a:spLocks xmlns:a="http://schemas.openxmlformats.org/drawingml/2006/main" noGrp="1"/>
          </p:cNvSpPr>
          <p:nvPr/>
        </p:nvSpPr>
        <p:spPr>
          <a:xfrm xmlns:a="http://schemas.openxmlformats.org/drawingml/2006/main">
            <a:off x="82867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F795B"/>
                </a:solidFill>
                <a:latin typeface="Arial"/>
                <a:ea typeface="Arial"/>
                <a:cs typeface="Arial"/>
              </a:defRPr>
            </a:defPPr>
          </a:lstStyle>
          <a:p xmlns:a="http://schemas.openxmlformats.org/drawingml/2006/main">
            <a:pPr>
              <a:defRPr sz="1800" b="1">
                <a:solidFill>
                  <a:srgbClr val="FF795B"/>
                </a:solidFill>
                <a:latin typeface="Arial"/>
                <a:ea typeface="Arial"/>
                <a:cs typeface="Arial"/>
              </a:defRPr>
            </a:pPr>
            <a:r>
              <a:rPr sz="1800" b="1">
                <a:solidFill>
                  <a:srgbClr val="FF795B"/>
                </a:solidFill>
                <a:latin typeface="Arial"/>
                <a:ea typeface="Arial"/>
                <a:cs typeface="Arial"/>
              </a:rPr>
              <a:t>No guardrail generated</a:t>
            </a:r>
          </a:p>
        </p:txBody>
      </p:sp>
      <p:sp>
        <p:nvSpPr>
          <p:cNvPr id="19" name="33 authored choices. Review/deployment excluded.">
            <a:extLst xmlns:a="http://schemas.openxmlformats.org/drawingml/2006/main">
              <a:ext uri="{FF2B5EF4-FFF2-40B4-BE49-F238E27FC236}">
                <a16:creationId xmlns:a16="http://schemas.microsoft.com/office/drawing/2014/main" id="{ECC03E25-DA0D-4F2B-803E-DAA95085E995}"/>
              </a:ext>
            </a:extLst>
          </p:cNvPr>
          <p:cNvSpPr>
            <a:spLocks xmlns:a="http://schemas.openxmlformats.org/drawingml/2006/main" noGrp="1"/>
          </p:cNvSpPr>
          <p:nvPr/>
        </p:nvSpPr>
        <p:spPr>
          <a:xfrm xmlns:a="http://schemas.openxmlformats.org/drawingml/2006/main">
            <a:off x="628650" y="59436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6656C"/>
                </a:solidFill>
                <a:latin typeface="Arial"/>
                <a:ea typeface="Arial"/>
                <a:cs typeface="Arial"/>
              </a:defRPr>
            </a:defPPr>
          </a:lstStyle>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33 authored choices. Review/deployment excluded. *Local compute unpriced; workflow incomplete.</a:t>
            </a:r>
          </a:p>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Small pilot; no production winner. Measure error cost and reviewer effort before selecting a model.</a:t>
            </a:r>
          </a:p>
        </p:txBody>
      </p:sp>
      <p:sp>
        <p:nvSpPr>
          <p:cNvPr id="20" name="ISC2 SECURITY CONGRESS 2026 / SC2632">
            <a:extLst xmlns:a="http://schemas.openxmlformats.org/drawingml/2006/main">
              <a:ext uri="{FF2B5EF4-FFF2-40B4-BE49-F238E27FC236}">
                <a16:creationId xmlns:a16="http://schemas.microsoft.com/office/drawing/2014/main" id="{A9B2F048-4B0F-4E1C-A726-3E331D49AEA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21" name="26">
            <a:extLst xmlns:a="http://schemas.openxmlformats.org/drawingml/2006/main">
              <a:ext uri="{FF2B5EF4-FFF2-40B4-BE49-F238E27FC236}">
                <a16:creationId xmlns:a16="http://schemas.microsoft.com/office/drawing/2014/main" id="{8054358B-5831-4F5C-A6BE-B86C40FCED1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26</a:t>
            </a:r>
          </a:p>
        </p:txBody>
      </p:sp>
    </p:spTree>
    <p:extLst>
      <p:ext uri="{BB962C8B-B14F-4D97-AF65-F5344CB8AC3E}">
        <p14:creationId xmlns:p14="http://schemas.microsoft.com/office/powerpoint/2010/main" val="1907607141"/>
      </p:ext>
    </p:extLst>
  </p:cSld>
</p:sld>
</file>

<file path=ppt/slides/slide2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FEACF76E-D247-4C97-8684-E08531B95F4C}"/>
              </a:ext>
            </a:extLst>
          </p:cNvPr>
          <p:cNvPicPr>
            <a:picLocks xmlns:a="http://schemas.openxmlformats.org/drawingml/2006/main" noChangeAspect="1"/>
          </p:cNvPicPr>
          <p:nvPr/>
        </p:nvPicPr>
        <p:blipFill>
          <a:blip xmlns:r="http://schemas.openxmlformats.org/officeDocument/2006/relationships" xmlns:a="http://schemas.openxmlformats.org/drawingml/2006/main" r:embed="R5c2bfd434bda4f0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OCUMENT RECOVERY">
            <a:extLst xmlns:a="http://schemas.openxmlformats.org/drawingml/2006/main">
              <a:ext uri="{FF2B5EF4-FFF2-40B4-BE49-F238E27FC236}">
                <a16:creationId xmlns:a16="http://schemas.microsoft.com/office/drawing/2014/main" id="{6CB9A2C0-FD22-4B91-A3F3-6137935804FC}"/>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DOCUMENT RECOVERY</a:t>
            </a:r>
          </a:p>
        </p:txBody>
      </p:sp>
      <p:sp>
        <p:nvSpPr>
          <p:cNvPr id="3" name="04">
            <a:extLst xmlns:a="http://schemas.openxmlformats.org/drawingml/2006/main">
              <a:ext uri="{FF2B5EF4-FFF2-40B4-BE49-F238E27FC236}">
                <a16:creationId xmlns:a16="http://schemas.microsoft.com/office/drawing/2014/main" id="{741E61FE-E32A-4E8A-A13D-0BC214690B03}"/>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04</a:t>
            </a:r>
          </a:p>
        </p:txBody>
      </p:sp>
      <p:sp>
        <p:nvSpPr>
          <p:cNvPr id="4" name="Define recovery&#10;criteria.">
            <a:extLst xmlns:a="http://schemas.openxmlformats.org/drawingml/2006/main">
              <a:ext uri="{FF2B5EF4-FFF2-40B4-BE49-F238E27FC236}">
                <a16:creationId xmlns:a16="http://schemas.microsoft.com/office/drawing/2014/main" id="{41A1E569-E230-4C71-954D-DE4856D4C585}"/>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recovery</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criteria.</a:t>
            </a:r>
          </a:p>
        </p:txBody>
      </p:sp>
      <p:sp>
        <p:nvSpPr>
          <p:cNvPr id="5" name="On page 6, name the exit test,&#10;who can lift quar">
            <a:extLst xmlns:a="http://schemas.openxmlformats.org/drawingml/2006/main">
              <a:ext uri="{FF2B5EF4-FFF2-40B4-BE49-F238E27FC236}">
                <a16:creationId xmlns:a16="http://schemas.microsoft.com/office/drawing/2014/main" id="{B6B7E296-86CF-4E03-80B1-2B7867973EE2}"/>
              </a:ext>
            </a:extLst>
          </p:cNvPr>
          <p:cNvSpPr>
            <a:spLocks xmlns:a="http://schemas.openxmlformats.org/drawingml/2006/main" noGrp="1"/>
          </p:cNvSpPr>
          <p:nvPr/>
        </p:nvSpPr>
        <p:spPr>
          <a:xfrm xmlns:a="http://schemas.openxmlformats.org/drawingml/2006/main">
            <a:off x="628650" y="4829175"/>
            <a:ext cx="6381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On page 6, name the exit test,</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who can lift quarantine and the rollback condition.</a:t>
            </a:r>
          </a:p>
        </p:txBody>
      </p:sp>
      <p:sp>
        <p:nvSpPr>
          <p:cNvPr id="6" name="ISC2 SECURITY CONGRESS 2026 / SC2632">
            <a:extLst xmlns:a="http://schemas.openxmlformats.org/drawingml/2006/main">
              <a:ext uri="{FF2B5EF4-FFF2-40B4-BE49-F238E27FC236}">
                <a16:creationId xmlns:a16="http://schemas.microsoft.com/office/drawing/2014/main" id="{46389B92-D979-445B-AFB6-0661EB275D4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27">
            <a:extLst xmlns:a="http://schemas.openxmlformats.org/drawingml/2006/main">
              <a:ext uri="{FF2B5EF4-FFF2-40B4-BE49-F238E27FC236}">
                <a16:creationId xmlns:a16="http://schemas.microsoft.com/office/drawing/2014/main" id="{1608162B-3797-482B-921A-9EE33A9B31B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27</a:t>
            </a:r>
          </a:p>
        </p:txBody>
      </p:sp>
    </p:spTree>
    <p:extLst>
      <p:ext uri="{BB962C8B-B14F-4D97-AF65-F5344CB8AC3E}">
        <p14:creationId xmlns:p14="http://schemas.microsoft.com/office/powerpoint/2010/main" val="1963425974"/>
      </p:ext>
    </p:extLst>
  </p:cSld>
</p:sld>
</file>

<file path=ppt/slides/slide28.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DEBRIEF / ILLUSTRATIVE CASE A DECISION RECORD">
            <a:extLst xmlns:a="http://schemas.openxmlformats.org/drawingml/2006/main">
              <a:ext uri="{FF2B5EF4-FFF2-40B4-BE49-F238E27FC236}">
                <a16:creationId xmlns:a16="http://schemas.microsoft.com/office/drawing/2014/main" id="{85936FA3-43D4-4619-B2C6-86FBE2D5984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DEBRIEF / ILLUSTRATIVE CASE A DECISION RECORD</a:t>
            </a:r>
          </a:p>
        </p:txBody>
      </p:sp>
      <p:sp>
        <p:nvSpPr>
          <p:cNvPr id="2" name="How evidence changes a decision">
            <a:extLst xmlns:a="http://schemas.openxmlformats.org/drawingml/2006/main">
              <a:ext uri="{FF2B5EF4-FFF2-40B4-BE49-F238E27FC236}">
                <a16:creationId xmlns:a16="http://schemas.microsoft.com/office/drawing/2014/main" id="{A68CC4AF-F642-4B99-AC6E-CCBF585D56D5}"/>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How evidence changes a decision</a:t>
            </a:r>
          </a:p>
        </p:txBody>
      </p:sp>
      <p:graphicFrame>
        <p:nvGraphicFramePr>
          <p:cNvPr id="3" name="">
            <a:extLst xmlns:a="http://schemas.openxmlformats.org/drawingml/2006/main">
              <a:ext uri="{FF2B5EF4-FFF2-40B4-BE49-F238E27FC236}">
                <a16:creationId xmlns:a16="http://schemas.microsoft.com/office/drawing/2014/main" id="{F0F6335C-A2FB-4F2A-A74E-AE6F52A8AD25}"/>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71750"/>
                <a:gridCol w="8382000"/>
              </a:tblGrid>
              <a:tr h="563563">
                <a:tc>
                  <a:txBody>
                    <a:bodyPr/>
                    <a:lstStyle/>
                    <a:p>
                      <a:r>
                        <a:rPr sz="1800" b="1">
                          <a:solidFill>
                            <a:srgbClr val="F2EFE7"/>
                          </a:solidFill>
                          <a:latin typeface="Arial"/>
                          <a:ea typeface="Arial"/>
                          <a:cs typeface="Arial"/>
                        </a:rPr>
                        <a:t>Decision record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Defensible example, not an executed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63563">
                <a:tc>
                  <a:txBody>
                    <a:bodyPr/>
                    <a:lstStyle/>
                    <a:p>
                      <a:r>
                        <a:rPr sz="1800" b="1">
                          <a:solidFill>
                            <a:srgbClr val="087E79"/>
                          </a:solidFill>
                          <a:latin typeface="Arial"/>
                          <a:ea typeface="Arial"/>
                          <a:cs typeface="Arial"/>
                        </a:rPr>
                        <a:t>Intent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Stop suspect traffic. Preserve two clean service copies</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Initial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Hold broad approval. Traffic and API evidence missing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New evidence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Another copy shares the image. Q3 blocks replacement</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Revised plan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Preserve evidence. Verify clean capacity before removal</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Recovery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Require denied suspect paths, working dependencies and authorized lift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Your environment: name one requirement, its owne">
            <a:extLst xmlns:a="http://schemas.openxmlformats.org/drawingml/2006/main">
              <a:ext uri="{FF2B5EF4-FFF2-40B4-BE49-F238E27FC236}">
                <a16:creationId xmlns:a16="http://schemas.microsoft.com/office/drawing/2014/main" id="{34CA2FB3-321F-4711-ADAF-052373D492D7}"/>
              </a:ext>
            </a:extLst>
          </p:cNvPr>
          <p:cNvSpPr>
            <a:spLocks xmlns:a="http://schemas.openxmlformats.org/drawingml/2006/main" noGrp="1"/>
          </p:cNvSpPr>
          <p:nvPr/>
        </p:nvSpPr>
        <p:spPr>
          <a:xfrm xmlns:a="http://schemas.openxmlformats.org/drawingml/2006/main">
            <a:off x="609600" y="58578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Your environment: name one requirement, its owner and the evidence needed to proceed.</a:t>
            </a:r>
          </a:p>
        </p:txBody>
      </p:sp>
      <p:sp>
        <p:nvSpPr>
          <p:cNvPr id="5" name="ISC2 SECURITY CONGRESS 2026 / SC2632">
            <a:extLst xmlns:a="http://schemas.openxmlformats.org/drawingml/2006/main">
              <a:ext uri="{FF2B5EF4-FFF2-40B4-BE49-F238E27FC236}">
                <a16:creationId xmlns:a16="http://schemas.microsoft.com/office/drawing/2014/main" id="{ABA1D817-E640-439D-80E4-FA4851641D0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28">
            <a:extLst xmlns:a="http://schemas.openxmlformats.org/drawingml/2006/main">
              <a:ext uri="{FF2B5EF4-FFF2-40B4-BE49-F238E27FC236}">
                <a16:creationId xmlns:a16="http://schemas.microsoft.com/office/drawing/2014/main" id="{3483EE1D-8328-403C-AAC7-5376CF22300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28</a:t>
            </a:r>
          </a:p>
        </p:txBody>
      </p:sp>
    </p:spTree>
    <p:extLst>
      <p:ext uri="{BB962C8B-B14F-4D97-AF65-F5344CB8AC3E}">
        <p14:creationId xmlns:p14="http://schemas.microsoft.com/office/powerpoint/2010/main" val="1687213247"/>
      </p:ext>
    </p:extLst>
  </p:cSld>
</p:sld>
</file>

<file path=ppt/slides/slide2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SESSION RESOURCES">
            <a:extLst xmlns:a="http://schemas.openxmlformats.org/drawingml/2006/main">
              <a:ext uri="{FF2B5EF4-FFF2-40B4-BE49-F238E27FC236}">
                <a16:creationId xmlns:a16="http://schemas.microsoft.com/office/drawing/2014/main" id="{7022FBFA-96E2-4801-84B8-66B65C98D8D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RESOURCES</a:t>
            </a:r>
          </a:p>
        </p:txBody>
      </p:sp>
      <p:sp>
        <p:nvSpPr>
          <p:cNvPr id="2" name="Patterns to adapt across Kubernetes">
            <a:extLst xmlns:a="http://schemas.openxmlformats.org/drawingml/2006/main">
              <a:ext uri="{FF2B5EF4-FFF2-40B4-BE49-F238E27FC236}">
                <a16:creationId xmlns:a16="http://schemas.microsoft.com/office/drawing/2014/main" id="{EC067130-3CD6-4786-9972-92ACCEBE289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Patterns to adapt across Kubernetes</a:t>
            </a:r>
          </a:p>
        </p:txBody>
      </p:sp>
      <p:sp>
        <p:nvSpPr>
          <p:cNvPr id="3" name="github.com/mgunjan/sc2632-tabletop">
            <a:extLst xmlns:a="http://schemas.openxmlformats.org/drawingml/2006/main">
              <a:ext uri="{FF2B5EF4-FFF2-40B4-BE49-F238E27FC236}">
                <a16:creationId xmlns:a16="http://schemas.microsoft.com/office/drawing/2014/main" id="{72BFAE45-23C0-440F-95B7-99C6A47F9416}"/>
              </a:ext>
            </a:extLst>
          </p:cNvPr>
          <p:cNvSpPr>
            <a:spLocks xmlns:a="http://schemas.openxmlformats.org/drawingml/2006/main" noGrp="1"/>
          </p:cNvSpPr>
          <p:nvPr/>
        </p:nvSpPr>
        <p:spPr>
          <a:xfrm xmlns:a="http://schemas.openxmlformats.org/drawingml/2006/main">
            <a:off x="609600" y="23622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87E79"/>
                </a:solidFill>
                <a:latin typeface="Arial"/>
                <a:ea typeface="Arial"/>
                <a:cs typeface="Arial"/>
              </a:defRPr>
            </a:defPPr>
          </a:lstStyle>
          <a:p xmlns:a="http://schemas.openxmlformats.org/drawingml/2006/main">
            <a:pPr>
              <a:defRPr sz="2625" b="1">
                <a:solidFill>
                  <a:srgbClr val="087E79"/>
                </a:solidFill>
                <a:latin typeface="Arial"/>
                <a:ea typeface="Arial"/>
                <a:cs typeface="Arial"/>
              </a:defRPr>
            </a:pPr>
            <a:r>
              <a:rPr sz="2625" b="1">
                <a:solidFill>
                  <a:srgbClr val="087E79"/>
                </a:solidFill>
                <a:latin typeface="Arial"/>
                <a:ea typeface="Arial"/>
                <a:cs typeface="Arial"/>
              </a:rPr>
              <a:t>github.com/mgunjan/sc2632-tabletop</a:t>
            </a:r>
          </a:p>
        </p:txBody>
      </p:sp>
      <p:sp>
        <p:nvSpPr>
          <p:cNvPr id="4" name="Policy templates and fixture tests&#10;Evidence capt">
            <a:extLst xmlns:a="http://schemas.openxmlformats.org/drawingml/2006/main">
              <a:ext uri="{FF2B5EF4-FFF2-40B4-BE49-F238E27FC236}">
                <a16:creationId xmlns:a16="http://schemas.microsoft.com/office/drawing/2014/main" id="{C17481A5-803E-47F4-97C7-FAEEEA2D1849}"/>
              </a:ext>
            </a:extLst>
          </p:cNvPr>
          <p:cNvSpPr>
            <a:spLocks xmlns:a="http://schemas.openxmlformats.org/drawingml/2006/main" noGrp="1"/>
          </p:cNvSpPr>
          <p:nvPr/>
        </p:nvSpPr>
        <p:spPr>
          <a:xfrm xmlns:a="http://schemas.openxmlformats.org/drawingml/2006/main">
            <a:off x="609600" y="350520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Policy templates and fixture tests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Evidence capture and Quarantine levels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Four incident cases and recorded lab results</a:t>
            </a:r>
          </a:p>
        </p:txBody>
      </p:sp>
      <p:sp>
        <p:nvSpPr>
          <p:cNvPr id="5" name="Apache-2.0 source, public repository.&#10;Validate i">
            <a:extLst xmlns:a="http://schemas.openxmlformats.org/drawingml/2006/main">
              <a:ext uri="{FF2B5EF4-FFF2-40B4-BE49-F238E27FC236}">
                <a16:creationId xmlns:a16="http://schemas.microsoft.com/office/drawing/2014/main" id="{4C99E960-9F11-4F4F-98F2-3A2DE40F95EA}"/>
              </a:ext>
            </a:extLst>
          </p:cNvPr>
          <p:cNvSpPr>
            <a:spLocks xmlns:a="http://schemas.openxmlformats.org/drawingml/2006/main" noGrp="1"/>
          </p:cNvSpPr>
          <p:nvPr/>
        </p:nvSpPr>
        <p:spPr>
          <a:xfrm xmlns:a="http://schemas.openxmlformats.org/drawingml/2006/main">
            <a:off x="609600" y="5524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Apache-2.0 source, public repository.</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Validate identity, CNI behavior and policy support on your platform.</a:t>
            </a:r>
          </a:p>
        </p:txBody>
      </p:sp>
      <p:sp>
        <p:nvSpPr>
          <p:cNvPr id="6" name="ISC2 SECURITY CONGRESS 2026 / SC2632">
            <a:extLst xmlns:a="http://schemas.openxmlformats.org/drawingml/2006/main">
              <a:ext uri="{FF2B5EF4-FFF2-40B4-BE49-F238E27FC236}">
                <a16:creationId xmlns:a16="http://schemas.microsoft.com/office/drawing/2014/main" id="{085FD2CC-0B0A-4B64-9C17-56EFA19B558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9">
            <a:extLst xmlns:a="http://schemas.openxmlformats.org/drawingml/2006/main">
              <a:ext uri="{FF2B5EF4-FFF2-40B4-BE49-F238E27FC236}">
                <a16:creationId xmlns:a16="http://schemas.microsoft.com/office/drawing/2014/main" id="{217C2286-05D1-4A60-BEFB-505AFF1A206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29</a:t>
            </a:r>
          </a:p>
        </p:txBody>
      </p:sp>
    </p:spTree>
    <p:extLst>
      <p:ext uri="{BB962C8B-B14F-4D97-AF65-F5344CB8AC3E}">
        <p14:creationId xmlns:p14="http://schemas.microsoft.com/office/powerpoint/2010/main" val="460294421"/>
      </p:ext>
    </p:extLst>
  </p:cSld>
</p:sld>
</file>

<file path=ppt/slides/slide30.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SUPPLIED REFERENCE SPEC">
            <a:extLst xmlns:a="http://schemas.openxmlformats.org/drawingml/2006/main">
              <a:ext uri="{FF2B5EF4-FFF2-40B4-BE49-F238E27FC236}">
                <a16:creationId xmlns:a16="http://schemas.microsoft.com/office/drawing/2014/main" id="{971DAA96-2D27-4C9F-B792-2E736738CC6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SUPPLIED REFERENCE SPEC</a:t>
            </a:r>
          </a:p>
        </p:txBody>
      </p:sp>
      <p:sp>
        <p:nvSpPr>
          <p:cNvPr id="2" name="Fallback: generated policy excerpt">
            <a:extLst xmlns:a="http://schemas.openxmlformats.org/drawingml/2006/main">
              <a:ext uri="{FF2B5EF4-FFF2-40B4-BE49-F238E27FC236}">
                <a16:creationId xmlns:a16="http://schemas.microsoft.com/office/drawing/2014/main" id="{47A7F73F-19A0-4BD1-AB20-8C81E843A97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generated policy excerpt</a:t>
            </a:r>
          </a:p>
        </p:txBody>
      </p:sp>
      <p:sp>
        <p:nvSpPr>
          <p:cNvPr id="3" name="kind: ValidatingPolicy&#10;name: deny-privilege-esca">
            <a:extLst xmlns:a="http://schemas.openxmlformats.org/drawingml/2006/main">
              <a:ext uri="{FF2B5EF4-FFF2-40B4-BE49-F238E27FC236}">
                <a16:creationId xmlns:a16="http://schemas.microsoft.com/office/drawing/2014/main" id="{5185EB35-BFFA-4EFC-8941-C1384A8C21FE}"/>
              </a:ext>
            </a:extLst>
          </p:cNvPr>
          <p:cNvSpPr>
            <a:spLocks xmlns:a="http://schemas.openxmlformats.org/drawingml/2006/main" noGrp="1"/>
          </p:cNvSpPr>
          <p:nvPr/>
        </p:nvSpPr>
        <p:spPr>
          <a:xfrm xmlns:a="http://schemas.openxmlformats.org/drawingml/2006/main">
            <a:off x="609600" y="22479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kind: ValidatingPolicy</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name: deny-privilege-escalation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validationActions: [Deny]</a:t>
            </a:r>
          </a:p>
        </p:txBody>
      </p:sp>
      <p:sp>
        <p:nvSpPr>
          <p:cNvPr id="4" name="The policy rejects privileged containers.&#10;Human ">
            <a:extLst xmlns:a="http://schemas.openxmlformats.org/drawingml/2006/main">
              <a:ext uri="{FF2B5EF4-FFF2-40B4-BE49-F238E27FC236}">
                <a16:creationId xmlns:a16="http://schemas.microsoft.com/office/drawing/2014/main" id="{D12467DA-54C1-485E-9846-F4FFFC5CFE94}"/>
              </a:ext>
            </a:extLst>
          </p:cNvPr>
          <p:cNvSpPr>
            <a:spLocks xmlns:a="http://schemas.openxmlformats.org/drawingml/2006/main" noGrp="1"/>
          </p:cNvSpPr>
          <p:nvPr/>
        </p:nvSpPr>
        <p:spPr>
          <a:xfrm xmlns:a="http://schemas.openxmlformats.org/drawingml/2006/main">
            <a:off x="609600" y="41719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The policy rejects privileged containers.</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Human review approves the generated file before deployment.</a:t>
            </a:r>
          </a:p>
        </p:txBody>
      </p:sp>
      <p:sp>
        <p:nvSpPr>
          <p:cNvPr id="5" name="Provenance: model = none (spec supplied)">
            <a:extLst xmlns:a="http://schemas.openxmlformats.org/drawingml/2006/main">
              <a:ext uri="{FF2B5EF4-FFF2-40B4-BE49-F238E27FC236}">
                <a16:creationId xmlns:a16="http://schemas.microsoft.com/office/drawing/2014/main" id="{DAE5DFFA-0E7B-4830-928B-F290D25F2A7F}"/>
              </a:ext>
            </a:extLst>
          </p:cNvPr>
          <p:cNvSpPr>
            <a:spLocks xmlns:a="http://schemas.openxmlformats.org/drawingml/2006/main" noGrp="1"/>
          </p:cNvSpPr>
          <p:nvPr/>
        </p:nvSpPr>
        <p:spPr>
          <a:xfrm xmlns:a="http://schemas.openxmlformats.org/drawingml/2006/main">
            <a:off x="609600" y="56388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Provenance: model = none (spec supplied)</a:t>
            </a:r>
          </a:p>
        </p:txBody>
      </p:sp>
      <p:sp>
        <p:nvSpPr>
          <p:cNvPr id="6" name="ISC2 SECURITY CONGRESS 2026 / SC2632">
            <a:extLst xmlns:a="http://schemas.openxmlformats.org/drawingml/2006/main">
              <a:ext uri="{FF2B5EF4-FFF2-40B4-BE49-F238E27FC236}">
                <a16:creationId xmlns:a16="http://schemas.microsoft.com/office/drawing/2014/main" id="{19BD55A7-70BB-4C98-B4F3-E46506A28D2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0">
            <a:extLst xmlns:a="http://schemas.openxmlformats.org/drawingml/2006/main">
              <a:ext uri="{FF2B5EF4-FFF2-40B4-BE49-F238E27FC236}">
                <a16:creationId xmlns:a16="http://schemas.microsoft.com/office/drawing/2014/main" id="{05922B34-2746-4013-9DA8-C11E582EFA1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30</a:t>
            </a:r>
          </a:p>
        </p:txBody>
      </p:sp>
    </p:spTree>
    <p:extLst>
      <p:ext uri="{BB962C8B-B14F-4D97-AF65-F5344CB8AC3E}">
        <p14:creationId xmlns:p14="http://schemas.microsoft.com/office/powerpoint/2010/main" val="299523548"/>
      </p:ext>
    </p:extLst>
  </p:cSld>
</p:sld>
</file>

<file path=ppt/slides/slide31.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BACKUP / REFERENCE SCENARIO A">
            <a:extLst xmlns:a="http://schemas.openxmlformats.org/drawingml/2006/main">
              <a:ext uri="{FF2B5EF4-FFF2-40B4-BE49-F238E27FC236}">
                <a16:creationId xmlns:a16="http://schemas.microsoft.com/office/drawing/2014/main" id="{C833C0B4-0DB7-45CC-9B5A-6316FA21978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REFERENCE SCENARIO A</a:t>
            </a:r>
          </a:p>
        </p:txBody>
      </p:sp>
      <p:sp>
        <p:nvSpPr>
          <p:cNvPr id="2" name="Fallback: fixture admission outcomes">
            <a:extLst xmlns:a="http://schemas.openxmlformats.org/drawingml/2006/main">
              <a:ext uri="{FF2B5EF4-FFF2-40B4-BE49-F238E27FC236}">
                <a16:creationId xmlns:a16="http://schemas.microsoft.com/office/drawing/2014/main" id="{26B3FB1C-EC2A-41CF-960C-FEFF0BCA92B5}"/>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fixture admission outcomes</a:t>
            </a:r>
          </a:p>
        </p:txBody>
      </p:sp>
      <p:graphicFrame>
        <p:nvGraphicFramePr>
          <p:cNvPr id="3" name="">
            <a:extLst xmlns:a="http://schemas.openxmlformats.org/drawingml/2006/main">
              <a:ext uri="{FF2B5EF4-FFF2-40B4-BE49-F238E27FC236}">
                <a16:creationId xmlns:a16="http://schemas.microsoft.com/office/drawing/2014/main" id="{A7F0249C-599D-400B-BB77-504B8670911C}"/>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3714750"/>
                <a:gridCol w="7239000"/>
              </a:tblGrid>
              <a:tr h="676275">
                <a:tc>
                  <a:txBody>
                    <a:bodyPr/>
                    <a:lstStyle/>
                    <a:p>
                      <a:r>
                        <a:rPr sz="2025" b="1">
                          <a:solidFill>
                            <a:srgbClr val="F2EFE7"/>
                          </a:solidFill>
                          <a:latin typeface="Arial"/>
                          <a:ea typeface="Arial"/>
                          <a:cs typeface="Arial"/>
                        </a:rPr>
                        <a:t>Workload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Policy result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payments-api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Passes privilege and egress checks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Would block under the 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report-runner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Registry violation at Audit, admitted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 with exception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Egress check skips the matched exception</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12D6F124-E026-491C-93A9-9F9D474F7BE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31">
            <a:extLst xmlns:a="http://schemas.openxmlformats.org/drawingml/2006/main">
              <a:ext uri="{FF2B5EF4-FFF2-40B4-BE49-F238E27FC236}">
                <a16:creationId xmlns:a16="http://schemas.microsoft.com/office/drawing/2014/main" id="{E65F5B30-3F40-4419-A443-8C3ABFEA66B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31</a:t>
            </a:r>
          </a:p>
        </p:txBody>
      </p:sp>
    </p:spTree>
    <p:extLst>
      <p:ext uri="{BB962C8B-B14F-4D97-AF65-F5344CB8AC3E}">
        <p14:creationId xmlns:p14="http://schemas.microsoft.com/office/powerpoint/2010/main" val="1479112100"/>
      </p:ext>
    </p:extLst>
  </p:cSld>
</p:sld>
</file>

<file path=ppt/slides/slide32.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REAL LAB / SYNTHETIC SECRETS">
            <a:extLst xmlns:a="http://schemas.openxmlformats.org/drawingml/2006/main">
              <a:ext uri="{FF2B5EF4-FFF2-40B4-BE49-F238E27FC236}">
                <a16:creationId xmlns:a16="http://schemas.microsoft.com/office/drawing/2014/main" id="{47B314D9-48A5-425E-B260-0748F0AE0161}"/>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REAL LAB / SYNTHETIC SECRETS</a:t>
            </a:r>
          </a:p>
        </p:txBody>
      </p:sp>
      <p:sp>
        <p:nvSpPr>
          <p:cNvPr id="2" name="Case D: copied credential response">
            <a:extLst xmlns:a="http://schemas.openxmlformats.org/drawingml/2006/main">
              <a:ext uri="{FF2B5EF4-FFF2-40B4-BE49-F238E27FC236}">
                <a16:creationId xmlns:a16="http://schemas.microsoft.com/office/drawing/2014/main" id="{DC94CD2F-97EE-4B35-8B3B-3AD8DDACE016}"/>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Case D: copied credential response</a:t>
            </a:r>
          </a:p>
        </p:txBody>
      </p:sp>
      <p:graphicFrame>
        <p:nvGraphicFramePr>
          <p:cNvPr id="3" name="">
            <a:extLst xmlns:a="http://schemas.openxmlformats.org/drawingml/2006/main">
              <a:ext uri="{FF2B5EF4-FFF2-40B4-BE49-F238E27FC236}">
                <a16:creationId xmlns:a16="http://schemas.microsoft.com/office/drawing/2014/main" id="{3017B53C-F08A-4239-B7B0-4D463EA8DF05}"/>
              </a:ext>
            </a:extLst>
          </p:cNvPr>
          <p:cNvGraphicFramePr/>
          <p:nvPr/>
        </p:nvGraphicFramePr>
        <p:xfrm>
          <a:off xmlns:a="http://schemas.openxmlformats.org/drawingml/2006/main" x="609600" y="2305050"/>
          <a:ext xmlns:a="http://schemas.openxmlformats.org/drawingml/2006/main" cx="10953750" cy="3238500"/>
        </p:xfrm>
        <a:graphic xmlns:a="http://schemas.openxmlformats.org/drawingml/2006/main">
          <a:graphicData uri="http://schemas.openxmlformats.org/drawingml/2006/table">
            <a:tbl>
              <a:tblPr/>
              <a:tblGrid>
                <a:gridCol w="2428875"/>
                <a:gridCol w="4333875"/>
                <a:gridCol w="4191000"/>
              </a:tblGrid>
              <a:tr h="647700">
                <a:tc>
                  <a:txBody>
                    <a:bodyPr/>
                    <a:lstStyle/>
                    <a:p>
                      <a:r>
                        <a:rPr sz="1875" b="1">
                          <a:solidFill>
                            <a:srgbClr val="F2EFE7"/>
                          </a:solidFill>
                          <a:latin typeface="Arial"/>
                          <a:ea typeface="Arial"/>
                          <a:cs typeface="Arial"/>
                        </a:rPr>
                        <a:t>Change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Copied Kubernetes credential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Preserved access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28650">
                <a:tc>
                  <a:txBody>
                    <a:bodyPr/>
                    <a:lstStyle/>
                    <a:p>
                      <a:r>
                        <a:rPr sz="1875" b="1">
                          <a:solidFill>
                            <a:srgbClr val="087E79"/>
                          </a:solidFill>
                          <a:latin typeface="Arial"/>
                          <a:ea typeface="Arial"/>
                          <a:cs typeface="Arial"/>
                        </a:rPr>
                        <a:t>Broad binding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Named Secret and ConfigMap: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Pod quarantined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Stand-in HTTP health available</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RBAC narrowed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403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Required named GETs: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704850">
                <a:tc>
                  <a:txBody>
                    <a:bodyPr/>
                    <a:lstStyle/>
                    <a:p>
                      <a:r>
                        <a:rPr sz="1875" b="1">
                          <a:solidFill>
                            <a:srgbClr val="087E79"/>
                          </a:solidFill>
                          <a:latin typeface="Arial"/>
                          <a:ea typeface="Arial"/>
                          <a:cs typeface="Arial"/>
                        </a:rPr>
                        <a:t>Old bound Pod deleted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Old credential: 401</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Replacement credential: 200</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tand-in health only. External application-key r">
            <a:extLst xmlns:a="http://schemas.openxmlformats.org/drawingml/2006/main">
              <a:ext uri="{FF2B5EF4-FFF2-40B4-BE49-F238E27FC236}">
                <a16:creationId xmlns:a16="http://schemas.microsoft.com/office/drawing/2014/main" id="{5BBAAFEC-890A-4ABE-8928-17E388120919}"/>
              </a:ext>
            </a:extLst>
          </p:cNvPr>
          <p:cNvSpPr>
            <a:spLocks xmlns:a="http://schemas.openxmlformats.org/drawingml/2006/main" noGrp="1"/>
          </p:cNvSpPr>
          <p:nvPr/>
        </p:nvSpPr>
        <p:spPr>
          <a:xfrm xmlns:a="http://schemas.openxmlformats.org/drawingml/2006/main">
            <a:off x="609600" y="5848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stStyle>
          <a:p xmlns:a="http://schemas.openxmlformats.org/drawingml/2006/main">
            <a:pPr>
              <a:defRPr sz="1650" b="0">
                <a:solidFill>
                  <a:srgbClr val="60717A"/>
                </a:solidFill>
                <a:latin typeface="Arial"/>
                <a:ea typeface="Arial"/>
                <a:cs typeface="Arial"/>
              </a:defRPr>
            </a:pPr>
            <a:r>
              <a:rPr sz="1650" b="0">
                <a:solidFill>
                  <a:srgbClr val="60717A"/>
                </a:solidFill>
                <a:latin typeface="Arial"/>
                <a:ea typeface="Arial"/>
                <a:cs typeface="Arial"/>
              </a:rPr>
              <a:t>Stand-in health only. External application-key rotation remains required.</a:t>
            </a:r>
          </a:p>
        </p:txBody>
      </p:sp>
      <p:sp>
        <p:nvSpPr>
          <p:cNvPr id="5" name="ISC2 SECURITY CONGRESS 2026 / SC2632">
            <a:extLst xmlns:a="http://schemas.openxmlformats.org/drawingml/2006/main">
              <a:ext uri="{FF2B5EF4-FFF2-40B4-BE49-F238E27FC236}">
                <a16:creationId xmlns:a16="http://schemas.microsoft.com/office/drawing/2014/main" id="{453BDA29-9AC7-49CB-90BD-A92EB43CCFB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2">
            <a:extLst xmlns:a="http://schemas.openxmlformats.org/drawingml/2006/main">
              <a:ext uri="{FF2B5EF4-FFF2-40B4-BE49-F238E27FC236}">
                <a16:creationId xmlns:a16="http://schemas.microsoft.com/office/drawing/2014/main" id="{68C5676C-CC63-47E0-902A-2587B51A504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32</a:t>
            </a:r>
          </a:p>
        </p:txBody>
      </p:sp>
    </p:spTree>
    <p:extLst>
      <p:ext uri="{BB962C8B-B14F-4D97-AF65-F5344CB8AC3E}">
        <p14:creationId xmlns:p14="http://schemas.microsoft.com/office/powerpoint/2010/main" val="1719229534"/>
      </p:ext>
    </p:extLst>
  </p:cSld>
</p:sld>
</file>

<file path=ppt/slides/slide33.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CONTROL SELECTION ONLY">
            <a:extLst xmlns:a="http://schemas.openxmlformats.org/drawingml/2006/main">
              <a:ext uri="{FF2B5EF4-FFF2-40B4-BE49-F238E27FC236}">
                <a16:creationId xmlns:a16="http://schemas.microsoft.com/office/drawing/2014/main" id="{79BB4C2B-0150-4071-B3A0-229DB53C202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CONTROL SELECTION ONLY</a:t>
            </a:r>
          </a:p>
        </p:txBody>
      </p:sp>
      <p:sp>
        <p:nvSpPr>
          <p:cNvPr id="2" name="Training and classical baselines">
            <a:extLst xmlns:a="http://schemas.openxmlformats.org/drawingml/2006/main">
              <a:ext uri="{FF2B5EF4-FFF2-40B4-BE49-F238E27FC236}">
                <a16:creationId xmlns:a16="http://schemas.microsoft.com/office/drawing/2014/main" id="{9ADA703F-5185-4918-8B19-E208E94F0D2F}"/>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Training and classical baselines</a:t>
            </a:r>
          </a:p>
        </p:txBody>
      </p:sp>
      <p:graphicFrame>
        <p:nvGraphicFramePr>
          <p:cNvPr id="3" name="">
            <a:extLst xmlns:a="http://schemas.openxmlformats.org/drawingml/2006/main">
              <a:ext uri="{FF2B5EF4-FFF2-40B4-BE49-F238E27FC236}">
                <a16:creationId xmlns:a16="http://schemas.microsoft.com/office/drawing/2014/main" id="{630011BB-0624-4CD2-9FB8-23A7FA68E65F}"/>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4381500"/>
                <a:gridCol w="2000250"/>
                <a:gridCol w="2190750"/>
                <a:gridCol w="2381250"/>
              </a:tblGrid>
              <a:tr h="714375">
                <a:tc>
                  <a:txBody>
                    <a:bodyPr/>
                    <a:lstStyle/>
                    <a:p>
                      <a:r>
                        <a:rPr sz="1875" b="1">
                          <a:solidFill>
                            <a:srgbClr val="F2EFE7"/>
                          </a:solidFill>
                          <a:latin typeface="Arial"/>
                          <a:ea typeface="Arial"/>
                          <a:cs typeface="Arial"/>
                        </a:rPr>
                        <a:t>Candidate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Correct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Selected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Wrong selected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TF-IDF + logistic regression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20/27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8/27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Base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Trained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16/27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5</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480 synthetic training states. Same task and run">
            <a:extLst xmlns:a="http://schemas.openxmlformats.org/drawingml/2006/main">
              <a:ext uri="{FF2B5EF4-FFF2-40B4-BE49-F238E27FC236}">
                <a16:creationId xmlns:a16="http://schemas.microsoft.com/office/drawing/2014/main" id="{1A849FC4-114B-46AB-B9F5-2357FE883918}"/>
              </a:ext>
            </a:extLst>
          </p:cNvPr>
          <p:cNvSpPr>
            <a:spLocks xmlns:a="http://schemas.openxmlformats.org/drawingml/2006/main" noGrp="1"/>
          </p:cNvSpPr>
          <p:nvPr/>
        </p:nvSpPr>
        <p:spPr>
          <a:xfrm xmlns:a="http://schemas.openxmlformats.org/drawingml/2006/main">
            <a:off x="609600" y="54483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480 synthetic training states. Same task and runtime option order.</a:t>
            </a:r>
          </a:p>
        </p:txBody>
      </p:sp>
      <p:sp>
        <p:nvSpPr>
          <p:cNvPr id="5" name="Small author-labelled pilot. Confidence needs in">
            <a:extLst xmlns:a="http://schemas.openxmlformats.org/drawingml/2006/main">
              <a:ext uri="{FF2B5EF4-FFF2-40B4-BE49-F238E27FC236}">
                <a16:creationId xmlns:a16="http://schemas.microsoft.com/office/drawing/2014/main" id="{B9591666-81C2-4F72-A177-9C0CBFB5E0DF}"/>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Small author-labelled pilot. Confidence needs independent validation.</a:t>
            </a:r>
          </a:p>
        </p:txBody>
      </p:sp>
      <p:sp>
        <p:nvSpPr>
          <p:cNvPr id="6" name="ISC2 SECURITY CONGRESS 2026 / SC2632">
            <a:extLst xmlns:a="http://schemas.openxmlformats.org/drawingml/2006/main">
              <a:ext uri="{FF2B5EF4-FFF2-40B4-BE49-F238E27FC236}">
                <a16:creationId xmlns:a16="http://schemas.microsoft.com/office/drawing/2014/main" id="{15A43374-E1E5-43AC-A2F4-4DCACFFCB75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3">
            <a:extLst xmlns:a="http://schemas.openxmlformats.org/drawingml/2006/main">
              <a:ext uri="{FF2B5EF4-FFF2-40B4-BE49-F238E27FC236}">
                <a16:creationId xmlns:a16="http://schemas.microsoft.com/office/drawing/2014/main" id="{AAA3C50A-805E-4C7F-8CAD-C60297C80AF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33</a:t>
            </a:r>
          </a:p>
        </p:txBody>
      </p:sp>
    </p:spTree>
    <p:extLst>
      <p:ext uri="{BB962C8B-B14F-4D97-AF65-F5344CB8AC3E}">
        <p14:creationId xmlns:p14="http://schemas.microsoft.com/office/powerpoint/2010/main" val="378919761"/>
      </p:ext>
    </p:extLst>
  </p:cSld>
</p:sld>
</file>

<file path=ppt/slides/slide34.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COST ANALYSIS">
            <a:extLst xmlns:a="http://schemas.openxmlformats.org/drawingml/2006/main">
              <a:ext uri="{FF2B5EF4-FFF2-40B4-BE49-F238E27FC236}">
                <a16:creationId xmlns:a16="http://schemas.microsoft.com/office/drawing/2014/main" id="{CC122C2D-CE9F-4F39-8B1B-63D96D22774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COST ANALYSIS</a:t>
            </a:r>
          </a:p>
        </p:txBody>
      </p:sp>
      <p:sp>
        <p:nvSpPr>
          <p:cNvPr id="2" name="Setup and total operating cost">
            <a:extLst xmlns:a="http://schemas.openxmlformats.org/drawingml/2006/main">
              <a:ext uri="{FF2B5EF4-FFF2-40B4-BE49-F238E27FC236}">
                <a16:creationId xmlns:a16="http://schemas.microsoft.com/office/drawing/2014/main" id="{683329A4-6F91-416D-A4C6-365CB7E9EAE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Setup and total operating cost</a:t>
            </a:r>
          </a:p>
        </p:txBody>
      </p:sp>
      <p:graphicFrame>
        <p:nvGraphicFramePr>
          <p:cNvPr id="3" name="">
            <a:extLst xmlns:a="http://schemas.openxmlformats.org/drawingml/2006/main">
              <a:ext uri="{FF2B5EF4-FFF2-40B4-BE49-F238E27FC236}">
                <a16:creationId xmlns:a16="http://schemas.microsoft.com/office/drawing/2014/main" id="{B9400205-B964-4C1C-AA60-591A1407575F}"/>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24125"/>
                <a:gridCol w="4210050"/>
                <a:gridCol w="4219575"/>
              </a:tblGrid>
              <a:tr h="676275">
                <a:tc>
                  <a:txBody>
                    <a:bodyPr/>
                    <a:lstStyle/>
                    <a:p>
                      <a:r>
                        <a:rPr sz="1725" b="1">
                          <a:solidFill>
                            <a:srgbClr val="F2EFE7"/>
                          </a:solidFill>
                          <a:latin typeface="Arial"/>
                          <a:ea typeface="Arial"/>
                          <a:cs typeface="Arial"/>
                        </a:rPr>
                        <a:t>Cost component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Hosted API</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Local model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725" b="1">
                          <a:solidFill>
                            <a:srgbClr val="087E79"/>
                          </a:solidFill>
                          <a:latin typeface="Arial"/>
                          <a:ea typeface="Arial"/>
                          <a:cs typeface="Arial"/>
                        </a:rPr>
                        <a:t>Setup</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Keys, billing, network, workspace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Runtime, weights, device and memory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Per-run inference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Metered token charges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Owned compute and operations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Shared engineering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Human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extra minute of review can exceed the API co">
            <a:extLst xmlns:a="http://schemas.openxmlformats.org/drawingml/2006/main">
              <a:ext uri="{FF2B5EF4-FFF2-40B4-BE49-F238E27FC236}">
                <a16:creationId xmlns:a16="http://schemas.microsoft.com/office/drawing/2014/main" id="{4936C56B-1EBF-4AEE-89E9-99367C188B06}"/>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One extra minute of review can exceed the API cost savings.</a:t>
            </a:r>
          </a:p>
        </p:txBody>
      </p:sp>
      <p:sp>
        <p:nvSpPr>
          <p:cNvPr id="5" name="ISC2 SECURITY CONGRESS 2026 / SC2632">
            <a:extLst xmlns:a="http://schemas.openxmlformats.org/drawingml/2006/main">
              <a:ext uri="{FF2B5EF4-FFF2-40B4-BE49-F238E27FC236}">
                <a16:creationId xmlns:a16="http://schemas.microsoft.com/office/drawing/2014/main" id="{9A2CA233-7F5A-4CAF-9A33-9D37297BB0A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4">
            <a:extLst xmlns:a="http://schemas.openxmlformats.org/drawingml/2006/main">
              <a:ext uri="{FF2B5EF4-FFF2-40B4-BE49-F238E27FC236}">
                <a16:creationId xmlns:a16="http://schemas.microsoft.com/office/drawing/2014/main" id="{2B520452-5EE6-4F26-81B5-36F43FEABCA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34</a:t>
            </a:r>
          </a:p>
        </p:txBody>
      </p:sp>
    </p:spTree>
    <p:extLst>
      <p:ext uri="{BB962C8B-B14F-4D97-AF65-F5344CB8AC3E}">
        <p14:creationId xmlns:p14="http://schemas.microsoft.com/office/powerpoint/2010/main" val="2115290652"/>
      </p:ext>
    </p:extLst>
  </p:cSld>
</p:sld>
</file>

<file path=ppt/slides/slide35.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EXACT PILOT AND WORKFLOW METRICS">
            <a:extLst xmlns:a="http://schemas.openxmlformats.org/drawingml/2006/main">
              <a:ext uri="{FF2B5EF4-FFF2-40B4-BE49-F238E27FC236}">
                <a16:creationId xmlns:a16="http://schemas.microsoft.com/office/drawing/2014/main" id="{389FDC22-C842-4DED-A1F6-BD860BA5140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EXACT PILOT AND WORKFLOW METRICS</a:t>
            </a:r>
          </a:p>
        </p:txBody>
      </p:sp>
      <p:sp>
        <p:nvSpPr>
          <p:cNvPr id="2" name="Full comparison: quality and confidence">
            <a:extLst xmlns:a="http://schemas.openxmlformats.org/drawingml/2006/main">
              <a:ext uri="{FF2B5EF4-FFF2-40B4-BE49-F238E27FC236}">
                <a16:creationId xmlns:a16="http://schemas.microsoft.com/office/drawing/2014/main" id="{81DD288B-BD7F-45FA-828E-E0285E0EBB17}"/>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Full comparison: quality and confidence</a:t>
            </a:r>
          </a:p>
        </p:txBody>
      </p:sp>
      <p:graphicFrame>
        <p:nvGraphicFramePr>
          <p:cNvPr id="3" name="">
            <a:extLst xmlns:a="http://schemas.openxmlformats.org/drawingml/2006/main">
              <a:ext uri="{FF2B5EF4-FFF2-40B4-BE49-F238E27FC236}">
                <a16:creationId xmlns:a16="http://schemas.microsoft.com/office/drawing/2014/main" id="{0E589211-6B8F-4550-8618-30B8BFE9ABD9}"/>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4238625"/>
                <a:gridCol w="2238375"/>
                <a:gridCol w="2238375"/>
                <a:gridCol w="2238375"/>
              </a:tblGrid>
              <a:tr h="476250">
                <a:tc>
                  <a:txBody>
                    <a:bodyPr/>
                    <a:lstStyle/>
                    <a:p>
                      <a:r>
                        <a:rPr sz="1650" b="1">
                          <a:solidFill>
                            <a:srgbClr val="F2EFE7"/>
                          </a:solidFill>
                          <a:latin typeface="Arial"/>
                          <a:ea typeface="Arial"/>
                          <a:cs typeface="Arial"/>
                        </a:rPr>
                        <a:t>Metric</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Jev 1.13</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Opus 5.5</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Laya</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476250">
                <a:tc>
                  <a:txBody>
                    <a:bodyPr/>
                    <a:lstStyle/>
                    <a:p>
                      <a:r>
                        <a:rPr sz="1650" b="1">
                          <a:solidFill>
                            <a:srgbClr val="087E79"/>
                          </a:solidFill>
                          <a:latin typeface="Arial"/>
                          <a:ea typeface="Arial"/>
                          <a:cs typeface="Arial"/>
                        </a:rPr>
                        <a:t>Correct choices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30/33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32/33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16/33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Decision latency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2.37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0.09 s in-process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Selected at score 0.6</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26/33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33/33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Wrong among selected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0/26</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Scenario A time/run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1.82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24.18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0.41 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API cost/run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$0.00019</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$0.03795</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 API; compute unpriced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33 scored labels. Small pilot; confidence defini">
            <a:extLst xmlns:a="http://schemas.openxmlformats.org/drawingml/2006/main">
              <a:ext uri="{FF2B5EF4-FFF2-40B4-BE49-F238E27FC236}">
                <a16:creationId xmlns:a16="http://schemas.microsoft.com/office/drawing/2014/main" id="{9157AE33-370F-4CA7-98BF-3BC87B78E8B6}"/>
              </a:ext>
            </a:extLst>
          </p:cNvPr>
          <p:cNvSpPr>
            <a:spLocks xmlns:a="http://schemas.openxmlformats.org/drawingml/2006/main" noGrp="1"/>
          </p:cNvSpPr>
          <p:nvPr/>
        </p:nvSpPr>
        <p:spPr>
          <a:xfrm xmlns:a="http://schemas.openxmlformats.org/drawingml/2006/main">
            <a:off x="609600" y="58578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33 scored labels. Small pilot; confidence definitions differ. Laya generated no guardrail.</a:t>
            </a:r>
          </a:p>
        </p:txBody>
      </p:sp>
      <p:sp>
        <p:nvSpPr>
          <p:cNvPr id="5" name="ISC2 SECURITY CONGRESS 2026 / SC2632">
            <a:extLst xmlns:a="http://schemas.openxmlformats.org/drawingml/2006/main">
              <a:ext uri="{FF2B5EF4-FFF2-40B4-BE49-F238E27FC236}">
                <a16:creationId xmlns:a16="http://schemas.microsoft.com/office/drawing/2014/main" id="{E59E3C46-C854-4B25-BBCF-8FDE11E29D6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5">
            <a:extLst xmlns:a="http://schemas.openxmlformats.org/drawingml/2006/main">
              <a:ext uri="{FF2B5EF4-FFF2-40B4-BE49-F238E27FC236}">
                <a16:creationId xmlns:a16="http://schemas.microsoft.com/office/drawing/2014/main" id="{F4AFD3AC-3A24-4B0B-A2FE-25FB671E81D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35</a:t>
            </a:r>
          </a:p>
        </p:txBody>
      </p:sp>
    </p:spTree>
    <p:extLst>
      <p:ext uri="{BB962C8B-B14F-4D97-AF65-F5344CB8AC3E}">
        <p14:creationId xmlns:p14="http://schemas.microsoft.com/office/powerpoint/2010/main" val="2832716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2026-10-15T04:29:40.7850000Z</dcterms:created>
  <dcterms:modified xsi:type="dcterms:W3CDTF">2026-10-15T04:29:40.7850000Z</dcterms:modified>
</coreProperties>
</file>