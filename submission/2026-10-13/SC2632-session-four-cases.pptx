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27f7d8fed8f4111" /><Relationship Type="http://schemas.openxmlformats.org/officeDocument/2006/relationships/extended-properties" Target="/docProps/app.xml" Id="R68b60dac89634106" /><Relationship Type="http://schemas.openxmlformats.org/officeDocument/2006/relationships/officeDocument" Target="/ppt/presentation.xml" Id="R0e80385ab6f14e22" /></Relationships>
</file>

<file path=ppt/presentation.xml><?xml version="1.0" encoding="utf-8"?>
<p:presentation xmlns:p="http://schemas.openxmlformats.org/presentationml/2006/main">
  <p:sldMasterIdLst>
    <p:sldMasterId xmlns:r="http://schemas.openxmlformats.org/officeDocument/2006/relationships" id="2147483648" r:id="Re8f635ccfb3e404d"/>
  </p:sldMasterIdLst>
  <p:notesMasterIdLst>
    <p:notesMasterId xmlns:r="http://schemas.openxmlformats.org/officeDocument/2006/relationships" r:id="R9a3ae604931642bb"/>
  </p:notesMasterIdLst>
  <p:sldIdLst>
    <p:sldId xmlns:r="http://schemas.openxmlformats.org/officeDocument/2006/relationships" id="256" r:id="R65d8818a1f784c16"/>
    <p:sldId xmlns:r="http://schemas.openxmlformats.org/officeDocument/2006/relationships" id="257" r:id="Rb31f6d7fcb554482"/>
    <p:sldId xmlns:r="http://schemas.openxmlformats.org/officeDocument/2006/relationships" id="258" r:id="R07661102455c49e8"/>
    <p:sldId xmlns:r="http://schemas.openxmlformats.org/officeDocument/2006/relationships" id="259" r:id="R716b17ed19224ab9"/>
    <p:sldId xmlns:r="http://schemas.openxmlformats.org/officeDocument/2006/relationships" id="260" r:id="R26d24f7641c84dc3"/>
    <p:sldId xmlns:r="http://schemas.openxmlformats.org/officeDocument/2006/relationships" id="261" r:id="Rf88ecdbb45bd4c7a"/>
    <p:sldId xmlns:r="http://schemas.openxmlformats.org/officeDocument/2006/relationships" id="262" r:id="R94d6e1bc9505420c"/>
    <p:sldId xmlns:r="http://schemas.openxmlformats.org/officeDocument/2006/relationships" id="263" r:id="R030a2f5b4cdf47b1"/>
    <p:sldId xmlns:r="http://schemas.openxmlformats.org/officeDocument/2006/relationships" id="264" r:id="Rcff1fea15f8d4239"/>
    <p:sldId xmlns:r="http://schemas.openxmlformats.org/officeDocument/2006/relationships" id="265" r:id="R7a1d7a7bd0734819"/>
    <p:sldId xmlns:r="http://schemas.openxmlformats.org/officeDocument/2006/relationships" id="266" r:id="Rbee76e15a2eb4782"/>
    <p:sldId xmlns:r="http://schemas.openxmlformats.org/officeDocument/2006/relationships" id="267" r:id="R4cffd5eca0c14b5c"/>
    <p:sldId xmlns:r="http://schemas.openxmlformats.org/officeDocument/2006/relationships" id="268" r:id="R801ce1438be4411c"/>
    <p:sldId xmlns:r="http://schemas.openxmlformats.org/officeDocument/2006/relationships" id="269" r:id="Refc6ce7254544fe2"/>
    <p:sldId xmlns:r="http://schemas.openxmlformats.org/officeDocument/2006/relationships" id="270" r:id="R64371d71ddef46ba"/>
    <p:sldId xmlns:r="http://schemas.openxmlformats.org/officeDocument/2006/relationships" id="271" r:id="Rebf16a9f2aeb4ab3"/>
    <p:sldId xmlns:r="http://schemas.openxmlformats.org/officeDocument/2006/relationships" id="272" r:id="Rd5c175906881407a"/>
    <p:sldId xmlns:r="http://schemas.openxmlformats.org/officeDocument/2006/relationships" id="273" r:id="R9cc8807d754c4830"/>
    <p:sldId xmlns:r="http://schemas.openxmlformats.org/officeDocument/2006/relationships" id="274" r:id="Rf71bf65632bb4a2c"/>
    <p:sldId xmlns:r="http://schemas.openxmlformats.org/officeDocument/2006/relationships" id="275" r:id="R4d1e71675cc34c43"/>
    <p:sldId xmlns:r="http://schemas.openxmlformats.org/officeDocument/2006/relationships" id="276" r:id="Rda7212c274a04441"/>
    <p:sldId xmlns:r="http://schemas.openxmlformats.org/officeDocument/2006/relationships" id="277" r:id="Rfbaba1f374be44d2"/>
    <p:sldId xmlns:r="http://schemas.openxmlformats.org/officeDocument/2006/relationships" id="278" r:id="R1569c2f199c44ceb"/>
    <p:sldId xmlns:r="http://schemas.openxmlformats.org/officeDocument/2006/relationships" id="279" r:id="R7cd373e79b204921"/>
    <p:sldId xmlns:r="http://schemas.openxmlformats.org/officeDocument/2006/relationships" id="280" r:id="R7bd8a811c31b4409"/>
    <p:sldId xmlns:r="http://schemas.openxmlformats.org/officeDocument/2006/relationships" id="281" r:id="R367427a5d3a44437"/>
    <p:sldId xmlns:r="http://schemas.openxmlformats.org/officeDocument/2006/relationships" id="282" r:id="R7a4a6827a54e4930"/>
    <p:sldId xmlns:r="http://schemas.openxmlformats.org/officeDocument/2006/relationships" id="283" r:id="R3e60dd6d42034612"/>
    <p:sldId xmlns:r="http://schemas.openxmlformats.org/officeDocument/2006/relationships" id="284" r:id="R2099c0789c7f4ddf"/>
    <p:sldId xmlns:r="http://schemas.openxmlformats.org/officeDocument/2006/relationships" id="285" r:id="R69448494142b49c4"/>
    <p:sldId xmlns:r="http://schemas.openxmlformats.org/officeDocument/2006/relationships" id="286" r:id="R9a8e3d5277394d6b"/>
    <p:sldId xmlns:r="http://schemas.openxmlformats.org/officeDocument/2006/relationships" id="287" r:id="R2b0c6fe251fa4a27"/>
    <p:sldId xmlns:r="http://schemas.openxmlformats.org/officeDocument/2006/relationships" id="288" r:id="R3021dd83912c47aa"/>
    <p:sldId xmlns:r="http://schemas.openxmlformats.org/officeDocument/2006/relationships" id="289" r:id="Rb5ea2ffb0fbd477d"/>
    <p:sldId xmlns:r="http://schemas.openxmlformats.org/officeDocument/2006/relationships" id="290" r:id="Rcca33744289b40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5e345044a9442c7" /><Relationship Type="http://schemas.openxmlformats.org/officeDocument/2006/relationships/slideMaster" Target="/ppt/slideMasters/slideMaster1.xml" Id="Re8f635ccfb3e404d" /><Relationship Type="http://schemas.openxmlformats.org/officeDocument/2006/relationships/notesMaster" Target="/ppt/notesMasters/notesMaster1.xml" Id="R9a3ae604931642bb" /><Relationship Type="http://schemas.openxmlformats.org/officeDocument/2006/relationships/presProps" Target="/ppt/presProps.xml" Id="R57cf28d88a8642d7" /><Relationship Type="http://schemas.openxmlformats.org/officeDocument/2006/relationships/tableStyles" Target="/ppt/tableStyles.xml" Id="R70a3418cf15347f3" /><Relationship Type="http://schemas.openxmlformats.org/officeDocument/2006/relationships/slide" Target="/ppt/slides/slide1.xml" Id="R65d8818a1f784c16" /><Relationship Type="http://schemas.openxmlformats.org/officeDocument/2006/relationships/slide" Target="/ppt/slides/slide2.xml" Id="Rb31f6d7fcb554482" /><Relationship Type="http://schemas.openxmlformats.org/officeDocument/2006/relationships/slide" Target="/ppt/slides/slide3.xml" Id="R07661102455c49e8" /><Relationship Type="http://schemas.openxmlformats.org/officeDocument/2006/relationships/slide" Target="/ppt/slides/slide4.xml" Id="R716b17ed19224ab9" /><Relationship Type="http://schemas.openxmlformats.org/officeDocument/2006/relationships/slide" Target="/ppt/slides/slide5.xml" Id="R26d24f7641c84dc3" /><Relationship Type="http://schemas.openxmlformats.org/officeDocument/2006/relationships/slide" Target="/ppt/slides/slide6.xml" Id="Rf88ecdbb45bd4c7a" /><Relationship Type="http://schemas.openxmlformats.org/officeDocument/2006/relationships/slide" Target="/ppt/slides/slide7.xml" Id="R94d6e1bc9505420c" /><Relationship Type="http://schemas.openxmlformats.org/officeDocument/2006/relationships/slide" Target="/ppt/slides/slide8.xml" Id="R030a2f5b4cdf47b1" /><Relationship Type="http://schemas.openxmlformats.org/officeDocument/2006/relationships/slide" Target="/ppt/slides/slide9.xml" Id="Rcff1fea15f8d4239" /><Relationship Type="http://schemas.openxmlformats.org/officeDocument/2006/relationships/slide" Target="/ppt/slides/slide10.xml" Id="R7a1d7a7bd0734819" /><Relationship Type="http://schemas.openxmlformats.org/officeDocument/2006/relationships/slide" Target="/ppt/slides/slide11.xml" Id="Rbee76e15a2eb4782" /><Relationship Type="http://schemas.openxmlformats.org/officeDocument/2006/relationships/slide" Target="/ppt/slides/slide12.xml" Id="R4cffd5eca0c14b5c" /><Relationship Type="http://schemas.openxmlformats.org/officeDocument/2006/relationships/slide" Target="/ppt/slides/slide13.xml" Id="R801ce1438be4411c" /><Relationship Type="http://schemas.openxmlformats.org/officeDocument/2006/relationships/slide" Target="/ppt/slides/slide14.xml" Id="Refc6ce7254544fe2" /><Relationship Type="http://schemas.openxmlformats.org/officeDocument/2006/relationships/slide" Target="/ppt/slides/slide15.xml" Id="R64371d71ddef46ba" /><Relationship Type="http://schemas.openxmlformats.org/officeDocument/2006/relationships/slide" Target="/ppt/slides/slide16.xml" Id="Rebf16a9f2aeb4ab3" /><Relationship Type="http://schemas.openxmlformats.org/officeDocument/2006/relationships/slide" Target="/ppt/slides/slide17.xml" Id="Rd5c175906881407a" /><Relationship Type="http://schemas.openxmlformats.org/officeDocument/2006/relationships/slide" Target="/ppt/slides/slide18.xml" Id="R9cc8807d754c4830" /><Relationship Type="http://schemas.openxmlformats.org/officeDocument/2006/relationships/slide" Target="/ppt/slides/slide19.xml" Id="Rf71bf65632bb4a2c" /><Relationship Type="http://schemas.openxmlformats.org/officeDocument/2006/relationships/slide" Target="/ppt/slides/slide20.xml" Id="R4d1e71675cc34c43" /><Relationship Type="http://schemas.openxmlformats.org/officeDocument/2006/relationships/slide" Target="/ppt/slides/slide21.xml" Id="Rda7212c274a04441" /><Relationship Type="http://schemas.openxmlformats.org/officeDocument/2006/relationships/slide" Target="/ppt/slides/slide22.xml" Id="Rfbaba1f374be44d2" /><Relationship Type="http://schemas.openxmlformats.org/officeDocument/2006/relationships/slide" Target="/ppt/slides/slide23.xml" Id="R1569c2f199c44ceb" /><Relationship Type="http://schemas.openxmlformats.org/officeDocument/2006/relationships/slide" Target="/ppt/slides/slide24.xml" Id="R7cd373e79b204921" /><Relationship Type="http://schemas.openxmlformats.org/officeDocument/2006/relationships/slide" Target="/ppt/slides/slide25.xml" Id="R7bd8a811c31b4409" /><Relationship Type="http://schemas.openxmlformats.org/officeDocument/2006/relationships/slide" Target="/ppt/slides/slide26.xml" Id="R367427a5d3a44437" /><Relationship Type="http://schemas.openxmlformats.org/officeDocument/2006/relationships/slide" Target="/ppt/slides/slide27.xml" Id="R7a4a6827a54e4930" /><Relationship Type="http://schemas.openxmlformats.org/officeDocument/2006/relationships/slide" Target="/ppt/slides/slide28.xml" Id="R3e60dd6d42034612" /><Relationship Type="http://schemas.openxmlformats.org/officeDocument/2006/relationships/slide" Target="/ppt/slides/slide29.xml" Id="R2099c0789c7f4ddf" /><Relationship Type="http://schemas.openxmlformats.org/officeDocument/2006/relationships/slide" Target="/ppt/slides/slide30.xml" Id="R69448494142b49c4" /><Relationship Type="http://schemas.openxmlformats.org/officeDocument/2006/relationships/slide" Target="/ppt/slides/slide31.xml" Id="R9a8e3d5277394d6b" /><Relationship Type="http://schemas.openxmlformats.org/officeDocument/2006/relationships/slide" Target="/ppt/slides/slide32.xml" Id="R2b0c6fe251fa4a27" /><Relationship Type="http://schemas.openxmlformats.org/officeDocument/2006/relationships/slide" Target="/ppt/slides/slide33.xml" Id="R3021dd83912c47aa" /><Relationship Type="http://schemas.openxmlformats.org/officeDocument/2006/relationships/slide" Target="/ppt/slides/slide34.xml" Id="Rb5ea2ffb0fbd477d" /><Relationship Type="http://schemas.openxmlformats.org/officeDocument/2006/relationships/slide" Target="/ppt/slides/slide35.xml" Id="Rcca33744289b40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819933195243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7c5d8be5d74b97" /><Relationship Type="http://schemas.openxmlformats.org/officeDocument/2006/relationships/notesMaster" Target="/ppt/notesMasters/notesMaster1.xml" Id="R2ee0eae4d9594c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620de0631c47e8" /><Relationship Type="http://schemas.openxmlformats.org/officeDocument/2006/relationships/notesMaster" Target="/ppt/notesMasters/notesMaster1.xml" Id="R327cd114efe647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e160a0fe3346db" /><Relationship Type="http://schemas.openxmlformats.org/officeDocument/2006/relationships/notesMaster" Target="/ppt/notesMasters/notesMaster1.xml" Id="R524d8f009a664b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405c1a8d044abd" /><Relationship Type="http://schemas.openxmlformats.org/officeDocument/2006/relationships/notesMaster" Target="/ppt/notesMasters/notesMaster1.xml" Id="Rf0938537f4f34e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2e6f41890c334a84" /><Relationship Type="http://schemas.openxmlformats.org/officeDocument/2006/relationships/notesMaster" Target="/ppt/notesMasters/notesMaster1.xml" Id="Rdbe9d3f2eb41479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c834838c004c6b" /><Relationship Type="http://schemas.openxmlformats.org/officeDocument/2006/relationships/notesMaster" Target="/ppt/notesMasters/notesMaster1.xml" Id="Rc110fe10866a4dd9"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3150e3152543cb" /><Relationship Type="http://schemas.openxmlformats.org/officeDocument/2006/relationships/notesMaster" Target="/ppt/notesMasters/notesMaster1.xml" Id="R2727f9f89d9b440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763a70d84784d98" /><Relationship Type="http://schemas.openxmlformats.org/officeDocument/2006/relationships/notesMaster" Target="/ppt/notesMasters/notesMaster1.xml" Id="R985f641a0e0140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40ef852b39c34436" /><Relationship Type="http://schemas.openxmlformats.org/officeDocument/2006/relationships/notesMaster" Target="/ppt/notesMasters/notesMaster1.xml" Id="R311c08863fe544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008d8cabf24e93" /><Relationship Type="http://schemas.openxmlformats.org/officeDocument/2006/relationships/notesMaster" Target="/ppt/notesMasters/notesMaster1.xml" Id="R441e8de46ac143b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6f32800321e4de6" /><Relationship Type="http://schemas.openxmlformats.org/officeDocument/2006/relationships/notesMaster" Target="/ppt/notesMasters/notesMaster1.xml" Id="R147e28471cbd43c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5fa775c44154963" /><Relationship Type="http://schemas.openxmlformats.org/officeDocument/2006/relationships/notesMaster" Target="/ppt/notesMasters/notesMaster1.xml" Id="R6b01fb654a7848b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fe5f78b2f1648a3" /><Relationship Type="http://schemas.openxmlformats.org/officeDocument/2006/relationships/notesMaster" Target="/ppt/notesMasters/notesMaster1.xml" Id="R03eeb1b446b1455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34995e02a804a02" /><Relationship Type="http://schemas.openxmlformats.org/officeDocument/2006/relationships/notesMaster" Target="/ppt/notesMasters/notesMaster1.xml" Id="Ra34e6867ed69459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d64d8a3115d478c" /><Relationship Type="http://schemas.openxmlformats.org/officeDocument/2006/relationships/notesMaster" Target="/ppt/notesMasters/notesMaster1.xml" Id="R72573f0efd8f441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ad265b7803a4ce6" /><Relationship Type="http://schemas.openxmlformats.org/officeDocument/2006/relationships/notesMaster" Target="/ppt/notesMasters/notesMaster1.xml" Id="R774a1ece88b0496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0b2881ba1ef4170" /><Relationship Type="http://schemas.openxmlformats.org/officeDocument/2006/relationships/notesMaster" Target="/ppt/notesMasters/notesMaster1.xml" Id="Rea32aa107b47438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f66fa47e556409e" /><Relationship Type="http://schemas.openxmlformats.org/officeDocument/2006/relationships/notesMaster" Target="/ppt/notesMasters/notesMaster1.xml" Id="Rc00e9d0bc275438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08367c0d89442a2" /><Relationship Type="http://schemas.openxmlformats.org/officeDocument/2006/relationships/notesMaster" Target="/ppt/notesMasters/notesMaster1.xml" Id="R9e71af36827643a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e65de7185054eca" /><Relationship Type="http://schemas.openxmlformats.org/officeDocument/2006/relationships/notesMaster" Target="/ppt/notesMasters/notesMaster1.xml" Id="R8d24ff97020d448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38edfe579584110" /><Relationship Type="http://schemas.openxmlformats.org/officeDocument/2006/relationships/notesMaster" Target="/ppt/notesMasters/notesMaster1.xml" Id="R9e94005aa40341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942d41b09a445ec" /><Relationship Type="http://schemas.openxmlformats.org/officeDocument/2006/relationships/notesMaster" Target="/ppt/notesMasters/notesMaster1.xml" Id="R04ec22cad4f9487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287c664e5514fe6" /><Relationship Type="http://schemas.openxmlformats.org/officeDocument/2006/relationships/notesMaster" Target="/ppt/notesMasters/notesMaster1.xml" Id="Rd6c01ca070444d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6cbff2a893f4a26" /><Relationship Type="http://schemas.openxmlformats.org/officeDocument/2006/relationships/notesMaster" Target="/ppt/notesMasters/notesMaster1.xml" Id="R4504adb65ca246a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5111ef64a764ab5" /><Relationship Type="http://schemas.openxmlformats.org/officeDocument/2006/relationships/notesMaster" Target="/ppt/notesMasters/notesMaster1.xml" Id="Re29741ebae33443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d64b084d7da4946" /><Relationship Type="http://schemas.openxmlformats.org/officeDocument/2006/relationships/notesMaster" Target="/ppt/notesMasters/notesMaster1.xml" Id="R90722c6cbe14477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e24388c09f54c3b" /><Relationship Type="http://schemas.openxmlformats.org/officeDocument/2006/relationships/notesMaster" Target="/ppt/notesMasters/notesMaster1.xml" Id="Rf090dec5deac4f5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6b101a99bf46d3" /><Relationship Type="http://schemas.openxmlformats.org/officeDocument/2006/relationships/notesMaster" Target="/ppt/notesMasters/notesMaster1.xml" Id="Rd677e86208c0403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8d8b59a05a64211" /><Relationship Type="http://schemas.openxmlformats.org/officeDocument/2006/relationships/notesMaster" Target="/ppt/notesMasters/notesMaster1.xml" Id="R9a28a9ac89184c4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bca88098c74456a" /><Relationship Type="http://schemas.openxmlformats.org/officeDocument/2006/relationships/notesMaster" Target="/ppt/notesMasters/notesMaster1.xml" Id="R6708d78d49f5409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816486aef854706" /><Relationship Type="http://schemas.openxmlformats.org/officeDocument/2006/relationships/notesMaster" Target="/ppt/notesMasters/notesMaster1.xml" Id="Rc1a59da939ca46e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e9c05ff3d3a4754" /><Relationship Type="http://schemas.openxmlformats.org/officeDocument/2006/relationships/notesMaster" Target="/ppt/notesMasters/notesMaster1.xml" Id="R734dedd374484fe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b9fb3c5dd6d4437" /><Relationship Type="http://schemas.openxmlformats.org/officeDocument/2006/relationships/notesMaster" Target="/ppt/notesMasters/notesMaster1.xml" Id="Re1ca97abfcd3453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10b00eb855f4458" /><Relationship Type="http://schemas.openxmlformats.org/officeDocument/2006/relationships/notesMaster" Target="/ppt/notesMasters/notesMaster1.xml" Id="R65786bb0f2e9406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a3687e1323f4e04" /><Relationship Type="http://schemas.openxmlformats.org/officeDocument/2006/relationships/notesMaster" Target="/ppt/notesMasters/notesMaster1.xml" Id="R6a4969e0d82c4f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00:20–01:10. Milind states the purpose before any product vocabulary. What: we turn a written security requirement into a change set for human review, containing policies, behavior tests, expiring exceptions and phased rollout. Why: a compromised workload or overprivileged agent can act beyond its intended boundary on shared infrastructure. The response must restrict harmful access while preserving essential services. A proposed policy or narrow passing test does not establish full containment; evidence must cover the actual control boundary and legitimate dependencies. Quarantine Mode is the prebuilt incident posture whose level, scope, exceptions and recovery criteria the table must justify. The policy agent proposes bounded choices; reviewers retain approval authority. Participants write their decision record, review prepared case proposals and define their playbook. The common compiler demo uses a supplied reference spec and does not automatically deploy audience prose. Case D uses human RBAC review, not generator scenario d. This purpose follows the submitted abstract and its three learning objectives. Repository source: https://github.com/mgunjan/agentic-k8s-guardrails/blob/main/generator/policy_agent.py Repository source: https://github.com/mgunjan/agentic-k8s-guardrails/blob/main/quarantine/quarantine-mode.md Repository source: https://github.com/mgunjan/agentic-k8s-guardrails/blob/main/tabletop/congress-2026/INCIDENT-BRIEF.md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01:10–01:50. Milind starts without assuming Kubernetes knowledge: Kubernetes manages application packages, called containers, across a pool of machines. Applications and automated agents share that platform. Explain familiar functions before naming their Kubernetes equivalents: application copies, resource groups and workload identities. A cluster is the shared platform running services and agents; a namespace is a named resource group, not automatic isolation; a Pod is a running unit containing one or more containers; a ServiceAccount is the identity a workload uses to call the Kubernetes API. Replicas are copies of a workload. Point to payments and agents as example groups, with payments-api, support-agent, ops-agent and monitoring-agent appearing only when their case is selected. Services are still operating, unexpected activity has crossed an expected boundary and the extent of exposure is uncertain. Broad isolation may disrupt dependencies; delay may expose other workloads. These are four alternative fictional alerts, not simultaneous confirmed incidents. The recorded enforcement environment is a separate disposable local k3s/Kyverno lab, with synthetic stand-in applications. Definitions: https://kubernetes.io/docs/concepts/overview/ ; https://kubernetes.io/docs/concepts/containers/ ; https://kubernetes.io/docs/concepts/workloads/pods/ ; https://kubernetes.io/docs/concepts/overview/working-with-objects/namespaces/ ; https://kubernetes.io/docs/concepts/security/service-accounts/ . Repository source: https://github.com/mgunjan/agentic-k8s-guardrails/blob/main/tabletop/congress-2026/INCIDENT-BRIEF.md Repository source: https://github.com/mgunjan/agentic-k8s-guardrails/blob/main/lab/README.md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01:50–02:30. Vivek defines the management API as the interface for reading or changing platform resources, then explains Kyverno as the policy checker for proposed Kubernetes resource changes. Admission is the checkpoint before a covered request takes effect. Walk through one example: a request creates a Pod with privilege escalation enabled; the reviewed rule requires it disabled; in Deny mode the covered request is refused. Audit records a violation and Warn warns while admitting; the rollout round revisits those choices. Installing this admission rule does not terminate an existing Pod or revoke a copied credential. NetworkPolicy plus its enforcing network implementation handles covered traffic; RBAC handles Kubernetes API permissions; application controls govern tools and untrusted inputs. Kyverno can do more than validate, but this is the validation role demonstrated here. The model proposes a typed choice and code renders a rule; human review authorizes enforcement. Ask the room: does rejecting a new Pod stop an already running Pod? Answer no, and identify the separate containment action without revealing later case facts. Say that the lab uses isolated local k3s and Kyverno, and the compiler demo uses fixture simulation. Sources: https://kyverno.io/docs/policy-types/validating-policy/ ; https://kubernetes.io/docs/reference/access-authn-authz/admission-controllers/ ; https://kubernetes.io/docs/reference/access-authn-authz/rbac/ ; https://kubernetes.io/docs/concepts/services-networking/network-policies/ . Repository source: https://github.com/mgunjan/agentic-k8s-guardrails/blob/main/lab/README.md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02:30–03:15. Vivek assigns the incident review role, explains the four table roles and holds up the actual pack and worksheet. The lead states the decision, recorder writes page 6, analyst checks evidence and independent reviewer raises a concern before the decision. Roles are recorded during the final setup minute. Say: Your table decides what may proceed, what it holds and what evidence must come before enforcement. Record intent, proposal disposition, exception/rollout conditions, ordered containment and recovery on page 6. Work in plain language, without laptops or YAML. Pages 2–5 are the four case cards, page 6 is the shared record, and pages 7/8 stay sealed until their rounds. Keep the CONTROL-REVIEW findings sealed too. State the sequence: discuss, write before the reveal, hear the evidence, and revise beside the first answer. At most two twenty-second table reports. Milind demonstrates the compiler and policy consequences; Vivek leads proposal reviews and evidence reveals; both share round discussions and debrief. Audience prose does not automatically run through a model or deploy. The common demo uses a supplied reference spec. Use the clock to protect writing time. Repository source: https://github.com/mgunjan/agentic-k8s-guardrails/blob/main/tabletop/congress-2026/CO-PRESENTER-CARDS.md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03:15–04:30. Give tables 75 seconds to choose and read the initial alert on pages 2–5.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Explain that Secrets are platform records that can contain credentials; listing them is an observed action, not proof that an application key was used. Translate replicas as application copies and namespaces as resource groups. Teams identify the owner and acceptance evidence for API reads before the recorded lab reveal. If teams cluster on one case, invite volunteers to try another, without removing choice. Repository source: https://github.com/mgunjan/agentic-k8s-guardrails/blob/main/scenarios/05-secret-enumeration.md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04:30–06:00. Explain the constraints for thirty seconds, then give one minute for setup. Tables record case, roles, constraint and a measurable minimum service on page 6. With fewer than four participants, combine roles. Both co-presenters check readiness at different tables. Six seats and twelve tables maximum. Explain scoring in one sentence and leave details on the scorecard.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06:00–10:00. Give four minutes of quiet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10:00–11:00. Explain the common typed interface: Jev and local specialists use /v1/systemone, while Claude and OpenAI adapters return the same bounded answer through structured outputs. It does not author free-form YAML. decider_agent maps clauses; policy_agent adds dependency and blocked-workload decisions, with up to three revision rounds. Confidence below 0.6 routes the item to a human. That threshold is an operating choice, not proof of 60% accuracy. The agent can omit required controls or propose insufficient coverage. Human review remains necessary. Repository source: https://github.com/mgunjan/agentic-k8s-guardrails/blob/main/generator/policy_agent.py Repository source: https://github.com/mgunjan/agentic-k8s-guardrails/blob/main/generator/decider_agent.py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11:00–12:30. Demonstrate reference compilation in a terminal using the commands in SESSION-RUNBOOK.md. Show the provenance model: none (spec supplied), the generated policy and the admission report. If a venue cluster has been rehearsed, a human applies the reviewed privilege policy and uses server dry-run to show rejection and a positive control. Otherwise show the existing recorded lab or the fallback slides. The hardened launcher uses generator/demo_gate.py to bind passing evaluation evidence to current code, prepared inputs, host, threshold, recording and model identity. The frozen Strands result still fails; hardening has not improved its model score. Use tabletop/congress-2026/demo.py for the bounded reference or authentic replay path. Pre-open the resulting local PR.md, readiness.json and tests/result.txt; ask participants to predict readiness before revealing the RBAC handover. The whole-proposal deadline is 15 seconds by default, and no cluster or GitHub PR is changed.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12:30–13:30. Read the missing clause first.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13:30–18:00.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18:00–22:00. Read the case-specific request from the pack. The quote on this slide is a fictional prompt, not verified approval.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https://github.com/mgunjan/agentic-k8s-guardrails/blob/main/generator/generate.py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26:00–27:30. Read the levels once. Describe freeze as pausing covered changes, constrain as narrowing access while preserving clean capacity, and isolate as removing remaining suspect network allowances. Participants may use those plain-language descriptions; knowing Kubernetes object syntax is unnecessary. Q1 freezes the identities covered by the native policy; it does not automatically cover a sidecar using a different Pod identity. Q2 leaves DNS in this lab, and leaves kubectl exec/port-forward controlled by RBAC. Q3 requires the isolated label so the Q2 DNS allow does not remain. Identity revocation and tool/input suspension are runbook actions that need separate execution; do not imply the network manifests do them automatically. Repository source: https://github.com/mgunjan/agentic-k8s-guardrails/blob/main/quarantine/quarantine-mode.md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Define eviction as a voluntary request to remove a running copy, replacement as starting a new copy, and the PodDisruptionBudget as the rule limiting voluntary removal to preserve availability. Q3 refuses a replacement. After one eviction, minAvailable=2 blocks the next. The first eviction also destroys uncaptured evidence. Preserving suspects in place and checking clean capacity are part of the plan.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then show the historical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54:00–57:00. Tally points, recognize one defended tradeoff and compare the review scores and discuss differences in reasoning.  Each participant records an action they own. Ask two volunteers to read theirs. 57:00–60:00: questions and closing. The accepted objectives have observable outputs: R1 intent/map, R2 justified exceptions/modes, R3 containment/recovery playbook. Thank the co-presenter and participants.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https://github.com/mgunjan/agentic-k8s-guardrails/blob/main/README.md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647dcd37774ca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ac1f8f9fd2041a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028867193f34df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ccbd57f06a409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2e8b0014d0a425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924102bb1f3485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7B548B-8BC4-425D-9697-B7873D4035C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3A19DBA-BD04-4676-B544-A74C9FB392D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4B71CA0-9FAF-4EF2-8F13-8CBA91E1A2E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4A2A46-549D-433E-8FC3-F0BBFA0462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022AD12-90B6-490B-88F7-E78F4C29E3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1FA87FC-5981-40A4-8414-C1B957B083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4EC8C8-FD23-44F2-B8DE-040F016D4DA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CB055A-C4B1-4D6C-B333-4BD8C25E4DC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3F7578-AB9A-4D49-95A6-7EA650449A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CA74CB-E465-45B2-92C8-C4C59B12E41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45868b1bbc5413f" /><Relationship Type="http://schemas.openxmlformats.org/officeDocument/2006/relationships/slideLayout" Target="/ppt/slideLayouts/slideLayout1.xml" Id="R088c75eb1b664cdb" /><Relationship Type="http://schemas.openxmlformats.org/officeDocument/2006/relationships/slideLayout" Target="/ppt/slideLayouts/slideLayout2.xml" Id="R79c73b5cd4a649f1" /><Relationship Type="http://schemas.openxmlformats.org/officeDocument/2006/relationships/slideLayout" Target="/ppt/slideLayouts/slideLayout3.xml" Id="Rb9d009b506c740a4" /><Relationship Type="http://schemas.openxmlformats.org/officeDocument/2006/relationships/slideLayout" Target="/ppt/slideLayouts/slideLayout4.xml" Id="Rdbf8fa95441a44e6" /><Relationship Type="http://schemas.openxmlformats.org/officeDocument/2006/relationships/slideLayout" Target="/ppt/slideLayouts/slideLayout5.xml" Id="R3b6488a7d63d4615" /><Relationship Type="http://schemas.openxmlformats.org/officeDocument/2006/relationships/slideLayout" Target="/ppt/slideLayouts/slideLayout6.xml" Id="R8d3ad8c9590c46a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8c75eb1b664cdb"/>
    <p:sldLayoutId xmlns:r="http://schemas.openxmlformats.org/officeDocument/2006/relationships" id="2147483650" r:id="R79c73b5cd4a649f1"/>
    <p:sldLayoutId xmlns:r="http://schemas.openxmlformats.org/officeDocument/2006/relationships" id="2147483651" r:id="Rb9d009b506c740a4"/>
    <p:sldLayoutId xmlns:r="http://schemas.openxmlformats.org/officeDocument/2006/relationships" id="2147483652" r:id="Rdbf8fa95441a44e6"/>
    <p:sldLayoutId xmlns:r="http://schemas.openxmlformats.org/officeDocument/2006/relationships" id="2147483653" r:id="R3b6488a7d63d4615"/>
    <p:sldLayoutId xmlns:r="http://schemas.openxmlformats.org/officeDocument/2006/relationships" id="2147483654" r:id="R8d3ad8c9590c46a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ac5f63c1d8b4a47" /><Relationship Type="http://schemas.openxmlformats.org/officeDocument/2006/relationships/image" Target="/ppt/media/image.png" Id="R5eb0e0cfce204efe" /><Relationship Type="http://schemas.openxmlformats.org/officeDocument/2006/relationships/notesSlide" Target="/ppt/notesSlides/notesSlide1.xml" Id="R6bc6bee5b4d141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d141d08ba2e4019" /><Relationship Type="http://schemas.openxmlformats.org/officeDocument/2006/relationships/notesSlide" Target="/ppt/notesSlides/notesSlide2.xml" Id="R57a62ede22b142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ad1348cf99b41a2" /><Relationship Type="http://schemas.openxmlformats.org/officeDocument/2006/relationships/notesSlide" Target="/ppt/notesSlides/notesSlide3.xml" Id="Rdeea77089e8247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b0dc6d7ce854551" /><Relationship Type="http://schemas.openxmlformats.org/officeDocument/2006/relationships/notesSlide" Target="/ppt/notesSlides/notesSlide4.xml" Id="R45b45c262fc44a2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9c7119e8d0f44ae" /><Relationship Type="http://schemas.openxmlformats.org/officeDocument/2006/relationships/notesSlide" Target="/ppt/notesSlides/notesSlide5.xml" Id="Rb8c5c8a5aa6c41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9dbec1d71d84523" /><Relationship Type="http://schemas.openxmlformats.org/officeDocument/2006/relationships/notesSlide" Target="/ppt/notesSlides/notesSlide6.xml" Id="Rcba9a8fc788a4da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a23912b1bc14a6f" /><Relationship Type="http://schemas.openxmlformats.org/officeDocument/2006/relationships/notesSlide" Target="/ppt/notesSlides/notesSlide7.xml" Id="Rf70b8a2b66364e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a705772954042a9" /><Relationship Type="http://schemas.openxmlformats.org/officeDocument/2006/relationships/image" Target="/ppt/media/image2.png" Id="Rc6fb83495e8e4123" /><Relationship Type="http://schemas.openxmlformats.org/officeDocument/2006/relationships/notesSlide" Target="/ppt/notesSlides/notesSlide8.xml" Id="Rb498d29b16c84e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f133cc0b0e14add" /><Relationship Type="http://schemas.openxmlformats.org/officeDocument/2006/relationships/notesSlide" Target="/ppt/notesSlides/notesSlide9.xml" Id="R6dd59b06943f47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3f42e758bff4b4b" /><Relationship Type="http://schemas.openxmlformats.org/officeDocument/2006/relationships/notesSlide" Target="/ppt/notesSlides/notesSlide10.xml" Id="R4ed3cb977834446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e8581fd13014bef" /><Relationship Type="http://schemas.openxmlformats.org/officeDocument/2006/relationships/notesSlide" Target="/ppt/notesSlides/notesSlide11.xml" Id="Rb1e8d43bcd3f44b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579f3994769411f" /><Relationship Type="http://schemas.openxmlformats.org/officeDocument/2006/relationships/notesSlide" Target="/ppt/notesSlides/notesSlide12.xml" Id="R3e5efce0dbfc402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e862726e7e343e1" /><Relationship Type="http://schemas.openxmlformats.org/officeDocument/2006/relationships/notesSlide" Target="/ppt/notesSlides/notesSlide13.xml" Id="R1af040fb9c48485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eeb43bd371046fd" /><Relationship Type="http://schemas.openxmlformats.org/officeDocument/2006/relationships/notesSlide" Target="/ppt/notesSlides/notesSlide14.xml" Id="R05db22941e884fc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7eac5412b2b4100" /><Relationship Type="http://schemas.openxmlformats.org/officeDocument/2006/relationships/notesSlide" Target="/ppt/notesSlides/notesSlide15.xml" Id="R0bda761816ca44b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4907a78f3f14731" /><Relationship Type="http://schemas.openxmlformats.org/officeDocument/2006/relationships/image" Target="/ppt/media/image3.png" Id="R23c2eb7158d7493c" /><Relationship Type="http://schemas.openxmlformats.org/officeDocument/2006/relationships/notesSlide" Target="/ppt/notesSlides/notesSlide16.xml" Id="R2b83618c7288476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9568e0825204b7c" /><Relationship Type="http://schemas.openxmlformats.org/officeDocument/2006/relationships/notesSlide" Target="/ppt/notesSlides/notesSlide17.xml" Id="Rc52be8e02994472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7d7127948a84bf1" /><Relationship Type="http://schemas.openxmlformats.org/officeDocument/2006/relationships/notesSlide" Target="/ppt/notesSlides/notesSlide18.xml" Id="Rf1a0bf18347b4ba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fbf978edac64a57" /><Relationship Type="http://schemas.openxmlformats.org/officeDocument/2006/relationships/image" Target="/ppt/media/image4.png" Id="Re0de9b6203154a3d" /><Relationship Type="http://schemas.openxmlformats.org/officeDocument/2006/relationships/notesSlide" Target="/ppt/notesSlides/notesSlide19.xml" Id="Rdac1a402b64f46f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dcbecbff88241a5" /><Relationship Type="http://schemas.openxmlformats.org/officeDocument/2006/relationships/image" Target="/ppt/media/image5.png" Id="R68c500dd67fd4dbc" /><Relationship Type="http://schemas.openxmlformats.org/officeDocument/2006/relationships/notesSlide" Target="/ppt/notesSlides/notesSlide20.xml" Id="R3c1abacc2dfb459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df2ee4d87744732" /><Relationship Type="http://schemas.openxmlformats.org/officeDocument/2006/relationships/image" Target="/ppt/media/image6.png" Id="R19decb3aab724774" /><Relationship Type="http://schemas.openxmlformats.org/officeDocument/2006/relationships/notesSlide" Target="/ppt/notesSlides/notesSlide21.xml" Id="Rb67cc485ce7242f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3b3e88e6e794b8d" /><Relationship Type="http://schemas.openxmlformats.org/officeDocument/2006/relationships/image" Target="/ppt/media/image7.png" Id="Ra2dd6444300a4f9e" /><Relationship Type="http://schemas.openxmlformats.org/officeDocument/2006/relationships/notesSlide" Target="/ppt/notesSlides/notesSlide22.xml" Id="R788151b969ad43a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d927a98bb754da8" /><Relationship Type="http://schemas.openxmlformats.org/officeDocument/2006/relationships/notesSlide" Target="/ppt/notesSlides/notesSlide23.xml" Id="Rc05db643ec1546e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4c0c7e56b774749" /><Relationship Type="http://schemas.openxmlformats.org/officeDocument/2006/relationships/notesSlide" Target="/ppt/notesSlides/notesSlide24.xml" Id="R6b3c9a7713b34d7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298b44c0e9447df" /><Relationship Type="http://schemas.openxmlformats.org/officeDocument/2006/relationships/notesSlide" Target="/ppt/notesSlides/notesSlide25.xml" Id="Red303462f8f9473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206955c4ab847d3" /><Relationship Type="http://schemas.openxmlformats.org/officeDocument/2006/relationships/notesSlide" Target="/ppt/notesSlides/notesSlide26.xml" Id="R3a06350d0de0479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58df8e606244255" /><Relationship Type="http://schemas.openxmlformats.org/officeDocument/2006/relationships/image" Target="/ppt/media/image8.png" Id="Rcf2ea586f4314f77" /><Relationship Type="http://schemas.openxmlformats.org/officeDocument/2006/relationships/notesSlide" Target="/ppt/notesSlides/notesSlide27.xml" Id="Ra8221bda97e246c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6946f0d3ab044d0" /><Relationship Type="http://schemas.openxmlformats.org/officeDocument/2006/relationships/notesSlide" Target="/ppt/notesSlides/notesSlide28.xml" Id="R47d2f4a211384d0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7616e7dec2744d2" /><Relationship Type="http://schemas.openxmlformats.org/officeDocument/2006/relationships/notesSlide" Target="/ppt/notesSlides/notesSlide29.xml" Id="R2827cb19b76643a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87c4495b2cc41d4" /><Relationship Type="http://schemas.openxmlformats.org/officeDocument/2006/relationships/notesSlide" Target="/ppt/notesSlides/notesSlide30.xml" Id="R59cffebd71be489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7b9624d63134ed2" /><Relationship Type="http://schemas.openxmlformats.org/officeDocument/2006/relationships/notesSlide" Target="/ppt/notesSlides/notesSlide31.xml" Id="R839226472f1a455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c6ab91c72c24ebd" /><Relationship Type="http://schemas.openxmlformats.org/officeDocument/2006/relationships/notesSlide" Target="/ppt/notesSlides/notesSlide32.xml" Id="Rdcae77884cf741b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e2a04d513c04545" /><Relationship Type="http://schemas.openxmlformats.org/officeDocument/2006/relationships/notesSlide" Target="/ppt/notesSlides/notesSlide33.xml" Id="Rbf9c5cf9a59b4e9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1a7f19a38a4460a" /><Relationship Type="http://schemas.openxmlformats.org/officeDocument/2006/relationships/notesSlide" Target="/ppt/notesSlides/notesSlide34.xml" Id="R285459746f8d45d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cb684043d7c24938" /><Relationship Type="http://schemas.openxmlformats.org/officeDocument/2006/relationships/notesSlide" Target="/ppt/notesSlides/notesSlide35.xml" Id="R9ed5baff4f364851"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B3573C45-ACE1-442B-A837-B57998313971}"/>
              </a:ext>
            </a:extLst>
          </p:cNvPr>
          <p:cNvPicPr>
            <a:picLocks xmlns:a="http://schemas.openxmlformats.org/drawingml/2006/main" noChangeAspect="1"/>
          </p:cNvPicPr>
          <p:nvPr/>
        </p:nvPicPr>
        <p:blipFill>
          <a:blip xmlns:r="http://schemas.openxmlformats.org/officeDocument/2006/relationships" xmlns:a="http://schemas.openxmlformats.org/drawingml/2006/main" r:embed="R5eb0e0cfce204ef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648D45F5-B35B-4590-8A7C-66B4F416A3DA}"/>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FDDBE0D9-E4E4-431D-A918-BB73A5DF6919}"/>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2135B9E9-C0E6-415D-B532-7A69DFC0A9D2}"/>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17F2EFF0-A136-4322-BF9F-942248C5ACDE}"/>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43368434-2B2C-41A7-B71F-A5548CE35C95}"/>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2EF72A36-F880-45CA-BEAA-6FA90BC5229E}"/>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FA6A920A-062B-4725-9066-AB875CADA2D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4BCDF05A-D289-476A-B9F7-C984CDB0957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498327745"/>
      </p:ext>
    </p:extLst>
  </p:cSld>
</p:sld>
</file>

<file path=ppt/slides/slide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0" name="PURPOSE / INCIDENT CONTAINMENT ON SHARED INFRAST">
            <a:extLst xmlns:a="http://schemas.openxmlformats.org/drawingml/2006/main">
              <a:ext uri="{FF2B5EF4-FFF2-40B4-BE49-F238E27FC236}">
                <a16:creationId xmlns:a16="http://schemas.microsoft.com/office/drawing/2014/main" id="{E2C5D6BD-6C95-4DEA-838D-C2C199841A93}"/>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PURPOSE / INCIDENT CONTAINMENT ON SHARED INFRASTRUCTURE</a:t>
            </a:r>
          </a:p>
        </p:txBody>
      </p:sp>
      <p:sp>
        <p:nvSpPr>
          <p:cNvPr id="2" name="What this workshop builds">
            <a:extLst xmlns:a="http://schemas.openxmlformats.org/drawingml/2006/main">
              <a:ext uri="{FF2B5EF4-FFF2-40B4-BE49-F238E27FC236}">
                <a16:creationId xmlns:a16="http://schemas.microsoft.com/office/drawing/2014/main" id="{F0947280-F9ED-4407-822E-E30F7785FAB3}"/>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B1822"/>
                </a:solidFill>
                <a:latin typeface="Arial Black"/>
                <a:ea typeface="Arial Black"/>
                <a:cs typeface="Arial Black"/>
              </a:defRPr>
            </a:defPPr>
          </a:lstStyle>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What this workshop builds</a:t>
            </a:r>
          </a:p>
        </p:txBody>
      </p:sp>
      <p:sp>
        <p:nvSpPr>
          <p:cNvPr id="3" name="WHAT">
            <a:extLst xmlns:a="http://schemas.openxmlformats.org/drawingml/2006/main">
              <a:ext uri="{FF2B5EF4-FFF2-40B4-BE49-F238E27FC236}">
                <a16:creationId xmlns:a16="http://schemas.microsoft.com/office/drawing/2014/main" id="{50633AAA-6F3A-461F-9DEF-AEC2C3D4BC98}"/>
              </a:ext>
            </a:extLst>
          </p:cNvPr>
          <p:cNvSpPr>
            <a:spLocks xmlns:a="http://schemas.openxmlformats.org/drawingml/2006/main" noGrp="1"/>
          </p:cNvSpPr>
          <p:nvPr/>
        </p:nvSpPr>
        <p:spPr>
          <a:xfrm xmlns:a="http://schemas.openxmlformats.org/drawingml/2006/main">
            <a:off x="628650" y="24479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WHAT</a:t>
            </a:r>
          </a:p>
        </p:txBody>
      </p:sp>
      <p:sp>
        <p:nvSpPr>
          <p:cNvPr id="4" name="An agent proposes a change set from security int">
            <a:extLst xmlns:a="http://schemas.openxmlformats.org/drawingml/2006/main">
              <a:ext uri="{FF2B5EF4-FFF2-40B4-BE49-F238E27FC236}">
                <a16:creationId xmlns:a16="http://schemas.microsoft.com/office/drawing/2014/main" id="{1F28E1AB-1F61-4B73-99DB-4625C4243963}"/>
              </a:ext>
            </a:extLst>
          </p:cNvPr>
          <p:cNvSpPr>
            <a:spLocks xmlns:a="http://schemas.openxmlformats.org/drawingml/2006/main" noGrp="1"/>
          </p:cNvSpPr>
          <p:nvPr/>
        </p:nvSpPr>
        <p:spPr>
          <a:xfrm xmlns:a="http://schemas.openxmlformats.org/drawingml/2006/main">
            <a:off x="628650" y="2886075"/>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An agent proposes a change set from security intent for human review:</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policies, tests, expiring exceptions and a phased rollout.</a:t>
            </a:r>
          </a:p>
        </p:txBody>
      </p:sp>
      <p:sp>
        <p:nvSpPr>
          <p:cNvPr id="5" name="WHY">
            <a:extLst xmlns:a="http://schemas.openxmlformats.org/drawingml/2006/main">
              <a:ext uri="{FF2B5EF4-FFF2-40B4-BE49-F238E27FC236}">
                <a16:creationId xmlns:a16="http://schemas.microsoft.com/office/drawing/2014/main" id="{147A1F6A-807F-4B28-8C56-7E82644AACA8}"/>
              </a:ext>
            </a:extLst>
          </p:cNvPr>
          <p:cNvSpPr>
            <a:spLocks xmlns:a="http://schemas.openxmlformats.org/drawingml/2006/main" noGrp="1"/>
          </p:cNvSpPr>
          <p:nvPr/>
        </p:nvSpPr>
        <p:spPr>
          <a:xfrm xmlns:a="http://schemas.openxmlformats.org/drawingml/2006/main">
            <a:off x="628650" y="42005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WHY</a:t>
            </a:r>
          </a:p>
        </p:txBody>
      </p:sp>
      <p:sp>
        <p:nvSpPr>
          <p:cNvPr id="6" name="Contain harmful access on shared infrastructure&#10;">
            <a:extLst xmlns:a="http://schemas.openxmlformats.org/drawingml/2006/main">
              <a:ext uri="{FF2B5EF4-FFF2-40B4-BE49-F238E27FC236}">
                <a16:creationId xmlns:a16="http://schemas.microsoft.com/office/drawing/2014/main" id="{8675D8B8-8038-4849-84DC-4015864E53AB}"/>
              </a:ext>
            </a:extLst>
          </p:cNvPr>
          <p:cNvSpPr>
            <a:spLocks xmlns:a="http://schemas.openxmlformats.org/drawingml/2006/main" noGrp="1"/>
          </p:cNvSpPr>
          <p:nvPr/>
        </p:nvSpPr>
        <p:spPr>
          <a:xfrm xmlns:a="http://schemas.openxmlformats.org/drawingml/2006/main">
            <a:off x="628650" y="4638675"/>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Contain harmful access on shared infrastructure</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while essential services keep running.</a:t>
            </a:r>
          </a:p>
        </p:txBody>
      </p:sp>
      <p:sp>
        <p:nvSpPr>
          <p:cNvPr id="7" name="Quarantine Mode: tighten selected controls, boun">
            <a:extLst xmlns:a="http://schemas.openxmlformats.org/drawingml/2006/main">
              <a:ext uri="{FF2B5EF4-FFF2-40B4-BE49-F238E27FC236}">
                <a16:creationId xmlns:a16="http://schemas.microsoft.com/office/drawing/2014/main" id="{C0A96CDB-B614-4292-B235-2D4FE121F6FB}"/>
              </a:ext>
            </a:extLst>
          </p:cNvPr>
          <p:cNvSpPr>
            <a:spLocks xmlns:a="http://schemas.openxmlformats.org/drawingml/2006/main" noGrp="1"/>
          </p:cNvSpPr>
          <p:nvPr/>
        </p:nvSpPr>
        <p:spPr>
          <a:xfrm xmlns:a="http://schemas.openxmlformats.org/drawingml/2006/main">
            <a:off x="628650" y="5924550"/>
            <a:ext cx="10763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Quarantine Mode: tighten selected controls, bound disruption and define recovery tests.</a:t>
            </a:r>
          </a:p>
        </p:txBody>
      </p:sp>
      <p:sp>
        <p:nvSpPr>
          <p:cNvPr id="8" name="ISC2 SECURITY CONGRESS 2026 / SC2632">
            <a:extLst xmlns:a="http://schemas.openxmlformats.org/drawingml/2006/main">
              <a:ext uri="{FF2B5EF4-FFF2-40B4-BE49-F238E27FC236}">
                <a16:creationId xmlns:a16="http://schemas.microsoft.com/office/drawing/2014/main" id="{9FBC1398-6D43-4FE2-9CF1-D94147D9673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9" name="02">
            <a:extLst xmlns:a="http://schemas.openxmlformats.org/drawingml/2006/main">
              <a:ext uri="{FF2B5EF4-FFF2-40B4-BE49-F238E27FC236}">
                <a16:creationId xmlns:a16="http://schemas.microsoft.com/office/drawing/2014/main" id="{BD471E22-47B3-45E7-9C49-D1D37003AE5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02</a:t>
            </a:r>
          </a:p>
        </p:txBody>
      </p:sp>
    </p:spTree>
    <p:extLst>
      <p:ext uri="{BB962C8B-B14F-4D97-AF65-F5344CB8AC3E}">
        <p14:creationId xmlns:p14="http://schemas.microsoft.com/office/powerpoint/2010/main" val="1631990383"/>
      </p:ext>
    </p:extLst>
  </p:cSld>
</p:sld>
</file>

<file path=ppt/slides/slide3.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3" name="WHAT KUBERNETES DOES / WHY SHARED ACCESS MATTERS">
            <a:extLst xmlns:a="http://schemas.openxmlformats.org/drawingml/2006/main">
              <a:ext uri="{FF2B5EF4-FFF2-40B4-BE49-F238E27FC236}">
                <a16:creationId xmlns:a16="http://schemas.microsoft.com/office/drawing/2014/main" id="{00415F6D-4DD4-49B8-ADB8-FB1BE4653C44}"/>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WHAT KUBERNETES DOES / WHY SHARED ACCESS MATTERS</a:t>
            </a:r>
          </a:p>
        </p:txBody>
      </p:sp>
      <p:sp>
        <p:nvSpPr>
          <p:cNvPr id="2" name="The environment in plain language">
            <a:extLst xmlns:a="http://schemas.openxmlformats.org/drawingml/2006/main">
              <a:ext uri="{FF2B5EF4-FFF2-40B4-BE49-F238E27FC236}">
                <a16:creationId xmlns:a16="http://schemas.microsoft.com/office/drawing/2014/main" id="{2D300893-CFE2-49E5-B35C-018F0336BF20}"/>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F2EFE7"/>
                </a:solidFill>
                <a:latin typeface="Arial Black"/>
                <a:ea typeface="Arial Black"/>
                <a:cs typeface="Arial Black"/>
              </a:defRPr>
            </a:defPPr>
          </a:lstStyle>
          <a:p xmlns:a="http://schemas.openxmlformats.org/drawingml/2006/main">
            <a:pPr>
              <a:defRPr sz="3600" b="1">
                <a:solidFill>
                  <a:srgbClr val="F2EFE7"/>
                </a:solidFill>
                <a:latin typeface="Arial Black"/>
                <a:ea typeface="Arial Black"/>
                <a:cs typeface="Arial Black"/>
              </a:defRPr>
            </a:pPr>
            <a:r>
              <a:rPr sz="3600" b="1">
                <a:solidFill>
                  <a:srgbClr val="F2EFE7"/>
                </a:solidFill>
                <a:latin typeface="Arial Black"/>
                <a:ea typeface="Arial Black"/>
                <a:cs typeface="Arial Black"/>
              </a:rPr>
              <a:t>The environment in plain language</a:t>
            </a:r>
          </a:p>
        </p:txBody>
      </p:sp>
      <p:sp>
        <p:nvSpPr>
          <p:cNvPr id="3" name="Kubernetes manages application packages, called ">
            <a:extLst xmlns:a="http://schemas.openxmlformats.org/drawingml/2006/main">
              <a:ext uri="{FF2B5EF4-FFF2-40B4-BE49-F238E27FC236}">
                <a16:creationId xmlns:a16="http://schemas.microsoft.com/office/drawing/2014/main" id="{86D0FA4F-883E-4072-AF31-E73E4D8AC932}"/>
              </a:ext>
            </a:extLst>
          </p:cNvPr>
          <p:cNvSpPr>
            <a:spLocks xmlns:a="http://schemas.openxmlformats.org/drawingml/2006/main" noGrp="1"/>
          </p:cNvSpPr>
          <p:nvPr/>
        </p:nvSpPr>
        <p:spPr>
          <a:xfrm xmlns:a="http://schemas.openxmlformats.org/drawingml/2006/main">
            <a:off x="628650" y="23526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Kubernetes manages application packages, called containers, across machines.</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Payment services and automated agents share this platform.</a:t>
            </a:r>
          </a:p>
        </p:txBody>
      </p:sp>
      <p:sp>
        <p:nvSpPr>
          <p:cNvPr id="4" name="Application copies">
            <a:extLst xmlns:a="http://schemas.openxmlformats.org/drawingml/2006/main">
              <a:ext uri="{FF2B5EF4-FFF2-40B4-BE49-F238E27FC236}">
                <a16:creationId xmlns:a16="http://schemas.microsoft.com/office/drawing/2014/main" id="{23288C1A-5150-4759-8D6E-5CD7A225C45D}"/>
              </a:ext>
            </a:extLst>
          </p:cNvPr>
          <p:cNvSpPr>
            <a:spLocks xmlns:a="http://schemas.openxmlformats.org/drawingml/2006/main" noGrp="1"/>
          </p:cNvSpPr>
          <p:nvPr/>
        </p:nvSpPr>
        <p:spPr>
          <a:xfrm xmlns:a="http://schemas.openxmlformats.org/drawingml/2006/main">
            <a:off x="609600" y="340042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Application copies</a:t>
            </a:r>
          </a:p>
        </p:txBody>
      </p:sp>
      <p:sp>
        <p:nvSpPr>
          <p:cNvPr id="5" name="Pods: running units. Replicas: copies.">
            <a:extLst xmlns:a="http://schemas.openxmlformats.org/drawingml/2006/main">
              <a:ext uri="{FF2B5EF4-FFF2-40B4-BE49-F238E27FC236}">
                <a16:creationId xmlns:a16="http://schemas.microsoft.com/office/drawing/2014/main" id="{C2789339-F353-4D23-823F-46F305D4FEDF}"/>
              </a:ext>
            </a:extLst>
          </p:cNvPr>
          <p:cNvSpPr>
            <a:spLocks xmlns:a="http://schemas.openxmlformats.org/drawingml/2006/main" noGrp="1"/>
          </p:cNvSpPr>
          <p:nvPr/>
        </p:nvSpPr>
        <p:spPr>
          <a:xfrm xmlns:a="http://schemas.openxmlformats.org/drawingml/2006/main">
            <a:off x="3562350" y="340042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Pods: running units. Replicas: copies.</a:t>
            </a:r>
          </a:p>
        </p:txBody>
      </p:sp>
      <p:sp>
        <p:nvSpPr>
          <p:cNvPr id="6" name="Resource groups">
            <a:extLst xmlns:a="http://schemas.openxmlformats.org/drawingml/2006/main">
              <a:ext uri="{FF2B5EF4-FFF2-40B4-BE49-F238E27FC236}">
                <a16:creationId xmlns:a16="http://schemas.microsoft.com/office/drawing/2014/main" id="{80C68FEF-0CE3-4ED5-B675-0412C9AC438F}"/>
              </a:ext>
            </a:extLst>
          </p:cNvPr>
          <p:cNvSpPr>
            <a:spLocks xmlns:a="http://schemas.openxmlformats.org/drawingml/2006/main" noGrp="1"/>
          </p:cNvSpPr>
          <p:nvPr/>
        </p:nvSpPr>
        <p:spPr>
          <a:xfrm xmlns:a="http://schemas.openxmlformats.org/drawingml/2006/main">
            <a:off x="609600" y="4114800"/>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Resource groups</a:t>
            </a:r>
          </a:p>
        </p:txBody>
      </p:sp>
      <p:sp>
        <p:nvSpPr>
          <p:cNvPr id="7" name="Namespaces: named groups, such as payments.">
            <a:extLst xmlns:a="http://schemas.openxmlformats.org/drawingml/2006/main">
              <a:ext uri="{FF2B5EF4-FFF2-40B4-BE49-F238E27FC236}">
                <a16:creationId xmlns:a16="http://schemas.microsoft.com/office/drawing/2014/main" id="{7C36381B-498F-4605-BAEE-5F548BE6EBE5}"/>
              </a:ext>
            </a:extLst>
          </p:cNvPr>
          <p:cNvSpPr>
            <a:spLocks xmlns:a="http://schemas.openxmlformats.org/drawingml/2006/main" noGrp="1"/>
          </p:cNvSpPr>
          <p:nvPr/>
        </p:nvSpPr>
        <p:spPr>
          <a:xfrm xmlns:a="http://schemas.openxmlformats.org/drawingml/2006/main">
            <a:off x="3562350" y="4114800"/>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Namespaces: named groups, such as payments.</a:t>
            </a:r>
          </a:p>
        </p:txBody>
      </p:sp>
      <p:sp>
        <p:nvSpPr>
          <p:cNvPr id="8" name="Workload identity">
            <a:extLst xmlns:a="http://schemas.openxmlformats.org/drawingml/2006/main">
              <a:ext uri="{FF2B5EF4-FFF2-40B4-BE49-F238E27FC236}">
                <a16:creationId xmlns:a16="http://schemas.microsoft.com/office/drawing/2014/main" id="{1BAC27CC-1337-4437-B035-5F40519CB35E}"/>
              </a:ext>
            </a:extLst>
          </p:cNvPr>
          <p:cNvSpPr>
            <a:spLocks xmlns:a="http://schemas.openxmlformats.org/drawingml/2006/main" noGrp="1"/>
          </p:cNvSpPr>
          <p:nvPr/>
        </p:nvSpPr>
        <p:spPr>
          <a:xfrm xmlns:a="http://schemas.openxmlformats.org/drawingml/2006/main">
            <a:off x="609600" y="482917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Workload identity</a:t>
            </a:r>
          </a:p>
        </p:txBody>
      </p:sp>
      <p:sp>
        <p:nvSpPr>
          <p:cNvPr id="9" name="ServiceAccount: identity for management API requ">
            <a:extLst xmlns:a="http://schemas.openxmlformats.org/drawingml/2006/main">
              <a:ext uri="{FF2B5EF4-FFF2-40B4-BE49-F238E27FC236}">
                <a16:creationId xmlns:a16="http://schemas.microsoft.com/office/drawing/2014/main" id="{17BEA155-5D5B-4484-8900-4A60BD58A483}"/>
              </a:ext>
            </a:extLst>
          </p:cNvPr>
          <p:cNvSpPr>
            <a:spLocks xmlns:a="http://schemas.openxmlformats.org/drawingml/2006/main" noGrp="1"/>
          </p:cNvSpPr>
          <p:nvPr/>
        </p:nvSpPr>
        <p:spPr>
          <a:xfrm xmlns:a="http://schemas.openxmlformats.org/drawingml/2006/main">
            <a:off x="3562350" y="482917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ServiceAccount: identity for management API requests.</a:t>
            </a:r>
          </a:p>
        </p:txBody>
      </p:sp>
      <p:sp>
        <p:nvSpPr>
          <p:cNvPr id="10" name="Multiple services share infrastructure and depen">
            <a:extLst xmlns:a="http://schemas.openxmlformats.org/drawingml/2006/main">
              <a:ext uri="{FF2B5EF4-FFF2-40B4-BE49-F238E27FC236}">
                <a16:creationId xmlns:a16="http://schemas.microsoft.com/office/drawing/2014/main" id="{0CA9B7CB-BA39-47D5-86CA-D8FEE06E1666}"/>
              </a:ext>
            </a:extLst>
          </p:cNvPr>
          <p:cNvSpPr>
            <a:spLocks xmlns:a="http://schemas.openxmlformats.org/drawingml/2006/main" noGrp="1"/>
          </p:cNvSpPr>
          <p:nvPr/>
        </p:nvSpPr>
        <p:spPr>
          <a:xfrm xmlns:a="http://schemas.openxmlformats.org/drawingml/2006/main">
            <a:off x="62865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2EFE7"/>
                </a:solidFill>
                <a:latin typeface="Arial"/>
                <a:ea typeface="Arial"/>
                <a:cs typeface="Arial"/>
              </a:defRPr>
            </a:defPPr>
          </a:lstStyle>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Multiple services share infrastructure and dependencies.</a:t>
            </a:r>
          </a:p>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A restriction for one can affect another.</a:t>
            </a:r>
          </a:p>
        </p:txBody>
      </p:sp>
      <p:sp>
        <p:nvSpPr>
          <p:cNvPr id="11" name="ISC2 SECURITY CONGRESS 2026 / SC2632">
            <a:extLst xmlns:a="http://schemas.openxmlformats.org/drawingml/2006/main">
              <a:ext uri="{FF2B5EF4-FFF2-40B4-BE49-F238E27FC236}">
                <a16:creationId xmlns:a16="http://schemas.microsoft.com/office/drawing/2014/main" id="{8B4A27AA-D0FE-42B3-9BCF-A78313BC2DD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2" name="03">
            <a:extLst xmlns:a="http://schemas.openxmlformats.org/drawingml/2006/main">
              <a:ext uri="{FF2B5EF4-FFF2-40B4-BE49-F238E27FC236}">
                <a16:creationId xmlns:a16="http://schemas.microsoft.com/office/drawing/2014/main" id="{AAF7012A-113F-4E90-9420-34603151090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03</a:t>
            </a:r>
          </a:p>
        </p:txBody>
      </p:sp>
    </p:spTree>
    <p:extLst>
      <p:ext uri="{BB962C8B-B14F-4D97-AF65-F5344CB8AC3E}">
        <p14:creationId xmlns:p14="http://schemas.microsoft.com/office/powerpoint/2010/main" val="141621856"/>
      </p:ext>
    </p:extLst>
  </p:cSld>
</p:sld>
</file>

<file path=ppt/slides/slide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3" name="WHY KYVERNO / PREVENT UNSAFE CHANGES AT THE API">
            <a:extLst xmlns:a="http://schemas.openxmlformats.org/drawingml/2006/main">
              <a:ext uri="{FF2B5EF4-FFF2-40B4-BE49-F238E27FC236}">
                <a16:creationId xmlns:a16="http://schemas.microsoft.com/office/drawing/2014/main" id="{BD0690D6-DA38-485F-89FE-B70D5E3ED19E}"/>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WHY KYVERNO / PREVENT UNSAFE CHANGES AT THE API</a:t>
            </a:r>
          </a:p>
        </p:txBody>
      </p:sp>
      <p:sp>
        <p:nvSpPr>
          <p:cNvPr id="2" name="Kyverno checks proposed changes">
            <a:extLst xmlns:a="http://schemas.openxmlformats.org/drawingml/2006/main">
              <a:ext uri="{FF2B5EF4-FFF2-40B4-BE49-F238E27FC236}">
                <a16:creationId xmlns:a16="http://schemas.microsoft.com/office/drawing/2014/main" id="{F1896859-4066-4EE2-8D5B-96C10FF8A128}"/>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0B1822"/>
                </a:solidFill>
                <a:latin typeface="Arial Black"/>
                <a:ea typeface="Arial Black"/>
                <a:cs typeface="Arial Black"/>
              </a:defRPr>
            </a:defPPr>
          </a:lstStyle>
          <a:p xmlns:a="http://schemas.openxmlformats.org/drawingml/2006/main">
            <a:pPr>
              <a:defRPr sz="3900" b="1">
                <a:solidFill>
                  <a:srgbClr val="0B1822"/>
                </a:solidFill>
                <a:latin typeface="Arial Black"/>
                <a:ea typeface="Arial Black"/>
                <a:cs typeface="Arial Black"/>
              </a:defRPr>
            </a:pPr>
            <a:r>
              <a:rPr sz="3900" b="1">
                <a:solidFill>
                  <a:srgbClr val="0B1822"/>
                </a:solidFill>
                <a:latin typeface="Arial Black"/>
                <a:ea typeface="Arial Black"/>
                <a:cs typeface="Arial Black"/>
              </a:rPr>
              <a:t>Kyverno checks proposed changes</a:t>
            </a:r>
          </a:p>
        </p:txBody>
      </p:sp>
      <p:sp>
        <p:nvSpPr>
          <p:cNvPr id="3" name="Kyverno checks a requested change before it take">
            <a:extLst xmlns:a="http://schemas.openxmlformats.org/drawingml/2006/main">
              <a:ext uri="{FF2B5EF4-FFF2-40B4-BE49-F238E27FC236}">
                <a16:creationId xmlns:a16="http://schemas.microsoft.com/office/drawing/2014/main" id="{7379C417-16DA-4142-BC52-5B0F5F371198}"/>
              </a:ext>
            </a:extLst>
          </p:cNvPr>
          <p:cNvSpPr>
            <a:spLocks xmlns:a="http://schemas.openxmlformats.org/drawingml/2006/main" noGrp="1"/>
          </p:cNvSpPr>
          <p:nvPr/>
        </p:nvSpPr>
        <p:spPr>
          <a:xfrm xmlns:a="http://schemas.openxmlformats.org/drawingml/2006/main">
            <a:off x="628650" y="23526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Kyverno checks a requested change before it takes effect.</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That checkpoint is called admission.</a:t>
            </a:r>
          </a:p>
        </p:txBody>
      </p:sp>
      <p:sp>
        <p:nvSpPr>
          <p:cNvPr id="4" name="Request">
            <a:extLst xmlns:a="http://schemas.openxmlformats.org/drawingml/2006/main">
              <a:ext uri="{FF2B5EF4-FFF2-40B4-BE49-F238E27FC236}">
                <a16:creationId xmlns:a16="http://schemas.microsoft.com/office/drawing/2014/main" id="{BB9ACA86-2984-41ED-BB01-4BB4F6463378}"/>
              </a:ext>
            </a:extLst>
          </p:cNvPr>
          <p:cNvSpPr>
            <a:spLocks xmlns:a="http://schemas.openxmlformats.org/drawingml/2006/main" noGrp="1"/>
          </p:cNvSpPr>
          <p:nvPr/>
        </p:nvSpPr>
        <p:spPr>
          <a:xfrm xmlns:a="http://schemas.openxmlformats.org/drawingml/2006/main">
            <a:off x="609600" y="346710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Request</a:t>
            </a:r>
          </a:p>
        </p:txBody>
      </p:sp>
      <p:sp>
        <p:nvSpPr>
          <p:cNvPr id="5" name="Start an application copy with privilege escalat">
            <a:extLst xmlns:a="http://schemas.openxmlformats.org/drawingml/2006/main">
              <a:ext uri="{FF2B5EF4-FFF2-40B4-BE49-F238E27FC236}">
                <a16:creationId xmlns:a16="http://schemas.microsoft.com/office/drawing/2014/main" id="{AA7AB650-AECE-47C8-B06B-3B01A3E23372}"/>
              </a:ext>
            </a:extLst>
          </p:cNvPr>
          <p:cNvSpPr>
            <a:spLocks xmlns:a="http://schemas.openxmlformats.org/drawingml/2006/main" noGrp="1"/>
          </p:cNvSpPr>
          <p:nvPr/>
        </p:nvSpPr>
        <p:spPr>
          <a:xfrm xmlns:a="http://schemas.openxmlformats.org/drawingml/2006/main">
            <a:off x="2914650" y="346710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Start an application copy with privilege escalation.</a:t>
            </a:r>
          </a:p>
        </p:txBody>
      </p:sp>
      <p:sp>
        <p:nvSpPr>
          <p:cNvPr id="6" name="Rule">
            <a:extLst xmlns:a="http://schemas.openxmlformats.org/drawingml/2006/main">
              <a:ext uri="{FF2B5EF4-FFF2-40B4-BE49-F238E27FC236}">
                <a16:creationId xmlns:a16="http://schemas.microsoft.com/office/drawing/2014/main" id="{FF794AF7-E979-4D77-AAFE-46B58AFBA16B}"/>
              </a:ext>
            </a:extLst>
          </p:cNvPr>
          <p:cNvSpPr>
            <a:spLocks xmlns:a="http://schemas.openxmlformats.org/drawingml/2006/main" noGrp="1"/>
          </p:cNvSpPr>
          <p:nvPr/>
        </p:nvSpPr>
        <p:spPr>
          <a:xfrm xmlns:a="http://schemas.openxmlformats.org/drawingml/2006/main">
            <a:off x="609600" y="417195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Rule</a:t>
            </a:r>
          </a:p>
        </p:txBody>
      </p:sp>
      <p:sp>
        <p:nvSpPr>
          <p:cNvPr id="7" name="New application copies must disallow privilege e">
            <a:extLst xmlns:a="http://schemas.openxmlformats.org/drawingml/2006/main">
              <a:ext uri="{FF2B5EF4-FFF2-40B4-BE49-F238E27FC236}">
                <a16:creationId xmlns:a16="http://schemas.microsoft.com/office/drawing/2014/main" id="{6FAFD562-8DE3-4C62-A58D-51F911392504}"/>
              </a:ext>
            </a:extLst>
          </p:cNvPr>
          <p:cNvSpPr>
            <a:spLocks xmlns:a="http://schemas.openxmlformats.org/drawingml/2006/main" noGrp="1"/>
          </p:cNvSpPr>
          <p:nvPr/>
        </p:nvSpPr>
        <p:spPr>
          <a:xfrm xmlns:a="http://schemas.openxmlformats.org/drawingml/2006/main">
            <a:off x="2914650" y="417195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New application copies must disallow privilege escalation.</a:t>
            </a:r>
          </a:p>
        </p:txBody>
      </p:sp>
      <p:sp>
        <p:nvSpPr>
          <p:cNvPr id="8" name="Deny mode">
            <a:extLst xmlns:a="http://schemas.openxmlformats.org/drawingml/2006/main">
              <a:ext uri="{FF2B5EF4-FFF2-40B4-BE49-F238E27FC236}">
                <a16:creationId xmlns:a16="http://schemas.microsoft.com/office/drawing/2014/main" id="{389D8A84-ED20-41BD-B40F-C4CB7883C2BE}"/>
              </a:ext>
            </a:extLst>
          </p:cNvPr>
          <p:cNvSpPr>
            <a:spLocks xmlns:a="http://schemas.openxmlformats.org/drawingml/2006/main" noGrp="1"/>
          </p:cNvSpPr>
          <p:nvPr/>
        </p:nvSpPr>
        <p:spPr>
          <a:xfrm xmlns:a="http://schemas.openxmlformats.org/drawingml/2006/main">
            <a:off x="609600" y="487680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Deny mode</a:t>
            </a:r>
          </a:p>
        </p:txBody>
      </p:sp>
      <p:sp>
        <p:nvSpPr>
          <p:cNvPr id="9" name="Refuse that covered request.">
            <a:extLst xmlns:a="http://schemas.openxmlformats.org/drawingml/2006/main">
              <a:ext uri="{FF2B5EF4-FFF2-40B4-BE49-F238E27FC236}">
                <a16:creationId xmlns:a16="http://schemas.microsoft.com/office/drawing/2014/main" id="{F9B90CFC-0E6B-4ADA-AB1A-763DE0DE6767}"/>
              </a:ext>
            </a:extLst>
          </p:cNvPr>
          <p:cNvSpPr>
            <a:spLocks xmlns:a="http://schemas.openxmlformats.org/drawingml/2006/main" noGrp="1"/>
          </p:cNvSpPr>
          <p:nvPr/>
        </p:nvSpPr>
        <p:spPr>
          <a:xfrm xmlns:a="http://schemas.openxmlformats.org/drawingml/2006/main">
            <a:off x="2914650" y="487680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Refuse that covered request.</a:t>
            </a:r>
          </a:p>
        </p:txBody>
      </p:sp>
      <p:sp>
        <p:nvSpPr>
          <p:cNvPr id="10" name="An application already running keeps running. Tr">
            <a:extLst xmlns:a="http://schemas.openxmlformats.org/drawingml/2006/main">
              <a:ext uri="{FF2B5EF4-FFF2-40B4-BE49-F238E27FC236}">
                <a16:creationId xmlns:a16="http://schemas.microsoft.com/office/drawing/2014/main" id="{7E627813-3AED-4CD4-94F3-FFDDDF37D474}"/>
              </a:ext>
            </a:extLst>
          </p:cNvPr>
          <p:cNvSpPr>
            <a:spLocks xmlns:a="http://schemas.openxmlformats.org/drawingml/2006/main" noGrp="1"/>
          </p:cNvSpPr>
          <p:nvPr/>
        </p:nvSpPr>
        <p:spPr>
          <a:xfrm xmlns:a="http://schemas.openxmlformats.org/drawingml/2006/main">
            <a:off x="628650" y="56959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B1822"/>
                </a:solidFill>
                <a:latin typeface="Arial"/>
                <a:ea typeface="Arial"/>
                <a:cs typeface="Arial"/>
              </a:defRPr>
            </a:defPPr>
          </a:lstStyle>
          <a:p xmlns:a="http://schemas.openxmlformats.org/drawingml/2006/main">
            <a:pPr>
              <a:defRPr sz="1875" b="1">
                <a:solidFill>
                  <a:srgbClr val="0B1822"/>
                </a:solidFill>
                <a:latin typeface="Arial"/>
                <a:ea typeface="Arial"/>
                <a:cs typeface="Arial"/>
              </a:defRPr>
            </a:pPr>
            <a:r>
              <a:rPr sz="1875" b="1">
                <a:solidFill>
                  <a:srgbClr val="0B1822"/>
                </a:solidFill>
                <a:latin typeface="Arial"/>
                <a:ea typeface="Arial"/>
                <a:cs typeface="Arial"/>
              </a:rPr>
              <a:t>An application already running keeps running. Traffic, management access</a:t>
            </a:r>
          </a:p>
          <a:p xmlns:a="http://schemas.openxmlformats.org/drawingml/2006/main">
            <a:pPr>
              <a:defRPr sz="1875" b="1">
                <a:solidFill>
                  <a:srgbClr val="0B1822"/>
                </a:solidFill>
                <a:latin typeface="Arial"/>
                <a:ea typeface="Arial"/>
                <a:cs typeface="Arial"/>
              </a:defRPr>
            </a:pPr>
            <a:r>
              <a:rPr sz="1875" b="1">
                <a:solidFill>
                  <a:srgbClr val="0B1822"/>
                </a:solidFill>
                <a:latin typeface="Arial"/>
                <a:ea typeface="Arial"/>
                <a:cs typeface="Arial"/>
              </a:rPr>
              <a:t>and agent tools need their own controls.</a:t>
            </a:r>
          </a:p>
        </p:txBody>
      </p:sp>
      <p:sp>
        <p:nvSpPr>
          <p:cNvPr id="11" name="ISC2 SECURITY CONGRESS 2026 / SC2632">
            <a:extLst xmlns:a="http://schemas.openxmlformats.org/drawingml/2006/main">
              <a:ext uri="{FF2B5EF4-FFF2-40B4-BE49-F238E27FC236}">
                <a16:creationId xmlns:a16="http://schemas.microsoft.com/office/drawing/2014/main" id="{ACE0865B-3509-4B21-AF64-B1034B25E66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2" name="04">
            <a:extLst xmlns:a="http://schemas.openxmlformats.org/drawingml/2006/main">
              <a:ext uri="{FF2B5EF4-FFF2-40B4-BE49-F238E27FC236}">
                <a16:creationId xmlns:a16="http://schemas.microsoft.com/office/drawing/2014/main" id="{094D2B1C-37A0-4896-87C9-7C57E9F505D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04</a:t>
            </a:r>
          </a:p>
        </p:txBody>
      </p:sp>
    </p:spTree>
    <p:extLst>
      <p:ext uri="{BB962C8B-B14F-4D97-AF65-F5344CB8AC3E}">
        <p14:creationId xmlns:p14="http://schemas.microsoft.com/office/powerpoint/2010/main" val="1192880731"/>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1" name="YOUR TABLE / INCIDENT REVIEW TEAM / PLAIN LANGUA">
            <a:extLst xmlns:a="http://schemas.openxmlformats.org/drawingml/2006/main">
              <a:ext uri="{FF2B5EF4-FFF2-40B4-BE49-F238E27FC236}">
                <a16:creationId xmlns:a16="http://schemas.microsoft.com/office/drawing/2014/main" id="{69A80C70-813D-4062-88E4-3DD6A8C25C3F}"/>
              </a:ext>
            </a:extLst>
          </p:cNvPr>
          <p:cNvSpPr>
            <a:spLocks xmlns:a="http://schemas.openxmlformats.org/drawingml/2006/main" noGrp="1"/>
          </p:cNvSpPr>
          <p:nvPr/>
        </p:nvSpPr>
        <p:spPr>
          <a:xfrm xmlns:a="http://schemas.openxmlformats.org/drawingml/2006/main">
            <a:off x="609600" y="476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YOUR TABLE / INCIDENT REVIEW TEAM / PLAIN LANGUAGE / NO LAPTOP REQUIRED</a:t>
            </a:r>
          </a:p>
        </p:txBody>
      </p:sp>
      <p:sp>
        <p:nvSpPr>
          <p:cNvPr id="2" name="Your table’s task">
            <a:extLst xmlns:a="http://schemas.openxmlformats.org/drawingml/2006/main">
              <a:ext uri="{FF2B5EF4-FFF2-40B4-BE49-F238E27FC236}">
                <a16:creationId xmlns:a16="http://schemas.microsoft.com/office/drawing/2014/main" id="{CBC27597-3C7B-47A9-9B44-B648706A52DB}"/>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table’s task</a:t>
            </a:r>
          </a:p>
        </p:txBody>
      </p:sp>
      <p:sp>
        <p:nvSpPr>
          <p:cNvPr id="3" name="Decide what can proceed and what evidence is sti">
            <a:extLst xmlns:a="http://schemas.openxmlformats.org/drawingml/2006/main">
              <a:ext uri="{FF2B5EF4-FFF2-40B4-BE49-F238E27FC236}">
                <a16:creationId xmlns:a16="http://schemas.microsoft.com/office/drawing/2014/main" id="{1834B5DF-01AE-408B-9EC5-C237B7F444C9}"/>
              </a:ext>
            </a:extLst>
          </p:cNvPr>
          <p:cNvSpPr>
            <a:spLocks xmlns:a="http://schemas.openxmlformats.org/drawingml/2006/main" noGrp="1"/>
          </p:cNvSpPr>
          <p:nvPr/>
        </p:nvSpPr>
        <p:spPr>
          <a:xfrm xmlns:a="http://schemas.openxmlformats.org/drawingml/2006/main">
            <a:off x="628650" y="23526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Decide what can proceed and what evidence is still missing.</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Write before each reveal. Revise beside your original answer.</a:t>
            </a:r>
          </a:p>
        </p:txBody>
      </p:sp>
      <p:sp>
        <p:nvSpPr>
          <p:cNvPr id="4" name="YOUR RECORD ON PAGE 6">
            <a:extLst xmlns:a="http://schemas.openxmlformats.org/drawingml/2006/main">
              <a:ext uri="{FF2B5EF4-FFF2-40B4-BE49-F238E27FC236}">
                <a16:creationId xmlns:a16="http://schemas.microsoft.com/office/drawing/2014/main" id="{78D97293-B54B-4726-B360-B75FA574E380}"/>
              </a:ext>
            </a:extLst>
          </p:cNvPr>
          <p:cNvSpPr>
            <a:spLocks xmlns:a="http://schemas.openxmlformats.org/drawingml/2006/main" noGrp="1"/>
          </p:cNvSpPr>
          <p:nvPr/>
        </p:nvSpPr>
        <p:spPr>
          <a:xfrm xmlns:a="http://schemas.openxmlformats.org/drawingml/2006/main">
            <a:off x="628650" y="3543300"/>
            <a:ext cx="5191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RECORD ON PAGE 6</a:t>
            </a:r>
          </a:p>
        </p:txBody>
      </p:sp>
      <p:sp>
        <p:nvSpPr>
          <p:cNvPr id="5" name="Intent and approval decision&#10;Exception and rollo">
            <a:extLst xmlns:a="http://schemas.openxmlformats.org/drawingml/2006/main">
              <a:ext uri="{FF2B5EF4-FFF2-40B4-BE49-F238E27FC236}">
                <a16:creationId xmlns:a16="http://schemas.microsoft.com/office/drawing/2014/main" id="{08F84200-B2BF-4C69-9A66-38471CD92E61}"/>
              </a:ext>
            </a:extLst>
          </p:cNvPr>
          <p:cNvSpPr>
            <a:spLocks xmlns:a="http://schemas.openxmlformats.org/drawingml/2006/main" noGrp="1"/>
          </p:cNvSpPr>
          <p:nvPr/>
        </p:nvSpPr>
        <p:spPr>
          <a:xfrm xmlns:a="http://schemas.openxmlformats.org/drawingml/2006/main">
            <a:off x="628650" y="4010025"/>
            <a:ext cx="53816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Intent and approval decision</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Exception and rollout conditions</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Containment order and recovery tests</a:t>
            </a:r>
          </a:p>
        </p:txBody>
      </p:sp>
      <p:sp>
        <p:nvSpPr>
          <p:cNvPr id="6" name="YOUR TABLE ROLES">
            <a:extLst xmlns:a="http://schemas.openxmlformats.org/drawingml/2006/main">
              <a:ext uri="{FF2B5EF4-FFF2-40B4-BE49-F238E27FC236}">
                <a16:creationId xmlns:a16="http://schemas.microsoft.com/office/drawing/2014/main" id="{3873E176-61E3-4226-A633-D02038339C18}"/>
              </a:ext>
            </a:extLst>
          </p:cNvPr>
          <p:cNvSpPr>
            <a:spLocks xmlns:a="http://schemas.openxmlformats.org/drawingml/2006/main" noGrp="1"/>
          </p:cNvSpPr>
          <p:nvPr/>
        </p:nvSpPr>
        <p:spPr>
          <a:xfrm xmlns:a="http://schemas.openxmlformats.org/drawingml/2006/main">
            <a:off x="6686550" y="354330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TABLE ROLES</a:t>
            </a:r>
          </a:p>
        </p:txBody>
      </p:sp>
      <p:sp>
        <p:nvSpPr>
          <p:cNvPr id="7" name="Lead: states the decision&#10;Recorder: writes page ">
            <a:extLst xmlns:a="http://schemas.openxmlformats.org/drawingml/2006/main">
              <a:ext uri="{FF2B5EF4-FFF2-40B4-BE49-F238E27FC236}">
                <a16:creationId xmlns:a16="http://schemas.microsoft.com/office/drawing/2014/main" id="{82A4FB1E-01A6-422A-B5CE-D256D376E828}"/>
              </a:ext>
            </a:extLst>
          </p:cNvPr>
          <p:cNvSpPr>
            <a:spLocks xmlns:a="http://schemas.openxmlformats.org/drawingml/2006/main" noGrp="1"/>
          </p:cNvSpPr>
          <p:nvPr/>
        </p:nvSpPr>
        <p:spPr>
          <a:xfrm xmlns:a="http://schemas.openxmlformats.org/drawingml/2006/main">
            <a:off x="6686550" y="4010025"/>
            <a:ext cx="48196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0B1822"/>
                </a:solidFill>
                <a:latin typeface="Arial"/>
                <a:ea typeface="Arial"/>
                <a:cs typeface="Arial"/>
              </a:defRPr>
            </a:defPPr>
          </a:lstStyle>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Lead: states the decision</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Recorder: writes page 6</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Analyst: checks the evidence</a:t>
            </a:r>
          </a:p>
          <a:p xmlns:a="http://schemas.openxmlformats.org/drawingml/2006/main">
            <a:pPr>
              <a:defRPr sz="1950" b="0">
                <a:solidFill>
                  <a:srgbClr val="0B1822"/>
                </a:solidFill>
                <a:latin typeface="Arial"/>
                <a:ea typeface="Arial"/>
                <a:cs typeface="Arial"/>
              </a:defRPr>
            </a:pPr>
            <a:r>
              <a:rPr sz="1950" b="0">
                <a:solidFill>
                  <a:srgbClr val="0B1822"/>
                </a:solidFill>
                <a:latin typeface="Arial"/>
                <a:ea typeface="Arial"/>
                <a:cs typeface="Arial"/>
              </a:rPr>
              <a:t>Reviewer: raises a concern</a:t>
            </a:r>
          </a:p>
        </p:txBody>
      </p:sp>
      <p:sp>
        <p:nvSpPr>
          <p:cNvPr id="8" name="Materials: case cards, the page 6 record and sea">
            <a:extLst xmlns:a="http://schemas.openxmlformats.org/drawingml/2006/main">
              <a:ext uri="{FF2B5EF4-FFF2-40B4-BE49-F238E27FC236}">
                <a16:creationId xmlns:a16="http://schemas.microsoft.com/office/drawing/2014/main" id="{D09EC217-F133-4A6B-9D35-134C49F304D9}"/>
              </a:ext>
            </a:extLst>
          </p:cNvPr>
          <p:cNvSpPr>
            <a:spLocks xmlns:a="http://schemas.openxmlformats.org/drawingml/2006/main" noGrp="1"/>
          </p:cNvSpPr>
          <p:nvPr/>
        </p:nvSpPr>
        <p:spPr>
          <a:xfrm xmlns:a="http://schemas.openxmlformats.org/drawingml/2006/main">
            <a:off x="628650" y="58197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0B1822"/>
                </a:solidFill>
                <a:latin typeface="Arial"/>
                <a:ea typeface="Arial"/>
                <a:cs typeface="Arial"/>
              </a:defRPr>
            </a:defPPr>
          </a:lstStyle>
          <a:p xmlns:a="http://schemas.openxmlformats.org/drawingml/2006/main">
            <a:pPr>
              <a:defRPr sz="1575" b="0">
                <a:solidFill>
                  <a:srgbClr val="0B1822"/>
                </a:solidFill>
                <a:latin typeface="Arial"/>
                <a:ea typeface="Arial"/>
                <a:cs typeface="Arial"/>
              </a:defRPr>
            </a:pPr>
            <a:r>
              <a:rPr sz="1575" b="0">
                <a:solidFill>
                  <a:srgbClr val="0B1822"/>
                </a:solidFill>
                <a:latin typeface="Arial"/>
                <a:ea typeface="Arial"/>
                <a:cs typeface="Arial"/>
              </a:rPr>
              <a:t>Materials: case cards, the page 6 record and sealed evidence.</a:t>
            </a:r>
          </a:p>
          <a:p xmlns:a="http://schemas.openxmlformats.org/drawingml/2006/main">
            <a:pPr>
              <a:defRPr sz="1575" b="0">
                <a:solidFill>
                  <a:srgbClr val="0B1822"/>
                </a:solidFill>
                <a:latin typeface="Arial"/>
                <a:ea typeface="Arial"/>
                <a:cs typeface="Arial"/>
              </a:defRPr>
            </a:pPr>
            <a:r>
              <a:rPr sz="1575" b="0">
                <a:solidFill>
                  <a:srgbClr val="0B1822"/>
                </a:solidFill>
                <a:latin typeface="Arial"/>
                <a:ea typeface="Arial"/>
                <a:cs typeface="Arial"/>
              </a:rPr>
              <a:t>Milind: compiler/policy demo. Vivek: reviews/reveals. Both co-present the debrief.</a:t>
            </a:r>
          </a:p>
        </p:txBody>
      </p:sp>
      <p:sp>
        <p:nvSpPr>
          <p:cNvPr id="9" name="ISC2 SECURITY CONGRESS 2026 / SC2632">
            <a:extLst xmlns:a="http://schemas.openxmlformats.org/drawingml/2006/main">
              <a:ext uri="{FF2B5EF4-FFF2-40B4-BE49-F238E27FC236}">
                <a16:creationId xmlns:a16="http://schemas.microsoft.com/office/drawing/2014/main" id="{6043DC8A-5CBD-40CA-BAF4-E080742540C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0" name="05">
            <a:extLst xmlns:a="http://schemas.openxmlformats.org/drawingml/2006/main">
              <a:ext uri="{FF2B5EF4-FFF2-40B4-BE49-F238E27FC236}">
                <a16:creationId xmlns:a16="http://schemas.microsoft.com/office/drawing/2014/main" id="{3F872893-FCC3-4695-BFBB-F7CEA183171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340870326"/>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8" name="CHOOSE ONE CASE / PARTICIPANT PACK PAGES 2–5">
            <a:extLst xmlns:a="http://schemas.openxmlformats.org/drawingml/2006/main">
              <a:ext uri="{FF2B5EF4-FFF2-40B4-BE49-F238E27FC236}">
                <a16:creationId xmlns:a16="http://schemas.microsoft.com/office/drawing/2014/main" id="{3F35609E-1484-4B8D-A14E-C5924DDD8A87}"/>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CHOOSE ONE CASE / PARTICIPANT PACK PAGES 2–5</a:t>
            </a:r>
          </a:p>
        </p:txBody>
      </p:sp>
      <p:sp>
        <p:nvSpPr>
          <p:cNvPr id="2" name="Four prepared scenarios">
            <a:extLst xmlns:a="http://schemas.openxmlformats.org/drawingml/2006/main">
              <a:ext uri="{FF2B5EF4-FFF2-40B4-BE49-F238E27FC236}">
                <a16:creationId xmlns:a16="http://schemas.microsoft.com/office/drawing/2014/main" id="{748AF4E8-E8F0-49F1-8371-FC543C2B4073}"/>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F4FB258D-738E-4706-9D30-6ED4F03222F7}"/>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0EDD7FD7-FB35-4878-B8F9-482F12975E4D}"/>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E5419FDA-341E-4A28-AB3F-43720577518C}"/>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549AF5A0-4642-4F49-BC9C-8C4027A2E6FB}"/>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00A11AC2-E6E4-444D-9704-05C39AC9F6DD}"/>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1AF3A8CB-548B-4E2F-95DB-A0FC5E011491}"/>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B93EEEC2-FE76-4C2C-9622-C8DE76272424}"/>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expected changes">
            <a:extLst xmlns:a="http://schemas.openxmlformats.org/drawingml/2006/main">
              <a:ext uri="{FF2B5EF4-FFF2-40B4-BE49-F238E27FC236}">
                <a16:creationId xmlns:a16="http://schemas.microsoft.com/office/drawing/2014/main" id="{B9775284-0626-48CE-AAAA-A18F6258D9E3}"/>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Unexpected changes</a:t>
            </a:r>
          </a:p>
        </p:txBody>
      </p:sp>
      <p:sp>
        <p:nvSpPr>
          <p:cNvPr id="11" name="An ops agent changes application copies without ">
            <a:extLst xmlns:a="http://schemas.openxmlformats.org/drawingml/2006/main">
              <a:ext uri="{FF2B5EF4-FFF2-40B4-BE49-F238E27FC236}">
                <a16:creationId xmlns:a16="http://schemas.microsoft.com/office/drawing/2014/main" id="{2E063B11-277D-4662-A0D3-03CCA9B60A2D}"/>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application copies without a ticket</a:t>
            </a:r>
          </a:p>
        </p:txBody>
      </p:sp>
      <p:sp>
        <p:nvSpPr>
          <p:cNvPr id="12" name="D">
            <a:extLst xmlns:a="http://schemas.openxmlformats.org/drawingml/2006/main">
              <a:ext uri="{FF2B5EF4-FFF2-40B4-BE49-F238E27FC236}">
                <a16:creationId xmlns:a16="http://schemas.microsoft.com/office/drawing/2014/main" id="{19E18755-3F49-438C-95C2-DE6C8EB13433}"/>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Credential access">
            <a:extLst xmlns:a="http://schemas.openxmlformats.org/drawingml/2006/main">
              <a:ext uri="{FF2B5EF4-FFF2-40B4-BE49-F238E27FC236}">
                <a16:creationId xmlns:a16="http://schemas.microsoft.com/office/drawing/2014/main" id="{3719BE12-DD9D-4B4E-B7EA-1A94300912D0}"/>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Credential access</a:t>
            </a:r>
          </a:p>
        </p:txBody>
      </p:sp>
      <p:sp>
        <p:nvSpPr>
          <p:cNvPr id="14" name="A monitoring identity lists credential records a">
            <a:extLst xmlns:a="http://schemas.openxmlformats.org/drawingml/2006/main">
              <a:ext uri="{FF2B5EF4-FFF2-40B4-BE49-F238E27FC236}">
                <a16:creationId xmlns:a16="http://schemas.microsoft.com/office/drawing/2014/main" id="{AC7B4F82-CD67-428E-9A33-A1F86996B443}"/>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credential records across groups</a:t>
            </a:r>
          </a:p>
        </p:txBody>
      </p:sp>
      <p:sp>
        <p:nvSpPr>
          <p:cNvPr id="15" name="Choose as a team. Keep the sealed updates closed">
            <a:extLst xmlns:a="http://schemas.openxmlformats.org/drawingml/2006/main">
              <a:ext uri="{FF2B5EF4-FFF2-40B4-BE49-F238E27FC236}">
                <a16:creationId xmlns:a16="http://schemas.microsoft.com/office/drawing/2014/main" id="{B16793CB-A272-4FD4-A4A9-71A12E7B9A7F}"/>
              </a:ext>
            </a:extLst>
          </p:cNvPr>
          <p:cNvSpPr>
            <a:spLocks xmlns:a="http://schemas.openxmlformats.org/drawingml/2006/main" noGrp="1"/>
          </p:cNvSpPr>
          <p:nvPr/>
        </p:nvSpPr>
        <p:spPr>
          <a:xfrm xmlns:a="http://schemas.openxmlformats.org/drawingml/2006/main">
            <a:off x="628650" y="59912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Choose as a team. Keep the sealed updates closed until the round opens.</a:t>
            </a:r>
          </a:p>
        </p:txBody>
      </p:sp>
      <p:sp>
        <p:nvSpPr>
          <p:cNvPr id="16" name="ISC2 SECURITY CONGRESS 2026 / SC2632">
            <a:extLst xmlns:a="http://schemas.openxmlformats.org/drawingml/2006/main">
              <a:ext uri="{FF2B5EF4-FFF2-40B4-BE49-F238E27FC236}">
                <a16:creationId xmlns:a16="http://schemas.microsoft.com/office/drawing/2014/main" id="{C6BA9F1D-E0EA-4E8F-9DE2-D62DA4263BD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7" name="06">
            <a:extLst xmlns:a="http://schemas.openxmlformats.org/drawingml/2006/main">
              <a:ext uri="{FF2B5EF4-FFF2-40B4-BE49-F238E27FC236}">
                <a16:creationId xmlns:a16="http://schemas.microsoft.com/office/drawing/2014/main" id="{2045CDD7-32BB-4B38-BF75-CA91DC66177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543701222"/>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41906BDC-4958-4B6C-9839-305CAB460E24}"/>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F6585139-54B9-495D-B23B-A1BF043E9A2B}"/>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D213DE98-4E36-4961-884D-1BB2BCCF4548}"/>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Keep two healthy application copies and required">
            <a:extLst xmlns:a="http://schemas.openxmlformats.org/drawingml/2006/main">
              <a:ext uri="{FF2B5EF4-FFF2-40B4-BE49-F238E27FC236}">
                <a16:creationId xmlns:a16="http://schemas.microsoft.com/office/drawing/2014/main" id="{C4DEF3F2-9B65-4284-899E-A5E9D6ED8850}"/>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Keep two healthy application copies and required connections.</a:t>
            </a:r>
          </a:p>
        </p:txBody>
      </p:sp>
      <p:sp>
        <p:nvSpPr>
          <p:cNvPr id="5" name="Evidence">
            <a:extLst xmlns:a="http://schemas.openxmlformats.org/drawingml/2006/main">
              <a:ext uri="{FF2B5EF4-FFF2-40B4-BE49-F238E27FC236}">
                <a16:creationId xmlns:a16="http://schemas.microsoft.com/office/drawing/2014/main" id="{4DBADAAF-8DD1-4E4B-943B-A67570382D43}"/>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D07D4714-6577-477A-BE63-897D64A41447}"/>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C7A6BD34-B97A-4667-9567-3518EEC037E1}"/>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E475407D-49FD-4DC4-A969-F134605F271A}"/>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359E227B-03F3-4B2F-9D03-FFB89CE93F64}"/>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310A4BA6-A1BB-4DC9-A7C9-9B99DF1BF685}"/>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Record your case, roles, constraint and minimum ">
            <a:extLst xmlns:a="http://schemas.openxmlformats.org/drawingml/2006/main">
              <a:ext uri="{FF2B5EF4-FFF2-40B4-BE49-F238E27FC236}">
                <a16:creationId xmlns:a16="http://schemas.microsoft.com/office/drawing/2014/main" id="{2DBDDAD3-A668-4012-A48D-D171EB380CA6}"/>
              </a:ext>
            </a:extLst>
          </p:cNvPr>
          <p:cNvSpPr>
            <a:spLocks xmlns:a="http://schemas.openxmlformats.org/drawingml/2006/main" noGrp="1"/>
          </p:cNvSpPr>
          <p:nvPr/>
        </p:nvSpPr>
        <p:spPr>
          <a:xfrm xmlns:a="http://schemas.openxmlformats.org/drawingml/2006/main">
            <a:off x="628650" y="5962650"/>
            <a:ext cx="10715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Record your case, roles, constraint and minimum service on page 6.</a:t>
            </a:r>
          </a:p>
        </p:txBody>
      </p:sp>
      <p:sp>
        <p:nvSpPr>
          <p:cNvPr id="12" name="ISC2 SECURITY CONGRESS 2026 / SC2632">
            <a:extLst xmlns:a="http://schemas.openxmlformats.org/drawingml/2006/main">
              <a:ext uri="{FF2B5EF4-FFF2-40B4-BE49-F238E27FC236}">
                <a16:creationId xmlns:a16="http://schemas.microsoft.com/office/drawing/2014/main" id="{7AA49E77-79C1-4628-9D1C-888F8D7EF18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07">
            <a:extLst xmlns:a="http://schemas.openxmlformats.org/drawingml/2006/main">
              <a:ext uri="{FF2B5EF4-FFF2-40B4-BE49-F238E27FC236}">
                <a16:creationId xmlns:a16="http://schemas.microsoft.com/office/drawing/2014/main" id="{55839669-E620-41E9-8709-84EEB1D63AF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1247444220"/>
      </p:ext>
    </p:extLst>
  </p:cSld>
</p:sld>
</file>

<file path=ppt/slides/slide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7DBD577A-9FEC-41E1-9A1C-8AE5BA70110C}"/>
              </a:ext>
            </a:extLst>
          </p:cNvPr>
          <p:cNvPicPr>
            <a:picLocks xmlns:a="http://schemas.openxmlformats.org/drawingml/2006/main" noChangeAspect="1"/>
          </p:cNvPicPr>
          <p:nvPr/>
        </p:nvPicPr>
        <p:blipFill>
          <a:blip xmlns:r="http://schemas.openxmlformats.org/officeDocument/2006/relationships" xmlns:a="http://schemas.openxmlformats.org/drawingml/2006/main" r:embed="Rc6fb83495e8e412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077C43A5-E8F1-4831-BA07-EDFC0CF7BD96}"/>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4E5B8544-A0BF-49C2-B901-471DDBC0B53B}"/>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99C18D8D-831B-4A3D-9632-3D5904679D64}"/>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Write one intent on page 6.&#10;Name the forbidden b">
            <a:extLst xmlns:a="http://schemas.openxmlformats.org/drawingml/2006/main">
              <a:ext uri="{FF2B5EF4-FFF2-40B4-BE49-F238E27FC236}">
                <a16:creationId xmlns:a16="http://schemas.microsoft.com/office/drawing/2014/main" id="{A75B6C61-9DBA-48CC-A7A2-92D48CDEC7AC}"/>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Write one intent on page 6.</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Name the forbidden behavior and preserved dependency.</a:t>
            </a:r>
          </a:p>
        </p:txBody>
      </p:sp>
      <p:sp>
        <p:nvSpPr>
          <p:cNvPr id="6" name="ISC2 SECURITY CONGRESS 2026 / SC2632">
            <a:extLst xmlns:a="http://schemas.openxmlformats.org/drawingml/2006/main">
              <a:ext uri="{FF2B5EF4-FFF2-40B4-BE49-F238E27FC236}">
                <a16:creationId xmlns:a16="http://schemas.microsoft.com/office/drawing/2014/main" id="{9606A3F1-89F0-46A0-89B8-B081DC0FE83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8">
            <a:extLst xmlns:a="http://schemas.openxmlformats.org/drawingml/2006/main">
              <a:ext uri="{FF2B5EF4-FFF2-40B4-BE49-F238E27FC236}">
                <a16:creationId xmlns:a16="http://schemas.microsoft.com/office/drawing/2014/main" id="{74602389-5BB7-4BD7-846B-6D5C074C964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08</a:t>
            </a:r>
          </a:p>
        </p:txBody>
      </p:sp>
    </p:spTree>
    <p:extLst>
      <p:ext uri="{BB962C8B-B14F-4D97-AF65-F5344CB8AC3E}">
        <p14:creationId xmlns:p14="http://schemas.microsoft.com/office/powerpoint/2010/main" val="49446865"/>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TYPED DECISIONS / HUMAN DEPLOYMENT AUTHORITY">
            <a:extLst xmlns:a="http://schemas.openxmlformats.org/drawingml/2006/main">
              <a:ext uri="{FF2B5EF4-FFF2-40B4-BE49-F238E27FC236}">
                <a16:creationId xmlns:a16="http://schemas.microsoft.com/office/drawing/2014/main" id="{8B111DC5-B5FD-4745-A785-2B54401D31E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TYPED DECISIONS / HUMAN DEPLOYMENT AUTHORITY</a:t>
            </a:r>
          </a:p>
        </p:txBody>
      </p:sp>
      <p:sp>
        <p:nvSpPr>
          <p:cNvPr id="2" name="Typed decisions and deployment authority">
            <a:extLst xmlns:a="http://schemas.openxmlformats.org/drawingml/2006/main">
              <a:ext uri="{FF2B5EF4-FFF2-40B4-BE49-F238E27FC236}">
                <a16:creationId xmlns:a16="http://schemas.microsoft.com/office/drawing/2014/main" id="{5D594A6F-9B0B-4B59-82E0-D1A07258B16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Typed decisions and deployment authority</a:t>
            </a:r>
          </a:p>
        </p:txBody>
      </p:sp>
      <p:graphicFrame>
        <p:nvGraphicFramePr>
          <p:cNvPr id="3" name="">
            <a:extLst xmlns:a="http://schemas.openxmlformats.org/drawingml/2006/main">
              <a:ext uri="{FF2B5EF4-FFF2-40B4-BE49-F238E27FC236}">
                <a16:creationId xmlns:a16="http://schemas.microsoft.com/office/drawing/2014/main" id="{004B8940-A55F-40C9-B53D-4F69FD671538}"/>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857500"/>
                <a:gridCol w="8096250"/>
              </a:tblGrid>
              <a:tr h="676275">
                <a:tc>
                  <a:txBody>
                    <a:bodyPr/>
                    <a:lstStyle/>
                    <a:p>
                      <a:r>
                        <a:rPr sz="1875" b="1">
                          <a:solidFill>
                            <a:srgbClr val="F2EFE7"/>
                          </a:solidFill>
                          <a:latin typeface="Arial"/>
                          <a:ea typeface="Arial"/>
                          <a:cs typeface="Arial"/>
                        </a:rPr>
                        <a:t>Owner</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Responsibility</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Decision provider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Choose a typed control, dependency or next action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Code and templates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Fill approved values, validate the spec and render YAML</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Tools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Observe workloads and simulate admission outcomes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Human reviewer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Resolve missing controls, approve exceptions and deploy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7BCAB585-EA68-411D-81DB-15CB44B307E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09">
            <a:extLst xmlns:a="http://schemas.openxmlformats.org/drawingml/2006/main">
              <a:ext uri="{FF2B5EF4-FFF2-40B4-BE49-F238E27FC236}">
                <a16:creationId xmlns:a16="http://schemas.microsoft.com/office/drawing/2014/main" id="{B259D98F-F554-44BB-85B6-C5359423BB3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136192641"/>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REFERENCE SPEC / LIVE COMPILER IF REHEARSED">
            <a:extLst xmlns:a="http://schemas.openxmlformats.org/drawingml/2006/main">
              <a:ext uri="{FF2B5EF4-FFF2-40B4-BE49-F238E27FC236}">
                <a16:creationId xmlns:a16="http://schemas.microsoft.com/office/drawing/2014/main" id="{A626D8BD-9454-4E0D-80A2-54921B09F48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SPEC / LIVE COMPILER IF REHEARSED</a:t>
            </a:r>
          </a:p>
        </p:txBody>
      </p:sp>
      <p:sp>
        <p:nvSpPr>
          <p:cNvPr id="2" name="Intent → reviewable proposal">
            <a:extLst xmlns:a="http://schemas.openxmlformats.org/drawingml/2006/main">
              <a:ext uri="{FF2B5EF4-FFF2-40B4-BE49-F238E27FC236}">
                <a16:creationId xmlns:a16="http://schemas.microsoft.com/office/drawing/2014/main" id="{4B557539-52BF-4CD2-B261-C6AD6853507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Intent → reviewable proposal</a:t>
            </a:r>
          </a:p>
        </p:txBody>
      </p:sp>
      <p:sp>
        <p:nvSpPr>
          <p:cNvPr id="3" name="“Prevent privilege escalation by workloads&#10;in th">
            <a:extLst xmlns:a="http://schemas.openxmlformats.org/drawingml/2006/main">
              <a:ext uri="{FF2B5EF4-FFF2-40B4-BE49-F238E27FC236}">
                <a16:creationId xmlns:a16="http://schemas.microsoft.com/office/drawing/2014/main" id="{1936AB58-7E73-4A6F-AFF7-E6914D3602DE}"/>
              </a:ext>
            </a:extLst>
          </p:cNvPr>
          <p:cNvSpPr>
            <a:spLocks xmlns:a="http://schemas.openxmlformats.org/drawingml/2006/main" noGrp="1"/>
          </p:cNvSpPr>
          <p:nvPr/>
        </p:nvSpPr>
        <p:spPr>
          <a:xfrm xmlns:a="http://schemas.openxmlformats.org/drawingml/2006/main">
            <a:off x="609600" y="23050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“Prevent privilege escalation by workloads</a:t>
            </a:r>
          </a:p>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in the payments namespace.”</a:t>
            </a:r>
          </a:p>
        </p:txBody>
      </p:sp>
      <p:sp>
        <p:nvSpPr>
          <p:cNvPr id="4" name="Control: deny_privilege_escalation&#10;Templates pro">
            <a:extLst xmlns:a="http://schemas.openxmlformats.org/drawingml/2006/main">
              <a:ext uri="{FF2B5EF4-FFF2-40B4-BE49-F238E27FC236}">
                <a16:creationId xmlns:a16="http://schemas.microsoft.com/office/drawing/2014/main" id="{81F785F4-F2B7-41D0-A9BA-F602A731E7DC}"/>
              </a:ext>
            </a:extLst>
          </p:cNvPr>
          <p:cNvSpPr>
            <a:spLocks xmlns:a="http://schemas.openxmlformats.org/drawingml/2006/main" noGrp="1"/>
          </p:cNvSpPr>
          <p:nvPr/>
        </p:nvSpPr>
        <p:spPr>
          <a:xfrm xmlns:a="http://schemas.openxmlformats.org/drawingml/2006/main">
            <a:off x="609600" y="37433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Control: deny_privilege_escalation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Templates produce a Kyverno policy. Fixtures show its effect.</a:t>
            </a:r>
          </a:p>
        </p:txBody>
      </p:sp>
      <p:sp>
        <p:nvSpPr>
          <p:cNvPr id="5" name="The real System-1 model failed the current live-">
            <a:extLst xmlns:a="http://schemas.openxmlformats.org/drawingml/2006/main">
              <a:ext uri="{FF2B5EF4-FFF2-40B4-BE49-F238E27FC236}">
                <a16:creationId xmlns:a16="http://schemas.microsoft.com/office/drawing/2014/main" id="{A8D4A671-4026-4CF4-A814-FD353E81DB33}"/>
              </a:ext>
            </a:extLst>
          </p:cNvPr>
          <p:cNvSpPr>
            <a:spLocks xmlns:a="http://schemas.openxmlformats.org/drawingml/2006/main" noGrp="1"/>
          </p:cNvSpPr>
          <p:nvPr/>
        </p:nvSpPr>
        <p:spPr>
          <a:xfrm xmlns:a="http://schemas.openxmlformats.org/drawingml/2006/main">
            <a:off x="609600" y="53721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The real System-1 model failed the current live-demo gate.</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This enforcement demonstration uses a supplied reference spec.</a:t>
            </a:r>
          </a:p>
        </p:txBody>
      </p:sp>
      <p:sp>
        <p:nvSpPr>
          <p:cNvPr id="6" name="ISC2 SECURITY CONGRESS 2026 / SC2632">
            <a:extLst xmlns:a="http://schemas.openxmlformats.org/drawingml/2006/main">
              <a:ext uri="{FF2B5EF4-FFF2-40B4-BE49-F238E27FC236}">
                <a16:creationId xmlns:a16="http://schemas.microsoft.com/office/drawing/2014/main" id="{3CABC337-8906-45FE-96EA-6C8657B87D7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10">
            <a:extLst xmlns:a="http://schemas.openxmlformats.org/drawingml/2006/main">
              <a:ext uri="{FF2B5EF4-FFF2-40B4-BE49-F238E27FC236}">
                <a16:creationId xmlns:a16="http://schemas.microsoft.com/office/drawing/2014/main" id="{42D67DFD-BDB0-4D0B-835F-89C38CFE9F6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880737916"/>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EFERENCE PR / SCENARIO A">
            <a:extLst xmlns:a="http://schemas.openxmlformats.org/drawingml/2006/main">
              <a:ext uri="{FF2B5EF4-FFF2-40B4-BE49-F238E27FC236}">
                <a16:creationId xmlns:a16="http://schemas.microsoft.com/office/drawing/2014/main" id="{1B0A557B-F39F-408E-A7B0-819088789F8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PR / SCENARIO A</a:t>
            </a:r>
          </a:p>
        </p:txBody>
      </p:sp>
      <p:sp>
        <p:nvSpPr>
          <p:cNvPr id="2" name="Unresolved enforcement requirements">
            <a:extLst xmlns:a="http://schemas.openxmlformats.org/drawingml/2006/main">
              <a:ext uri="{FF2B5EF4-FFF2-40B4-BE49-F238E27FC236}">
                <a16:creationId xmlns:a16="http://schemas.microsoft.com/office/drawing/2014/main" id="{C6358BCE-A332-4DB8-9FFB-E0E5572D7D3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D9A1CE8C-4577-4248-8630-B4ACD9E9897B}"/>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imulation evidence is limited to the fixtures e">
            <a:extLst xmlns:a="http://schemas.openxmlformats.org/drawingml/2006/main">
              <a:ext uri="{FF2B5EF4-FFF2-40B4-BE49-F238E27FC236}">
                <a16:creationId xmlns:a16="http://schemas.microsoft.com/office/drawing/2014/main" id="{06926DAC-3E42-4C29-8AB7-CD0278CF60E0}"/>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Simulation evidence is limited to the fixtures exercised.</a:t>
            </a:r>
          </a:p>
        </p:txBody>
      </p:sp>
      <p:sp>
        <p:nvSpPr>
          <p:cNvPr id="5" name="ISC2 SECURITY CONGRESS 2026 / SC2632">
            <a:extLst xmlns:a="http://schemas.openxmlformats.org/drawingml/2006/main">
              <a:ext uri="{FF2B5EF4-FFF2-40B4-BE49-F238E27FC236}">
                <a16:creationId xmlns:a16="http://schemas.microsoft.com/office/drawing/2014/main" id="{4BB97A3B-7B2C-4F24-AE8A-7034AA338AD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1">
            <a:extLst xmlns:a="http://schemas.openxmlformats.org/drawingml/2006/main">
              <a:ext uri="{FF2B5EF4-FFF2-40B4-BE49-F238E27FC236}">
                <a16:creationId xmlns:a16="http://schemas.microsoft.com/office/drawing/2014/main" id="{15326C83-E2CB-4956-BFBB-CAF1BBCF40D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1298771681"/>
      </p:ext>
    </p:extLst>
  </p:cSld>
</p:sld>
</file>

<file path=ppt/slides/slide1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1B97E1FB-CA34-47CF-A71F-CB40E82ED49F}"/>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B59182B3-5EDF-4F85-91DD-EC4D6F118217}"/>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F978FEB1-E5D0-4AFB-86FE-6CFADD640B4B}"/>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46211494-D1D6-4A97-9ABB-41F6A5F3ECA2}"/>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29B0A17F-3B12-4459-B1F9-3BC3F1B745AA}"/>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6A58E785-626D-4981-B936-1E215CFBEB78}"/>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8CE09B1C-995F-4FA1-BC01-DD64E42673B6}"/>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085CDCAE-EB59-4A91-8181-C0D0FF877081}"/>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7E376ADD-D4C9-4523-86EB-8913836FC42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2">
            <a:extLst xmlns:a="http://schemas.openxmlformats.org/drawingml/2006/main">
              <a:ext uri="{FF2B5EF4-FFF2-40B4-BE49-F238E27FC236}">
                <a16:creationId xmlns:a16="http://schemas.microsoft.com/office/drawing/2014/main" id="{D0CF1D16-75EF-4CC6-A3FA-57450049A14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12</a:t>
            </a:r>
          </a:p>
        </p:txBody>
      </p:sp>
    </p:spTree>
    <p:extLst>
      <p:ext uri="{BB962C8B-B14F-4D97-AF65-F5344CB8AC3E}">
        <p14:creationId xmlns:p14="http://schemas.microsoft.com/office/powerpoint/2010/main" val="1388835414"/>
      </p:ext>
    </p:extLst>
  </p:cSld>
</p:sld>
</file>

<file path=ppt/slides/slide1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6B607AD7-A63F-4235-9BB7-95EC20D2E9BE}"/>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Exception approval&#10;is unverified">
            <a:extLst xmlns:a="http://schemas.openxmlformats.org/drawingml/2006/main">
              <a:ext uri="{FF2B5EF4-FFF2-40B4-BE49-F238E27FC236}">
                <a16:creationId xmlns:a16="http://schemas.microsoft.com/office/drawing/2014/main" id="{51FAE015-C597-4147-9311-FA7C98E5CF66}"/>
              </a:ext>
            </a:extLst>
          </p:cNvPr>
          <p:cNvSpPr>
            <a:spLocks xmlns:a="http://schemas.openxmlformats.org/drawingml/2006/main" noGrp="1"/>
          </p:cNvSpPr>
          <p:nvPr/>
        </p:nvSpPr>
        <p:spPr>
          <a:xfrm xmlns:a="http://schemas.openxmlformats.org/drawingml/2006/main">
            <a:off x="609600" y="1400175"/>
            <a:ext cx="10668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Exception approval</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is unverified</a:t>
            </a:r>
          </a:p>
        </p:txBody>
      </p:sp>
      <p:sp>
        <p:nvSpPr>
          <p:cNvPr id="3" name="The request cites operational need but provides ">
            <a:extLst xmlns:a="http://schemas.openxmlformats.org/drawingml/2006/main">
              <a:ext uri="{FF2B5EF4-FFF2-40B4-BE49-F238E27FC236}">
                <a16:creationId xmlns:a16="http://schemas.microsoft.com/office/drawing/2014/main" id="{9C7186F2-5DA9-400B-AA48-D83A9C0BBF99}"/>
              </a:ext>
            </a:extLst>
          </p:cNvPr>
          <p:cNvSpPr>
            <a:spLocks xmlns:a="http://schemas.openxmlformats.org/drawingml/2006/main" noGrp="1"/>
          </p:cNvSpPr>
          <p:nvPr/>
        </p:nvSpPr>
        <p:spPr>
          <a:xfrm xmlns:a="http://schemas.openxmlformats.org/drawingml/2006/main">
            <a:off x="628650" y="38004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The request cites operational need but provides no verified approver or expiry.</a:t>
            </a:r>
          </a:p>
        </p:txBody>
      </p:sp>
      <p:sp>
        <p:nvSpPr>
          <p:cNvPr id="4" name="VERIFY THE APPROVER.  NARROW THE SCOPE.  SET THE">
            <a:extLst xmlns:a="http://schemas.openxmlformats.org/drawingml/2006/main">
              <a:ext uri="{FF2B5EF4-FFF2-40B4-BE49-F238E27FC236}">
                <a16:creationId xmlns:a16="http://schemas.microsoft.com/office/drawing/2014/main" id="{2BD1A21C-2EEE-4DAA-9419-AC330F872BBA}"/>
              </a:ext>
            </a:extLst>
          </p:cNvPr>
          <p:cNvSpPr>
            <a:spLocks xmlns:a="http://schemas.openxmlformats.org/drawingml/2006/main" noGrp="1"/>
          </p:cNvSpPr>
          <p:nvPr/>
        </p:nvSpPr>
        <p:spPr>
          <a:xfrm xmlns:a="http://schemas.openxmlformats.org/drawingml/2006/main">
            <a:off x="628650" y="5086350"/>
            <a:ext cx="1062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VERIFY THE APPROVER.  NARROW THE SCOPE.  SET THE EXPIRY.</a:t>
            </a:r>
          </a:p>
        </p:txBody>
      </p:sp>
      <p:sp>
        <p:nvSpPr>
          <p:cNvPr id="5" name="ISC2 SECURITY CONGRESS 2026 / SC2632">
            <a:extLst xmlns:a="http://schemas.openxmlformats.org/drawingml/2006/main">
              <a:ext uri="{FF2B5EF4-FFF2-40B4-BE49-F238E27FC236}">
                <a16:creationId xmlns:a16="http://schemas.microsoft.com/office/drawing/2014/main" id="{56C6792D-A473-4293-BE27-944A4C26E4C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3">
            <a:extLst xmlns:a="http://schemas.openxmlformats.org/drawingml/2006/main">
              <a:ext uri="{FF2B5EF4-FFF2-40B4-BE49-F238E27FC236}">
                <a16:creationId xmlns:a16="http://schemas.microsoft.com/office/drawing/2014/main" id="{BEADC772-A451-4483-85A8-0E8898D6E7B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13</a:t>
            </a:r>
          </a:p>
        </p:txBody>
      </p:sp>
    </p:spTree>
    <p:extLst>
      <p:ext uri="{BB962C8B-B14F-4D97-AF65-F5344CB8AC3E}">
        <p14:creationId xmlns:p14="http://schemas.microsoft.com/office/powerpoint/2010/main" val="2098864836"/>
      </p:ext>
    </p:extLst>
  </p:cSld>
</p:sld>
</file>

<file path=ppt/slides/slide1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DAE98E34-B472-4D14-8422-4673D0EBA3D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FE388BA1-1840-4242-B7A5-B2B8AFF387C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79345CBC-24E5-4FBF-A68A-D745E7ABC588}"/>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A791C7D0-C16B-47E8-9270-A35D346D5263}"/>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34A1189D-0B75-4786-82A5-596BD465F61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4">
            <a:extLst xmlns:a="http://schemas.openxmlformats.org/drawingml/2006/main">
              <a:ext uri="{FF2B5EF4-FFF2-40B4-BE49-F238E27FC236}">
                <a16:creationId xmlns:a16="http://schemas.microsoft.com/office/drawing/2014/main" id="{8025F192-790F-4577-B1B8-468559C6BCD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14</a:t>
            </a:r>
          </a:p>
        </p:txBody>
      </p:sp>
    </p:spTree>
    <p:extLst>
      <p:ext uri="{BB962C8B-B14F-4D97-AF65-F5344CB8AC3E}">
        <p14:creationId xmlns:p14="http://schemas.microsoft.com/office/powerpoint/2010/main" val="775762947"/>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IMPLEMENTED LEVELS / SCOPE MATTERS">
            <a:extLst xmlns:a="http://schemas.openxmlformats.org/drawingml/2006/main">
              <a:ext uri="{FF2B5EF4-FFF2-40B4-BE49-F238E27FC236}">
                <a16:creationId xmlns:a16="http://schemas.microsoft.com/office/drawing/2014/main" id="{3FE65C64-3DD5-4C1E-B7ED-B70D4BCBC96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IMPLEMENTED LEVELS / SCOPE MATTERS</a:t>
            </a:r>
          </a:p>
        </p:txBody>
      </p:sp>
      <p:sp>
        <p:nvSpPr>
          <p:cNvPr id="2" name="Quarantine Mode">
            <a:extLst xmlns:a="http://schemas.openxmlformats.org/drawingml/2006/main">
              <a:ext uri="{FF2B5EF4-FFF2-40B4-BE49-F238E27FC236}">
                <a16:creationId xmlns:a16="http://schemas.microsoft.com/office/drawing/2014/main" id="{EB8CE871-2808-4FBD-9A67-950420B5E38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a:t>
            </a:r>
          </a:p>
        </p:txBody>
      </p:sp>
      <p:graphicFrame>
        <p:nvGraphicFramePr>
          <p:cNvPr id="3" name="">
            <a:extLst xmlns:a="http://schemas.openxmlformats.org/drawingml/2006/main">
              <a:ext uri="{FF2B5EF4-FFF2-40B4-BE49-F238E27FC236}">
                <a16:creationId xmlns:a16="http://schemas.microsoft.com/office/drawing/2014/main" id="{DC249271-C141-4FF3-80C0-8C16E01544B0}"/>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095500"/>
                <a:gridCol w="5429250"/>
                <a:gridCol w="3429000"/>
              </a:tblGrid>
              <a:tr h="6762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Control change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Operational effect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Normal service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Freeze covered agent writes and new exceptions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Running Pods remain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Capture evidence, constrain suspect network and rotation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Clean capacity can 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Remove remaining suspect network allowances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Degraded service may follow</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8FB68584-803F-4B15-A824-61E49A36E59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15">
            <a:extLst xmlns:a="http://schemas.openxmlformats.org/drawingml/2006/main">
              <a:ext uri="{FF2B5EF4-FFF2-40B4-BE49-F238E27FC236}">
                <a16:creationId xmlns:a16="http://schemas.microsoft.com/office/drawing/2014/main" id="{19FA4ADF-88F8-4733-AD24-62D01CF456A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42732707"/>
      </p:ext>
    </p:extLst>
  </p:cSld>
</p:sld>
</file>

<file path=ppt/slides/slide1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CAA4DA0F-DDB4-4CB9-8412-DCBD2A4FA21D}"/>
              </a:ext>
            </a:extLst>
          </p:cNvPr>
          <p:cNvPicPr>
            <a:picLocks xmlns:a="http://schemas.openxmlformats.org/drawingml/2006/main" noChangeAspect="1"/>
          </p:cNvPicPr>
          <p:nvPr/>
        </p:nvPicPr>
        <p:blipFill>
          <a:blip xmlns:r="http://schemas.openxmlformats.org/officeDocument/2006/relationships" xmlns:a="http://schemas.openxmlformats.org/drawingml/2006/main" r:embed="R23c2eb7158d7493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A590ADBA-A602-45C6-9DD7-AEDC02780F84}"/>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822FFAB5-C09E-4FD5-8497-37F3AE572725}"/>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FAF89022-FE72-47A0-9B16-F9BE4588F492}"/>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Open the sealed update on page 7.&#10;Number actions">
            <a:extLst xmlns:a="http://schemas.openxmlformats.org/drawingml/2006/main">
              <a:ext uri="{FF2B5EF4-FFF2-40B4-BE49-F238E27FC236}">
                <a16:creationId xmlns:a16="http://schemas.microsoft.com/office/drawing/2014/main" id="{7211118C-DEA7-433C-9076-CFB5011019E2}"/>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Open the sealed update on page 7.</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Number actions and state the service floor.</a:t>
            </a:r>
          </a:p>
        </p:txBody>
      </p:sp>
      <p:sp>
        <p:nvSpPr>
          <p:cNvPr id="6" name="ISC2 SECURITY CONGRESS 2026 / SC2632">
            <a:extLst xmlns:a="http://schemas.openxmlformats.org/drawingml/2006/main">
              <a:ext uri="{FF2B5EF4-FFF2-40B4-BE49-F238E27FC236}">
                <a16:creationId xmlns:a16="http://schemas.microsoft.com/office/drawing/2014/main" id="{5F8873DA-A5FA-4707-8E27-DA75165FA91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6">
            <a:extLst xmlns:a="http://schemas.openxmlformats.org/drawingml/2006/main">
              <a:ext uri="{FF2B5EF4-FFF2-40B4-BE49-F238E27FC236}">
                <a16:creationId xmlns:a16="http://schemas.microsoft.com/office/drawing/2014/main" id="{4C71F6D6-683F-4063-A4FF-7907C548E10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16</a:t>
            </a:r>
          </a:p>
        </p:txBody>
      </p:sp>
    </p:spTree>
    <p:extLst>
      <p:ext uri="{BB962C8B-B14F-4D97-AF65-F5344CB8AC3E}">
        <p14:creationId xmlns:p14="http://schemas.microsoft.com/office/powerpoint/2010/main" val="409008619"/>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96C5BAEF-6902-4539-952F-9D5D5080C3C6}"/>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931E9725-30F8-4E83-B7D7-E6762621023F}"/>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6D70B630-9F1E-459F-B781-F03BBB9EC150}"/>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6590D87C-00A0-4E12-8605-2AE3595A0A4C}"/>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6A518C43-D610-49A4-8B73-D3E2E904D82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7">
            <a:extLst xmlns:a="http://schemas.openxmlformats.org/drawingml/2006/main">
              <a:ext uri="{FF2B5EF4-FFF2-40B4-BE49-F238E27FC236}">
                <a16:creationId xmlns:a16="http://schemas.microsoft.com/office/drawing/2014/main" id="{EEC84693-3D88-497E-88B2-596DCE4D871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26948215"/>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6313BDB7-DC89-4A75-8195-5E1C297EE614}"/>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CE3C927D-A6DD-4268-A6AE-FADE0059D03F}"/>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362526D2-53A1-4290-B2E5-45235900F0AD}"/>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DB535582-64F1-43C3-8E57-E9A853C1AF93}"/>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6CE77245-4F27-49AC-993D-C90EAE0F49B1}"/>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63E8CB31-70F2-438C-9DEA-788EE593CF51}"/>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72555A9D-96B9-4117-9104-A930ACD594DA}"/>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1FCB13F4-8D8E-4DEA-A8B7-EDD16DA7CAC4}"/>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E6B9A3E2-3EC2-420C-8EDF-0807B877497F}"/>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015AA648-3A5E-4322-8FE7-DFE6AD6B8AB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8">
            <a:extLst xmlns:a="http://schemas.openxmlformats.org/drawingml/2006/main">
              <a:ext uri="{FF2B5EF4-FFF2-40B4-BE49-F238E27FC236}">
                <a16:creationId xmlns:a16="http://schemas.microsoft.com/office/drawing/2014/main" id="{DC666596-3E1B-4136-91D1-2020FD5F63E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557330313"/>
      </p:ext>
    </p:extLst>
  </p:cSld>
</p:sld>
</file>

<file path=ppt/slides/slide1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AA440475-24E3-4232-B702-B540DCDECCD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Is the suspect&#10;isolated?">
            <a:extLst xmlns:a="http://schemas.openxmlformats.org/drawingml/2006/main">
              <a:ext uri="{FF2B5EF4-FFF2-40B4-BE49-F238E27FC236}">
                <a16:creationId xmlns:a16="http://schemas.microsoft.com/office/drawing/2014/main" id="{7C5B2CBC-4D6D-4CCF-BC1D-9123BD9B7C7E}"/>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 the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isolated?</a:t>
            </a:r>
          </a:p>
        </p:txBody>
      </p:sp>
      <p:pic>
        <p:nvPicPr>
          <p:cNvPr id="3" name="">
            <a:extLst xmlns:a="http://schemas.openxmlformats.org/drawingml/2006/main">
              <a:ext uri="{FF2B5EF4-FFF2-40B4-BE49-F238E27FC236}">
                <a16:creationId xmlns:a16="http://schemas.microsoft.com/office/drawing/2014/main" id="{AFDD368A-89B5-4826-97F8-602018705DAE}"/>
              </a:ext>
            </a:extLst>
          </p:cNvPr>
          <p:cNvPicPr>
            <a:picLocks xmlns:a="http://schemas.openxmlformats.org/drawingml/2006/main" noChangeAspect="1"/>
          </p:cNvPicPr>
          <p:nvPr/>
        </p:nvPicPr>
        <p:blipFill>
          <a:blip xmlns:r="http://schemas.openxmlformats.org/officeDocument/2006/relationships" xmlns:a="http://schemas.openxmlformats.org/drawingml/2006/main" r:embed="Re0de9b6203154a3d"/>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declared.&#10;Look at the DNS path.">
            <a:extLst xmlns:a="http://schemas.openxmlformats.org/drawingml/2006/main">
              <a:ext uri="{FF2B5EF4-FFF2-40B4-BE49-F238E27FC236}">
                <a16:creationId xmlns:a16="http://schemas.microsoft.com/office/drawing/2014/main" id="{4B931C5E-6480-42E6-9CE5-F23131418E83}"/>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Q3 is declared.</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Look at the DNS path.</a:t>
            </a:r>
          </a:p>
        </p:txBody>
      </p:sp>
      <p:sp>
        <p:nvSpPr>
          <p:cNvPr id="5" name="RECORD YOUR DECISION.&#10;STATE THE SUPPORTING EVIDE">
            <a:extLst xmlns:a="http://schemas.openxmlformats.org/drawingml/2006/main">
              <a:ext uri="{FF2B5EF4-FFF2-40B4-BE49-F238E27FC236}">
                <a16:creationId xmlns:a16="http://schemas.microsoft.com/office/drawing/2014/main" id="{7888766D-A978-4B46-8946-B178E4DE92A3}"/>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58C1ABFE-B97A-4821-A82D-018866418478}"/>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6AD00D19-38CE-4E67-B82F-E8864ADAC01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19">
            <a:extLst xmlns:a="http://schemas.openxmlformats.org/drawingml/2006/main">
              <a:ext uri="{FF2B5EF4-FFF2-40B4-BE49-F238E27FC236}">
                <a16:creationId xmlns:a16="http://schemas.microsoft.com/office/drawing/2014/main" id="{08FD3484-3E2B-4C87-89A6-A7EC56A7F78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19</a:t>
            </a:r>
          </a:p>
        </p:txBody>
      </p:sp>
    </p:spTree>
    <p:extLst>
      <p:ext uri="{BB962C8B-B14F-4D97-AF65-F5344CB8AC3E}">
        <p14:creationId xmlns:p14="http://schemas.microsoft.com/office/powerpoint/2010/main" val="460720780"/>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6A092B25-2899-4D65-960B-1E9EB887344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Can both suspect&#10;application copies be removed?">
            <a:extLst xmlns:a="http://schemas.openxmlformats.org/drawingml/2006/main">
              <a:ext uri="{FF2B5EF4-FFF2-40B4-BE49-F238E27FC236}">
                <a16:creationId xmlns:a16="http://schemas.microsoft.com/office/drawing/2014/main" id="{9D409359-4632-42A9-8A67-3265CE604988}"/>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both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application copies be removed?</a:t>
            </a:r>
          </a:p>
        </p:txBody>
      </p:sp>
      <p:pic>
        <p:nvPicPr>
          <p:cNvPr id="3" name="">
            <a:extLst xmlns:a="http://schemas.openxmlformats.org/drawingml/2006/main">
              <a:ext uri="{FF2B5EF4-FFF2-40B4-BE49-F238E27FC236}">
                <a16:creationId xmlns:a16="http://schemas.microsoft.com/office/drawing/2014/main" id="{FA95B8BB-C0D7-4368-A01B-A1A47084FB84}"/>
              </a:ext>
            </a:extLst>
          </p:cNvPr>
          <p:cNvPicPr>
            <a:picLocks xmlns:a="http://schemas.openxmlformats.org/drawingml/2006/main" noChangeAspect="1"/>
          </p:cNvPicPr>
          <p:nvPr/>
        </p:nvPicPr>
        <p:blipFill>
          <a:blip xmlns:r="http://schemas.openxmlformats.org/officeDocument/2006/relationships" xmlns:a="http://schemas.openxmlformats.org/drawingml/2006/main" r:embed="R68c500dd67fd4dbc"/>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serving copies.&#10;Keep two available.">
            <a:extLst xmlns:a="http://schemas.openxmlformats.org/drawingml/2006/main">
              <a:ext uri="{FF2B5EF4-FFF2-40B4-BE49-F238E27FC236}">
                <a16:creationId xmlns:a16="http://schemas.microsoft.com/office/drawing/2014/main" id="{C16D72E9-6A6D-4B86-B7F7-1F1678BE2E0C}"/>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Three serving copies.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Keep two available.</a:t>
            </a:r>
          </a:p>
        </p:txBody>
      </p:sp>
      <p:sp>
        <p:nvSpPr>
          <p:cNvPr id="5" name="RECORD YOUR DECISION.&#10;STATE THE SUPPORTING EVIDE">
            <a:extLst xmlns:a="http://schemas.openxmlformats.org/drawingml/2006/main">
              <a:ext uri="{FF2B5EF4-FFF2-40B4-BE49-F238E27FC236}">
                <a16:creationId xmlns:a16="http://schemas.microsoft.com/office/drawing/2014/main" id="{68B40349-D313-4DAD-9CD9-CFF7CC3F9466}"/>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74A06575-92B8-4AA1-A51E-21EDBE04C80B}"/>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217D2CAB-3180-4337-AFB4-BA6998C088C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D5953983-6028-4D20-A6B3-EA45ED26AE5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104294924"/>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47A43163-E832-45EC-A033-4A69D96BECD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Does Q2 cover&#10;the debug request?">
            <a:extLst xmlns:a="http://schemas.openxmlformats.org/drawingml/2006/main">
              <a:ext uri="{FF2B5EF4-FFF2-40B4-BE49-F238E27FC236}">
                <a16:creationId xmlns:a16="http://schemas.microsoft.com/office/drawing/2014/main" id="{B18EBD37-366B-4CA9-BF08-AB3A7F162334}"/>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Does Q2 cover</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the debug request?</a:t>
            </a:r>
          </a:p>
        </p:txBody>
      </p:sp>
      <p:pic>
        <p:nvPicPr>
          <p:cNvPr id="3" name="">
            <a:extLst xmlns:a="http://schemas.openxmlformats.org/drawingml/2006/main">
              <a:ext uri="{FF2B5EF4-FFF2-40B4-BE49-F238E27FC236}">
                <a16:creationId xmlns:a16="http://schemas.microsoft.com/office/drawing/2014/main" id="{990FD8F5-F24C-4202-B91E-2AEEA78DCDE6}"/>
              </a:ext>
            </a:extLst>
          </p:cNvPr>
          <p:cNvPicPr>
            <a:picLocks xmlns:a="http://schemas.openxmlformats.org/drawingml/2006/main" noChangeAspect="1"/>
          </p:cNvPicPr>
          <p:nvPr/>
        </p:nvPicPr>
        <p:blipFill>
          <a:blip xmlns:r="http://schemas.openxmlformats.org/officeDocument/2006/relationships" xmlns:a="http://schemas.openxmlformats.org/drawingml/2006/main" r:embed="R19decb3aab724774"/>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Only approved images&#10;may start in payments.">
            <a:extLst xmlns:a="http://schemas.openxmlformats.org/drawingml/2006/main">
              <a:ext uri="{FF2B5EF4-FFF2-40B4-BE49-F238E27FC236}">
                <a16:creationId xmlns:a16="http://schemas.microsoft.com/office/drawing/2014/main" id="{63072E59-BDA8-4DD9-99B7-FDF3A9C627B1}"/>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Only approved images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may start in payments.</a:t>
            </a:r>
          </a:p>
        </p:txBody>
      </p:sp>
      <p:sp>
        <p:nvSpPr>
          <p:cNvPr id="5" name="RECORD YOUR DECISION.&#10;STATE THE SUPPORTING EVIDE">
            <a:extLst xmlns:a="http://schemas.openxmlformats.org/drawingml/2006/main">
              <a:ext uri="{FF2B5EF4-FFF2-40B4-BE49-F238E27FC236}">
                <a16:creationId xmlns:a16="http://schemas.microsoft.com/office/drawing/2014/main" id="{B5A9DA4F-4191-4AC3-A65F-50DC1638E889}"/>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5C57022D-D9A6-4CA2-B5C1-ABDF75D3A4C0}"/>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BE1929C6-C20C-4AAC-A103-024AFEA936D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0279BA10-F557-40E3-98F9-8ECBF9E8AD7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680505060"/>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802D0D25-8D95-459E-99A6-BBB56FB06F4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Can this identity&#10;disable admission?">
            <a:extLst xmlns:a="http://schemas.openxmlformats.org/drawingml/2006/main">
              <a:ext uri="{FF2B5EF4-FFF2-40B4-BE49-F238E27FC236}">
                <a16:creationId xmlns:a16="http://schemas.microsoft.com/office/drawing/2014/main" id="{7048D62E-2F7E-44DB-8F7E-7628322E91A8}"/>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this identity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disable admission?</a:t>
            </a:r>
          </a:p>
        </p:txBody>
      </p:sp>
      <p:pic>
        <p:nvPicPr>
          <p:cNvPr id="3" name="">
            <a:extLst xmlns:a="http://schemas.openxmlformats.org/drawingml/2006/main">
              <a:ext uri="{FF2B5EF4-FFF2-40B4-BE49-F238E27FC236}">
                <a16:creationId xmlns:a16="http://schemas.microsoft.com/office/drawing/2014/main" id="{C018F53E-7C32-41EC-A87A-E47D209B6E59}"/>
              </a:ext>
            </a:extLst>
          </p:cNvPr>
          <p:cNvPicPr>
            <a:picLocks xmlns:a="http://schemas.openxmlformats.org/drawingml/2006/main" noChangeAspect="1"/>
          </p:cNvPicPr>
          <p:nvPr/>
        </p:nvPicPr>
        <p:blipFill>
          <a:blip xmlns:r="http://schemas.openxmlformats.org/officeDocument/2006/relationships" xmlns:a="http://schemas.openxmlformats.org/drawingml/2006/main" r:embed="Ra2dd6444300a4f9e"/>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Its role can scale&#10;any Deployment.">
            <a:extLst xmlns:a="http://schemas.openxmlformats.org/drawingml/2006/main">
              <a:ext uri="{FF2B5EF4-FFF2-40B4-BE49-F238E27FC236}">
                <a16:creationId xmlns:a16="http://schemas.microsoft.com/office/drawing/2014/main" id="{4306A05E-C906-464F-8CBB-BDCF872C654E}"/>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Its role can scale</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any Deployment.</a:t>
            </a:r>
          </a:p>
        </p:txBody>
      </p:sp>
      <p:sp>
        <p:nvSpPr>
          <p:cNvPr id="5" name="RECORD YOUR DECISION.&#10;STATE THE SUPPORTING EVIDE">
            <a:extLst xmlns:a="http://schemas.openxmlformats.org/drawingml/2006/main">
              <a:ext uri="{FF2B5EF4-FFF2-40B4-BE49-F238E27FC236}">
                <a16:creationId xmlns:a16="http://schemas.microsoft.com/office/drawing/2014/main" id="{883B06ED-87B0-441E-8286-D46F6B78F53D}"/>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4099E786-0FAE-4F8B-A645-E0AE48127173}"/>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D4F9070A-8432-4792-843C-13A4CADD648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DFBBFD4B-F0A9-48BA-A093-E427A4BD245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1419178362"/>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CBC8230F-175E-4283-B4C2-6C585BB4963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B818959F-1DFD-4C1C-B3A3-735665DE6AA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9C435CAC-DBC2-4356-A511-89983AA7FB8F}"/>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2213851A-B55F-444E-B1BA-8F5D659F505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3">
            <a:extLst xmlns:a="http://schemas.openxmlformats.org/drawingml/2006/main">
              <a:ext uri="{FF2B5EF4-FFF2-40B4-BE49-F238E27FC236}">
                <a16:creationId xmlns:a16="http://schemas.microsoft.com/office/drawing/2014/main" id="{98D53444-9441-4D44-A378-D657E541CC4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1789746220"/>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91E120D2-FBA3-46AD-B1E8-E7EF4136B7B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ECF46ED8-5FDB-4469-932B-BE0BE8145BB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F295A268-CCEF-4C3F-B02B-2A21AF97DCD7}"/>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E01C0A44-9098-4240-8A86-867172D6E215}"/>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FEAAF5E9-0401-490A-A901-77DEC1F2CDE3}"/>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99B4C943-218C-4E9E-B2D5-9550A6128AD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4">
            <a:extLst xmlns:a="http://schemas.openxmlformats.org/drawingml/2006/main">
              <a:ext uri="{FF2B5EF4-FFF2-40B4-BE49-F238E27FC236}">
                <a16:creationId xmlns:a16="http://schemas.microsoft.com/office/drawing/2014/main" id="{836322C2-F226-442D-A243-2DB414EB16C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734932779"/>
      </p:ext>
    </p:extLst>
  </p:cSld>
</p:sld>
</file>

<file path=ppt/slides/slide25.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D966505D-6A19-4FA4-A528-3C7CC8127D53}"/>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53AEB39B-B814-4C2A-AEA2-2BA37257D009}"/>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49923FBA-46F4-4400-91B5-C82F03D5D9A5}"/>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6A890DB9-9FBF-4C6D-AD50-84E8255F2463}"/>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3719B38E-5D0C-433A-8942-0A074460C89B}"/>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28E80BBB-93E6-4E2D-8694-2F537FD9073B}"/>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8EF96EB4-D5F8-4916-8553-D722FE0D699B}"/>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B868FF18-2688-4EFF-8824-4FC606E77F50}"/>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FF7AD016-69B1-4695-9E2B-CFA138E10077}"/>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BE4BB787-FCDF-42FC-AE43-FADE1AA82A90}"/>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61900874-11AC-44F3-A84D-0661A01F65D9}"/>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A793D57D-C066-47E6-9B1B-DF81BC300A3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5">
            <a:extLst xmlns:a="http://schemas.openxmlformats.org/drawingml/2006/main">
              <a:ext uri="{FF2B5EF4-FFF2-40B4-BE49-F238E27FC236}">
                <a16:creationId xmlns:a16="http://schemas.microsoft.com/office/drawing/2014/main" id="{EED9A0C4-CB92-4C77-AD4C-B2622E7D02C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25</a:t>
            </a:r>
          </a:p>
        </p:txBody>
      </p:sp>
    </p:spTree>
    <p:extLst>
      <p:ext uri="{BB962C8B-B14F-4D97-AF65-F5344CB8AC3E}">
        <p14:creationId xmlns:p14="http://schemas.microsoft.com/office/powerpoint/2010/main" val="1052662271"/>
      </p:ext>
    </p:extLst>
  </p:cSld>
</p:sld>
</file>

<file path=ppt/slides/slide2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1" name="MEASURED PILOT / THREE-RUN WORKFLOW MEDIANS">
            <a:extLst xmlns:a="http://schemas.openxmlformats.org/drawingml/2006/main">
              <a:ext uri="{FF2B5EF4-FFF2-40B4-BE49-F238E27FC236}">
                <a16:creationId xmlns:a16="http://schemas.microsoft.com/office/drawing/2014/main" id="{B02FFA91-B740-4BB6-BA3C-081A4076AA00}"/>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MEASURED PILOT / THREE-RUN WORKFLOW MEDIANS</a:t>
            </a:r>
          </a:p>
        </p:txBody>
      </p:sp>
      <p:sp>
        <p:nvSpPr>
          <p:cNvPr id="2" name="Model and workflow evaluation">
            <a:extLst xmlns:a="http://schemas.openxmlformats.org/drawingml/2006/main">
              <a:ext uri="{FF2B5EF4-FFF2-40B4-BE49-F238E27FC236}">
                <a16:creationId xmlns:a16="http://schemas.microsoft.com/office/drawing/2014/main" id="{5D5E332C-95E0-435A-8798-1A9B5EFC8FE0}"/>
              </a:ext>
            </a:extLst>
          </p:cNvPr>
          <p:cNvSpPr>
            <a:spLocks xmlns:a="http://schemas.openxmlformats.org/drawingml/2006/main" noGrp="1"/>
          </p:cNvSpPr>
          <p:nvPr/>
        </p:nvSpPr>
        <p:spPr>
          <a:xfrm xmlns:a="http://schemas.openxmlformats.org/drawingml/2006/main">
            <a:off x="609600" y="1123950"/>
            <a:ext cx="10763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Model and workflow evaluation</a:t>
            </a:r>
          </a:p>
        </p:txBody>
      </p:sp>
      <p:sp>
        <p:nvSpPr>
          <p:cNvPr id="3" name="JEV 1.13">
            <a:extLst xmlns:a="http://schemas.openxmlformats.org/drawingml/2006/main">
              <a:ext uri="{FF2B5EF4-FFF2-40B4-BE49-F238E27FC236}">
                <a16:creationId xmlns:a16="http://schemas.microsoft.com/office/drawing/2014/main" id="{846FF7C2-8588-4411-BDB9-9DC6AD04BD31}"/>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4" name="30/33">
            <a:extLst xmlns:a="http://schemas.openxmlformats.org/drawingml/2006/main">
              <a:ext uri="{FF2B5EF4-FFF2-40B4-BE49-F238E27FC236}">
                <a16:creationId xmlns:a16="http://schemas.microsoft.com/office/drawing/2014/main" id="{EE83C04D-B7FC-483C-9E42-D521005E8F7C}"/>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5" name="1.82 s / run">
            <a:extLst xmlns:a="http://schemas.openxmlformats.org/drawingml/2006/main">
              <a:ext uri="{FF2B5EF4-FFF2-40B4-BE49-F238E27FC236}">
                <a16:creationId xmlns:a16="http://schemas.microsoft.com/office/drawing/2014/main" id="{7A35175B-3C29-42B9-BDA4-76A15BCF07A6}"/>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6" name="$0.00019 / run">
            <a:extLst xmlns:a="http://schemas.openxmlformats.org/drawingml/2006/main">
              <a:ext uri="{FF2B5EF4-FFF2-40B4-BE49-F238E27FC236}">
                <a16:creationId xmlns:a16="http://schemas.microsoft.com/office/drawing/2014/main" id="{C0A5EF66-0A4A-4BCC-8FA6-CC3EB075066C}"/>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7" name="Guardrail generated">
            <a:extLst xmlns:a="http://schemas.openxmlformats.org/drawingml/2006/main">
              <a:ext uri="{FF2B5EF4-FFF2-40B4-BE49-F238E27FC236}">
                <a16:creationId xmlns:a16="http://schemas.microsoft.com/office/drawing/2014/main" id="{1065148E-11AC-4989-BDB8-F47B5A92CD65}"/>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8" name="CLAUDE OPUS 5.5">
            <a:extLst xmlns:a="http://schemas.openxmlformats.org/drawingml/2006/main">
              <a:ext uri="{FF2B5EF4-FFF2-40B4-BE49-F238E27FC236}">
                <a16:creationId xmlns:a16="http://schemas.microsoft.com/office/drawing/2014/main" id="{4AAA009B-C652-49E2-BA2A-AF89D7E93B55}"/>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9" name="32/33">
            <a:extLst xmlns:a="http://schemas.openxmlformats.org/drawingml/2006/main">
              <a:ext uri="{FF2B5EF4-FFF2-40B4-BE49-F238E27FC236}">
                <a16:creationId xmlns:a16="http://schemas.microsoft.com/office/drawing/2014/main" id="{BECE6465-3EFC-4252-9DEA-BBE55C5CFFF3}"/>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0" name="24.18 s / run">
            <a:extLst xmlns:a="http://schemas.openxmlformats.org/drawingml/2006/main">
              <a:ext uri="{FF2B5EF4-FFF2-40B4-BE49-F238E27FC236}">
                <a16:creationId xmlns:a16="http://schemas.microsoft.com/office/drawing/2014/main" id="{358AB3C9-B641-47ED-8316-BDDBBB455EA5}"/>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1" name="$0.03795 / run">
            <a:extLst xmlns:a="http://schemas.openxmlformats.org/drawingml/2006/main">
              <a:ext uri="{FF2B5EF4-FFF2-40B4-BE49-F238E27FC236}">
                <a16:creationId xmlns:a16="http://schemas.microsoft.com/office/drawing/2014/main" id="{56C38499-DC70-418B-8363-8A2B1E542204}"/>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2" name="Guardrail generated">
            <a:extLst xmlns:a="http://schemas.openxmlformats.org/drawingml/2006/main">
              <a:ext uri="{FF2B5EF4-FFF2-40B4-BE49-F238E27FC236}">
                <a16:creationId xmlns:a16="http://schemas.microsoft.com/office/drawing/2014/main" id="{2AA04707-6CA8-4630-8C36-9302FB1E0DEB}"/>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3" name="LAYA / ZERO-SHOT">
            <a:extLst xmlns:a="http://schemas.openxmlformats.org/drawingml/2006/main">
              <a:ext uri="{FF2B5EF4-FFF2-40B4-BE49-F238E27FC236}">
                <a16:creationId xmlns:a16="http://schemas.microsoft.com/office/drawing/2014/main" id="{B55476C3-E77D-4986-9067-121301D2D6A3}"/>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4" name="16/33">
            <a:extLst xmlns:a="http://schemas.openxmlformats.org/drawingml/2006/main">
              <a:ext uri="{FF2B5EF4-FFF2-40B4-BE49-F238E27FC236}">
                <a16:creationId xmlns:a16="http://schemas.microsoft.com/office/drawing/2014/main" id="{132DA381-9B79-495A-A658-59B139A378A8}"/>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5" name="0.41 s / run">
            <a:extLst xmlns:a="http://schemas.openxmlformats.org/drawingml/2006/main">
              <a:ext uri="{FF2B5EF4-FFF2-40B4-BE49-F238E27FC236}">
                <a16:creationId xmlns:a16="http://schemas.microsoft.com/office/drawing/2014/main" id="{E4777A19-C441-4EEF-85CE-80DEE4F78F38}"/>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6" name="$0 API* / run">
            <a:extLst xmlns:a="http://schemas.openxmlformats.org/drawingml/2006/main">
              <a:ext uri="{FF2B5EF4-FFF2-40B4-BE49-F238E27FC236}">
                <a16:creationId xmlns:a16="http://schemas.microsoft.com/office/drawing/2014/main" id="{E98BF9E8-B523-4BA7-95A1-E76A7E7B598E}"/>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7" name="No guardrail generated">
            <a:extLst xmlns:a="http://schemas.openxmlformats.org/drawingml/2006/main">
              <a:ext uri="{FF2B5EF4-FFF2-40B4-BE49-F238E27FC236}">
                <a16:creationId xmlns:a16="http://schemas.microsoft.com/office/drawing/2014/main" id="{0B8C1FA2-2965-4FC7-BCF9-036CECBDF846}"/>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8" name="33 author-labelled choices. Review/deployment ex">
            <a:extLst xmlns:a="http://schemas.openxmlformats.org/drawingml/2006/main">
              <a:ext uri="{FF2B5EF4-FFF2-40B4-BE49-F238E27FC236}">
                <a16:creationId xmlns:a16="http://schemas.microsoft.com/office/drawing/2014/main" id="{DF8DF693-131A-4A04-B446-1643D1FE684B}"/>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author-labelled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confidence definitions differ. No production superiority claim. Full metrics in backup.</a:t>
            </a:r>
          </a:p>
        </p:txBody>
      </p:sp>
      <p:sp>
        <p:nvSpPr>
          <p:cNvPr id="19" name="ISC2 SECURITY CONGRESS 2026 / SC2632">
            <a:extLst xmlns:a="http://schemas.openxmlformats.org/drawingml/2006/main">
              <a:ext uri="{FF2B5EF4-FFF2-40B4-BE49-F238E27FC236}">
                <a16:creationId xmlns:a16="http://schemas.microsoft.com/office/drawing/2014/main" id="{3A5AC07F-D72D-474D-B3B9-DEF7BFEE301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0" name="26">
            <a:extLst xmlns:a="http://schemas.openxmlformats.org/drawingml/2006/main">
              <a:ext uri="{FF2B5EF4-FFF2-40B4-BE49-F238E27FC236}">
                <a16:creationId xmlns:a16="http://schemas.microsoft.com/office/drawing/2014/main" id="{3BA48045-C851-4181-980D-D8418290E19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26</a:t>
            </a:r>
          </a:p>
        </p:txBody>
      </p:sp>
    </p:spTree>
    <p:extLst>
      <p:ext uri="{BB962C8B-B14F-4D97-AF65-F5344CB8AC3E}">
        <p14:creationId xmlns:p14="http://schemas.microsoft.com/office/powerpoint/2010/main" val="1601763475"/>
      </p:ext>
    </p:extLst>
  </p:cSld>
</p:sld>
</file>

<file path=ppt/slides/slide2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5EC2CA89-5E74-4E52-B89A-B9C55F2119C9}"/>
              </a:ext>
            </a:extLst>
          </p:cNvPr>
          <p:cNvPicPr>
            <a:picLocks xmlns:a="http://schemas.openxmlformats.org/drawingml/2006/main" noChangeAspect="1"/>
          </p:cNvPicPr>
          <p:nvPr/>
        </p:nvPicPr>
        <p:blipFill>
          <a:blip xmlns:r="http://schemas.openxmlformats.org/officeDocument/2006/relationships" xmlns:a="http://schemas.openxmlformats.org/drawingml/2006/main" r:embed="Rcf2ea586f4314f7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2BCB571E-C087-48C4-BBC8-BCD77BE12A2C}"/>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4A653A31-37A9-43A9-B062-E4E378D703E0}"/>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C78A24BE-035C-4BF2-8F2E-E47370034010}"/>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On page 6, name the exit test,&#10;who can lift quar">
            <a:extLst xmlns:a="http://schemas.openxmlformats.org/drawingml/2006/main">
              <a:ext uri="{FF2B5EF4-FFF2-40B4-BE49-F238E27FC236}">
                <a16:creationId xmlns:a16="http://schemas.microsoft.com/office/drawing/2014/main" id="{943297A6-0EC8-46C4-9C2D-A4FE941087A6}"/>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On page 6, name the exit test,</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who can lift quarantine and the rollback condition.</a:t>
            </a:r>
          </a:p>
        </p:txBody>
      </p:sp>
      <p:sp>
        <p:nvSpPr>
          <p:cNvPr id="6" name="ISC2 SECURITY CONGRESS 2026 / SC2632">
            <a:extLst xmlns:a="http://schemas.openxmlformats.org/drawingml/2006/main">
              <a:ext uri="{FF2B5EF4-FFF2-40B4-BE49-F238E27FC236}">
                <a16:creationId xmlns:a16="http://schemas.microsoft.com/office/drawing/2014/main" id="{F8D061F9-5003-45E4-9ECC-C40E793C8D5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7">
            <a:extLst xmlns:a="http://schemas.openxmlformats.org/drawingml/2006/main">
              <a:ext uri="{FF2B5EF4-FFF2-40B4-BE49-F238E27FC236}">
                <a16:creationId xmlns:a16="http://schemas.microsoft.com/office/drawing/2014/main" id="{B989CDD3-FE81-4614-8439-6E02BE09682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27</a:t>
            </a:r>
          </a:p>
        </p:txBody>
      </p:sp>
    </p:spTree>
    <p:extLst>
      <p:ext uri="{BB962C8B-B14F-4D97-AF65-F5344CB8AC3E}">
        <p14:creationId xmlns:p14="http://schemas.microsoft.com/office/powerpoint/2010/main" val="444442615"/>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6" name="APPLICATION TO YOUR ENVIRONMENT">
            <a:extLst xmlns:a="http://schemas.openxmlformats.org/drawingml/2006/main">
              <a:ext uri="{FF2B5EF4-FFF2-40B4-BE49-F238E27FC236}">
                <a16:creationId xmlns:a16="http://schemas.microsoft.com/office/drawing/2014/main" id="{D596E124-28D6-4E92-AC0A-55D415084E5B}"/>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APPLICATION TO YOUR ENVIRONMENT</a:t>
            </a:r>
          </a:p>
        </p:txBody>
      </p:sp>
      <p:sp>
        <p:nvSpPr>
          <p:cNvPr id="2" name="Identify a requirement.&#10;Assign its owner.&#10;Specif">
            <a:extLst xmlns:a="http://schemas.openxmlformats.org/drawingml/2006/main">
              <a:ext uri="{FF2B5EF4-FFF2-40B4-BE49-F238E27FC236}">
                <a16:creationId xmlns:a16="http://schemas.microsoft.com/office/drawing/2014/main" id="{8EF29555-43AA-4DFF-AE37-99FB7A1FD789}"/>
              </a:ext>
            </a:extLst>
          </p:cNvPr>
          <p:cNvSpPr>
            <a:spLocks xmlns:a="http://schemas.openxmlformats.org/drawingml/2006/main" noGrp="1"/>
          </p:cNvSpPr>
          <p:nvPr/>
        </p:nvSpPr>
        <p:spPr>
          <a:xfrm xmlns:a="http://schemas.openxmlformats.org/drawingml/2006/main">
            <a:off x="609600" y="1400175"/>
            <a:ext cx="106680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F2EFE7"/>
                </a:solidFill>
                <a:latin typeface="Arial Black"/>
                <a:ea typeface="Arial Black"/>
                <a:cs typeface="Arial Black"/>
              </a:defRPr>
            </a:defPPr>
          </a:lstStyle>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Identify a requirement.</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Assign its owner.</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Specify acceptance evidence.</a:t>
            </a:r>
          </a:p>
        </p:txBody>
      </p:sp>
      <p:sp>
        <p:nvSpPr>
          <p:cNvPr id="3" name="Choose one unresolved control boundary in your e">
            <a:extLst xmlns:a="http://schemas.openxmlformats.org/drawingml/2006/main">
              <a:ext uri="{FF2B5EF4-FFF2-40B4-BE49-F238E27FC236}">
                <a16:creationId xmlns:a16="http://schemas.microsoft.com/office/drawing/2014/main" id="{0EBE1A4C-2C00-4172-93CF-E6A870B94F2D}"/>
              </a:ext>
            </a:extLst>
          </p:cNvPr>
          <p:cNvSpPr>
            <a:spLocks xmlns:a="http://schemas.openxmlformats.org/drawingml/2006/main" noGrp="1"/>
          </p:cNvSpPr>
          <p:nvPr/>
        </p:nvSpPr>
        <p:spPr>
          <a:xfrm xmlns:a="http://schemas.openxmlformats.org/drawingml/2006/main">
            <a:off x="628650" y="50577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Choose one unresolved control boundary in your environment.</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Document the evidence needed before approving enforcement.</a:t>
            </a:r>
          </a:p>
        </p:txBody>
      </p:sp>
      <p:sp>
        <p:nvSpPr>
          <p:cNvPr id="4" name="ISC2 SECURITY CONGRESS 2026 / SC2632">
            <a:extLst xmlns:a="http://schemas.openxmlformats.org/drawingml/2006/main">
              <a:ext uri="{FF2B5EF4-FFF2-40B4-BE49-F238E27FC236}">
                <a16:creationId xmlns:a16="http://schemas.microsoft.com/office/drawing/2014/main" id="{44B1B70F-246B-495B-950C-85535946B56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5" name="28">
            <a:extLst xmlns:a="http://schemas.openxmlformats.org/drawingml/2006/main">
              <a:ext uri="{FF2B5EF4-FFF2-40B4-BE49-F238E27FC236}">
                <a16:creationId xmlns:a16="http://schemas.microsoft.com/office/drawing/2014/main" id="{FA019242-B5C0-4D0C-A620-7832D03C765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1858306646"/>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F1A6D534-C318-4DCF-BE56-D8AA8176B0D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45DBB2F2-2635-4A06-BA0E-1B4407D2ACF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08CA3578-5ADF-44AB-A06A-57471B4BA64B}"/>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7E327079-CBBD-422D-85F2-EBF288583FE8}"/>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2CFE3AAC-1979-4B2F-AA56-77D726102D5A}"/>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73D71AE0-AF9B-4DB2-9E33-0A84A3571C1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9">
            <a:extLst xmlns:a="http://schemas.openxmlformats.org/drawingml/2006/main">
              <a:ext uri="{FF2B5EF4-FFF2-40B4-BE49-F238E27FC236}">
                <a16:creationId xmlns:a16="http://schemas.microsoft.com/office/drawing/2014/main" id="{95337C64-105F-4E6C-BD96-22A63907719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1194655590"/>
      </p:ext>
    </p:extLst>
  </p:cSld>
</p:sld>
</file>

<file path=ppt/slides/slide30.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652EF20C-0429-47AE-8CF7-E44DA25AB2B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E8797CE7-343F-4C80-90C5-98E5785EF83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50D86327-99C8-44EA-98D2-6C5DE9CFF20E}"/>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63AC221C-D25F-4892-A051-7FCA9BFA6A28}"/>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EE5CEA7F-81F6-44DE-A3F8-C145B148EE99}"/>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339D6FAC-A706-4BA8-8E5E-181A51E30EB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F75851E4-77BD-4D45-B23D-62CBDDA12FE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1996914620"/>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35B0DE31-D918-4D7F-B183-3BD2A105694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3846F2FC-8562-4FF0-BA1F-5841A745BCB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1A1E36ED-BEC5-44B4-BF93-79D6087671DF}"/>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AB137675-68B0-4A44-B2AD-A72E85921FD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1">
            <a:extLst xmlns:a="http://schemas.openxmlformats.org/drawingml/2006/main">
              <a:ext uri="{FF2B5EF4-FFF2-40B4-BE49-F238E27FC236}">
                <a16:creationId xmlns:a16="http://schemas.microsoft.com/office/drawing/2014/main" id="{D2D9C994-CC5A-4234-AF15-1A21CFB4383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431707730"/>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232FB47B-B1CF-423C-8422-4A1E31768F0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0A6315FD-0913-4223-8452-A750EE92128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A9858665-0296-4075-8372-E1A03FD0738A}"/>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58B5FF47-1681-4A40-99EE-30DADB2D4436}"/>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39E4852C-CAE3-40A4-A9A6-21EB267C52E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2">
            <a:extLst xmlns:a="http://schemas.openxmlformats.org/drawingml/2006/main">
              <a:ext uri="{FF2B5EF4-FFF2-40B4-BE49-F238E27FC236}">
                <a16:creationId xmlns:a16="http://schemas.microsoft.com/office/drawing/2014/main" id="{168E1A37-63C6-4B1A-938C-F32841A74DD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1740038417"/>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0A330430-DB54-48DF-B15C-4F6EDACC186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2D7425E0-A0B0-4DC8-AD6E-BAA94CFA8D75}"/>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D7844334-6783-4AAF-8167-B1A809C16F49}"/>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6453D740-4A2E-41E4-AFB8-2EEF79A9A41B}"/>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17C3A639-12E3-4A56-8E75-0FE7FB779E5D}"/>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B5F8A05E-3020-4BBD-9A0F-98BC6935030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3">
            <a:extLst xmlns:a="http://schemas.openxmlformats.org/drawingml/2006/main">
              <a:ext uri="{FF2B5EF4-FFF2-40B4-BE49-F238E27FC236}">
                <a16:creationId xmlns:a16="http://schemas.microsoft.com/office/drawing/2014/main" id="{1566DAC2-085B-4D15-B204-700F66ECE35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288592606"/>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45D20FC3-DC87-4687-8167-67A33BABAEC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D714B30D-62AF-4ACF-A6B0-115AB0D0825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7BC004A9-A870-42E9-87E2-D8B22D7F4752}"/>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89B5F228-4D34-4CF9-B87E-A13D0BE2F2C5}"/>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818EA8B7-40C6-4794-9CEF-2BA8A24C0A9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4">
            <a:extLst xmlns:a="http://schemas.openxmlformats.org/drawingml/2006/main">
              <a:ext uri="{FF2B5EF4-FFF2-40B4-BE49-F238E27FC236}">
                <a16:creationId xmlns:a16="http://schemas.microsoft.com/office/drawing/2014/main" id="{79FDD471-64BF-4A7B-A8F2-E4F648E8BD1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1550146901"/>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7DA5285C-3122-46E2-A3F1-9EBD8617F7A1}"/>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7779737A-2D55-42E0-A186-CABE9976328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68F69F68-7FDE-4C43-9B1F-A7D9A753F993}"/>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EBC71001-215F-4FAF-9A3B-1C7B038E32EE}"/>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C2826989-E21D-4798-B06A-A5A72FC77EF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10DD7296-4E1E-4E53-ACC4-40146FDDC4A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14481490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2026-10-14T14:57:36.6860000Z</dcterms:created>
  <dcterms:modified xsi:type="dcterms:W3CDTF">2026-10-14T14:57:36.6860000Z</dcterms:modified>
</coreProperties>
</file>