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40a6ca54eb24f81" /><Relationship Type="http://schemas.openxmlformats.org/officeDocument/2006/relationships/extended-properties" Target="/docProps/app.xml" Id="R9a0f5606588a4208" /><Relationship Type="http://schemas.openxmlformats.org/officeDocument/2006/relationships/officeDocument" Target="/ppt/presentation.xml" Id="Rde6dfbfdb6ac4087" /></Relationships>
</file>

<file path=ppt/presentation.xml><?xml version="1.0" encoding="utf-8"?>
<p:presentation xmlns:p="http://schemas.openxmlformats.org/presentationml/2006/main">
  <p:sldMasterIdLst>
    <p:sldMasterId xmlns:r="http://schemas.openxmlformats.org/officeDocument/2006/relationships" id="2147483648" r:id="R87cabca7519c451e"/>
  </p:sldMasterIdLst>
  <p:notesMasterIdLst>
    <p:notesMasterId xmlns:r="http://schemas.openxmlformats.org/officeDocument/2006/relationships" r:id="R9032611988544060"/>
  </p:notesMasterIdLst>
  <p:sldIdLst>
    <p:sldId xmlns:r="http://schemas.openxmlformats.org/officeDocument/2006/relationships" id="256" r:id="Re014a15f4c734ea0"/>
    <p:sldId xmlns:r="http://schemas.openxmlformats.org/officeDocument/2006/relationships" id="257" r:id="Rdccfb7c7ac5c4d38"/>
    <p:sldId xmlns:r="http://schemas.openxmlformats.org/officeDocument/2006/relationships" id="258" r:id="R8aae8e892f0c4008"/>
    <p:sldId xmlns:r="http://schemas.openxmlformats.org/officeDocument/2006/relationships" id="259" r:id="R51d01e0115b745c4"/>
    <p:sldId xmlns:r="http://schemas.openxmlformats.org/officeDocument/2006/relationships" id="260" r:id="R4b452d6c2ef24215"/>
    <p:sldId xmlns:r="http://schemas.openxmlformats.org/officeDocument/2006/relationships" id="261" r:id="Rcfae8e2476584edc"/>
    <p:sldId xmlns:r="http://schemas.openxmlformats.org/officeDocument/2006/relationships" id="262" r:id="R8e844bdd5eb1404d"/>
    <p:sldId xmlns:r="http://schemas.openxmlformats.org/officeDocument/2006/relationships" id="263" r:id="Rd1e488625ff34986"/>
    <p:sldId xmlns:r="http://schemas.openxmlformats.org/officeDocument/2006/relationships" id="264" r:id="R2c872a026f3f4dd1"/>
    <p:sldId xmlns:r="http://schemas.openxmlformats.org/officeDocument/2006/relationships" id="265" r:id="Rf725b4eb0b2c4086"/>
    <p:sldId xmlns:r="http://schemas.openxmlformats.org/officeDocument/2006/relationships" id="266" r:id="R623e3baf82c24809"/>
    <p:sldId xmlns:r="http://schemas.openxmlformats.org/officeDocument/2006/relationships" id="267" r:id="R6ec1e97ed11a47d0"/>
    <p:sldId xmlns:r="http://schemas.openxmlformats.org/officeDocument/2006/relationships" id="268" r:id="Rd87b80be489e4938"/>
    <p:sldId xmlns:r="http://schemas.openxmlformats.org/officeDocument/2006/relationships" id="269" r:id="R80dbafd818904386"/>
    <p:sldId xmlns:r="http://schemas.openxmlformats.org/officeDocument/2006/relationships" id="270" r:id="Ra9ebd631de124501"/>
    <p:sldId xmlns:r="http://schemas.openxmlformats.org/officeDocument/2006/relationships" id="271" r:id="Rae1b2dcc8b664359"/>
    <p:sldId xmlns:r="http://schemas.openxmlformats.org/officeDocument/2006/relationships" id="272" r:id="R2483b51c04c4469e"/>
    <p:sldId xmlns:r="http://schemas.openxmlformats.org/officeDocument/2006/relationships" id="273" r:id="R5a29abff3082420b"/>
    <p:sldId xmlns:r="http://schemas.openxmlformats.org/officeDocument/2006/relationships" id="274" r:id="R79f894ab73ea41ec"/>
    <p:sldId xmlns:r="http://schemas.openxmlformats.org/officeDocument/2006/relationships" id="275" r:id="R9a5de001f47c4106"/>
    <p:sldId xmlns:r="http://schemas.openxmlformats.org/officeDocument/2006/relationships" id="276" r:id="R0046bf3d16c1421c"/>
    <p:sldId xmlns:r="http://schemas.openxmlformats.org/officeDocument/2006/relationships" id="277" r:id="Re2b8cbb907184cbd"/>
    <p:sldId xmlns:r="http://schemas.openxmlformats.org/officeDocument/2006/relationships" id="278" r:id="Ra0a9a03ac7744546"/>
    <p:sldId xmlns:r="http://schemas.openxmlformats.org/officeDocument/2006/relationships" id="279" r:id="Ra440de8e5b4c4821"/>
    <p:sldId xmlns:r="http://schemas.openxmlformats.org/officeDocument/2006/relationships" id="280" r:id="R05ad3805e9c04317"/>
    <p:sldId xmlns:r="http://schemas.openxmlformats.org/officeDocument/2006/relationships" id="281" r:id="R095aed1200204414"/>
    <p:sldId xmlns:r="http://schemas.openxmlformats.org/officeDocument/2006/relationships" id="282" r:id="R482adbb9c4d34c2a"/>
    <p:sldId xmlns:r="http://schemas.openxmlformats.org/officeDocument/2006/relationships" id="283" r:id="R708ccf5445f54df8"/>
    <p:sldId xmlns:r="http://schemas.openxmlformats.org/officeDocument/2006/relationships" id="284" r:id="R7cf4d30d685a4a20"/>
    <p:sldId xmlns:r="http://schemas.openxmlformats.org/officeDocument/2006/relationships" id="285" r:id="R3ede650996784026"/>
    <p:sldId xmlns:r="http://schemas.openxmlformats.org/officeDocument/2006/relationships" id="286" r:id="Ra2eb6ae0c44c41f6"/>
    <p:sldId xmlns:r="http://schemas.openxmlformats.org/officeDocument/2006/relationships" id="287" r:id="Rb586adadb1d7444c"/>
    <p:sldId xmlns:r="http://schemas.openxmlformats.org/officeDocument/2006/relationships" id="288" r:id="R4405d423e6144b84"/>
    <p:sldId xmlns:r="http://schemas.openxmlformats.org/officeDocument/2006/relationships" id="289" r:id="R9b9777a5098c4101"/>
    <p:sldId xmlns:r="http://schemas.openxmlformats.org/officeDocument/2006/relationships" id="290" r:id="R7f7a60c0b4d74fc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3944ce55134cce" /><Relationship Type="http://schemas.openxmlformats.org/officeDocument/2006/relationships/slideMaster" Target="/ppt/slideMasters/slideMaster1.xml" Id="R87cabca7519c451e" /><Relationship Type="http://schemas.openxmlformats.org/officeDocument/2006/relationships/notesMaster" Target="/ppt/notesMasters/notesMaster1.xml" Id="R9032611988544060" /><Relationship Type="http://schemas.openxmlformats.org/officeDocument/2006/relationships/presProps" Target="/ppt/presProps.xml" Id="R35dd6e55399b4c24" /><Relationship Type="http://schemas.openxmlformats.org/officeDocument/2006/relationships/tableStyles" Target="/ppt/tableStyles.xml" Id="Rf3c57da417bf4b4f" /><Relationship Type="http://schemas.openxmlformats.org/officeDocument/2006/relationships/slide" Target="/ppt/slides/slide1.xml" Id="Re014a15f4c734ea0" /><Relationship Type="http://schemas.openxmlformats.org/officeDocument/2006/relationships/slide" Target="/ppt/slides/slide2.xml" Id="Rdccfb7c7ac5c4d38" /><Relationship Type="http://schemas.openxmlformats.org/officeDocument/2006/relationships/slide" Target="/ppt/slides/slide3.xml" Id="R8aae8e892f0c4008" /><Relationship Type="http://schemas.openxmlformats.org/officeDocument/2006/relationships/slide" Target="/ppt/slides/slide4.xml" Id="R51d01e0115b745c4" /><Relationship Type="http://schemas.openxmlformats.org/officeDocument/2006/relationships/slide" Target="/ppt/slides/slide5.xml" Id="R4b452d6c2ef24215" /><Relationship Type="http://schemas.openxmlformats.org/officeDocument/2006/relationships/slide" Target="/ppt/slides/slide6.xml" Id="Rcfae8e2476584edc" /><Relationship Type="http://schemas.openxmlformats.org/officeDocument/2006/relationships/slide" Target="/ppt/slides/slide7.xml" Id="R8e844bdd5eb1404d" /><Relationship Type="http://schemas.openxmlformats.org/officeDocument/2006/relationships/slide" Target="/ppt/slides/slide8.xml" Id="Rd1e488625ff34986" /><Relationship Type="http://schemas.openxmlformats.org/officeDocument/2006/relationships/slide" Target="/ppt/slides/slide9.xml" Id="R2c872a026f3f4dd1" /><Relationship Type="http://schemas.openxmlformats.org/officeDocument/2006/relationships/slide" Target="/ppt/slides/slide10.xml" Id="Rf725b4eb0b2c4086" /><Relationship Type="http://schemas.openxmlformats.org/officeDocument/2006/relationships/slide" Target="/ppt/slides/slide11.xml" Id="R623e3baf82c24809" /><Relationship Type="http://schemas.openxmlformats.org/officeDocument/2006/relationships/slide" Target="/ppt/slides/slide12.xml" Id="R6ec1e97ed11a47d0" /><Relationship Type="http://schemas.openxmlformats.org/officeDocument/2006/relationships/slide" Target="/ppt/slides/slide13.xml" Id="Rd87b80be489e4938" /><Relationship Type="http://schemas.openxmlformats.org/officeDocument/2006/relationships/slide" Target="/ppt/slides/slide14.xml" Id="R80dbafd818904386" /><Relationship Type="http://schemas.openxmlformats.org/officeDocument/2006/relationships/slide" Target="/ppt/slides/slide15.xml" Id="Ra9ebd631de124501" /><Relationship Type="http://schemas.openxmlformats.org/officeDocument/2006/relationships/slide" Target="/ppt/slides/slide16.xml" Id="Rae1b2dcc8b664359" /><Relationship Type="http://schemas.openxmlformats.org/officeDocument/2006/relationships/slide" Target="/ppt/slides/slide17.xml" Id="R2483b51c04c4469e" /><Relationship Type="http://schemas.openxmlformats.org/officeDocument/2006/relationships/slide" Target="/ppt/slides/slide18.xml" Id="R5a29abff3082420b" /><Relationship Type="http://schemas.openxmlformats.org/officeDocument/2006/relationships/slide" Target="/ppt/slides/slide19.xml" Id="R79f894ab73ea41ec" /><Relationship Type="http://schemas.openxmlformats.org/officeDocument/2006/relationships/slide" Target="/ppt/slides/slide20.xml" Id="R9a5de001f47c4106" /><Relationship Type="http://schemas.openxmlformats.org/officeDocument/2006/relationships/slide" Target="/ppt/slides/slide21.xml" Id="R0046bf3d16c1421c" /><Relationship Type="http://schemas.openxmlformats.org/officeDocument/2006/relationships/slide" Target="/ppt/slides/slide22.xml" Id="Re2b8cbb907184cbd" /><Relationship Type="http://schemas.openxmlformats.org/officeDocument/2006/relationships/slide" Target="/ppt/slides/slide23.xml" Id="Ra0a9a03ac7744546" /><Relationship Type="http://schemas.openxmlformats.org/officeDocument/2006/relationships/slide" Target="/ppt/slides/slide24.xml" Id="Ra440de8e5b4c4821" /><Relationship Type="http://schemas.openxmlformats.org/officeDocument/2006/relationships/slide" Target="/ppt/slides/slide25.xml" Id="R05ad3805e9c04317" /><Relationship Type="http://schemas.openxmlformats.org/officeDocument/2006/relationships/slide" Target="/ppt/slides/slide26.xml" Id="R095aed1200204414" /><Relationship Type="http://schemas.openxmlformats.org/officeDocument/2006/relationships/slide" Target="/ppt/slides/slide27.xml" Id="R482adbb9c4d34c2a" /><Relationship Type="http://schemas.openxmlformats.org/officeDocument/2006/relationships/slide" Target="/ppt/slides/slide28.xml" Id="R708ccf5445f54df8" /><Relationship Type="http://schemas.openxmlformats.org/officeDocument/2006/relationships/slide" Target="/ppt/slides/slide29.xml" Id="R7cf4d30d685a4a20" /><Relationship Type="http://schemas.openxmlformats.org/officeDocument/2006/relationships/slide" Target="/ppt/slides/slide30.xml" Id="R3ede650996784026" /><Relationship Type="http://schemas.openxmlformats.org/officeDocument/2006/relationships/slide" Target="/ppt/slides/slide31.xml" Id="Ra2eb6ae0c44c41f6" /><Relationship Type="http://schemas.openxmlformats.org/officeDocument/2006/relationships/slide" Target="/ppt/slides/slide32.xml" Id="Rb586adadb1d7444c" /><Relationship Type="http://schemas.openxmlformats.org/officeDocument/2006/relationships/slide" Target="/ppt/slides/slide33.xml" Id="R4405d423e6144b84" /><Relationship Type="http://schemas.openxmlformats.org/officeDocument/2006/relationships/slide" Target="/ppt/slides/slide34.xml" Id="R9b9777a5098c4101" /><Relationship Type="http://schemas.openxmlformats.org/officeDocument/2006/relationships/slide" Target="/ppt/slides/slide35.xml" Id="R7f7a60c0b4d74fc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5e6d1dce4a24d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00445c17d04efc" /><Relationship Type="http://schemas.openxmlformats.org/officeDocument/2006/relationships/notesMaster" Target="/ppt/notesMasters/notesMaster1.xml" Id="R668cd6a025e24430"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49263970a94bff" /><Relationship Type="http://schemas.openxmlformats.org/officeDocument/2006/relationships/notesMaster" Target="/ppt/notesMasters/notesMaster1.xml" Id="Rc54911db47684d45" /></Relationships>
</file>

<file path=ppt/notesSlides/_rels/notesSlide3.xml.rels>&#65279;<?xml version="1.0" encoding="utf-8"?><Relationships xmlns="http://schemas.openxmlformats.org/package/2006/relationships"><Relationship Type="http://schemas.openxmlformats.org/officeDocument/2006/relationships/slide" Target="/ppt/slides/slide3.xml" Id="R4c1c0b7e17ee480d" /><Relationship Type="http://schemas.openxmlformats.org/officeDocument/2006/relationships/notesMaster" Target="/ppt/notesMasters/notesMaster1.xml" Id="Rcaf72e3f57b4474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064bdaa29584c17" /><Relationship Type="http://schemas.openxmlformats.org/officeDocument/2006/relationships/notesMaster" Target="/ppt/notesMasters/notesMaster1.xml" Id="R280d3903d03140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0d25d65e324006" /><Relationship Type="http://schemas.openxmlformats.org/officeDocument/2006/relationships/notesMaster" Target="/ppt/notesMasters/notesMaster1.xml" Id="Rc4c82ac4b0a144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5d83068ee9745df" /><Relationship Type="http://schemas.openxmlformats.org/officeDocument/2006/relationships/notesMaster" Target="/ppt/notesMasters/notesMaster1.xml" Id="R33325ac2f6184bb2" /></Relationships>
</file>

<file path=ppt/notesSlides/_rels/notesSlide7.xml.rels>&#65279;<?xml version="1.0" encoding="utf-8"?><Relationships xmlns="http://schemas.openxmlformats.org/package/2006/relationships"><Relationship Type="http://schemas.openxmlformats.org/officeDocument/2006/relationships/slide" Target="/ppt/slides/slide7.xml" Id="Rf8fd7b409dc147f6" /><Relationship Type="http://schemas.openxmlformats.org/officeDocument/2006/relationships/notesMaster" Target="/ppt/notesMasters/notesMaster1.xml" Id="Rb0c0fe738fd245ad" /></Relationships>
</file>

<file path=ppt/notesSlides/_rels/notesSlide8.xml.rels>&#65279;<?xml version="1.0" encoding="utf-8"?><Relationships xmlns="http://schemas.openxmlformats.org/package/2006/relationships"><Relationship Type="http://schemas.openxmlformats.org/officeDocument/2006/relationships/slide" Target="/ppt/slides/slide8.xml" Id="R99915e19296a4be8" /><Relationship Type="http://schemas.openxmlformats.org/officeDocument/2006/relationships/notesMaster" Target="/ppt/notesMasters/notesMaster1.xml" Id="R7a0d27ed372246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fe9e7cb2c0e4971" /><Relationship Type="http://schemas.openxmlformats.org/officeDocument/2006/relationships/notesMaster" Target="/ppt/notesMasters/notesMaster1.xml" Id="Rf649eb5fa0cd498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08ac327776d4109" /><Relationship Type="http://schemas.openxmlformats.org/officeDocument/2006/relationships/notesMaster" Target="/ppt/notesMasters/notesMaster1.xml" Id="R72fc3ecea82a4f3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a88957009a64a18" /><Relationship Type="http://schemas.openxmlformats.org/officeDocument/2006/relationships/notesMaster" Target="/ppt/notesMasters/notesMaster1.xml" Id="R7cc01b92ca3e4f5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0f1e669b4f0451f" /><Relationship Type="http://schemas.openxmlformats.org/officeDocument/2006/relationships/notesMaster" Target="/ppt/notesMasters/notesMaster1.xml" Id="R8803a738f5f74ca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bb92d27dc0c4453" /><Relationship Type="http://schemas.openxmlformats.org/officeDocument/2006/relationships/notesMaster" Target="/ppt/notesMasters/notesMaster1.xml" Id="R41787e0a280542f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28d66fc22f24d57" /><Relationship Type="http://schemas.openxmlformats.org/officeDocument/2006/relationships/notesMaster" Target="/ppt/notesMasters/notesMaster1.xml" Id="R001466202291493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d9fae16c7ae423e" /><Relationship Type="http://schemas.openxmlformats.org/officeDocument/2006/relationships/notesMaster" Target="/ppt/notesMasters/notesMaster1.xml" Id="R56c03009733442a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477555429ff4cfb" /><Relationship Type="http://schemas.openxmlformats.org/officeDocument/2006/relationships/notesMaster" Target="/ppt/notesMasters/notesMaster1.xml" Id="Re0e487694b19403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3954370c5bb4d0e" /><Relationship Type="http://schemas.openxmlformats.org/officeDocument/2006/relationships/notesMaster" Target="/ppt/notesMasters/notesMaster1.xml" Id="Re3a9bf51ac09494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27750e388044b32" /><Relationship Type="http://schemas.openxmlformats.org/officeDocument/2006/relationships/notesMaster" Target="/ppt/notesMasters/notesMaster1.xml" Id="R50e2e00d08a04c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56171ed9e9f4b34" /><Relationship Type="http://schemas.openxmlformats.org/officeDocument/2006/relationships/notesMaster" Target="/ppt/notesMasters/notesMaster1.xml" Id="R249f84b4aaa641d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94101aae6304678" /><Relationship Type="http://schemas.openxmlformats.org/officeDocument/2006/relationships/notesMaster" Target="/ppt/notesMasters/notesMaster1.xml" Id="R53a749a69e4d4d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f75700c45b94e50" /><Relationship Type="http://schemas.openxmlformats.org/officeDocument/2006/relationships/notesMaster" Target="/ppt/notesMasters/notesMaster1.xml" Id="Ra6344e2bc5564f7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67cf60695674b49" /><Relationship Type="http://schemas.openxmlformats.org/officeDocument/2006/relationships/notesMaster" Target="/ppt/notesMasters/notesMaster1.xml" Id="Rae1c8cfdf9d642b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1a992be391748a2" /><Relationship Type="http://schemas.openxmlformats.org/officeDocument/2006/relationships/notesMaster" Target="/ppt/notesMasters/notesMaster1.xml" Id="R9f545ef075a445e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95fee8c311b43a9" /><Relationship Type="http://schemas.openxmlformats.org/officeDocument/2006/relationships/notesMaster" Target="/ppt/notesMasters/notesMaster1.xml" Id="Rda18234879924f3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f3a569fe0be43a5" /><Relationship Type="http://schemas.openxmlformats.org/officeDocument/2006/relationships/notesMaster" Target="/ppt/notesMasters/notesMaster1.xml" Id="R56318ceedfc249e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4eb82ba0a6643a4" /><Relationship Type="http://schemas.openxmlformats.org/officeDocument/2006/relationships/notesMaster" Target="/ppt/notesMasters/notesMaster1.xml" Id="Refacfa71ba1a427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b377919822a4134" /><Relationship Type="http://schemas.openxmlformats.org/officeDocument/2006/relationships/notesMaster" Target="/ppt/notesMasters/notesMaster1.xml" Id="R33abfc69d51c498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817de2d4c204b9b" /><Relationship Type="http://schemas.openxmlformats.org/officeDocument/2006/relationships/notesMaster" Target="/ppt/notesMasters/notesMaster1.xml" Id="R018da04ead9d4eb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a66621d41754071" /><Relationship Type="http://schemas.openxmlformats.org/officeDocument/2006/relationships/notesMaster" Target="/ppt/notesMasters/notesMaster1.xml" Id="Rdbd30a68febe44c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1353dd9080a42c5" /><Relationship Type="http://schemas.openxmlformats.org/officeDocument/2006/relationships/notesMaster" Target="/ppt/notesMasters/notesMaster1.xml" Id="R3ff8bfe225cf49e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9b8696136b245af" /><Relationship Type="http://schemas.openxmlformats.org/officeDocument/2006/relationships/notesMaster" Target="/ppt/notesMasters/notesMaster1.xml" Id="R9a265c358061475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21b4fdba4194679" /><Relationship Type="http://schemas.openxmlformats.org/officeDocument/2006/relationships/notesMaster" Target="/ppt/notesMasters/notesMaster1.xml" Id="Rd2c5c6558c9b4aa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007117d6c0a439c" /><Relationship Type="http://schemas.openxmlformats.org/officeDocument/2006/relationships/notesMaster" Target="/ppt/notesMasters/notesMaster1.xml" Id="R68db68cbed4c40f3"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669ef2ab7e649dc" /><Relationship Type="http://schemas.openxmlformats.org/officeDocument/2006/relationships/notesMaster" Target="/ppt/notesMasters/notesMaster1.xml" Id="Re8ecbf75c0ae41c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536c166d5fe6441d" /><Relationship Type="http://schemas.openxmlformats.org/officeDocument/2006/relationships/notesMaster" Target="/ppt/notesMasters/notesMaster1.xml" Id="R3f5aa0468cc6444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00:00–00:45.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00:45–01:30. State the premise: a containment change must show what it prevents, what it preserves and what remains unresolved. Participants review the proposed containment change and its acceptance evidence. Admission constrains future changes; network controls constrain connectivity; RBAC constrains API actions; application/runtime controls address tool execution. Evidence and availability guide human approval. The session tests intent coverage, independently expected behavior and operational boundaries. Teams leave with an intent-to-control map, a justified approval decision and a recovery playbook. The rounds make the distinction observable, including for governance and leadership participants who do not write Kubernetes 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01:30–02:30. Each table assigns an incident lead, recorder, analyst and independent reviewer. Six seats max, 12 tables max, no laptops required. The independent reviewer states a concern before each decision. Vivek records case selections and visits tables that have not produced an artifact. Use the clock, not slide count, to advance. The new participant pack replaces the assigned-case mechanics in the old room kit.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02:30–03:15. State that the incident context is fictional and uses existing repository workload fixtures. The workload names come from the lab. Define a Pod as the unit running one or more containers, and a ServiceAccount as the identity its tools can use. The constraint is ongoing service availability during scoped containment. Workload names are retained from the repository fixtures for traceability.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03:15–04:15. Every table has the four-case participant pack and selects one case. Do not disclose causes yet. A/B/C use excerpted reference PRs and fixture simulation results. D extends scenarios/05-secret-enumeration.md into an RBAC boundary exercise. D has no generated Kyverno PR or executed lab proof; it asks the team to identify the unimplemented clause and request the appropriate manual review. If teams cluster on one case, invite volunteers to try another, without removing choice. Repository source: https://github.com/mgunjan/agentic-k8s-guardrails/blob/main/scenarios/05-secret-enumeration.md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04:15–05:00.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05:00–06:00. Explain that the exercise evaluates the quality of a documented containment decision under different operational constraints. Self-score each item 0 or 1 only when it is written and can be defended; a co-presenter checks a sample before the final tally. Twelve core points reward complete review artifacts, not aggressive quarantine levels. The independent proposal review adds up to three points for identifying the limited test scope, naming the missing enforcement owner and acceptance evidence, and defending the exact authority granted or withheld. A justified bounded approval, revision, escalation or rejection can earn points. Use the current October 13 scorecard and sealed CONTROL-REVIEW handout. For equal scores, compare the evidence each team would require to revise its decision; do not treat scoring as a security assurance result. Do not treat points as a security assurance score. Source: submission/2026-10-13/REVIEW-SCORECARD.pdf.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06:00–10:00. Give four minutes of quiet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10:00–11:00. Explain the common typed interface: Jev and local specialists use /v1/systemone, while Claude and OpenAI adapters return the same bounded answer through structured outputs. It does not author free-form YAML. decider_agent maps clauses; policy_agent adds dependency and blocked-workload decisions, with up to three revision rounds. Confidence below 0.6 routes the item to a human. That threshold is an operating choice, not proof of 60% accuracy. The agent can omit required controls or propose insufficient coverage. Human review remains necessary. Repository source: https://github.com/mgunjan/agentic-k8s-guardrails/blob/main/generator/policy_agent.py Repository source: https://github.com/mgunjan/agentic-k8s-guardrails/blob/main/generator/decider_agent.py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11:00–12:30. Demonstrate reference compilation in a terminal using the commands in SESSION-RUNBOOK.md. Show the provenance model: none (spec supplied), the generated policy and the admission report. If a venue cluster has been rehearsed, a human applies the reviewed privilege policy and uses server dry-run to show rejection and a positive control. Otherwise show the existing recorded lab or the fallback slides. The hardened launcher uses generator/demo_gate.py to bind passing evaluation evidence to current code, prepared inputs, host, threshold, recording and model identity. The frozen Strands result still fails; hardening has not improved its model score. Use tabletop/congress-2026/demo.py for the bounded reference or authentic replay path. Pre-open the resulting local PR.md, readiness.json and tests/result.txt; ask participants to predict readiness before revealing the RBAC handover. The whole-proposal deadline is 15 seconds by default, and no cluster or GitHub PR is changed.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12:30–13:30. Read the missing clause first.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13:30–18:00.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18:00–22:00. Read the case-specific request from the pack. The quote on this slide is a fictional prompt, not verified approval.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approver.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https://github.com/mgunjan/agentic-k8s-guardrails/blob/main/generator/generate.py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26:00–27:30. Read the levels once. Q1 freezes the identities covered by the native policy; it does not automatically cover a sidecar using a different Pod identity. Q2 leaves DNS in this lab, and leaves kubectl exec/port-forward controlled by RBAC. Q3 requires the isolated label so the Q2 DNS allow does not remain. Identity revocation and tool/input suspension are runbook actions that need separate execution; do not imply the network manifests do them automatically. Repository source: https://github.com/mgunjan/agentic-k8s-guardrails/blob/main/quarantine/quarantine-mode.md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Q3 refuses a replacement. After one eviction, minAvailable=2 blocks the next. The first eviction also destroys uncaptured evidence. Preserving suspects in place and checking clean capacity are part of the plan.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then show the historical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54:00–57:00. Tally points, recognize one defended tradeoff and compare the review scores and discuss differences in reasoning.  Each participant records an action they own. Ask two volunteers to read theirs. 57:00–60:00: questions and closing. The accepted objectives have observable outputs: R1 intent/map, R2 justified exceptions/modes, R3 containment/recovery playbook. Thank the co-presenter and participants.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GitHub currently reports the repository as private. Arrange an authorized public source release or source-package distribution before the event.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https://github.com/mgunjan/agentic-k8s-guardrails/blob/main/README.md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2250e3be2c4e4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f41a7dd159b4f6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a12354073aa464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71c3979c3949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f29c11bbde04cc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5be655ef88c466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80E60AF-750D-4144-B38E-819E9494126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12FB13A-96AB-4140-8AA8-084E9553606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1DE337D-7DA0-4131-B5D5-0C58FAC8615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9EFF01-535C-45E5-913B-ACEF08F6389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051EB6B-1254-453A-B312-67DF26FE4A0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66FFFF4-C661-43A4-970D-0E0AB1D468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49154B-9A9A-4502-B92A-839F7B05EBE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3CFBD81-0DBD-4B54-ACED-94DD1916FC6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D14437-765B-4A60-882C-D3F457635FB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AA68248-0E7A-4DD6-B0F2-DCA5332355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dcbd084b0c44803" /><Relationship Type="http://schemas.openxmlformats.org/officeDocument/2006/relationships/slideLayout" Target="/ppt/slideLayouts/slideLayout1.xml" Id="R87f2ee786ab14a19" /><Relationship Type="http://schemas.openxmlformats.org/officeDocument/2006/relationships/slideLayout" Target="/ppt/slideLayouts/slideLayout2.xml" Id="Re82009de864047bc" /><Relationship Type="http://schemas.openxmlformats.org/officeDocument/2006/relationships/slideLayout" Target="/ppt/slideLayouts/slideLayout3.xml" Id="R09389b1c193b4679" /><Relationship Type="http://schemas.openxmlformats.org/officeDocument/2006/relationships/slideLayout" Target="/ppt/slideLayouts/slideLayout4.xml" Id="Rb6affa3e505a41c7" /><Relationship Type="http://schemas.openxmlformats.org/officeDocument/2006/relationships/slideLayout" Target="/ppt/slideLayouts/slideLayout5.xml" Id="Reccb8e4015fc40ed" /><Relationship Type="http://schemas.openxmlformats.org/officeDocument/2006/relationships/slideLayout" Target="/ppt/slideLayouts/slideLayout6.xml" Id="Rbd3acde6c768494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f2ee786ab14a19"/>
    <p:sldLayoutId xmlns:r="http://schemas.openxmlformats.org/officeDocument/2006/relationships" id="2147483650" r:id="Re82009de864047bc"/>
    <p:sldLayoutId xmlns:r="http://schemas.openxmlformats.org/officeDocument/2006/relationships" id="2147483651" r:id="R09389b1c193b4679"/>
    <p:sldLayoutId xmlns:r="http://schemas.openxmlformats.org/officeDocument/2006/relationships" id="2147483652" r:id="Rb6affa3e505a41c7"/>
    <p:sldLayoutId xmlns:r="http://schemas.openxmlformats.org/officeDocument/2006/relationships" id="2147483653" r:id="Reccb8e4015fc40ed"/>
    <p:sldLayoutId xmlns:r="http://schemas.openxmlformats.org/officeDocument/2006/relationships" id="2147483654" r:id="Rbd3acde6c76849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d710663a24944d2" /><Relationship Type="http://schemas.openxmlformats.org/officeDocument/2006/relationships/image" Target="/ppt/media/image.png" Id="R7b4d4b80dbb3482e" /><Relationship Type="http://schemas.openxmlformats.org/officeDocument/2006/relationships/notesSlide" Target="/ppt/notesSlides/notesSlide1.xml" Id="R3f0c72b1621b4bf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e79b5c5d89a4702" /><Relationship Type="http://schemas.openxmlformats.org/officeDocument/2006/relationships/notesSlide" Target="/ppt/notesSlides/notesSlide2.xml" Id="Recf115d7927547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d99801898174fa5" /><Relationship Type="http://schemas.openxmlformats.org/officeDocument/2006/relationships/notesSlide" Target="/ppt/notesSlides/notesSlide3.xml" Id="R93e2cf1ccff9446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eeedc1b74574d3b" /><Relationship Type="http://schemas.openxmlformats.org/officeDocument/2006/relationships/notesSlide" Target="/ppt/notesSlides/notesSlide4.xml" Id="R3616450929df46d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659a56c2cec476d" /><Relationship Type="http://schemas.openxmlformats.org/officeDocument/2006/relationships/notesSlide" Target="/ppt/notesSlides/notesSlide5.xml" Id="R149a127619b041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2495288b36144df" /><Relationship Type="http://schemas.openxmlformats.org/officeDocument/2006/relationships/notesSlide" Target="/ppt/notesSlides/notesSlide6.xml" Id="R91e8fd90942941b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48ede1f0b3741d6" /><Relationship Type="http://schemas.openxmlformats.org/officeDocument/2006/relationships/notesSlide" Target="/ppt/notesSlides/notesSlide7.xml" Id="R13c9289cfbd44c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4afd9d4b05a4f88" /><Relationship Type="http://schemas.openxmlformats.org/officeDocument/2006/relationships/image" Target="/ppt/media/image2.png" Id="R7412dce1a06440bd" /><Relationship Type="http://schemas.openxmlformats.org/officeDocument/2006/relationships/notesSlide" Target="/ppt/notesSlides/notesSlide8.xml" Id="Rebe37c3c15be448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7343fe526e34480" /><Relationship Type="http://schemas.openxmlformats.org/officeDocument/2006/relationships/notesSlide" Target="/ppt/notesSlides/notesSlide9.xml" Id="R9d274b1037e44bc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183629cea4c4d30" /><Relationship Type="http://schemas.openxmlformats.org/officeDocument/2006/relationships/notesSlide" Target="/ppt/notesSlides/notesSlide10.xml" Id="R1a61fa889a3348b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95a772c6065472f" /><Relationship Type="http://schemas.openxmlformats.org/officeDocument/2006/relationships/notesSlide" Target="/ppt/notesSlides/notesSlide11.xml" Id="R12d30c2b73a64e5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6c209dfcdfd4cd9" /><Relationship Type="http://schemas.openxmlformats.org/officeDocument/2006/relationships/notesSlide" Target="/ppt/notesSlides/notesSlide12.xml" Id="R7d8df46c5bde483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08eb224039c4d19" /><Relationship Type="http://schemas.openxmlformats.org/officeDocument/2006/relationships/notesSlide" Target="/ppt/notesSlides/notesSlide13.xml" Id="Ra3107e29249048d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354e6653b73409a" /><Relationship Type="http://schemas.openxmlformats.org/officeDocument/2006/relationships/notesSlide" Target="/ppt/notesSlides/notesSlide14.xml" Id="R38ce8ff8c48b47e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79dd362e58c475b" /><Relationship Type="http://schemas.openxmlformats.org/officeDocument/2006/relationships/notesSlide" Target="/ppt/notesSlides/notesSlide15.xml" Id="R347130e067cc45d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213896b25d645d2" /><Relationship Type="http://schemas.openxmlformats.org/officeDocument/2006/relationships/image" Target="/ppt/media/image3.png" Id="R6094ed8a027b4b4b" /><Relationship Type="http://schemas.openxmlformats.org/officeDocument/2006/relationships/notesSlide" Target="/ppt/notesSlides/notesSlide16.xml" Id="R1eb48420d411467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1ee981e5df54b64" /><Relationship Type="http://schemas.openxmlformats.org/officeDocument/2006/relationships/notesSlide" Target="/ppt/notesSlides/notesSlide17.xml" Id="R8123bfc216684a7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3e29a0c523a4e15" /><Relationship Type="http://schemas.openxmlformats.org/officeDocument/2006/relationships/notesSlide" Target="/ppt/notesSlides/notesSlide18.xml" Id="R7eb39c93714d4a5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184e524c85d4950" /><Relationship Type="http://schemas.openxmlformats.org/officeDocument/2006/relationships/image" Target="/ppt/media/image4.png" Id="R9d8f87025b3548ec" /><Relationship Type="http://schemas.openxmlformats.org/officeDocument/2006/relationships/notesSlide" Target="/ppt/notesSlides/notesSlide19.xml" Id="R453c71b59a6d43c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4934656af3948e8" /><Relationship Type="http://schemas.openxmlformats.org/officeDocument/2006/relationships/image" Target="/ppt/media/image5.png" Id="R4a33e111ae204a91" /><Relationship Type="http://schemas.openxmlformats.org/officeDocument/2006/relationships/notesSlide" Target="/ppt/notesSlides/notesSlide20.xml" Id="Rb6a5896e2844491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999d2c13f69489f" /><Relationship Type="http://schemas.openxmlformats.org/officeDocument/2006/relationships/image" Target="/ppt/media/image6.png" Id="R892765188a2841b0" /><Relationship Type="http://schemas.openxmlformats.org/officeDocument/2006/relationships/notesSlide" Target="/ppt/notesSlides/notesSlide21.xml" Id="R8863b08f5282416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8efa0716ce64e02" /><Relationship Type="http://schemas.openxmlformats.org/officeDocument/2006/relationships/image" Target="/ppt/media/image7.png" Id="R58d7a622622146cd" /><Relationship Type="http://schemas.openxmlformats.org/officeDocument/2006/relationships/notesSlide" Target="/ppt/notesSlides/notesSlide22.xml" Id="Rdefaca74b5c24fe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d9ba469eeae4004" /><Relationship Type="http://schemas.openxmlformats.org/officeDocument/2006/relationships/notesSlide" Target="/ppt/notesSlides/notesSlide23.xml" Id="Rd217988db0ea47d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8bf17c87b8a4445" /><Relationship Type="http://schemas.openxmlformats.org/officeDocument/2006/relationships/notesSlide" Target="/ppt/notesSlides/notesSlide24.xml" Id="Rba7c54be863f494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fa089abf5bf4821" /><Relationship Type="http://schemas.openxmlformats.org/officeDocument/2006/relationships/notesSlide" Target="/ppt/notesSlides/notesSlide25.xml" Id="R45ce7043c74c4c2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19269f3d8f84c82" /><Relationship Type="http://schemas.openxmlformats.org/officeDocument/2006/relationships/notesSlide" Target="/ppt/notesSlides/notesSlide26.xml" Id="R8ee8068baa464ab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c55eb0129234f96" /><Relationship Type="http://schemas.openxmlformats.org/officeDocument/2006/relationships/image" Target="/ppt/media/image8.png" Id="R27defd1690164553" /><Relationship Type="http://schemas.openxmlformats.org/officeDocument/2006/relationships/notesSlide" Target="/ppt/notesSlides/notesSlide27.xml" Id="R5cd5b57b4cca4cd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1dc8fb8be4c4147" /><Relationship Type="http://schemas.openxmlformats.org/officeDocument/2006/relationships/notesSlide" Target="/ppt/notesSlides/notesSlide28.xml" Id="R1f08332d13a84e3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3610321dc954f3d" /><Relationship Type="http://schemas.openxmlformats.org/officeDocument/2006/relationships/notesSlide" Target="/ppt/notesSlides/notesSlide29.xml" Id="Rf9282ad8948844d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bc6b936c534462e" /><Relationship Type="http://schemas.openxmlformats.org/officeDocument/2006/relationships/notesSlide" Target="/ppt/notesSlides/notesSlide30.xml" Id="R1fab5c6307b440b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fbf6593997f74385" /><Relationship Type="http://schemas.openxmlformats.org/officeDocument/2006/relationships/notesSlide" Target="/ppt/notesSlides/notesSlide31.xml" Id="Ra0f35571dbfb4ab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c3c3471f1df744b6" /><Relationship Type="http://schemas.openxmlformats.org/officeDocument/2006/relationships/notesSlide" Target="/ppt/notesSlides/notesSlide32.xml" Id="Rbb9d50d21a9844d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12f6f6646d846d1" /><Relationship Type="http://schemas.openxmlformats.org/officeDocument/2006/relationships/notesSlide" Target="/ppt/notesSlides/notesSlide33.xml" Id="R63187a7080544c6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69eee6ba09c45a2" /><Relationship Type="http://schemas.openxmlformats.org/officeDocument/2006/relationships/notesSlide" Target="/ppt/notesSlides/notesSlide34.xml" Id="Rfdc68799c96a4e4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b557cd7989d4f41" /><Relationship Type="http://schemas.openxmlformats.org/officeDocument/2006/relationships/notesSlide" Target="/ppt/notesSlides/notesSlide35.xml" Id="R51b9dd6fe2a94a9f"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F92BE328-6DA8-4BEB-84BE-6D36340D4853}"/>
              </a:ext>
            </a:extLst>
          </p:cNvPr>
          <p:cNvPicPr>
            <a:picLocks xmlns:a="http://schemas.openxmlformats.org/drawingml/2006/main" noChangeAspect="1"/>
          </p:cNvPicPr>
          <p:nvPr/>
        </p:nvPicPr>
        <p:blipFill>
          <a:blip xmlns:r="http://schemas.openxmlformats.org/officeDocument/2006/relationships" xmlns:a="http://schemas.openxmlformats.org/drawingml/2006/main" r:embed="R7b4d4b80dbb3482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AE05005F-DB1C-4195-AD29-87E2D38E53B3}"/>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863F288D-CC4A-41CB-881E-2515259AD03C}"/>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9264D347-A7DC-4BEF-8C5D-20AE12406C60}"/>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DB7BC7E4-D2EE-4AA6-A5DF-6EFECD3BFA8E}"/>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E4C66CFB-6776-4AD9-A0E1-6A1DD0DC0C7B}"/>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D41B5F56-F16B-4FF6-B5E6-C8613D01C158}"/>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F51C3322-F2F5-4537-ACDE-65F8C8B93894}"/>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12CDFEC7-B1F7-4BE6-A8DA-068055FD551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1491183532"/>
      </p:ext>
    </p:extLst>
  </p:cSld>
</p:sld>
</file>

<file path=ppt/slides/slide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THE PREMISE">
            <a:extLst xmlns:a="http://schemas.openxmlformats.org/drawingml/2006/main">
              <a:ext uri="{FF2B5EF4-FFF2-40B4-BE49-F238E27FC236}">
                <a16:creationId xmlns:a16="http://schemas.microsoft.com/office/drawing/2014/main" id="{F312FA63-5183-42CB-A519-17A83C04A9AF}"/>
              </a:ext>
            </a:extLst>
          </p:cNvPr>
          <p:cNvSpPr>
            <a:spLocks xmlns:a="http://schemas.openxmlformats.org/drawingml/2006/main" noGrp="1"/>
          </p:cNvSpPr>
          <p:nvPr/>
        </p:nvSpPr>
        <p:spPr>
          <a:xfrm xmlns:a="http://schemas.openxmlformats.org/drawingml/2006/main">
            <a:off x="609600" y="476250"/>
            <a:ext cx="1000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THE PREMISE</a:t>
            </a:r>
          </a:p>
        </p:txBody>
      </p:sp>
      <p:sp>
        <p:nvSpPr>
          <p:cNvPr id="2" name="IDENTITY&#10;WORKLOAD&#10;CONTROL PLANE">
            <a:extLst xmlns:a="http://schemas.openxmlformats.org/drawingml/2006/main">
              <a:ext uri="{FF2B5EF4-FFF2-40B4-BE49-F238E27FC236}">
                <a16:creationId xmlns:a16="http://schemas.microsoft.com/office/drawing/2014/main" id="{C52B7977-E034-4AD3-81DF-3D88FCA7FDA7}"/>
              </a:ext>
            </a:extLst>
          </p:cNvPr>
          <p:cNvSpPr>
            <a:spLocks xmlns:a="http://schemas.openxmlformats.org/drawingml/2006/main" noGrp="1"/>
          </p:cNvSpPr>
          <p:nvPr/>
        </p:nvSpPr>
        <p:spPr>
          <a:xfrm xmlns:a="http://schemas.openxmlformats.org/drawingml/2006/main">
            <a:off x="609600" y="1600200"/>
            <a:ext cx="69532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B1822"/>
                </a:solidFill>
                <a:latin typeface="Arial Black"/>
                <a:ea typeface="Arial Black"/>
                <a:cs typeface="Arial Black"/>
              </a:defRPr>
            </a:defPPr>
          </a:lstStyle>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IDENTITY</a:t>
            </a:r>
          </a:p>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WORKLOAD</a:t>
            </a:r>
          </a:p>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CONTROL PLANE</a:t>
            </a:r>
          </a:p>
        </p:txBody>
      </p:sp>
      <p:sp>
        <p:nvSpPr>
          <p:cNvPr id="3" name="Which actions must&#10;be restricted?">
            <a:extLst xmlns:a="http://schemas.openxmlformats.org/drawingml/2006/main">
              <a:ext uri="{FF2B5EF4-FFF2-40B4-BE49-F238E27FC236}">
                <a16:creationId xmlns:a16="http://schemas.microsoft.com/office/drawing/2014/main" id="{56E55F32-BE43-44EB-8527-486536ACE3BB}"/>
              </a:ext>
            </a:extLst>
          </p:cNvPr>
          <p:cNvSpPr>
            <a:spLocks xmlns:a="http://schemas.openxmlformats.org/drawingml/2006/main" noGrp="1"/>
          </p:cNvSpPr>
          <p:nvPr/>
        </p:nvSpPr>
        <p:spPr>
          <a:xfrm xmlns:a="http://schemas.openxmlformats.org/drawingml/2006/main">
            <a:off x="7620000" y="1990725"/>
            <a:ext cx="38481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0B1822"/>
                </a:solidFill>
                <a:latin typeface="Arial"/>
                <a:ea typeface="Arial"/>
                <a:cs typeface="Arial"/>
              </a:defRPr>
            </a:defPPr>
          </a:lstStyle>
          <a:p xmlns:a="http://schemas.openxmlformats.org/drawingml/2006/main">
            <a:pPr>
              <a:defRPr sz="2325" b="1">
                <a:solidFill>
                  <a:srgbClr val="0B1822"/>
                </a:solidFill>
                <a:latin typeface="Arial"/>
                <a:ea typeface="Arial"/>
                <a:cs typeface="Arial"/>
              </a:defRPr>
            </a:pPr>
            <a:r>
              <a:rPr sz="2325" b="1">
                <a:solidFill>
                  <a:srgbClr val="0B1822"/>
                </a:solidFill>
                <a:latin typeface="Arial"/>
                <a:ea typeface="Arial"/>
                <a:cs typeface="Arial"/>
              </a:rPr>
              <a:t>Which actions must</a:t>
            </a:r>
          </a:p>
          <a:p xmlns:a="http://schemas.openxmlformats.org/drawingml/2006/main">
            <a:pPr>
              <a:defRPr sz="2325" b="1">
                <a:solidFill>
                  <a:srgbClr val="0B1822"/>
                </a:solidFill>
                <a:latin typeface="Arial"/>
                <a:ea typeface="Arial"/>
                <a:cs typeface="Arial"/>
              </a:defRPr>
            </a:pPr>
            <a:r>
              <a:rPr sz="2325" b="1">
                <a:solidFill>
                  <a:srgbClr val="0B1822"/>
                </a:solidFill>
                <a:latin typeface="Arial"/>
                <a:ea typeface="Arial"/>
                <a:cs typeface="Arial"/>
              </a:rPr>
              <a:t>be restricted?</a:t>
            </a:r>
          </a:p>
        </p:txBody>
      </p:sp>
      <p:sp>
        <p:nvSpPr>
          <p:cNvPr id="4" name="Which dependencies&#10;must remain available?">
            <a:extLst xmlns:a="http://schemas.openxmlformats.org/drawingml/2006/main">
              <a:ext uri="{FF2B5EF4-FFF2-40B4-BE49-F238E27FC236}">
                <a16:creationId xmlns:a16="http://schemas.microsoft.com/office/drawing/2014/main" id="{2536F56E-2CB6-4043-9C5C-BC9FB0F69A19}"/>
              </a:ext>
            </a:extLst>
          </p:cNvPr>
          <p:cNvSpPr>
            <a:spLocks xmlns:a="http://schemas.openxmlformats.org/drawingml/2006/main" noGrp="1"/>
          </p:cNvSpPr>
          <p:nvPr/>
        </p:nvSpPr>
        <p:spPr>
          <a:xfrm xmlns:a="http://schemas.openxmlformats.org/drawingml/2006/main">
            <a:off x="7810500" y="3705225"/>
            <a:ext cx="3524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87E79"/>
                </a:solidFill>
                <a:latin typeface="Arial"/>
                <a:ea typeface="Arial"/>
                <a:cs typeface="Arial"/>
              </a:defRPr>
            </a:defPPr>
          </a:lstStyle>
          <a:p xmlns:a="http://schemas.openxmlformats.org/drawingml/2006/main">
            <a:pPr>
              <a:defRPr sz="2175" b="0">
                <a:solidFill>
                  <a:srgbClr val="087E79"/>
                </a:solidFill>
                <a:latin typeface="Arial"/>
                <a:ea typeface="Arial"/>
                <a:cs typeface="Arial"/>
              </a:defRPr>
            </a:pPr>
            <a:r>
              <a:rPr sz="2175" b="0">
                <a:solidFill>
                  <a:srgbClr val="087E79"/>
                </a:solidFill>
                <a:latin typeface="Arial"/>
                <a:ea typeface="Arial"/>
                <a:cs typeface="Arial"/>
              </a:rPr>
              <a:t>Which dependencies</a:t>
            </a:r>
          </a:p>
          <a:p xmlns:a="http://schemas.openxmlformats.org/drawingml/2006/main">
            <a:pPr>
              <a:defRPr sz="2175" b="0">
                <a:solidFill>
                  <a:srgbClr val="087E79"/>
                </a:solidFill>
                <a:latin typeface="Arial"/>
                <a:ea typeface="Arial"/>
                <a:cs typeface="Arial"/>
              </a:defRPr>
            </a:pPr>
            <a:r>
              <a:rPr sz="2175" b="0">
                <a:solidFill>
                  <a:srgbClr val="087E79"/>
                </a:solidFill>
                <a:latin typeface="Arial"/>
                <a:ea typeface="Arial"/>
                <a:cs typeface="Arial"/>
              </a:rPr>
              <a:t>must remain available?</a:t>
            </a:r>
          </a:p>
        </p:txBody>
      </p:sp>
      <p:sp>
        <p:nvSpPr>
          <p:cNvPr id="5" name="Record the requirement, enforcement layer and ac">
            <a:extLst xmlns:a="http://schemas.openxmlformats.org/drawingml/2006/main">
              <a:ext uri="{FF2B5EF4-FFF2-40B4-BE49-F238E27FC236}">
                <a16:creationId xmlns:a16="http://schemas.microsoft.com/office/drawing/2014/main" id="{D4B269A9-7351-4DAC-A6F5-CE6A8324BE1C}"/>
              </a:ext>
            </a:extLst>
          </p:cNvPr>
          <p:cNvSpPr>
            <a:spLocks xmlns:a="http://schemas.openxmlformats.org/drawingml/2006/main" noGrp="1"/>
          </p:cNvSpPr>
          <p:nvPr/>
        </p:nvSpPr>
        <p:spPr>
          <a:xfrm xmlns:a="http://schemas.openxmlformats.org/drawingml/2006/main">
            <a:off x="628650" y="57245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Record the requirement, enforcement layer and acceptance evidence.</a:t>
            </a:r>
          </a:p>
        </p:txBody>
      </p:sp>
      <p:sp>
        <p:nvSpPr>
          <p:cNvPr id="6" name="ISC2 SECURITY CONGRESS 2026 / SC2632">
            <a:extLst xmlns:a="http://schemas.openxmlformats.org/drawingml/2006/main">
              <a:ext uri="{FF2B5EF4-FFF2-40B4-BE49-F238E27FC236}">
                <a16:creationId xmlns:a16="http://schemas.microsoft.com/office/drawing/2014/main" id="{7FC49E8D-7217-45CD-BCC3-553FFA62CEF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02">
            <a:extLst xmlns:a="http://schemas.openxmlformats.org/drawingml/2006/main">
              <a:ext uri="{FF2B5EF4-FFF2-40B4-BE49-F238E27FC236}">
                <a16:creationId xmlns:a16="http://schemas.microsoft.com/office/drawing/2014/main" id="{FE40E7BD-337A-47CB-8A6E-5AEB3E687A9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02</a:t>
            </a:r>
          </a:p>
        </p:txBody>
      </p:sp>
    </p:spTree>
    <p:extLst>
      <p:ext uri="{BB962C8B-B14F-4D97-AF65-F5344CB8AC3E}">
        <p14:creationId xmlns:p14="http://schemas.microsoft.com/office/powerpoint/2010/main" val="1000337481"/>
      </p:ext>
    </p:extLst>
  </p:cSld>
</p:sld>
</file>

<file path=ppt/slides/slide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6" name="SESSION STRUCTURE / 60 MINUTES">
            <a:extLst xmlns:a="http://schemas.openxmlformats.org/drawingml/2006/main">
              <a:ext uri="{FF2B5EF4-FFF2-40B4-BE49-F238E27FC236}">
                <a16:creationId xmlns:a16="http://schemas.microsoft.com/office/drawing/2014/main" id="{D5F8140C-1709-4DAD-A2B3-70A66FA7F31B}"/>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STRUCTURE / 60 MINUTES</a:t>
            </a:r>
          </a:p>
        </p:txBody>
      </p:sp>
      <p:sp>
        <p:nvSpPr>
          <p:cNvPr id="2" name="Review a&#10;containment change.">
            <a:extLst xmlns:a="http://schemas.openxmlformats.org/drawingml/2006/main">
              <a:ext uri="{FF2B5EF4-FFF2-40B4-BE49-F238E27FC236}">
                <a16:creationId xmlns:a16="http://schemas.microsoft.com/office/drawing/2014/main" id="{644B4377-E9C0-4724-AE41-A9510FD59D89}"/>
              </a:ext>
            </a:extLst>
          </p:cNvPr>
          <p:cNvSpPr>
            <a:spLocks xmlns:a="http://schemas.openxmlformats.org/drawingml/2006/main" noGrp="1"/>
          </p:cNvSpPr>
          <p:nvPr/>
        </p:nvSpPr>
        <p:spPr>
          <a:xfrm xmlns:a="http://schemas.openxmlformats.org/drawingml/2006/main">
            <a:off x="609600" y="1190625"/>
            <a:ext cx="6096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0B1822"/>
                </a:solidFill>
                <a:latin typeface="Arial Black"/>
                <a:ea typeface="Arial Black"/>
                <a:cs typeface="Arial Black"/>
              </a:defRPr>
            </a:defPPr>
          </a:lstStyle>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Review a</a:t>
            </a:r>
          </a:p>
          <a:p xmlns:a="http://schemas.openxmlformats.org/drawingml/2006/main">
            <a:pPr>
              <a:defRPr sz="4200" b="1">
                <a:solidFill>
                  <a:srgbClr val="0B1822"/>
                </a:solidFill>
                <a:latin typeface="Arial Black"/>
                <a:ea typeface="Arial Black"/>
                <a:cs typeface="Arial Black"/>
              </a:defRPr>
            </a:pPr>
            <a:r>
              <a:rPr sz="4200" b="1">
                <a:solidFill>
                  <a:srgbClr val="0B1822"/>
                </a:solidFill>
                <a:latin typeface="Arial Black"/>
                <a:ea typeface="Arial Black"/>
                <a:cs typeface="Arial Black"/>
              </a:rPr>
              <a:t>containment change.</a:t>
            </a:r>
          </a:p>
        </p:txBody>
      </p:sp>
      <p:sp>
        <p:nvSpPr>
          <p:cNvPr id="3" name="Incident lead. Recorder. Analyst. Independent re">
            <a:extLst xmlns:a="http://schemas.openxmlformats.org/drawingml/2006/main">
              <a:ext uri="{FF2B5EF4-FFF2-40B4-BE49-F238E27FC236}">
                <a16:creationId xmlns:a16="http://schemas.microsoft.com/office/drawing/2014/main" id="{E976FFDF-04EF-4A21-AA2B-1ED70ABCF878}"/>
              </a:ext>
            </a:extLst>
          </p:cNvPr>
          <p:cNvSpPr>
            <a:spLocks xmlns:a="http://schemas.openxmlformats.org/drawingml/2006/main" noGrp="1"/>
          </p:cNvSpPr>
          <p:nvPr/>
        </p:nvSpPr>
        <p:spPr>
          <a:xfrm xmlns:a="http://schemas.openxmlformats.org/drawingml/2006/main">
            <a:off x="628650" y="3533775"/>
            <a:ext cx="5238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Incident lead. Recorder. Analyst. Independent reviewer.</a:t>
            </a:r>
          </a:p>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The independent reviewer states a concern before each decision.</a:t>
            </a:r>
          </a:p>
        </p:txBody>
      </p:sp>
      <p:sp>
        <p:nvSpPr>
          <p:cNvPr id="4" name="00–06">
            <a:extLst xmlns:a="http://schemas.openxmlformats.org/drawingml/2006/main">
              <a:ext uri="{FF2B5EF4-FFF2-40B4-BE49-F238E27FC236}">
                <a16:creationId xmlns:a16="http://schemas.microsoft.com/office/drawing/2014/main" id="{EB9D9F40-D17B-447B-B8E1-E03B36CE2BD0}"/>
              </a:ext>
            </a:extLst>
          </p:cNvPr>
          <p:cNvSpPr>
            <a:spLocks xmlns:a="http://schemas.openxmlformats.org/drawingml/2006/main" noGrp="1"/>
          </p:cNvSpPr>
          <p:nvPr/>
        </p:nvSpPr>
        <p:spPr>
          <a:xfrm xmlns:a="http://schemas.openxmlformats.org/drawingml/2006/main">
            <a:off x="6991350" y="13335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00–06</a:t>
            </a:r>
          </a:p>
        </p:txBody>
      </p:sp>
      <p:sp>
        <p:nvSpPr>
          <p:cNvPr id="5" name="Briefing, case and constraint choice">
            <a:extLst xmlns:a="http://schemas.openxmlformats.org/drawingml/2006/main">
              <a:ext uri="{FF2B5EF4-FFF2-40B4-BE49-F238E27FC236}">
                <a16:creationId xmlns:a16="http://schemas.microsoft.com/office/drawing/2014/main" id="{7F1DC7F3-7A5C-4BB1-ABB6-E69B6A7069E9}"/>
              </a:ext>
            </a:extLst>
          </p:cNvPr>
          <p:cNvSpPr>
            <a:spLocks xmlns:a="http://schemas.openxmlformats.org/drawingml/2006/main" noGrp="1"/>
          </p:cNvSpPr>
          <p:nvPr/>
        </p:nvSpPr>
        <p:spPr>
          <a:xfrm xmlns:a="http://schemas.openxmlformats.org/drawingml/2006/main">
            <a:off x="8705850" y="13335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Briefing, case and constraint choice</a:t>
            </a:r>
          </a:p>
        </p:txBody>
      </p:sp>
      <p:sp>
        <p:nvSpPr>
          <p:cNvPr id="6" name="06–18">
            <a:extLst xmlns:a="http://schemas.openxmlformats.org/drawingml/2006/main">
              <a:ext uri="{FF2B5EF4-FFF2-40B4-BE49-F238E27FC236}">
                <a16:creationId xmlns:a16="http://schemas.microsoft.com/office/drawing/2014/main" id="{198CE337-FCCA-4DB2-9841-8AA85A783593}"/>
              </a:ext>
            </a:extLst>
          </p:cNvPr>
          <p:cNvSpPr>
            <a:spLocks xmlns:a="http://schemas.openxmlformats.org/drawingml/2006/main" noGrp="1"/>
          </p:cNvSpPr>
          <p:nvPr/>
        </p:nvSpPr>
        <p:spPr>
          <a:xfrm xmlns:a="http://schemas.openxmlformats.org/drawingml/2006/main">
            <a:off x="6991350" y="22479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06–18</a:t>
            </a:r>
          </a:p>
        </p:txBody>
      </p:sp>
      <p:sp>
        <p:nvSpPr>
          <p:cNvPr id="7" name="Intent, compilation demonstration, PR review">
            <a:extLst xmlns:a="http://schemas.openxmlformats.org/drawingml/2006/main">
              <a:ext uri="{FF2B5EF4-FFF2-40B4-BE49-F238E27FC236}">
                <a16:creationId xmlns:a16="http://schemas.microsoft.com/office/drawing/2014/main" id="{1D50F997-1E33-4F9B-8441-BC5ED2C49EEE}"/>
              </a:ext>
            </a:extLst>
          </p:cNvPr>
          <p:cNvSpPr>
            <a:spLocks xmlns:a="http://schemas.openxmlformats.org/drawingml/2006/main" noGrp="1"/>
          </p:cNvSpPr>
          <p:nvPr/>
        </p:nvSpPr>
        <p:spPr>
          <a:xfrm xmlns:a="http://schemas.openxmlformats.org/drawingml/2006/main">
            <a:off x="8705850" y="22479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Intent, compilation demonstration, PR review</a:t>
            </a:r>
          </a:p>
        </p:txBody>
      </p:sp>
      <p:sp>
        <p:nvSpPr>
          <p:cNvPr id="8" name="18–26">
            <a:extLst xmlns:a="http://schemas.openxmlformats.org/drawingml/2006/main">
              <a:ext uri="{FF2B5EF4-FFF2-40B4-BE49-F238E27FC236}">
                <a16:creationId xmlns:a16="http://schemas.microsoft.com/office/drawing/2014/main" id="{A7394723-FABD-405C-A1B5-3AB538C96873}"/>
              </a:ext>
            </a:extLst>
          </p:cNvPr>
          <p:cNvSpPr>
            <a:spLocks xmlns:a="http://schemas.openxmlformats.org/drawingml/2006/main" noGrp="1"/>
          </p:cNvSpPr>
          <p:nvPr/>
        </p:nvSpPr>
        <p:spPr>
          <a:xfrm xmlns:a="http://schemas.openxmlformats.org/drawingml/2006/main">
            <a:off x="6991350" y="31623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18–26</a:t>
            </a:r>
          </a:p>
        </p:txBody>
      </p:sp>
      <p:sp>
        <p:nvSpPr>
          <p:cNvPr id="9" name="Exceptions and rollout">
            <a:extLst xmlns:a="http://schemas.openxmlformats.org/drawingml/2006/main">
              <a:ext uri="{FF2B5EF4-FFF2-40B4-BE49-F238E27FC236}">
                <a16:creationId xmlns:a16="http://schemas.microsoft.com/office/drawing/2014/main" id="{4A1F4DE9-0CED-495D-B185-7A90C9B4B018}"/>
              </a:ext>
            </a:extLst>
          </p:cNvPr>
          <p:cNvSpPr>
            <a:spLocks xmlns:a="http://schemas.openxmlformats.org/drawingml/2006/main" noGrp="1"/>
          </p:cNvSpPr>
          <p:nvPr/>
        </p:nvSpPr>
        <p:spPr>
          <a:xfrm xmlns:a="http://schemas.openxmlformats.org/drawingml/2006/main">
            <a:off x="8705850" y="31623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Exceptions and rollout</a:t>
            </a:r>
          </a:p>
        </p:txBody>
      </p:sp>
      <p:sp>
        <p:nvSpPr>
          <p:cNvPr id="10" name="26–38">
            <a:extLst xmlns:a="http://schemas.openxmlformats.org/drawingml/2006/main">
              <a:ext uri="{FF2B5EF4-FFF2-40B4-BE49-F238E27FC236}">
                <a16:creationId xmlns:a16="http://schemas.microsoft.com/office/drawing/2014/main" id="{22D9E435-C8CB-4091-8E8F-0D99B3710AF8}"/>
              </a:ext>
            </a:extLst>
          </p:cNvPr>
          <p:cNvSpPr>
            <a:spLocks xmlns:a="http://schemas.openxmlformats.org/drawingml/2006/main" noGrp="1"/>
          </p:cNvSpPr>
          <p:nvPr/>
        </p:nvSpPr>
        <p:spPr>
          <a:xfrm xmlns:a="http://schemas.openxmlformats.org/drawingml/2006/main">
            <a:off x="6991350" y="40767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26–38</a:t>
            </a:r>
          </a:p>
        </p:txBody>
      </p:sp>
      <p:sp>
        <p:nvSpPr>
          <p:cNvPr id="11" name="Containment and late evidence">
            <a:extLst xmlns:a="http://schemas.openxmlformats.org/drawingml/2006/main">
              <a:ext uri="{FF2B5EF4-FFF2-40B4-BE49-F238E27FC236}">
                <a16:creationId xmlns:a16="http://schemas.microsoft.com/office/drawing/2014/main" id="{64B01071-8F24-4473-823A-F06866E0367D}"/>
              </a:ext>
            </a:extLst>
          </p:cNvPr>
          <p:cNvSpPr>
            <a:spLocks xmlns:a="http://schemas.openxmlformats.org/drawingml/2006/main" noGrp="1"/>
          </p:cNvSpPr>
          <p:nvPr/>
        </p:nvSpPr>
        <p:spPr>
          <a:xfrm xmlns:a="http://schemas.openxmlformats.org/drawingml/2006/main">
            <a:off x="8705850" y="40767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Containment and late evidence</a:t>
            </a:r>
          </a:p>
        </p:txBody>
      </p:sp>
      <p:sp>
        <p:nvSpPr>
          <p:cNvPr id="12" name="38–60">
            <a:extLst xmlns:a="http://schemas.openxmlformats.org/drawingml/2006/main">
              <a:ext uri="{FF2B5EF4-FFF2-40B4-BE49-F238E27FC236}">
                <a16:creationId xmlns:a16="http://schemas.microsoft.com/office/drawing/2014/main" id="{3D7DA431-44A2-4E98-8706-FD423004544E}"/>
              </a:ext>
            </a:extLst>
          </p:cNvPr>
          <p:cNvSpPr>
            <a:spLocks xmlns:a="http://schemas.openxmlformats.org/drawingml/2006/main" noGrp="1"/>
          </p:cNvSpPr>
          <p:nvPr/>
        </p:nvSpPr>
        <p:spPr>
          <a:xfrm xmlns:a="http://schemas.openxmlformats.org/drawingml/2006/main">
            <a:off x="6991350" y="499110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38–60</a:t>
            </a:r>
          </a:p>
        </p:txBody>
      </p:sp>
      <p:sp>
        <p:nvSpPr>
          <p:cNvPr id="13" name="Lab consequences, peer review and recovery">
            <a:extLst xmlns:a="http://schemas.openxmlformats.org/drawingml/2006/main">
              <a:ext uri="{FF2B5EF4-FFF2-40B4-BE49-F238E27FC236}">
                <a16:creationId xmlns:a16="http://schemas.microsoft.com/office/drawing/2014/main" id="{47B3ED0E-335F-49EE-BD02-89F8A2F64FFC}"/>
              </a:ext>
            </a:extLst>
          </p:cNvPr>
          <p:cNvSpPr>
            <a:spLocks xmlns:a="http://schemas.openxmlformats.org/drawingml/2006/main" noGrp="1"/>
          </p:cNvSpPr>
          <p:nvPr/>
        </p:nvSpPr>
        <p:spPr>
          <a:xfrm xmlns:a="http://schemas.openxmlformats.org/drawingml/2006/main">
            <a:off x="8705850" y="4991100"/>
            <a:ext cx="2762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Lab consequences, peer review and recovery</a:t>
            </a:r>
          </a:p>
        </p:txBody>
      </p:sp>
      <p:sp>
        <p:nvSpPr>
          <p:cNvPr id="14" name="ISC2 SECURITY CONGRESS 2026 / SC2632">
            <a:extLst xmlns:a="http://schemas.openxmlformats.org/drawingml/2006/main">
              <a:ext uri="{FF2B5EF4-FFF2-40B4-BE49-F238E27FC236}">
                <a16:creationId xmlns:a16="http://schemas.microsoft.com/office/drawing/2014/main" id="{C4E08666-0EFC-45BC-B63C-2A2DCFB161B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5" name="03">
            <a:extLst xmlns:a="http://schemas.openxmlformats.org/drawingml/2006/main">
              <a:ext uri="{FF2B5EF4-FFF2-40B4-BE49-F238E27FC236}">
                <a16:creationId xmlns:a16="http://schemas.microsoft.com/office/drawing/2014/main" id="{B166E445-87CE-4CCE-B247-6E7ACD4A48D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03</a:t>
            </a:r>
          </a:p>
        </p:txBody>
      </p:sp>
    </p:spTree>
    <p:extLst>
      <p:ext uri="{BB962C8B-B14F-4D97-AF65-F5344CB8AC3E}">
        <p14:creationId xmlns:p14="http://schemas.microsoft.com/office/powerpoint/2010/main" val="777490585"/>
      </p:ext>
    </p:extLst>
  </p:cSld>
</p:sld>
</file>

<file path=ppt/slides/slide4.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8" name="EXERCISE CONTEXT / SHARED PRODUCTION PLATFORM">
            <a:extLst xmlns:a="http://schemas.openxmlformats.org/drawingml/2006/main">
              <a:ext uri="{FF2B5EF4-FFF2-40B4-BE49-F238E27FC236}">
                <a16:creationId xmlns:a16="http://schemas.microsoft.com/office/drawing/2014/main" id="{42C78648-984E-4BE2-B2A4-1A0B39C2F613}"/>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EXERCISE CONTEXT / SHARED PRODUCTION PLATFORM</a:t>
            </a:r>
          </a:p>
        </p:txBody>
      </p:sp>
      <p:sp>
        <p:nvSpPr>
          <p:cNvPr id="2" name="Unexpected workload activity">
            <a:extLst xmlns:a="http://schemas.openxmlformats.org/drawingml/2006/main">
              <a:ext uri="{FF2B5EF4-FFF2-40B4-BE49-F238E27FC236}">
                <a16:creationId xmlns:a16="http://schemas.microsoft.com/office/drawing/2014/main" id="{842B9132-4FA9-4B2B-A4F1-082FA56A0514}"/>
              </a:ext>
            </a:extLst>
          </p:cNvPr>
          <p:cNvSpPr>
            <a:spLocks xmlns:a="http://schemas.openxmlformats.org/drawingml/2006/main" noGrp="1"/>
          </p:cNvSpPr>
          <p:nvPr/>
        </p:nvSpPr>
        <p:spPr>
          <a:xfrm xmlns:a="http://schemas.openxmlformats.org/drawingml/2006/main">
            <a:off x="609600" y="1400175"/>
            <a:ext cx="10763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F2EFE7"/>
                </a:solidFill>
                <a:latin typeface="Arial Black"/>
                <a:ea typeface="Arial Black"/>
                <a:cs typeface="Arial Black"/>
              </a:defRPr>
            </a:defPPr>
          </a:lstStyle>
          <a:p xmlns:a="http://schemas.openxmlformats.org/drawingml/2006/main">
            <a:pPr>
              <a:defRPr sz="4200" b="1">
                <a:solidFill>
                  <a:srgbClr val="F2EFE7"/>
                </a:solidFill>
                <a:latin typeface="Arial Black"/>
                <a:ea typeface="Arial Black"/>
                <a:cs typeface="Arial Black"/>
              </a:defRPr>
            </a:pPr>
            <a:r>
              <a:rPr sz="4200" b="1">
                <a:solidFill>
                  <a:srgbClr val="F2EFE7"/>
                </a:solidFill>
                <a:latin typeface="Arial Black"/>
                <a:ea typeface="Arial Black"/>
                <a:cs typeface="Arial Black"/>
              </a:rPr>
              <a:t>Unexpected workload activity</a:t>
            </a:r>
          </a:p>
        </p:txBody>
      </p:sp>
      <p:sp>
        <p:nvSpPr>
          <p:cNvPr id="3" name="SCOPE&#10;UNCERTAIN">
            <a:extLst xmlns:a="http://schemas.openxmlformats.org/drawingml/2006/main">
              <a:ext uri="{FF2B5EF4-FFF2-40B4-BE49-F238E27FC236}">
                <a16:creationId xmlns:a16="http://schemas.microsoft.com/office/drawing/2014/main" id="{3FFF65DC-CD0C-4B0A-9FAF-276E75C8DE98}"/>
              </a:ext>
            </a:extLst>
          </p:cNvPr>
          <p:cNvSpPr>
            <a:spLocks xmlns:a="http://schemas.openxmlformats.org/drawingml/2006/main" noGrp="1"/>
          </p:cNvSpPr>
          <p:nvPr/>
        </p:nvSpPr>
        <p:spPr>
          <a:xfrm xmlns:a="http://schemas.openxmlformats.org/drawingml/2006/main">
            <a:off x="609600" y="2743200"/>
            <a:ext cx="6858000"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950" b="1">
                <a:solidFill>
                  <a:srgbClr val="FF795B"/>
                </a:solidFill>
                <a:latin typeface="Arial Black"/>
                <a:ea typeface="Arial Black"/>
                <a:cs typeface="Arial Black"/>
              </a:defRPr>
            </a:defPPr>
          </a:lstStyle>
          <a:p xmlns:a="http://schemas.openxmlformats.org/drawingml/2006/main">
            <a:pPr>
              <a:defRPr sz="4950" b="1">
                <a:solidFill>
                  <a:srgbClr val="FF795B"/>
                </a:solidFill>
                <a:latin typeface="Arial Black"/>
                <a:ea typeface="Arial Black"/>
                <a:cs typeface="Arial Black"/>
              </a:defRPr>
            </a:pPr>
            <a:r>
              <a:rPr sz="4950" b="1">
                <a:solidFill>
                  <a:srgbClr val="FF795B"/>
                </a:solidFill>
                <a:latin typeface="Arial Black"/>
                <a:ea typeface="Arial Black"/>
                <a:cs typeface="Arial Black"/>
              </a:rPr>
              <a:t>SCOPE</a:t>
            </a:r>
          </a:p>
          <a:p xmlns:a="http://schemas.openxmlformats.org/drawingml/2006/main">
            <a:pPr>
              <a:defRPr sz="4950" b="1">
                <a:solidFill>
                  <a:srgbClr val="FF795B"/>
                </a:solidFill>
                <a:latin typeface="Arial Black"/>
                <a:ea typeface="Arial Black"/>
                <a:cs typeface="Arial Black"/>
              </a:defRPr>
            </a:pPr>
            <a:r>
              <a:rPr sz="4950" b="1">
                <a:solidFill>
                  <a:srgbClr val="FF795B"/>
                </a:solidFill>
                <a:latin typeface="Arial Black"/>
                <a:ea typeface="Arial Black"/>
                <a:cs typeface="Arial Black"/>
              </a:rPr>
              <a:t>UNCERTAIN</a:t>
            </a:r>
          </a:p>
        </p:txBody>
      </p:sp>
      <p:sp>
        <p:nvSpPr>
          <p:cNvPr id="4" name="Several production services share the cluster.&#10;T">
            <a:extLst xmlns:a="http://schemas.openxmlformats.org/drawingml/2006/main">
              <a:ext uri="{FF2B5EF4-FFF2-40B4-BE49-F238E27FC236}">
                <a16:creationId xmlns:a16="http://schemas.microsoft.com/office/drawing/2014/main" id="{6B868307-95AB-47AB-88CC-157C57E88732}"/>
              </a:ext>
            </a:extLst>
          </p:cNvPr>
          <p:cNvSpPr>
            <a:spLocks xmlns:a="http://schemas.openxmlformats.org/drawingml/2006/main" noGrp="1"/>
          </p:cNvSpPr>
          <p:nvPr/>
        </p:nvSpPr>
        <p:spPr>
          <a:xfrm xmlns:a="http://schemas.openxmlformats.org/drawingml/2006/main">
            <a:off x="7791450" y="2933700"/>
            <a:ext cx="371475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Several production services share the cluster.</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The affected service remains operational.</a:t>
            </a:r>
          </a:p>
        </p:txBody>
      </p:sp>
      <p:sp>
        <p:nvSpPr>
          <p:cNvPr id="5" name="Restrict affected identities and workloads while">
            <a:extLst xmlns:a="http://schemas.openxmlformats.org/drawingml/2006/main">
              <a:ext uri="{FF2B5EF4-FFF2-40B4-BE49-F238E27FC236}">
                <a16:creationId xmlns:a16="http://schemas.microsoft.com/office/drawing/2014/main" id="{3D629CAB-118C-4ED9-89D5-FEC48F98ED9F}"/>
              </a:ext>
            </a:extLst>
          </p:cNvPr>
          <p:cNvSpPr>
            <a:spLocks xmlns:a="http://schemas.openxmlformats.org/drawingml/2006/main" noGrp="1"/>
          </p:cNvSpPr>
          <p:nvPr/>
        </p:nvSpPr>
        <p:spPr>
          <a:xfrm xmlns:a="http://schemas.openxmlformats.org/drawingml/2006/main">
            <a:off x="628650" y="53149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F2EFE7"/>
                </a:solidFill>
                <a:latin typeface="Arial"/>
                <a:ea typeface="Arial"/>
                <a:cs typeface="Arial"/>
              </a:defRPr>
            </a:defPPr>
          </a:lstStyle>
          <a:p xmlns:a="http://schemas.openxmlformats.org/drawingml/2006/main">
            <a:pPr>
              <a:defRPr sz="2400" b="1">
                <a:solidFill>
                  <a:srgbClr val="F2EFE7"/>
                </a:solidFill>
                <a:latin typeface="Arial"/>
                <a:ea typeface="Arial"/>
                <a:cs typeface="Arial"/>
              </a:defRPr>
            </a:pPr>
            <a:r>
              <a:rPr sz="2400" b="1">
                <a:solidFill>
                  <a:srgbClr val="F2EFE7"/>
                </a:solidFill>
                <a:latin typeface="Arial"/>
                <a:ea typeface="Arial"/>
                <a:cs typeface="Arial"/>
              </a:rPr>
              <a:t>Restrict affected identities and workloads while preserving essential dependencies.</a:t>
            </a:r>
          </a:p>
        </p:txBody>
      </p:sp>
      <p:sp>
        <p:nvSpPr>
          <p:cNvPr id="6" name="ISC2 SECURITY CONGRESS 2026 / SC2632">
            <a:extLst xmlns:a="http://schemas.openxmlformats.org/drawingml/2006/main">
              <a:ext uri="{FF2B5EF4-FFF2-40B4-BE49-F238E27FC236}">
                <a16:creationId xmlns:a16="http://schemas.microsoft.com/office/drawing/2014/main" id="{7B57EFD3-07D3-4AF3-B502-BD6433E87EB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4">
            <a:extLst xmlns:a="http://schemas.openxmlformats.org/drawingml/2006/main">
              <a:ext uri="{FF2B5EF4-FFF2-40B4-BE49-F238E27FC236}">
                <a16:creationId xmlns:a16="http://schemas.microsoft.com/office/drawing/2014/main" id="{CF5B1CD9-461C-431C-B5AB-78EA002B54D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04</a:t>
            </a:r>
          </a:p>
        </p:txBody>
      </p:sp>
    </p:spTree>
    <p:extLst>
      <p:ext uri="{BB962C8B-B14F-4D97-AF65-F5344CB8AC3E}">
        <p14:creationId xmlns:p14="http://schemas.microsoft.com/office/powerpoint/2010/main" val="1020950353"/>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7" name="SELECT ONE SCENARIO">
            <a:extLst xmlns:a="http://schemas.openxmlformats.org/drawingml/2006/main">
              <a:ext uri="{FF2B5EF4-FFF2-40B4-BE49-F238E27FC236}">
                <a16:creationId xmlns:a16="http://schemas.microsoft.com/office/drawing/2014/main" id="{524F97A2-6A8E-4F3B-9D99-37E4BE96BD02}"/>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SELECT ONE SCENARIO</a:t>
            </a:r>
          </a:p>
        </p:txBody>
      </p:sp>
      <p:sp>
        <p:nvSpPr>
          <p:cNvPr id="2" name="Four prepared scenarios">
            <a:extLst xmlns:a="http://schemas.openxmlformats.org/drawingml/2006/main">
              <a:ext uri="{FF2B5EF4-FFF2-40B4-BE49-F238E27FC236}">
                <a16:creationId xmlns:a16="http://schemas.microsoft.com/office/drawing/2014/main" id="{4F7D7746-FE6A-4939-824F-87AC7B7C5A7C}"/>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3DBA6762-4DED-4399-8471-3DB1647F53B1}"/>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CF9AEBD9-BB58-450A-9D96-01226AA9D90B}"/>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D7C741D6-DDA7-48C4-B383-A32FDD84D822}"/>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340C78FB-5AF9-416D-8243-071496CD8B88}"/>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6168E631-699B-4E15-8D29-4FEB055170CC}"/>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8355B881-245C-4829-A4EA-B064EF57DEDE}"/>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9F57DBD8-317D-4CD3-AC86-CCA6614CCF18}"/>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approved mutation">
            <a:extLst xmlns:a="http://schemas.openxmlformats.org/drawingml/2006/main">
              <a:ext uri="{FF2B5EF4-FFF2-40B4-BE49-F238E27FC236}">
                <a16:creationId xmlns:a16="http://schemas.microsoft.com/office/drawing/2014/main" id="{72451B36-2598-4A24-8F2A-D728E3155624}"/>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Unapproved mutation</a:t>
            </a:r>
          </a:p>
        </p:txBody>
      </p:sp>
      <p:sp>
        <p:nvSpPr>
          <p:cNvPr id="11" name="An ops agent changes replicas without a ticket">
            <a:extLst xmlns:a="http://schemas.openxmlformats.org/drawingml/2006/main">
              <a:ext uri="{FF2B5EF4-FFF2-40B4-BE49-F238E27FC236}">
                <a16:creationId xmlns:a16="http://schemas.microsoft.com/office/drawing/2014/main" id="{9730196A-A3B4-4C05-9607-612EFB25052C}"/>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replicas without a ticket</a:t>
            </a:r>
          </a:p>
        </p:txBody>
      </p:sp>
      <p:sp>
        <p:nvSpPr>
          <p:cNvPr id="12" name="D">
            <a:extLst xmlns:a="http://schemas.openxmlformats.org/drawingml/2006/main">
              <a:ext uri="{FF2B5EF4-FFF2-40B4-BE49-F238E27FC236}">
                <a16:creationId xmlns:a16="http://schemas.microsoft.com/office/drawing/2014/main" id="{D5572A81-BF49-40A4-8254-6198D86B3CCA}"/>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Secret enumeration">
            <a:extLst xmlns:a="http://schemas.openxmlformats.org/drawingml/2006/main">
              <a:ext uri="{FF2B5EF4-FFF2-40B4-BE49-F238E27FC236}">
                <a16:creationId xmlns:a16="http://schemas.microsoft.com/office/drawing/2014/main" id="{FD9406AF-2569-4F1C-9B22-F2BDBFED33E3}"/>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Secret enumeration</a:t>
            </a:r>
          </a:p>
        </p:txBody>
      </p:sp>
      <p:sp>
        <p:nvSpPr>
          <p:cNvPr id="14" name="A monitoring identity lists Secrets across names">
            <a:extLst xmlns:a="http://schemas.openxmlformats.org/drawingml/2006/main">
              <a:ext uri="{FF2B5EF4-FFF2-40B4-BE49-F238E27FC236}">
                <a16:creationId xmlns:a16="http://schemas.microsoft.com/office/drawing/2014/main" id="{AC8084C3-4A7D-4493-81A0-B161E5C74622}"/>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Secrets across namespaces</a:t>
            </a:r>
          </a:p>
        </p:txBody>
      </p:sp>
      <p:sp>
        <p:nvSpPr>
          <p:cNvPr id="15" name="ISC2 SECURITY CONGRESS 2026 / SC2632">
            <a:extLst xmlns:a="http://schemas.openxmlformats.org/drawingml/2006/main">
              <a:ext uri="{FF2B5EF4-FFF2-40B4-BE49-F238E27FC236}">
                <a16:creationId xmlns:a16="http://schemas.microsoft.com/office/drawing/2014/main" id="{08320FB1-2728-486E-9C63-9A15C36B62D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6" name="05">
            <a:extLst xmlns:a="http://schemas.openxmlformats.org/drawingml/2006/main">
              <a:ext uri="{FF2B5EF4-FFF2-40B4-BE49-F238E27FC236}">
                <a16:creationId xmlns:a16="http://schemas.microsoft.com/office/drawing/2014/main" id="{A0F21084-0788-4474-AF88-3B3AF6F271C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1105226662"/>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835FC8B7-F6B0-4870-AC67-AF82F15A767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4313CE07-C67D-40D3-881C-8877DA487FB6}"/>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B709AB54-9953-43A4-AD96-4AB579E1612B}"/>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Maintain minimum service capacity and essential ">
            <a:extLst xmlns:a="http://schemas.openxmlformats.org/drawingml/2006/main">
              <a:ext uri="{FF2B5EF4-FFF2-40B4-BE49-F238E27FC236}">
                <a16:creationId xmlns:a16="http://schemas.microsoft.com/office/drawing/2014/main" id="{AD28A58E-5EFA-46B3-AEBB-9ECD0702BE28}"/>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Maintain minimum service capacity and essential dependency access.</a:t>
            </a:r>
          </a:p>
        </p:txBody>
      </p:sp>
      <p:sp>
        <p:nvSpPr>
          <p:cNvPr id="5" name="Evidence">
            <a:extLst xmlns:a="http://schemas.openxmlformats.org/drawingml/2006/main">
              <a:ext uri="{FF2B5EF4-FFF2-40B4-BE49-F238E27FC236}">
                <a16:creationId xmlns:a16="http://schemas.microsoft.com/office/drawing/2014/main" id="{00010B39-5213-4D44-B315-F58EC6625CE1}"/>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6F923571-9CD1-4C8A-858B-524931292783}"/>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B81B46D7-3DB7-4B09-95A2-25D0BC906955}"/>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687A6C0F-ED32-425A-8B3D-7F87054E8E5A}"/>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485665A9-DF43-45A6-A990-A3418198929A}"/>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EAB935A6-8B6E-4AA8-B9D9-9F57BD7E7CDC}"/>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Name your minimum acceptable service.">
            <a:extLst xmlns:a="http://schemas.openxmlformats.org/drawingml/2006/main">
              <a:ext uri="{FF2B5EF4-FFF2-40B4-BE49-F238E27FC236}">
                <a16:creationId xmlns:a16="http://schemas.microsoft.com/office/drawing/2014/main" id="{12718696-5E01-4BB8-9DE8-9D1444B73B70}"/>
              </a:ext>
            </a:extLst>
          </p:cNvPr>
          <p:cNvSpPr>
            <a:spLocks xmlns:a="http://schemas.openxmlformats.org/drawingml/2006/main" noGrp="1"/>
          </p:cNvSpPr>
          <p:nvPr/>
        </p:nvSpPr>
        <p:spPr>
          <a:xfrm xmlns:a="http://schemas.openxmlformats.org/drawingml/2006/main">
            <a:off x="628650" y="5962650"/>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Name your minimum acceptable service.</a:t>
            </a:r>
          </a:p>
        </p:txBody>
      </p:sp>
      <p:sp>
        <p:nvSpPr>
          <p:cNvPr id="12" name="ISC2 SECURITY CONGRESS 2026 / SC2632">
            <a:extLst xmlns:a="http://schemas.openxmlformats.org/drawingml/2006/main">
              <a:ext uri="{FF2B5EF4-FFF2-40B4-BE49-F238E27FC236}">
                <a16:creationId xmlns:a16="http://schemas.microsoft.com/office/drawing/2014/main" id="{35878308-8E00-436C-BA40-51EE2ACFDE0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06">
            <a:extLst xmlns:a="http://schemas.openxmlformats.org/drawingml/2006/main">
              <a:ext uri="{FF2B5EF4-FFF2-40B4-BE49-F238E27FC236}">
                <a16:creationId xmlns:a16="http://schemas.microsoft.com/office/drawing/2014/main" id="{55232894-F8ED-441E-AA22-7C760FEA9E7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1841793313"/>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7" name="ASSESSMENT / EVIDENCE-BASED REVIEW">
            <a:extLst xmlns:a="http://schemas.openxmlformats.org/drawingml/2006/main">
              <a:ext uri="{FF2B5EF4-FFF2-40B4-BE49-F238E27FC236}">
                <a16:creationId xmlns:a16="http://schemas.microsoft.com/office/drawing/2014/main" id="{804EE322-C4D7-4B28-8854-A578EB1862DB}"/>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ASSESSMENT / EVIDENCE-BASED REVIEW</a:t>
            </a:r>
          </a:p>
        </p:txBody>
      </p:sp>
      <p:sp>
        <p:nvSpPr>
          <p:cNvPr id="2" name="12">
            <a:extLst xmlns:a="http://schemas.openxmlformats.org/drawingml/2006/main">
              <a:ext uri="{FF2B5EF4-FFF2-40B4-BE49-F238E27FC236}">
                <a16:creationId xmlns:a16="http://schemas.microsoft.com/office/drawing/2014/main" id="{CC512601-8530-4789-8196-25E573EE5DCB}"/>
              </a:ext>
            </a:extLst>
          </p:cNvPr>
          <p:cNvSpPr>
            <a:spLocks xmlns:a="http://schemas.openxmlformats.org/drawingml/2006/main" noGrp="1"/>
          </p:cNvSpPr>
          <p:nvPr/>
        </p:nvSpPr>
        <p:spPr>
          <a:xfrm xmlns:a="http://schemas.openxmlformats.org/drawingml/2006/main">
            <a:off x="609600" y="1181100"/>
            <a:ext cx="3619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0" b="1">
                <a:solidFill>
                  <a:srgbClr val="0B1822"/>
                </a:solidFill>
                <a:latin typeface="Arial Black"/>
                <a:ea typeface="Arial Black"/>
                <a:cs typeface="Arial Black"/>
              </a:defRPr>
            </a:defPPr>
          </a:lstStyle>
          <a:p xmlns:a="http://schemas.openxmlformats.org/drawingml/2006/main">
            <a:pPr>
              <a:defRPr sz="10500" b="1">
                <a:solidFill>
                  <a:srgbClr val="0B1822"/>
                </a:solidFill>
                <a:latin typeface="Arial Black"/>
                <a:ea typeface="Arial Black"/>
                <a:cs typeface="Arial Black"/>
              </a:defRPr>
            </a:pPr>
            <a:r>
              <a:rPr sz="10500" b="1">
                <a:solidFill>
                  <a:srgbClr val="0B1822"/>
                </a:solidFill>
                <a:latin typeface="Arial Black"/>
                <a:ea typeface="Arial Black"/>
                <a:cs typeface="Arial Black"/>
              </a:rPr>
              <a:t>12</a:t>
            </a:r>
          </a:p>
        </p:txBody>
      </p:sp>
      <p:sp>
        <p:nvSpPr>
          <p:cNvPr id="3" name="+3">
            <a:extLst xmlns:a="http://schemas.openxmlformats.org/drawingml/2006/main">
              <a:ext uri="{FF2B5EF4-FFF2-40B4-BE49-F238E27FC236}">
                <a16:creationId xmlns:a16="http://schemas.microsoft.com/office/drawing/2014/main" id="{415FE589-F8C9-40E2-8C19-DED018E313B4}"/>
              </a:ext>
            </a:extLst>
          </p:cNvPr>
          <p:cNvSpPr>
            <a:spLocks xmlns:a="http://schemas.openxmlformats.org/drawingml/2006/main" noGrp="1"/>
          </p:cNvSpPr>
          <p:nvPr/>
        </p:nvSpPr>
        <p:spPr>
          <a:xfrm xmlns:a="http://schemas.openxmlformats.org/drawingml/2006/main">
            <a:off x="609600" y="3267075"/>
            <a:ext cx="3333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7800" b="1">
                <a:solidFill>
                  <a:srgbClr val="FF795B"/>
                </a:solidFill>
                <a:latin typeface="Arial Black"/>
                <a:ea typeface="Arial Black"/>
                <a:cs typeface="Arial Black"/>
              </a:defRPr>
            </a:defPPr>
          </a:lstStyle>
          <a:p xmlns:a="http://schemas.openxmlformats.org/drawingml/2006/main">
            <a:pPr>
              <a:defRPr sz="7800" b="1">
                <a:solidFill>
                  <a:srgbClr val="FF795B"/>
                </a:solidFill>
                <a:latin typeface="Arial Black"/>
                <a:ea typeface="Arial Black"/>
                <a:cs typeface="Arial Black"/>
              </a:defRPr>
            </a:pPr>
            <a:r>
              <a:rPr sz="7800" b="1">
                <a:solidFill>
                  <a:srgbClr val="FF795B"/>
                </a:solidFill>
                <a:latin typeface="Arial Black"/>
                <a:ea typeface="Arial Black"/>
                <a:cs typeface="Arial Black"/>
              </a:rPr>
              <a:t>+3</a:t>
            </a:r>
          </a:p>
        </p:txBody>
      </p:sp>
      <p:sp>
        <p:nvSpPr>
          <p:cNvPr id="4" name="Core review points">
            <a:extLst xmlns:a="http://schemas.openxmlformats.org/drawingml/2006/main">
              <a:ext uri="{FF2B5EF4-FFF2-40B4-BE49-F238E27FC236}">
                <a16:creationId xmlns:a16="http://schemas.microsoft.com/office/drawing/2014/main" id="{005F8A67-68C9-40AB-8086-D8C18EF8BC76}"/>
              </a:ext>
            </a:extLst>
          </p:cNvPr>
          <p:cNvSpPr>
            <a:spLocks xmlns:a="http://schemas.openxmlformats.org/drawingml/2006/main" noGrp="1"/>
          </p:cNvSpPr>
          <p:nvPr/>
        </p:nvSpPr>
        <p:spPr>
          <a:xfrm xmlns:a="http://schemas.openxmlformats.org/drawingml/2006/main">
            <a:off x="628650" y="2914650"/>
            <a:ext cx="419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Core review points</a:t>
            </a:r>
          </a:p>
        </p:txBody>
      </p:sp>
      <p:sp>
        <p:nvSpPr>
          <p:cNvPr id="5" name="Independent review points">
            <a:extLst xmlns:a="http://schemas.openxmlformats.org/drawingml/2006/main">
              <a:ext uri="{FF2B5EF4-FFF2-40B4-BE49-F238E27FC236}">
                <a16:creationId xmlns:a16="http://schemas.microsoft.com/office/drawing/2014/main" id="{154362A7-5C53-4986-9490-3B12C417A67F}"/>
              </a:ext>
            </a:extLst>
          </p:cNvPr>
          <p:cNvSpPr>
            <a:spLocks xmlns:a="http://schemas.openxmlformats.org/drawingml/2006/main" noGrp="1"/>
          </p:cNvSpPr>
          <p:nvPr/>
        </p:nvSpPr>
        <p:spPr>
          <a:xfrm xmlns:a="http://schemas.openxmlformats.org/drawingml/2006/main">
            <a:off x="628650" y="465772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Independent review points</a:t>
            </a:r>
          </a:p>
        </p:txBody>
      </p:sp>
      <p:sp>
        <p:nvSpPr>
          <p:cNvPr id="6" name="Intent and PR review">
            <a:extLst xmlns:a="http://schemas.openxmlformats.org/drawingml/2006/main">
              <a:ext uri="{FF2B5EF4-FFF2-40B4-BE49-F238E27FC236}">
                <a16:creationId xmlns:a16="http://schemas.microsoft.com/office/drawing/2014/main" id="{FF0A1811-E47C-47B8-A94A-F76C35C1FA50}"/>
              </a:ext>
            </a:extLst>
          </p:cNvPr>
          <p:cNvSpPr>
            <a:spLocks xmlns:a="http://schemas.openxmlformats.org/drawingml/2006/main" noGrp="1"/>
          </p:cNvSpPr>
          <p:nvPr/>
        </p:nvSpPr>
        <p:spPr>
          <a:xfrm xmlns:a="http://schemas.openxmlformats.org/drawingml/2006/main">
            <a:off x="5734050" y="1362075"/>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Intent and PR review</a:t>
            </a:r>
          </a:p>
        </p:txBody>
      </p:sp>
      <p:sp>
        <p:nvSpPr>
          <p:cNvPr id="7" name="Control boundary / availability floor / missing ">
            <a:extLst xmlns:a="http://schemas.openxmlformats.org/drawingml/2006/main">
              <a:ext uri="{FF2B5EF4-FFF2-40B4-BE49-F238E27FC236}">
                <a16:creationId xmlns:a16="http://schemas.microsoft.com/office/drawing/2014/main" id="{489D1BE1-F4BD-4E9D-87C0-471C08873669}"/>
              </a:ext>
            </a:extLst>
          </p:cNvPr>
          <p:cNvSpPr>
            <a:spLocks xmlns:a="http://schemas.openxmlformats.org/drawingml/2006/main" noGrp="1"/>
          </p:cNvSpPr>
          <p:nvPr/>
        </p:nvSpPr>
        <p:spPr>
          <a:xfrm xmlns:a="http://schemas.openxmlformats.org/drawingml/2006/main">
            <a:off x="5734050" y="1809750"/>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Control boundary / availability floor / missing test</a:t>
            </a:r>
          </a:p>
        </p:txBody>
      </p:sp>
      <p:sp>
        <p:nvSpPr>
          <p:cNvPr id="8" name="Exception and rollout">
            <a:extLst xmlns:a="http://schemas.openxmlformats.org/drawingml/2006/main">
              <a:ext uri="{FF2B5EF4-FFF2-40B4-BE49-F238E27FC236}">
                <a16:creationId xmlns:a16="http://schemas.microsoft.com/office/drawing/2014/main" id="{5ED8C93B-9B5C-46CF-9C3A-36E752F36414}"/>
              </a:ext>
            </a:extLst>
          </p:cNvPr>
          <p:cNvSpPr>
            <a:spLocks xmlns:a="http://schemas.openxmlformats.org/drawingml/2006/main" noGrp="1"/>
          </p:cNvSpPr>
          <p:nvPr/>
        </p:nvSpPr>
        <p:spPr>
          <a:xfrm xmlns:a="http://schemas.openxmlformats.org/drawingml/2006/main">
            <a:off x="5734050" y="2552700"/>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Exception and rollout</a:t>
            </a:r>
          </a:p>
        </p:txBody>
      </p:sp>
      <p:sp>
        <p:nvSpPr>
          <p:cNvPr id="9" name="Verified approver / owner and expiry / narrow sc">
            <a:extLst xmlns:a="http://schemas.openxmlformats.org/drawingml/2006/main">
              <a:ext uri="{FF2B5EF4-FFF2-40B4-BE49-F238E27FC236}">
                <a16:creationId xmlns:a16="http://schemas.microsoft.com/office/drawing/2014/main" id="{30D95E1C-4DB1-41C8-BBE4-39E6E9B44323}"/>
              </a:ext>
            </a:extLst>
          </p:cNvPr>
          <p:cNvSpPr>
            <a:spLocks xmlns:a="http://schemas.openxmlformats.org/drawingml/2006/main" noGrp="1"/>
          </p:cNvSpPr>
          <p:nvPr/>
        </p:nvSpPr>
        <p:spPr>
          <a:xfrm xmlns:a="http://schemas.openxmlformats.org/drawingml/2006/main">
            <a:off x="5734050" y="3000375"/>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Verified approver / owner and expiry / narrow scope</a:t>
            </a:r>
          </a:p>
        </p:txBody>
      </p:sp>
      <p:sp>
        <p:nvSpPr>
          <p:cNvPr id="10" name="Containment">
            <a:extLst xmlns:a="http://schemas.openxmlformats.org/drawingml/2006/main">
              <a:ext uri="{FF2B5EF4-FFF2-40B4-BE49-F238E27FC236}">
                <a16:creationId xmlns:a16="http://schemas.microsoft.com/office/drawing/2014/main" id="{16D26F44-BA2B-4F06-9835-26347415ADB9}"/>
              </a:ext>
            </a:extLst>
          </p:cNvPr>
          <p:cNvSpPr>
            <a:spLocks xmlns:a="http://schemas.openxmlformats.org/drawingml/2006/main" noGrp="1"/>
          </p:cNvSpPr>
          <p:nvPr/>
        </p:nvSpPr>
        <p:spPr>
          <a:xfrm xmlns:a="http://schemas.openxmlformats.org/drawingml/2006/main">
            <a:off x="5734050" y="3743325"/>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Containment</a:t>
            </a:r>
          </a:p>
        </p:txBody>
      </p:sp>
      <p:sp>
        <p:nvSpPr>
          <p:cNvPr id="11" name="Ordered actions / protected dependency / preserv">
            <a:extLst xmlns:a="http://schemas.openxmlformats.org/drawingml/2006/main">
              <a:ext uri="{FF2B5EF4-FFF2-40B4-BE49-F238E27FC236}">
                <a16:creationId xmlns:a16="http://schemas.microsoft.com/office/drawing/2014/main" id="{CA4D6F3E-5317-432E-BA37-99CF5D0744BA}"/>
              </a:ext>
            </a:extLst>
          </p:cNvPr>
          <p:cNvSpPr>
            <a:spLocks xmlns:a="http://schemas.openxmlformats.org/drawingml/2006/main" noGrp="1"/>
          </p:cNvSpPr>
          <p:nvPr/>
        </p:nvSpPr>
        <p:spPr>
          <a:xfrm xmlns:a="http://schemas.openxmlformats.org/drawingml/2006/main">
            <a:off x="5734050" y="4191000"/>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Ordered actions / protected dependency / preserved evidence</a:t>
            </a:r>
          </a:p>
        </p:txBody>
      </p:sp>
      <p:sp>
        <p:nvSpPr>
          <p:cNvPr id="12" name="Recovery">
            <a:extLst xmlns:a="http://schemas.openxmlformats.org/drawingml/2006/main">
              <a:ext uri="{FF2B5EF4-FFF2-40B4-BE49-F238E27FC236}">
                <a16:creationId xmlns:a16="http://schemas.microsoft.com/office/drawing/2014/main" id="{358A9F89-471E-436A-8C97-DA588BD529D3}"/>
              </a:ext>
            </a:extLst>
          </p:cNvPr>
          <p:cNvSpPr>
            <a:spLocks xmlns:a="http://schemas.openxmlformats.org/drawingml/2006/main" noGrp="1"/>
          </p:cNvSpPr>
          <p:nvPr/>
        </p:nvSpPr>
        <p:spPr>
          <a:xfrm xmlns:a="http://schemas.openxmlformats.org/drawingml/2006/main">
            <a:off x="5734050" y="4933950"/>
            <a:ext cx="55816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Recovery</a:t>
            </a:r>
          </a:p>
        </p:txBody>
      </p:sp>
      <p:sp>
        <p:nvSpPr>
          <p:cNvPr id="13" name="Exit test / rollback authority / verified return">
            <a:extLst xmlns:a="http://schemas.openxmlformats.org/drawingml/2006/main">
              <a:ext uri="{FF2B5EF4-FFF2-40B4-BE49-F238E27FC236}">
                <a16:creationId xmlns:a16="http://schemas.microsoft.com/office/drawing/2014/main" id="{C34A892B-4767-4FA0-A32D-55E51CA8CF47}"/>
              </a:ext>
            </a:extLst>
          </p:cNvPr>
          <p:cNvSpPr>
            <a:spLocks xmlns:a="http://schemas.openxmlformats.org/drawingml/2006/main" noGrp="1"/>
          </p:cNvSpPr>
          <p:nvPr/>
        </p:nvSpPr>
        <p:spPr>
          <a:xfrm xmlns:a="http://schemas.openxmlformats.org/drawingml/2006/main">
            <a:off x="5734050" y="5381625"/>
            <a:ext cx="5524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Exit test / rollback authority / verified return to service</a:t>
            </a:r>
          </a:p>
        </p:txBody>
      </p:sp>
      <p:sp>
        <p:nvSpPr>
          <p:cNvPr id="14" name="Scores reflect documented reasoning and evidence">
            <a:extLst xmlns:a="http://schemas.openxmlformats.org/drawingml/2006/main">
              <a:ext uri="{FF2B5EF4-FFF2-40B4-BE49-F238E27FC236}">
                <a16:creationId xmlns:a16="http://schemas.microsoft.com/office/drawing/2014/main" id="{AF602930-7C0C-41B4-A41B-622E0AFED3EF}"/>
              </a:ext>
            </a:extLst>
          </p:cNvPr>
          <p:cNvSpPr>
            <a:spLocks xmlns:a="http://schemas.openxmlformats.org/drawingml/2006/main" noGrp="1"/>
          </p:cNvSpPr>
          <p:nvPr/>
        </p:nvSpPr>
        <p:spPr>
          <a:xfrm xmlns:a="http://schemas.openxmlformats.org/drawingml/2006/main">
            <a:off x="628650" y="59436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0B1822"/>
                </a:solidFill>
                <a:latin typeface="Arial"/>
                <a:ea typeface="Arial"/>
                <a:cs typeface="Arial"/>
              </a:defRPr>
            </a:defPPr>
          </a:lstStyle>
          <a:p xmlns:a="http://schemas.openxmlformats.org/drawingml/2006/main">
            <a:pPr>
              <a:defRPr sz="1725" b="0">
                <a:solidFill>
                  <a:srgbClr val="0B1822"/>
                </a:solidFill>
                <a:latin typeface="Arial"/>
                <a:ea typeface="Arial"/>
                <a:cs typeface="Arial"/>
              </a:defRPr>
            </a:pPr>
            <a:r>
              <a:rPr sz="1725" b="0">
                <a:solidFill>
                  <a:srgbClr val="0B1822"/>
                </a:solidFill>
                <a:latin typeface="Arial"/>
                <a:ea typeface="Arial"/>
                <a:cs typeface="Arial"/>
              </a:rPr>
              <a:t>Scores reflect documented reasoning and evidence, not restriction severity.</a:t>
            </a:r>
          </a:p>
        </p:txBody>
      </p:sp>
      <p:sp>
        <p:nvSpPr>
          <p:cNvPr id="15" name="ISC2 SECURITY CONGRESS 2026 / SC2632">
            <a:extLst xmlns:a="http://schemas.openxmlformats.org/drawingml/2006/main">
              <a:ext uri="{FF2B5EF4-FFF2-40B4-BE49-F238E27FC236}">
                <a16:creationId xmlns:a16="http://schemas.microsoft.com/office/drawing/2014/main" id="{F1D4AC98-9D53-410C-B685-BB793CB86DA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6" name="07">
            <a:extLst xmlns:a="http://schemas.openxmlformats.org/drawingml/2006/main">
              <a:ext uri="{FF2B5EF4-FFF2-40B4-BE49-F238E27FC236}">
                <a16:creationId xmlns:a16="http://schemas.microsoft.com/office/drawing/2014/main" id="{19B08C69-989F-4D4A-BEB4-B2B247F662B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856860734"/>
      </p:ext>
    </p:extLst>
  </p:cSld>
</p:sld>
</file>

<file path=ppt/slides/slide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308E620C-3BF1-49B8-A8B1-F59738AAA1A1}"/>
              </a:ext>
            </a:extLst>
          </p:cNvPr>
          <p:cNvPicPr>
            <a:picLocks xmlns:a="http://schemas.openxmlformats.org/drawingml/2006/main" noChangeAspect="1"/>
          </p:cNvPicPr>
          <p:nvPr/>
        </p:nvPicPr>
        <p:blipFill>
          <a:blip xmlns:r="http://schemas.openxmlformats.org/officeDocument/2006/relationships" xmlns:a="http://schemas.openxmlformats.org/drawingml/2006/main" r:embed="R7412dce1a06440b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6E613211-D575-4304-94FA-267787729AFC}"/>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1042F614-AC11-4339-A4D8-42B95CB4EA3D}"/>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A92F3E8C-BFAF-457C-9FAC-0DECDE4A1147}"/>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Identify the prohibited behavior&#10;and essential d">
            <a:extLst xmlns:a="http://schemas.openxmlformats.org/drawingml/2006/main">
              <a:ext uri="{FF2B5EF4-FFF2-40B4-BE49-F238E27FC236}">
                <a16:creationId xmlns:a16="http://schemas.microsoft.com/office/drawing/2014/main" id="{21C85AA2-7B25-4AC7-8FA0-87B07F691EB2}"/>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Identify the prohibited behavior</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and essential dependencies.</a:t>
            </a:r>
          </a:p>
        </p:txBody>
      </p:sp>
      <p:sp>
        <p:nvSpPr>
          <p:cNvPr id="6" name="ISC2 SECURITY CONGRESS 2026 / SC2632">
            <a:extLst xmlns:a="http://schemas.openxmlformats.org/drawingml/2006/main">
              <a:ext uri="{FF2B5EF4-FFF2-40B4-BE49-F238E27FC236}">
                <a16:creationId xmlns:a16="http://schemas.microsoft.com/office/drawing/2014/main" id="{39B1C9AE-9516-44B3-8A96-DE19E2009CB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8">
            <a:extLst xmlns:a="http://schemas.openxmlformats.org/drawingml/2006/main">
              <a:ext uri="{FF2B5EF4-FFF2-40B4-BE49-F238E27FC236}">
                <a16:creationId xmlns:a16="http://schemas.microsoft.com/office/drawing/2014/main" id="{042D22D7-09C8-4522-BD40-470805F105C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08</a:t>
            </a:r>
          </a:p>
        </p:txBody>
      </p:sp>
    </p:spTree>
    <p:extLst>
      <p:ext uri="{BB962C8B-B14F-4D97-AF65-F5344CB8AC3E}">
        <p14:creationId xmlns:p14="http://schemas.microsoft.com/office/powerpoint/2010/main" val="792965858"/>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TYPED DECISIONS / HUMAN DEPLOYMENT AUTHORITY">
            <a:extLst xmlns:a="http://schemas.openxmlformats.org/drawingml/2006/main">
              <a:ext uri="{FF2B5EF4-FFF2-40B4-BE49-F238E27FC236}">
                <a16:creationId xmlns:a16="http://schemas.microsoft.com/office/drawing/2014/main" id="{C8D75941-15A0-4A81-B5FB-5318C1474B8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TYPED DECISIONS / HUMAN DEPLOYMENT AUTHORITY</a:t>
            </a:r>
          </a:p>
        </p:txBody>
      </p:sp>
      <p:sp>
        <p:nvSpPr>
          <p:cNvPr id="2" name="Typed decisions and deployment authority">
            <a:extLst xmlns:a="http://schemas.openxmlformats.org/drawingml/2006/main">
              <a:ext uri="{FF2B5EF4-FFF2-40B4-BE49-F238E27FC236}">
                <a16:creationId xmlns:a16="http://schemas.microsoft.com/office/drawing/2014/main" id="{2423EC3F-94FE-4DEE-920D-49E4D6754AD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Typed decisions and deployment authority</a:t>
            </a:r>
          </a:p>
        </p:txBody>
      </p:sp>
      <p:graphicFrame>
        <p:nvGraphicFramePr>
          <p:cNvPr id="3" name="">
            <a:extLst xmlns:a="http://schemas.openxmlformats.org/drawingml/2006/main">
              <a:ext uri="{FF2B5EF4-FFF2-40B4-BE49-F238E27FC236}">
                <a16:creationId xmlns:a16="http://schemas.microsoft.com/office/drawing/2014/main" id="{AED5BDB4-6FD1-4DC5-BB60-C52621C84865}"/>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857500"/>
                <a:gridCol w="8096250"/>
              </a:tblGrid>
              <a:tr h="676275">
                <a:tc>
                  <a:txBody>
                    <a:bodyPr/>
                    <a:lstStyle/>
                    <a:p>
                      <a:r>
                        <a:rPr sz="1875" b="1">
                          <a:solidFill>
                            <a:srgbClr val="F2EFE7"/>
                          </a:solidFill>
                          <a:latin typeface="Arial"/>
                          <a:ea typeface="Arial"/>
                          <a:cs typeface="Arial"/>
                        </a:rPr>
                        <a:t>Owner</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Responsibility</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Decision provider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Choose a typed control, dependency or next action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Code and templates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Fill approved values, validate the spec and render YAML</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Tools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Observe workloads and simulate admission outcomes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Human reviewer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Resolve missing controls, approve exceptions and deploy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C2B4391E-0D06-40EC-9897-C0842BE0BFC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09">
            <a:extLst xmlns:a="http://schemas.openxmlformats.org/drawingml/2006/main">
              <a:ext uri="{FF2B5EF4-FFF2-40B4-BE49-F238E27FC236}">
                <a16:creationId xmlns:a16="http://schemas.microsoft.com/office/drawing/2014/main" id="{547C12D3-DB47-475A-B68E-3B52004418E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458767629"/>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REFERENCE SPEC / LIVE COMPILER IF REHEARSED">
            <a:extLst xmlns:a="http://schemas.openxmlformats.org/drawingml/2006/main">
              <a:ext uri="{FF2B5EF4-FFF2-40B4-BE49-F238E27FC236}">
                <a16:creationId xmlns:a16="http://schemas.microsoft.com/office/drawing/2014/main" id="{95251CD7-3045-433D-AF2F-434D4DBB244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SPEC / LIVE COMPILER IF REHEARSED</a:t>
            </a:r>
          </a:p>
        </p:txBody>
      </p:sp>
      <p:sp>
        <p:nvSpPr>
          <p:cNvPr id="2" name="Intent → reviewable proposal">
            <a:extLst xmlns:a="http://schemas.openxmlformats.org/drawingml/2006/main">
              <a:ext uri="{FF2B5EF4-FFF2-40B4-BE49-F238E27FC236}">
                <a16:creationId xmlns:a16="http://schemas.microsoft.com/office/drawing/2014/main" id="{90808DD2-B1BD-46D1-9EFF-5A00AA13359E}"/>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Intent → reviewable proposal</a:t>
            </a:r>
          </a:p>
        </p:txBody>
      </p:sp>
      <p:sp>
        <p:nvSpPr>
          <p:cNvPr id="3" name="“Prevent privilege escalation by workloads&#10;in th">
            <a:extLst xmlns:a="http://schemas.openxmlformats.org/drawingml/2006/main">
              <a:ext uri="{FF2B5EF4-FFF2-40B4-BE49-F238E27FC236}">
                <a16:creationId xmlns:a16="http://schemas.microsoft.com/office/drawing/2014/main" id="{8561BEC2-6C80-478C-ACC7-4EFF0405CE92}"/>
              </a:ext>
            </a:extLst>
          </p:cNvPr>
          <p:cNvSpPr>
            <a:spLocks xmlns:a="http://schemas.openxmlformats.org/drawingml/2006/main" noGrp="1"/>
          </p:cNvSpPr>
          <p:nvPr/>
        </p:nvSpPr>
        <p:spPr>
          <a:xfrm xmlns:a="http://schemas.openxmlformats.org/drawingml/2006/main">
            <a:off x="609600" y="23050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“Prevent privilege escalation by workloads</a:t>
            </a:r>
          </a:p>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in the payments namespace.”</a:t>
            </a:r>
          </a:p>
        </p:txBody>
      </p:sp>
      <p:sp>
        <p:nvSpPr>
          <p:cNvPr id="4" name="Control: deny_privilege_escalation&#10;Templates pro">
            <a:extLst xmlns:a="http://schemas.openxmlformats.org/drawingml/2006/main">
              <a:ext uri="{FF2B5EF4-FFF2-40B4-BE49-F238E27FC236}">
                <a16:creationId xmlns:a16="http://schemas.microsoft.com/office/drawing/2014/main" id="{08F40D73-4E56-473E-A2DD-C235D79029C6}"/>
              </a:ext>
            </a:extLst>
          </p:cNvPr>
          <p:cNvSpPr>
            <a:spLocks xmlns:a="http://schemas.openxmlformats.org/drawingml/2006/main" noGrp="1"/>
          </p:cNvSpPr>
          <p:nvPr/>
        </p:nvSpPr>
        <p:spPr>
          <a:xfrm xmlns:a="http://schemas.openxmlformats.org/drawingml/2006/main">
            <a:off x="609600" y="37433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Control: deny_privilege_escalation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Templates produce a Kyverno policy. Fixtures show its effect.</a:t>
            </a:r>
          </a:p>
        </p:txBody>
      </p:sp>
      <p:sp>
        <p:nvSpPr>
          <p:cNvPr id="5" name="The real System-1 model failed the current live-">
            <a:extLst xmlns:a="http://schemas.openxmlformats.org/drawingml/2006/main">
              <a:ext uri="{FF2B5EF4-FFF2-40B4-BE49-F238E27FC236}">
                <a16:creationId xmlns:a16="http://schemas.microsoft.com/office/drawing/2014/main" id="{B2E65BE7-B5FF-4C32-AB5F-497B67C8F110}"/>
              </a:ext>
            </a:extLst>
          </p:cNvPr>
          <p:cNvSpPr>
            <a:spLocks xmlns:a="http://schemas.openxmlformats.org/drawingml/2006/main" noGrp="1"/>
          </p:cNvSpPr>
          <p:nvPr/>
        </p:nvSpPr>
        <p:spPr>
          <a:xfrm xmlns:a="http://schemas.openxmlformats.org/drawingml/2006/main">
            <a:off x="609600" y="53721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The real System-1 model failed the current live-demo gate.</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This enforcement demonstration uses a supplied reference spec.</a:t>
            </a:r>
          </a:p>
        </p:txBody>
      </p:sp>
      <p:sp>
        <p:nvSpPr>
          <p:cNvPr id="6" name="ISC2 SECURITY CONGRESS 2026 / SC2632">
            <a:extLst xmlns:a="http://schemas.openxmlformats.org/drawingml/2006/main">
              <a:ext uri="{FF2B5EF4-FFF2-40B4-BE49-F238E27FC236}">
                <a16:creationId xmlns:a16="http://schemas.microsoft.com/office/drawing/2014/main" id="{55C9F17B-08B8-445E-8CAB-35FF49A5F15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10">
            <a:extLst xmlns:a="http://schemas.openxmlformats.org/drawingml/2006/main">
              <a:ext uri="{FF2B5EF4-FFF2-40B4-BE49-F238E27FC236}">
                <a16:creationId xmlns:a16="http://schemas.microsoft.com/office/drawing/2014/main" id="{D66D1DE7-8E02-40AA-BE87-CB95BFEC706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1726586533"/>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EFERENCE PR / SCENARIO A">
            <a:extLst xmlns:a="http://schemas.openxmlformats.org/drawingml/2006/main">
              <a:ext uri="{FF2B5EF4-FFF2-40B4-BE49-F238E27FC236}">
                <a16:creationId xmlns:a16="http://schemas.microsoft.com/office/drawing/2014/main" id="{798AF485-A6BE-4C82-B379-6561549B559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PR / SCENARIO A</a:t>
            </a:r>
          </a:p>
        </p:txBody>
      </p:sp>
      <p:sp>
        <p:nvSpPr>
          <p:cNvPr id="2" name="Unresolved enforcement requirements">
            <a:extLst xmlns:a="http://schemas.openxmlformats.org/drawingml/2006/main">
              <a:ext uri="{FF2B5EF4-FFF2-40B4-BE49-F238E27FC236}">
                <a16:creationId xmlns:a16="http://schemas.microsoft.com/office/drawing/2014/main" id="{386C1349-A825-4F04-B44B-D617EA165E7A}"/>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F70613E4-9A4E-428E-8177-27890E1F4A51}"/>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imulation evidence is limited to the fixtures e">
            <a:extLst xmlns:a="http://schemas.openxmlformats.org/drawingml/2006/main">
              <a:ext uri="{FF2B5EF4-FFF2-40B4-BE49-F238E27FC236}">
                <a16:creationId xmlns:a16="http://schemas.microsoft.com/office/drawing/2014/main" id="{EE519A48-358E-4262-89DD-F08BC0C22CE5}"/>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Simulation evidence is limited to the fixtures exercised.</a:t>
            </a:r>
          </a:p>
        </p:txBody>
      </p:sp>
      <p:sp>
        <p:nvSpPr>
          <p:cNvPr id="5" name="ISC2 SECURITY CONGRESS 2026 / SC2632">
            <a:extLst xmlns:a="http://schemas.openxmlformats.org/drawingml/2006/main">
              <a:ext uri="{FF2B5EF4-FFF2-40B4-BE49-F238E27FC236}">
                <a16:creationId xmlns:a16="http://schemas.microsoft.com/office/drawing/2014/main" id="{CC13C54C-AF1D-489F-A235-4DF560E8EF5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1">
            <a:extLst xmlns:a="http://schemas.openxmlformats.org/drawingml/2006/main">
              <a:ext uri="{FF2B5EF4-FFF2-40B4-BE49-F238E27FC236}">
                <a16:creationId xmlns:a16="http://schemas.microsoft.com/office/drawing/2014/main" id="{6D4CE053-E639-4CF8-AA4D-FCCE4D76600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722998956"/>
      </p:ext>
    </p:extLst>
  </p:cSld>
</p:sld>
</file>

<file path=ppt/slides/slide1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E70BAFFA-B7E9-45FF-8663-EDBDC49D58D9}"/>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65937190-1FF9-402A-905C-C8ED8C5D4F1C}"/>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CF880158-03AE-4673-A614-D37E35BC054B}"/>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902D1FD9-5E7C-4FAB-8459-4BA9E1B27C4E}"/>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6AB6EE42-8524-416F-B512-7ACE42F78847}"/>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1751D056-1D7A-4EA1-85A5-949FF1D139C3}"/>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F6EAA806-F713-402D-824D-7FB825252A57}"/>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2A75998B-55C5-4B1C-BF0D-B4B27E453CF8}"/>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9063E2B3-8FEA-4333-9039-1481FF0993C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2">
            <a:extLst xmlns:a="http://schemas.openxmlformats.org/drawingml/2006/main">
              <a:ext uri="{FF2B5EF4-FFF2-40B4-BE49-F238E27FC236}">
                <a16:creationId xmlns:a16="http://schemas.microsoft.com/office/drawing/2014/main" id="{55BEA5A2-18C3-4A57-A179-E070052FC2E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12</a:t>
            </a:r>
          </a:p>
        </p:txBody>
      </p:sp>
    </p:spTree>
    <p:extLst>
      <p:ext uri="{BB962C8B-B14F-4D97-AF65-F5344CB8AC3E}">
        <p14:creationId xmlns:p14="http://schemas.microsoft.com/office/powerpoint/2010/main" val="1286844929"/>
      </p:ext>
    </p:extLst>
  </p:cSld>
</p:sld>
</file>

<file path=ppt/slides/slide1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BCBD4FBA-7D88-4875-B069-D8A28B0CBEBC}"/>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Exception approval&#10;is unverified">
            <a:extLst xmlns:a="http://schemas.openxmlformats.org/drawingml/2006/main">
              <a:ext uri="{FF2B5EF4-FFF2-40B4-BE49-F238E27FC236}">
                <a16:creationId xmlns:a16="http://schemas.microsoft.com/office/drawing/2014/main" id="{9156DD00-0832-4E74-9B8C-21C615C38C7F}"/>
              </a:ext>
            </a:extLst>
          </p:cNvPr>
          <p:cNvSpPr>
            <a:spLocks xmlns:a="http://schemas.openxmlformats.org/drawingml/2006/main" noGrp="1"/>
          </p:cNvSpPr>
          <p:nvPr/>
        </p:nvSpPr>
        <p:spPr>
          <a:xfrm xmlns:a="http://schemas.openxmlformats.org/drawingml/2006/main">
            <a:off x="609600" y="1400175"/>
            <a:ext cx="10668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Exception approval</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is unverified</a:t>
            </a:r>
          </a:p>
        </p:txBody>
      </p:sp>
      <p:sp>
        <p:nvSpPr>
          <p:cNvPr id="3" name="The request cites operational need but provides ">
            <a:extLst xmlns:a="http://schemas.openxmlformats.org/drawingml/2006/main">
              <a:ext uri="{FF2B5EF4-FFF2-40B4-BE49-F238E27FC236}">
                <a16:creationId xmlns:a16="http://schemas.microsoft.com/office/drawing/2014/main" id="{8FDDE71D-AD40-4AE5-9E88-09A6E1861752}"/>
              </a:ext>
            </a:extLst>
          </p:cNvPr>
          <p:cNvSpPr>
            <a:spLocks xmlns:a="http://schemas.openxmlformats.org/drawingml/2006/main" noGrp="1"/>
          </p:cNvSpPr>
          <p:nvPr/>
        </p:nvSpPr>
        <p:spPr>
          <a:xfrm xmlns:a="http://schemas.openxmlformats.org/drawingml/2006/main">
            <a:off x="628650" y="38004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The request cites operational need but provides no verified approver or expiry.</a:t>
            </a:r>
          </a:p>
        </p:txBody>
      </p:sp>
      <p:sp>
        <p:nvSpPr>
          <p:cNvPr id="4" name="VERIFY THE APPROVER.  NARROW THE SCOPE.  SET THE">
            <a:extLst xmlns:a="http://schemas.openxmlformats.org/drawingml/2006/main">
              <a:ext uri="{FF2B5EF4-FFF2-40B4-BE49-F238E27FC236}">
                <a16:creationId xmlns:a16="http://schemas.microsoft.com/office/drawing/2014/main" id="{F96480B0-E2B6-459F-9668-D92054C2D875}"/>
              </a:ext>
            </a:extLst>
          </p:cNvPr>
          <p:cNvSpPr>
            <a:spLocks xmlns:a="http://schemas.openxmlformats.org/drawingml/2006/main" noGrp="1"/>
          </p:cNvSpPr>
          <p:nvPr/>
        </p:nvSpPr>
        <p:spPr>
          <a:xfrm xmlns:a="http://schemas.openxmlformats.org/drawingml/2006/main">
            <a:off x="628650" y="5086350"/>
            <a:ext cx="1062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VERIFY THE APPROVER.  NARROW THE SCOPE.  SET THE EXPIRY.</a:t>
            </a:r>
          </a:p>
        </p:txBody>
      </p:sp>
      <p:sp>
        <p:nvSpPr>
          <p:cNvPr id="5" name="ISC2 SECURITY CONGRESS 2026 / SC2632">
            <a:extLst xmlns:a="http://schemas.openxmlformats.org/drawingml/2006/main">
              <a:ext uri="{FF2B5EF4-FFF2-40B4-BE49-F238E27FC236}">
                <a16:creationId xmlns:a16="http://schemas.microsoft.com/office/drawing/2014/main" id="{0035C126-533D-45C6-87D6-28063CC49B7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3">
            <a:extLst xmlns:a="http://schemas.openxmlformats.org/drawingml/2006/main">
              <a:ext uri="{FF2B5EF4-FFF2-40B4-BE49-F238E27FC236}">
                <a16:creationId xmlns:a16="http://schemas.microsoft.com/office/drawing/2014/main" id="{29BE51FA-A08B-44D5-B875-E6EE9D6A57D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13</a:t>
            </a:r>
          </a:p>
        </p:txBody>
      </p:sp>
    </p:spTree>
    <p:extLst>
      <p:ext uri="{BB962C8B-B14F-4D97-AF65-F5344CB8AC3E}">
        <p14:creationId xmlns:p14="http://schemas.microsoft.com/office/powerpoint/2010/main" val="1257032793"/>
      </p:ext>
    </p:extLst>
  </p:cSld>
</p:sld>
</file>

<file path=ppt/slides/slide1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35FEE883-70D3-4C1E-BA0F-CC7D3883488D}"/>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BDA049B5-F59E-469D-89B8-C18BFC3CD2E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E20E7CFE-9BF6-451D-B737-7C3FDCBA9E0D}"/>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Admit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D036BDD1-50CB-4C78-83CB-3572E1E8A1AD}"/>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A5021437-3B12-44F6-875A-9887CC2D1C2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4">
            <a:extLst xmlns:a="http://schemas.openxmlformats.org/drawingml/2006/main">
              <a:ext uri="{FF2B5EF4-FFF2-40B4-BE49-F238E27FC236}">
                <a16:creationId xmlns:a16="http://schemas.microsoft.com/office/drawing/2014/main" id="{680FBC77-9580-40C3-9D4E-D2B315C218F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14</a:t>
            </a:r>
          </a:p>
        </p:txBody>
      </p:sp>
    </p:spTree>
    <p:extLst>
      <p:ext uri="{BB962C8B-B14F-4D97-AF65-F5344CB8AC3E}">
        <p14:creationId xmlns:p14="http://schemas.microsoft.com/office/powerpoint/2010/main" val="895457893"/>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IMPLEMENTED LEVELS / SCOPE MATTERS">
            <a:extLst xmlns:a="http://schemas.openxmlformats.org/drawingml/2006/main">
              <a:ext uri="{FF2B5EF4-FFF2-40B4-BE49-F238E27FC236}">
                <a16:creationId xmlns:a16="http://schemas.microsoft.com/office/drawing/2014/main" id="{159936BD-DBC9-441E-B018-6B4CEC06D7C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IMPLEMENTED LEVELS / SCOPE MATTERS</a:t>
            </a:r>
          </a:p>
        </p:txBody>
      </p:sp>
      <p:sp>
        <p:nvSpPr>
          <p:cNvPr id="2" name="Quarantine Mode">
            <a:extLst xmlns:a="http://schemas.openxmlformats.org/drawingml/2006/main">
              <a:ext uri="{FF2B5EF4-FFF2-40B4-BE49-F238E27FC236}">
                <a16:creationId xmlns:a16="http://schemas.microsoft.com/office/drawing/2014/main" id="{B17D9E85-FAAC-4F1C-9E1A-9097B9A591D4}"/>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a:t>
            </a:r>
          </a:p>
        </p:txBody>
      </p:sp>
      <p:graphicFrame>
        <p:nvGraphicFramePr>
          <p:cNvPr id="3" name="">
            <a:extLst xmlns:a="http://schemas.openxmlformats.org/drawingml/2006/main">
              <a:ext uri="{FF2B5EF4-FFF2-40B4-BE49-F238E27FC236}">
                <a16:creationId xmlns:a16="http://schemas.microsoft.com/office/drawing/2014/main" id="{BFE1A394-7AC8-452E-B12F-FB37ADD247F3}"/>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095500"/>
                <a:gridCol w="5429250"/>
                <a:gridCol w="3429000"/>
              </a:tblGrid>
              <a:tr h="6762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Control change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Operational effect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Normal service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Freeze covered agent writes and new exceptions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Running Pods remain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Capture evidence, constrain suspect network and rotation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Clean capacity can 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Remove remaining suspect network allowances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Degraded service may follow</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25BBD459-3C96-49A1-845A-A6DB3112C34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15">
            <a:extLst xmlns:a="http://schemas.openxmlformats.org/drawingml/2006/main">
              <a:ext uri="{FF2B5EF4-FFF2-40B4-BE49-F238E27FC236}">
                <a16:creationId xmlns:a16="http://schemas.microsoft.com/office/drawing/2014/main" id="{8D357D04-20FB-4ECD-B71D-304F9A345C9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942677134"/>
      </p:ext>
    </p:extLst>
  </p:cSld>
</p:sld>
</file>

<file path=ppt/slides/slide1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2542CAD2-42EA-4E57-87E6-A2DF4D8BD1E1}"/>
              </a:ext>
            </a:extLst>
          </p:cNvPr>
          <p:cNvPicPr>
            <a:picLocks xmlns:a="http://schemas.openxmlformats.org/drawingml/2006/main" noChangeAspect="1"/>
          </p:cNvPicPr>
          <p:nvPr/>
        </p:nvPicPr>
        <p:blipFill>
          <a:blip xmlns:r="http://schemas.openxmlformats.org/officeDocument/2006/relationships" xmlns:a="http://schemas.openxmlformats.org/drawingml/2006/main" r:embed="R6094ed8a027b4b4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213D4159-3129-443E-9898-2D50D3EEC6E9}"/>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59BC34CF-E983-4F72-AA9B-C7B3D42B1B8B}"/>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E53824BA-9B13-4E87-8695-E3993F33E4C4}"/>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Specify control changes, evidence&#10;and minimum se">
            <a:extLst xmlns:a="http://schemas.openxmlformats.org/drawingml/2006/main">
              <a:ext uri="{FF2B5EF4-FFF2-40B4-BE49-F238E27FC236}">
                <a16:creationId xmlns:a16="http://schemas.microsoft.com/office/drawing/2014/main" id="{9B34A4AF-E365-4FB1-802C-521775D54A01}"/>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Specify control changes, evidence</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and minimum service capacity.</a:t>
            </a:r>
          </a:p>
        </p:txBody>
      </p:sp>
      <p:sp>
        <p:nvSpPr>
          <p:cNvPr id="6" name="ISC2 SECURITY CONGRESS 2026 / SC2632">
            <a:extLst xmlns:a="http://schemas.openxmlformats.org/drawingml/2006/main">
              <a:ext uri="{FF2B5EF4-FFF2-40B4-BE49-F238E27FC236}">
                <a16:creationId xmlns:a16="http://schemas.microsoft.com/office/drawing/2014/main" id="{82415104-7034-4EBB-AA1E-AE75B284612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6">
            <a:extLst xmlns:a="http://schemas.openxmlformats.org/drawingml/2006/main">
              <a:ext uri="{FF2B5EF4-FFF2-40B4-BE49-F238E27FC236}">
                <a16:creationId xmlns:a16="http://schemas.microsoft.com/office/drawing/2014/main" id="{F3A84AA4-609B-454D-BF0F-DB2AA597C7A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16</a:t>
            </a:r>
          </a:p>
        </p:txBody>
      </p:sp>
    </p:spTree>
    <p:extLst>
      <p:ext uri="{BB962C8B-B14F-4D97-AF65-F5344CB8AC3E}">
        <p14:creationId xmlns:p14="http://schemas.microsoft.com/office/powerpoint/2010/main" val="1229087795"/>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CB19D1BC-9AD4-4FD4-A2F8-93A8FC800A37}"/>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0680BC9F-48B9-4CEC-899A-14B706957833}"/>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32282485-E45F-46F2-838A-0C4CB5B748A8}"/>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4B929459-32E3-46AF-94C7-29559C373285}"/>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2595AAE6-2EA3-4774-807B-CEB6B4F69C2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7">
            <a:extLst xmlns:a="http://schemas.openxmlformats.org/drawingml/2006/main">
              <a:ext uri="{FF2B5EF4-FFF2-40B4-BE49-F238E27FC236}">
                <a16:creationId xmlns:a16="http://schemas.microsoft.com/office/drawing/2014/main" id="{EF886ACE-B627-4F47-9D31-A7C8D7ACBA2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1968112869"/>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1A73BACA-B621-47B7-9612-55867A114873}"/>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F97D2B9C-6D57-4F63-BB80-BAD18FB39785}"/>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7A4073FE-B050-4A8D-91B5-A8DC1FBBB743}"/>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2AE0224E-AAD1-4A82-919E-D22A16293503}"/>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64BC024B-08D0-4002-8887-870067614BCA}"/>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36BCF71E-4F9F-45CB-BB76-719304081B29}"/>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2CA7557E-FDE7-4E10-8B78-A8C7ED581951}"/>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4E6F0240-7F2E-44C3-92E5-BCA817EE3745}"/>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943A88D6-6F59-4942-B25D-DA51E7E6138F}"/>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7BD7C6F1-DFCE-4A81-BA4E-BCC107553D7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8">
            <a:extLst xmlns:a="http://schemas.openxmlformats.org/drawingml/2006/main">
              <a:ext uri="{FF2B5EF4-FFF2-40B4-BE49-F238E27FC236}">
                <a16:creationId xmlns:a16="http://schemas.microsoft.com/office/drawing/2014/main" id="{9DA67C89-8A3A-4319-B967-FC5B81EE507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1671942590"/>
      </p:ext>
    </p:extLst>
  </p:cSld>
</p:sld>
</file>

<file path=ppt/slides/slide1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66D43008-5D8C-4E0C-8ED7-EB9FA0DE755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Is the suspect&#10;isolated?">
            <a:extLst xmlns:a="http://schemas.openxmlformats.org/drawingml/2006/main">
              <a:ext uri="{FF2B5EF4-FFF2-40B4-BE49-F238E27FC236}">
                <a16:creationId xmlns:a16="http://schemas.microsoft.com/office/drawing/2014/main" id="{E51C5E0C-28DA-40D2-ADEC-8FFB814E240C}"/>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 the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isolated?</a:t>
            </a:r>
          </a:p>
        </p:txBody>
      </p:sp>
      <p:pic>
        <p:nvPicPr>
          <p:cNvPr id="3" name="">
            <a:extLst xmlns:a="http://schemas.openxmlformats.org/drawingml/2006/main">
              <a:ext uri="{FF2B5EF4-FFF2-40B4-BE49-F238E27FC236}">
                <a16:creationId xmlns:a16="http://schemas.microsoft.com/office/drawing/2014/main" id="{0D1B2215-D2D1-45ED-934F-E230381BFE2B}"/>
              </a:ext>
            </a:extLst>
          </p:cNvPr>
          <p:cNvPicPr>
            <a:picLocks xmlns:a="http://schemas.openxmlformats.org/drawingml/2006/main" noChangeAspect="1"/>
          </p:cNvPicPr>
          <p:nvPr/>
        </p:nvPicPr>
        <p:blipFill>
          <a:blip xmlns:r="http://schemas.openxmlformats.org/officeDocument/2006/relationships" xmlns:a="http://schemas.openxmlformats.org/drawingml/2006/main" r:embed="R9d8f87025b3548ec"/>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declared.&#10;Look at the DNS path.">
            <a:extLst xmlns:a="http://schemas.openxmlformats.org/drawingml/2006/main">
              <a:ext uri="{FF2B5EF4-FFF2-40B4-BE49-F238E27FC236}">
                <a16:creationId xmlns:a16="http://schemas.microsoft.com/office/drawing/2014/main" id="{C4F5C188-F85D-42AB-A148-BE1D4CB51876}"/>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Q3 is declared.</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Look at the DNS path.</a:t>
            </a:r>
          </a:p>
        </p:txBody>
      </p:sp>
      <p:sp>
        <p:nvSpPr>
          <p:cNvPr id="5" name="RECORD YOUR DECISION.&#10;STATE THE SUPPORTING EVIDE">
            <a:extLst xmlns:a="http://schemas.openxmlformats.org/drawingml/2006/main">
              <a:ext uri="{FF2B5EF4-FFF2-40B4-BE49-F238E27FC236}">
                <a16:creationId xmlns:a16="http://schemas.microsoft.com/office/drawing/2014/main" id="{CEC9AE62-5E70-403E-B09F-9A33F69E113F}"/>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4BF074F5-C1E3-435F-A4F8-AAE018F80C2C}"/>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B32A0BFD-6D89-4AB9-95CB-A44193FE690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19">
            <a:extLst xmlns:a="http://schemas.openxmlformats.org/drawingml/2006/main">
              <a:ext uri="{FF2B5EF4-FFF2-40B4-BE49-F238E27FC236}">
                <a16:creationId xmlns:a16="http://schemas.microsoft.com/office/drawing/2014/main" id="{3744FDAA-F223-4A05-A246-FA368CEF292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19</a:t>
            </a:r>
          </a:p>
        </p:txBody>
      </p:sp>
    </p:spTree>
    <p:extLst>
      <p:ext uri="{BB962C8B-B14F-4D97-AF65-F5344CB8AC3E}">
        <p14:creationId xmlns:p14="http://schemas.microsoft.com/office/powerpoint/2010/main" val="148501564"/>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BC6A18CB-5DE6-4DCD-9E28-8D12792725E4}"/>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Can both suspect&#10;Pods be evicted?">
            <a:extLst xmlns:a="http://schemas.openxmlformats.org/drawingml/2006/main">
              <a:ext uri="{FF2B5EF4-FFF2-40B4-BE49-F238E27FC236}">
                <a16:creationId xmlns:a16="http://schemas.microsoft.com/office/drawing/2014/main" id="{5F58B21F-C0E5-4074-B0E9-1191536CA7C5}"/>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both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Pods be evicted?</a:t>
            </a:r>
          </a:p>
        </p:txBody>
      </p:sp>
      <p:pic>
        <p:nvPicPr>
          <p:cNvPr id="3" name="">
            <a:extLst xmlns:a="http://schemas.openxmlformats.org/drawingml/2006/main">
              <a:ext uri="{FF2B5EF4-FFF2-40B4-BE49-F238E27FC236}">
                <a16:creationId xmlns:a16="http://schemas.microsoft.com/office/drawing/2014/main" id="{7E80F269-C3C6-4C6C-B20F-CBBC3138665C}"/>
              </a:ext>
            </a:extLst>
          </p:cNvPr>
          <p:cNvPicPr>
            <a:picLocks xmlns:a="http://schemas.openxmlformats.org/drawingml/2006/main" noChangeAspect="1"/>
          </p:cNvPicPr>
          <p:nvPr/>
        </p:nvPicPr>
        <p:blipFill>
          <a:blip xmlns:r="http://schemas.openxmlformats.org/officeDocument/2006/relationships" xmlns:a="http://schemas.openxmlformats.org/drawingml/2006/main" r:embed="R4a33e111ae204a91"/>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replicas.&#10;The PDB keeps two up.">
            <a:extLst xmlns:a="http://schemas.openxmlformats.org/drawingml/2006/main">
              <a:ext uri="{FF2B5EF4-FFF2-40B4-BE49-F238E27FC236}">
                <a16:creationId xmlns:a16="http://schemas.microsoft.com/office/drawing/2014/main" id="{E7A627D3-04F4-4757-9734-494ED24CA700}"/>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Three replicas.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The PDB keeps two up.</a:t>
            </a:r>
          </a:p>
        </p:txBody>
      </p:sp>
      <p:sp>
        <p:nvSpPr>
          <p:cNvPr id="5" name="RECORD YOUR DECISION.&#10;STATE THE SUPPORTING EVIDE">
            <a:extLst xmlns:a="http://schemas.openxmlformats.org/drawingml/2006/main">
              <a:ext uri="{FF2B5EF4-FFF2-40B4-BE49-F238E27FC236}">
                <a16:creationId xmlns:a16="http://schemas.microsoft.com/office/drawing/2014/main" id="{82462724-3878-4167-AE3B-C2DD3A69B84D}"/>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4A574D1B-93B7-45CA-BBC1-EE855441CBE4}"/>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1C49A88A-2DED-46BB-A7AE-44717AA6339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722BCD39-1F1D-4B7F-9D30-3698D7F3763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254163522"/>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49EE9575-0578-439D-9C7A-62724D892BC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Does Q2 cover&#10;the debug request?">
            <a:extLst xmlns:a="http://schemas.openxmlformats.org/drawingml/2006/main">
              <a:ext uri="{FF2B5EF4-FFF2-40B4-BE49-F238E27FC236}">
                <a16:creationId xmlns:a16="http://schemas.microsoft.com/office/drawing/2014/main" id="{63717B0B-FC8D-4D18-96F8-E682B843BB1E}"/>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Does Q2 cover</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the debug request?</a:t>
            </a:r>
          </a:p>
        </p:txBody>
      </p:sp>
      <p:pic>
        <p:nvPicPr>
          <p:cNvPr id="3" name="">
            <a:extLst xmlns:a="http://schemas.openxmlformats.org/drawingml/2006/main">
              <a:ext uri="{FF2B5EF4-FFF2-40B4-BE49-F238E27FC236}">
                <a16:creationId xmlns:a16="http://schemas.microsoft.com/office/drawing/2014/main" id="{9467627C-5C13-4468-8306-53308E05ACBF}"/>
              </a:ext>
            </a:extLst>
          </p:cNvPr>
          <p:cNvPicPr>
            <a:picLocks xmlns:a="http://schemas.openxmlformats.org/drawingml/2006/main" noChangeAspect="1"/>
          </p:cNvPicPr>
          <p:nvPr/>
        </p:nvPicPr>
        <p:blipFill>
          <a:blip xmlns:r="http://schemas.openxmlformats.org/officeDocument/2006/relationships" xmlns:a="http://schemas.openxmlformats.org/drawingml/2006/main" r:embed="R892765188a2841b0"/>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Only approved images&#10;may start in payments.">
            <a:extLst xmlns:a="http://schemas.openxmlformats.org/drawingml/2006/main">
              <a:ext uri="{FF2B5EF4-FFF2-40B4-BE49-F238E27FC236}">
                <a16:creationId xmlns:a16="http://schemas.microsoft.com/office/drawing/2014/main" id="{7F94286B-4644-44E7-B47D-A03F4923E8D5}"/>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Only approved images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may start in payments.</a:t>
            </a:r>
          </a:p>
        </p:txBody>
      </p:sp>
      <p:sp>
        <p:nvSpPr>
          <p:cNvPr id="5" name="RECORD YOUR DECISION.&#10;STATE THE SUPPORTING EVIDE">
            <a:extLst xmlns:a="http://schemas.openxmlformats.org/drawingml/2006/main">
              <a:ext uri="{FF2B5EF4-FFF2-40B4-BE49-F238E27FC236}">
                <a16:creationId xmlns:a16="http://schemas.microsoft.com/office/drawing/2014/main" id="{84A9D3A7-AB3F-46C8-B15E-A33BDF154CB8}"/>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216DE559-A2BC-4E53-8A32-26DE7AE941A1}"/>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1701094A-4A7E-45F7-8B50-8E19B73114E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F7EA9E89-B42A-410D-92E1-D019F5EFCD3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874665964"/>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122B0EE5-F872-4A3A-BA2E-BFD8733A3C5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Can this identity&#10;disable admission?">
            <a:extLst xmlns:a="http://schemas.openxmlformats.org/drawingml/2006/main">
              <a:ext uri="{FF2B5EF4-FFF2-40B4-BE49-F238E27FC236}">
                <a16:creationId xmlns:a16="http://schemas.microsoft.com/office/drawing/2014/main" id="{E97E1F8D-18A9-46BE-BAC7-35A277E09C97}"/>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this identity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disable admission?</a:t>
            </a:r>
          </a:p>
        </p:txBody>
      </p:sp>
      <p:pic>
        <p:nvPicPr>
          <p:cNvPr id="3" name="">
            <a:extLst xmlns:a="http://schemas.openxmlformats.org/drawingml/2006/main">
              <a:ext uri="{FF2B5EF4-FFF2-40B4-BE49-F238E27FC236}">
                <a16:creationId xmlns:a16="http://schemas.microsoft.com/office/drawing/2014/main" id="{D01E2E7E-0C48-4742-93C4-6641C34DDA14}"/>
              </a:ext>
            </a:extLst>
          </p:cNvPr>
          <p:cNvPicPr>
            <a:picLocks xmlns:a="http://schemas.openxmlformats.org/drawingml/2006/main" noChangeAspect="1"/>
          </p:cNvPicPr>
          <p:nvPr/>
        </p:nvPicPr>
        <p:blipFill>
          <a:blip xmlns:r="http://schemas.openxmlformats.org/officeDocument/2006/relationships" xmlns:a="http://schemas.openxmlformats.org/drawingml/2006/main" r:embed="R58d7a622622146cd"/>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Its role can scale&#10;any Deployment.">
            <a:extLst xmlns:a="http://schemas.openxmlformats.org/drawingml/2006/main">
              <a:ext uri="{FF2B5EF4-FFF2-40B4-BE49-F238E27FC236}">
                <a16:creationId xmlns:a16="http://schemas.microsoft.com/office/drawing/2014/main" id="{86F67664-12FE-4625-A174-0ED50C9C5D4D}"/>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Its role can scale</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any Deployment.</a:t>
            </a:r>
          </a:p>
        </p:txBody>
      </p:sp>
      <p:sp>
        <p:nvSpPr>
          <p:cNvPr id="5" name="RECORD YOUR DECISION.&#10;STATE THE SUPPORTING EVIDE">
            <a:extLst xmlns:a="http://schemas.openxmlformats.org/drawingml/2006/main">
              <a:ext uri="{FF2B5EF4-FFF2-40B4-BE49-F238E27FC236}">
                <a16:creationId xmlns:a16="http://schemas.microsoft.com/office/drawing/2014/main" id="{747C873F-7496-4BBD-A931-769CABC58707}"/>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8F86543D-73E4-4747-A692-961344592815}"/>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5154739A-FF9A-4D06-AB1F-CEFDDBB3B91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B8824AF0-8514-421F-B1B5-C9611B0095F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1730576434"/>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FCE60860-FA97-4ECB-AD80-56C1D151D71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703107CA-3EEB-4976-B746-3F8EA97790E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A48C6C3E-0482-425B-92EF-2C31BC19A28B}"/>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58ED7C39-7C83-4620-A14E-20255ACF90D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3">
            <a:extLst xmlns:a="http://schemas.openxmlformats.org/drawingml/2006/main">
              <a:ext uri="{FF2B5EF4-FFF2-40B4-BE49-F238E27FC236}">
                <a16:creationId xmlns:a16="http://schemas.microsoft.com/office/drawing/2014/main" id="{4B13A1B0-E3F8-47CC-BA43-17C567278D9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1305834813"/>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8B51EF8E-EF4B-46B1-9B7A-3FFBA5FF92C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659E1BB9-6AF6-4DC0-A00A-6C99056A157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35027C22-0775-48BC-8974-A9A31ADAA9C4}"/>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1F52ACB8-C5CD-4F8F-B725-DB739717D4E8}"/>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9549BAB0-F4E5-448A-85B4-5683FC080D08}"/>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E826A30C-E7A3-4804-AA2E-B7FD69619B2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4">
            <a:extLst xmlns:a="http://schemas.openxmlformats.org/drawingml/2006/main">
              <a:ext uri="{FF2B5EF4-FFF2-40B4-BE49-F238E27FC236}">
                <a16:creationId xmlns:a16="http://schemas.microsoft.com/office/drawing/2014/main" id="{E20C8343-DC2B-4EE8-9AD2-EFE4F18C71F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304197745"/>
      </p:ext>
    </p:extLst>
  </p:cSld>
</p:sld>
</file>

<file path=ppt/slides/slide25.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0BDD2585-A3F8-46CD-AB50-3B367B48AEE1}"/>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09577E02-EC85-4D87-9CBF-463DF4C7B183}"/>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8683A6C2-F319-49EB-A3ED-623B1027BECC}"/>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FD9CF214-74B7-453F-8959-B986870731BA}"/>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C0DAB2EE-D647-49A7-8234-8E8AFF4F27CE}"/>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51378D9C-3C2E-4C8A-83AF-CF36DD7AB7AA}"/>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2ECF0C7D-D45C-4543-9A89-C73758A14DC2}"/>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0C57CCA0-CA36-4CEC-955F-16E43C063AE8}"/>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7A664863-4A54-4E2A-90AB-B8850B0590BF}"/>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87DF37D6-1BC4-4E35-BDC1-303C08F5511E}"/>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FB195DBF-B147-434B-A920-FE33365FE965}"/>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E31CA1F2-EB01-4EC6-9B81-55091187E55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5">
            <a:extLst xmlns:a="http://schemas.openxmlformats.org/drawingml/2006/main">
              <a:ext uri="{FF2B5EF4-FFF2-40B4-BE49-F238E27FC236}">
                <a16:creationId xmlns:a16="http://schemas.microsoft.com/office/drawing/2014/main" id="{8A810640-41E0-407F-A479-AE0CC3A91A5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25</a:t>
            </a:r>
          </a:p>
        </p:txBody>
      </p:sp>
    </p:spTree>
    <p:extLst>
      <p:ext uri="{BB962C8B-B14F-4D97-AF65-F5344CB8AC3E}">
        <p14:creationId xmlns:p14="http://schemas.microsoft.com/office/powerpoint/2010/main" val="1756539757"/>
      </p:ext>
    </p:extLst>
  </p:cSld>
</p:sld>
</file>

<file path=ppt/slides/slide2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1" name="MEASURED PILOT / THREE-RUN WORKFLOW MEDIANS">
            <a:extLst xmlns:a="http://schemas.openxmlformats.org/drawingml/2006/main">
              <a:ext uri="{FF2B5EF4-FFF2-40B4-BE49-F238E27FC236}">
                <a16:creationId xmlns:a16="http://schemas.microsoft.com/office/drawing/2014/main" id="{72347371-4588-4DFF-9F90-13A15035D594}"/>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MEASURED PILOT / THREE-RUN WORKFLOW MEDIANS</a:t>
            </a:r>
          </a:p>
        </p:txBody>
      </p:sp>
      <p:sp>
        <p:nvSpPr>
          <p:cNvPr id="2" name="Model and workflow evaluation">
            <a:extLst xmlns:a="http://schemas.openxmlformats.org/drawingml/2006/main">
              <a:ext uri="{FF2B5EF4-FFF2-40B4-BE49-F238E27FC236}">
                <a16:creationId xmlns:a16="http://schemas.microsoft.com/office/drawing/2014/main" id="{CD601F83-3A01-4740-A1A9-4EAA34541C85}"/>
              </a:ext>
            </a:extLst>
          </p:cNvPr>
          <p:cNvSpPr>
            <a:spLocks xmlns:a="http://schemas.openxmlformats.org/drawingml/2006/main" noGrp="1"/>
          </p:cNvSpPr>
          <p:nvPr/>
        </p:nvSpPr>
        <p:spPr>
          <a:xfrm xmlns:a="http://schemas.openxmlformats.org/drawingml/2006/main">
            <a:off x="609600" y="1123950"/>
            <a:ext cx="10763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Model and workflow evaluation</a:t>
            </a:r>
          </a:p>
        </p:txBody>
      </p:sp>
      <p:sp>
        <p:nvSpPr>
          <p:cNvPr id="3" name="JEV 1.13">
            <a:extLst xmlns:a="http://schemas.openxmlformats.org/drawingml/2006/main">
              <a:ext uri="{FF2B5EF4-FFF2-40B4-BE49-F238E27FC236}">
                <a16:creationId xmlns:a16="http://schemas.microsoft.com/office/drawing/2014/main" id="{D29089F6-0BE0-4DE5-835F-8F08749E538E}"/>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4" name="30/33">
            <a:extLst xmlns:a="http://schemas.openxmlformats.org/drawingml/2006/main">
              <a:ext uri="{FF2B5EF4-FFF2-40B4-BE49-F238E27FC236}">
                <a16:creationId xmlns:a16="http://schemas.microsoft.com/office/drawing/2014/main" id="{A68E9D69-AF91-423B-90D2-04FCBA931D44}"/>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5" name="1.82 s / run">
            <a:extLst xmlns:a="http://schemas.openxmlformats.org/drawingml/2006/main">
              <a:ext uri="{FF2B5EF4-FFF2-40B4-BE49-F238E27FC236}">
                <a16:creationId xmlns:a16="http://schemas.microsoft.com/office/drawing/2014/main" id="{0B9F76B1-F02B-4B8A-AFEB-8D92BD577431}"/>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6" name="$0.00019 / run">
            <a:extLst xmlns:a="http://schemas.openxmlformats.org/drawingml/2006/main">
              <a:ext uri="{FF2B5EF4-FFF2-40B4-BE49-F238E27FC236}">
                <a16:creationId xmlns:a16="http://schemas.microsoft.com/office/drawing/2014/main" id="{422A8183-D5D9-4CEB-8E01-48326B870A69}"/>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7" name="Guardrail generated">
            <a:extLst xmlns:a="http://schemas.openxmlformats.org/drawingml/2006/main">
              <a:ext uri="{FF2B5EF4-FFF2-40B4-BE49-F238E27FC236}">
                <a16:creationId xmlns:a16="http://schemas.microsoft.com/office/drawing/2014/main" id="{522E006C-CE66-46CF-802D-85446A68DE98}"/>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8" name="CLAUDE OPUS 5.5">
            <a:extLst xmlns:a="http://schemas.openxmlformats.org/drawingml/2006/main">
              <a:ext uri="{FF2B5EF4-FFF2-40B4-BE49-F238E27FC236}">
                <a16:creationId xmlns:a16="http://schemas.microsoft.com/office/drawing/2014/main" id="{D246AEE4-12C3-4573-9736-CDAF3495F358}"/>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9" name="32/33">
            <a:extLst xmlns:a="http://schemas.openxmlformats.org/drawingml/2006/main">
              <a:ext uri="{FF2B5EF4-FFF2-40B4-BE49-F238E27FC236}">
                <a16:creationId xmlns:a16="http://schemas.microsoft.com/office/drawing/2014/main" id="{A119917C-811A-49C6-BC98-F271BB498B6B}"/>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0" name="24.18 s / run">
            <a:extLst xmlns:a="http://schemas.openxmlformats.org/drawingml/2006/main">
              <a:ext uri="{FF2B5EF4-FFF2-40B4-BE49-F238E27FC236}">
                <a16:creationId xmlns:a16="http://schemas.microsoft.com/office/drawing/2014/main" id="{F7B9743E-3284-46DA-A54F-3CDA00489B3B}"/>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1" name="$0.03795 / run">
            <a:extLst xmlns:a="http://schemas.openxmlformats.org/drawingml/2006/main">
              <a:ext uri="{FF2B5EF4-FFF2-40B4-BE49-F238E27FC236}">
                <a16:creationId xmlns:a16="http://schemas.microsoft.com/office/drawing/2014/main" id="{71C9F679-8988-4979-8CA3-0B20338343F2}"/>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2" name="Guardrail generated">
            <a:extLst xmlns:a="http://schemas.openxmlformats.org/drawingml/2006/main">
              <a:ext uri="{FF2B5EF4-FFF2-40B4-BE49-F238E27FC236}">
                <a16:creationId xmlns:a16="http://schemas.microsoft.com/office/drawing/2014/main" id="{1BCC07E6-9AF2-466D-B103-655097C78F81}"/>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3" name="LAYA / ZERO-SHOT">
            <a:extLst xmlns:a="http://schemas.openxmlformats.org/drawingml/2006/main">
              <a:ext uri="{FF2B5EF4-FFF2-40B4-BE49-F238E27FC236}">
                <a16:creationId xmlns:a16="http://schemas.microsoft.com/office/drawing/2014/main" id="{6BCE5249-CF78-422B-A815-B443D307B7F0}"/>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4" name="16/33">
            <a:extLst xmlns:a="http://schemas.openxmlformats.org/drawingml/2006/main">
              <a:ext uri="{FF2B5EF4-FFF2-40B4-BE49-F238E27FC236}">
                <a16:creationId xmlns:a16="http://schemas.microsoft.com/office/drawing/2014/main" id="{F16805CA-73A1-458D-B489-E238C42270D0}"/>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5" name="0.41 s / run">
            <a:extLst xmlns:a="http://schemas.openxmlformats.org/drawingml/2006/main">
              <a:ext uri="{FF2B5EF4-FFF2-40B4-BE49-F238E27FC236}">
                <a16:creationId xmlns:a16="http://schemas.microsoft.com/office/drawing/2014/main" id="{CFFA7096-C06F-416B-B668-DB3E6B658C21}"/>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6" name="$0 API* / run">
            <a:extLst xmlns:a="http://schemas.openxmlformats.org/drawingml/2006/main">
              <a:ext uri="{FF2B5EF4-FFF2-40B4-BE49-F238E27FC236}">
                <a16:creationId xmlns:a16="http://schemas.microsoft.com/office/drawing/2014/main" id="{C72D55F4-F1AE-4A2F-8C88-C4B000CCCABE}"/>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7" name="No guardrail generated">
            <a:extLst xmlns:a="http://schemas.openxmlformats.org/drawingml/2006/main">
              <a:ext uri="{FF2B5EF4-FFF2-40B4-BE49-F238E27FC236}">
                <a16:creationId xmlns:a16="http://schemas.microsoft.com/office/drawing/2014/main" id="{8BB26139-AD3B-4C4B-8C58-15E707D0BA0E}"/>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8" name="33 author-labelled choices. Review/deployment ex">
            <a:extLst xmlns:a="http://schemas.openxmlformats.org/drawingml/2006/main">
              <a:ext uri="{FF2B5EF4-FFF2-40B4-BE49-F238E27FC236}">
                <a16:creationId xmlns:a16="http://schemas.microsoft.com/office/drawing/2014/main" id="{7C85A415-0A2A-4B38-80EC-3E307436562B}"/>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author-labelled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confidence definitions differ. No production superiority claim. Full metrics in backup.</a:t>
            </a:r>
          </a:p>
        </p:txBody>
      </p:sp>
      <p:sp>
        <p:nvSpPr>
          <p:cNvPr id="19" name="ISC2 SECURITY CONGRESS 2026 / SC2632">
            <a:extLst xmlns:a="http://schemas.openxmlformats.org/drawingml/2006/main">
              <a:ext uri="{FF2B5EF4-FFF2-40B4-BE49-F238E27FC236}">
                <a16:creationId xmlns:a16="http://schemas.microsoft.com/office/drawing/2014/main" id="{4306666C-03B0-4E34-BC4A-BFF8D6D9D3F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0" name="26">
            <a:extLst xmlns:a="http://schemas.openxmlformats.org/drawingml/2006/main">
              <a:ext uri="{FF2B5EF4-FFF2-40B4-BE49-F238E27FC236}">
                <a16:creationId xmlns:a16="http://schemas.microsoft.com/office/drawing/2014/main" id="{55AEA34E-EF7C-4074-BF7A-6310915F48A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26</a:t>
            </a:r>
          </a:p>
        </p:txBody>
      </p:sp>
    </p:spTree>
    <p:extLst>
      <p:ext uri="{BB962C8B-B14F-4D97-AF65-F5344CB8AC3E}">
        <p14:creationId xmlns:p14="http://schemas.microsoft.com/office/powerpoint/2010/main" val="477778381"/>
      </p:ext>
    </p:extLst>
  </p:cSld>
</p:sld>
</file>

<file path=ppt/slides/slide2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D7A95819-7536-4576-819F-567421810536}"/>
              </a:ext>
            </a:extLst>
          </p:cNvPr>
          <p:cNvPicPr>
            <a:picLocks xmlns:a="http://schemas.openxmlformats.org/drawingml/2006/main" noChangeAspect="1"/>
          </p:cNvPicPr>
          <p:nvPr/>
        </p:nvPicPr>
        <p:blipFill>
          <a:blip xmlns:r="http://schemas.openxmlformats.org/officeDocument/2006/relationships" xmlns:a="http://schemas.openxmlformats.org/drawingml/2006/main" r:embed="R27defd169016455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BFD02161-F38A-4F05-9125-DBD9DFC781C5}"/>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F4840969-FEA7-4B54-9B0C-A1989D37B571}"/>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05D353CA-4A12-42C1-B5DA-9B43E84AAFEC}"/>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Specify exit tests, approval authority&#10;and a rev">
            <a:extLst xmlns:a="http://schemas.openxmlformats.org/drawingml/2006/main">
              <a:ext uri="{FF2B5EF4-FFF2-40B4-BE49-F238E27FC236}">
                <a16:creationId xmlns:a16="http://schemas.microsoft.com/office/drawing/2014/main" id="{08871984-EC3D-4057-9237-05C356137906}"/>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Specify exit tests, approval authority</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and a reversible transition.</a:t>
            </a:r>
          </a:p>
        </p:txBody>
      </p:sp>
      <p:sp>
        <p:nvSpPr>
          <p:cNvPr id="6" name="ISC2 SECURITY CONGRESS 2026 / SC2632">
            <a:extLst xmlns:a="http://schemas.openxmlformats.org/drawingml/2006/main">
              <a:ext uri="{FF2B5EF4-FFF2-40B4-BE49-F238E27FC236}">
                <a16:creationId xmlns:a16="http://schemas.microsoft.com/office/drawing/2014/main" id="{22D6AAC9-434C-4A70-98D5-53213FA9732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7">
            <a:extLst xmlns:a="http://schemas.openxmlformats.org/drawingml/2006/main">
              <a:ext uri="{FF2B5EF4-FFF2-40B4-BE49-F238E27FC236}">
                <a16:creationId xmlns:a16="http://schemas.microsoft.com/office/drawing/2014/main" id="{DC7C1353-FAB8-4A4D-9F2D-7EAF63C1AF4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27</a:t>
            </a:r>
          </a:p>
        </p:txBody>
      </p:sp>
    </p:spTree>
    <p:extLst>
      <p:ext uri="{BB962C8B-B14F-4D97-AF65-F5344CB8AC3E}">
        <p14:creationId xmlns:p14="http://schemas.microsoft.com/office/powerpoint/2010/main" val="579800236"/>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6" name="APPLICATION TO YOUR ENVIRONMENT">
            <a:extLst xmlns:a="http://schemas.openxmlformats.org/drawingml/2006/main">
              <a:ext uri="{FF2B5EF4-FFF2-40B4-BE49-F238E27FC236}">
                <a16:creationId xmlns:a16="http://schemas.microsoft.com/office/drawing/2014/main" id="{B655356A-43F3-46CB-AFBA-A7EA93B9446B}"/>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APPLICATION TO YOUR ENVIRONMENT</a:t>
            </a:r>
          </a:p>
        </p:txBody>
      </p:sp>
      <p:sp>
        <p:nvSpPr>
          <p:cNvPr id="2" name="Identify a requirement.&#10;Assign its owner.&#10;Specif">
            <a:extLst xmlns:a="http://schemas.openxmlformats.org/drawingml/2006/main">
              <a:ext uri="{FF2B5EF4-FFF2-40B4-BE49-F238E27FC236}">
                <a16:creationId xmlns:a16="http://schemas.microsoft.com/office/drawing/2014/main" id="{09BCC4CD-DBB8-4487-9F82-77C2EE034AE1}"/>
              </a:ext>
            </a:extLst>
          </p:cNvPr>
          <p:cNvSpPr>
            <a:spLocks xmlns:a="http://schemas.openxmlformats.org/drawingml/2006/main" noGrp="1"/>
          </p:cNvSpPr>
          <p:nvPr/>
        </p:nvSpPr>
        <p:spPr>
          <a:xfrm xmlns:a="http://schemas.openxmlformats.org/drawingml/2006/main">
            <a:off x="609600" y="1400175"/>
            <a:ext cx="106680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F2EFE7"/>
                </a:solidFill>
                <a:latin typeface="Arial Black"/>
                <a:ea typeface="Arial Black"/>
                <a:cs typeface="Arial Black"/>
              </a:defRPr>
            </a:defPPr>
          </a:lstStyle>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Identify a requirement.</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Assign its owner.</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Specify acceptance evidence.</a:t>
            </a:r>
          </a:p>
        </p:txBody>
      </p:sp>
      <p:sp>
        <p:nvSpPr>
          <p:cNvPr id="3" name="Choose one unresolved control boundary in your e">
            <a:extLst xmlns:a="http://schemas.openxmlformats.org/drawingml/2006/main">
              <a:ext uri="{FF2B5EF4-FFF2-40B4-BE49-F238E27FC236}">
                <a16:creationId xmlns:a16="http://schemas.microsoft.com/office/drawing/2014/main" id="{C7DCD39F-4EC9-4BCF-88DA-E2785E847BC1}"/>
              </a:ext>
            </a:extLst>
          </p:cNvPr>
          <p:cNvSpPr>
            <a:spLocks xmlns:a="http://schemas.openxmlformats.org/drawingml/2006/main" noGrp="1"/>
          </p:cNvSpPr>
          <p:nvPr/>
        </p:nvSpPr>
        <p:spPr>
          <a:xfrm xmlns:a="http://schemas.openxmlformats.org/drawingml/2006/main">
            <a:off x="628650" y="50577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Choose one unresolved control boundary in your environment.</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Document the evidence needed before approving enforcement.</a:t>
            </a:r>
          </a:p>
        </p:txBody>
      </p:sp>
      <p:sp>
        <p:nvSpPr>
          <p:cNvPr id="4" name="ISC2 SECURITY CONGRESS 2026 / SC2632">
            <a:extLst xmlns:a="http://schemas.openxmlformats.org/drawingml/2006/main">
              <a:ext uri="{FF2B5EF4-FFF2-40B4-BE49-F238E27FC236}">
                <a16:creationId xmlns:a16="http://schemas.microsoft.com/office/drawing/2014/main" id="{6FA2973C-5200-410B-82BE-B6CF15FE430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5" name="28">
            <a:extLst xmlns:a="http://schemas.openxmlformats.org/drawingml/2006/main">
              <a:ext uri="{FF2B5EF4-FFF2-40B4-BE49-F238E27FC236}">
                <a16:creationId xmlns:a16="http://schemas.microsoft.com/office/drawing/2014/main" id="{19995B49-0DE6-4F05-9986-F35C31ED686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1620114620"/>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E35FBB1A-CC3D-4AD3-BB06-B1D7C75E877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7279E94F-639D-4672-9B3F-D3006381E4A0}"/>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Policy, test and incident-exercise source packag">
            <a:extLst xmlns:a="http://schemas.openxmlformats.org/drawingml/2006/main">
              <a:ext uri="{FF2B5EF4-FFF2-40B4-BE49-F238E27FC236}">
                <a16:creationId xmlns:a16="http://schemas.microsoft.com/office/drawing/2014/main" id="{B220377D-A0BB-452E-B7B4-1A6AE8807AD4}"/>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Policy, test and incident-exercise source package</a:t>
            </a:r>
          </a:p>
        </p:txBody>
      </p:sp>
      <p:sp>
        <p:nvSpPr>
          <p:cNvPr id="4" name="Policy templates and fixture tests&#10;Evidence capt">
            <a:extLst xmlns:a="http://schemas.openxmlformats.org/drawingml/2006/main">
              <a:ext uri="{FF2B5EF4-FFF2-40B4-BE49-F238E27FC236}">
                <a16:creationId xmlns:a16="http://schemas.microsoft.com/office/drawing/2014/main" id="{A0D9D72D-A715-4138-82AA-FD640489051D}"/>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Incident cases and lab recordings</a:t>
            </a:r>
          </a:p>
        </p:txBody>
      </p:sp>
      <p:sp>
        <p:nvSpPr>
          <p:cNvPr id="5" name="Apache-2.0 source. Public repository release pen">
            <a:extLst xmlns:a="http://schemas.openxmlformats.org/drawingml/2006/main">
              <a:ext uri="{FF2B5EF4-FFF2-40B4-BE49-F238E27FC236}">
                <a16:creationId xmlns:a16="http://schemas.microsoft.com/office/drawing/2014/main" id="{C5845745-1256-45C0-BCEB-61E43064872B}"/>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 release pending.</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11515D76-F8D9-4C88-8497-E803A747749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9">
            <a:extLst xmlns:a="http://schemas.openxmlformats.org/drawingml/2006/main">
              <a:ext uri="{FF2B5EF4-FFF2-40B4-BE49-F238E27FC236}">
                <a16:creationId xmlns:a16="http://schemas.microsoft.com/office/drawing/2014/main" id="{DA9AF152-539B-435A-9BA1-2C176947B5A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444702129"/>
      </p:ext>
    </p:extLst>
  </p:cSld>
</p:sld>
</file>

<file path=ppt/slides/slide30.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F508FC1C-28E0-4A4E-9525-97757154B46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A86EDBC0-4CFB-4633-A0DB-DDBB74D2D44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B6212F53-8F10-4712-8A52-12F8C40AE074}"/>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4AE59ED7-D241-4D46-BA6C-85F3E98B4243}"/>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6416854F-74CB-4AAD-B0D0-FADB8034A8D6}"/>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9296DC4A-AC09-4FFF-9D2B-5142E2C860E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135ABA4B-2CCA-4241-AF2B-23286B26738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1398676817"/>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65A7070B-0BA4-493A-88FD-AD13E978077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5FAF13B7-7005-44D7-8E20-9D7CAFFC1B6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4E0528D5-04EA-4ACC-ABF0-FD2119FBDB75}"/>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AD590989-B736-411F-A26F-41C27EB06AD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1">
            <a:extLst xmlns:a="http://schemas.openxmlformats.org/drawingml/2006/main">
              <a:ext uri="{FF2B5EF4-FFF2-40B4-BE49-F238E27FC236}">
                <a16:creationId xmlns:a16="http://schemas.microsoft.com/office/drawing/2014/main" id="{B5EF06CC-3989-4AC2-8A7D-8B297A936D9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2008968315"/>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62121833-3A15-4236-B1ED-4C2D01AAB147}"/>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782BB518-5EAD-476D-B6D7-C9AF0AD53E53}"/>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DF45290C-2F3D-49FA-AA17-402F725CD0F6}"/>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AC278EE7-23A0-4254-850E-54A18805984A}"/>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878D1AB7-A425-4D85-B029-000FA43C171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2">
            <a:extLst xmlns:a="http://schemas.openxmlformats.org/drawingml/2006/main">
              <a:ext uri="{FF2B5EF4-FFF2-40B4-BE49-F238E27FC236}">
                <a16:creationId xmlns:a16="http://schemas.microsoft.com/office/drawing/2014/main" id="{BFA302B8-3642-4470-BF47-F0C30F63B30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671700761"/>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A00FA433-644F-459E-A293-237396AC310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EB012009-2ED7-4519-904D-975D8366607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FB3283EE-D064-46AE-ABB9-EBB0E990B13B}"/>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F27E495B-B3A3-4986-9B47-9AD5CED0AA4E}"/>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B82728B8-2723-4979-BF70-F3DA10C839F3}"/>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4DB2CAFC-4D1C-40BF-A3C0-FDC50EE7200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3">
            <a:extLst xmlns:a="http://schemas.openxmlformats.org/drawingml/2006/main">
              <a:ext uri="{FF2B5EF4-FFF2-40B4-BE49-F238E27FC236}">
                <a16:creationId xmlns:a16="http://schemas.microsoft.com/office/drawing/2014/main" id="{9E53D94F-DCE5-4292-AE92-53CCE64A924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2017627982"/>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3DC13818-E8BA-4346-A2C6-1A4330CA363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E2773FEC-7717-4CD0-9A39-7CB25E946FF8}"/>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2CDC4400-5C5C-4517-9484-1026004A0EBB}"/>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CDD0CC07-22E0-4825-9FF6-217E45C520BE}"/>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B418310A-79BC-4755-9340-FCB33C3B5510}"/>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4">
            <a:extLst xmlns:a="http://schemas.openxmlformats.org/drawingml/2006/main">
              <a:ext uri="{FF2B5EF4-FFF2-40B4-BE49-F238E27FC236}">
                <a16:creationId xmlns:a16="http://schemas.microsoft.com/office/drawing/2014/main" id="{D8A65E7B-4A87-44D0-9206-71C6B2A4FF3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2029335888"/>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DC16641E-5762-4EB2-8D0A-84B880B7B2D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DB055F68-2D70-4F76-B2C0-FB165B9BF18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86D2B9E4-2DD0-4AFE-8EF3-214936DCE63F}"/>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251994BD-7004-4618-BFE5-20657D7167FD}"/>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FEE1F49F-3434-4875-9278-27B51D548C9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23F52339-2EF4-40A4-9390-54C972E0B4B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19660771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2026-10-13T23:13:34.0810000Z</dcterms:created>
  <dcterms:modified xsi:type="dcterms:W3CDTF">2026-10-13T23:13:34.0810000Z</dcterms:modified>
</coreProperties>
</file>